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s/slide30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1" r:id="rId2"/>
    <p:sldId id="260" r:id="rId3"/>
    <p:sldId id="262" r:id="rId4"/>
    <p:sldId id="263" r:id="rId5"/>
    <p:sldId id="264" r:id="rId6"/>
    <p:sldId id="290" r:id="rId7"/>
    <p:sldId id="265" r:id="rId8"/>
    <p:sldId id="266" r:id="rId9"/>
    <p:sldId id="267" r:id="rId10"/>
    <p:sldId id="269" r:id="rId11"/>
    <p:sldId id="268" r:id="rId12"/>
    <p:sldId id="271" r:id="rId13"/>
    <p:sldId id="272" r:id="rId14"/>
    <p:sldId id="274" r:id="rId15"/>
    <p:sldId id="276" r:id="rId16"/>
    <p:sldId id="277" r:id="rId17"/>
    <p:sldId id="278" r:id="rId18"/>
    <p:sldId id="291" r:id="rId19"/>
    <p:sldId id="275" r:id="rId20"/>
    <p:sldId id="280" r:id="rId21"/>
    <p:sldId id="279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0A92F-8502-47DF-835C-19214773215D}" type="datetimeFigureOut">
              <a:rPr lang="x-none" smtClean="0"/>
              <a:t>2/25/2025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376C6-3F85-4215-91E5-CAAAF896721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179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67A5E6-E55C-4905-98C2-14786DD1A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DF26E12-B392-75BC-5525-40EF67608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0684685-0E35-12AC-75C1-097BD5B2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D3939-4917-4AC2-B4E9-EF97EABACB3D}" type="datetime1">
              <a:rPr lang="x-none" smtClean="0"/>
              <a:t>2/25/2025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6A9614A-3E9E-3B69-606F-DE98F253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88973C6-27DC-9CD2-C9CB-9C398D23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031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1BBE6B-3FE6-CA78-5CEB-061056AF4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EC19C1-45F7-9A47-FB67-39659307F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6BF6B3A-A5F1-D861-B678-C4187E9A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1E05-882A-41D2-926B-E760CE0FED71}" type="datetime1">
              <a:rPr lang="x-none" smtClean="0"/>
              <a:t>2/25/2025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4BBEA7F-6AFB-0288-66D4-682D78A8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F9FF13D-098F-F4E6-AA4D-187FBCD9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4352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80096D-CD01-0C7F-539B-DB0F781A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14D1FA-B0C8-F24F-595B-13DF693FB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A3AE05E-84B6-546C-CA6D-4106FC1D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7002F-D0A8-491B-8742-FD543B3E2A79}" type="datetime1">
              <a:rPr lang="x-none" smtClean="0"/>
              <a:t>2/25/2025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57AEE8A-4083-A7CF-7DD0-1DC84107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DA2D22-2F4E-B05A-09BD-0A8D0CD5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115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7312E7-8420-EE5A-FC79-B98E8359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4C09CD0-FC86-4E49-8F7F-A3180B85A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4E1A649-9B85-C85E-3EA8-A7B974DC1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E6CCC5A-86F3-0069-09BE-E2DE25ED9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FCAB-BDE3-41A5-8733-E7A60FCF42B8}" type="datetime1">
              <a:rPr lang="x-none" smtClean="0"/>
              <a:t>2/25/2025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9AAD711-ED80-F0DC-C704-7A7110363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8BC18D2-83DD-12C6-A626-516C45FC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6006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72B7DE-76A2-0E0E-429C-F6BC2906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F27A902-597E-0EAF-777D-A13035ECC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6491A35-2A14-B0C3-B7D8-E5741DB54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6FFFFFF-1CE3-95C7-5486-B67244737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5B045EB-5099-A88E-6983-084083EC7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F92207E-9E6F-BB3E-D3FE-CA7965A9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E038-6072-47B0-B616-BD532E28E7F2}" type="datetime1">
              <a:rPr lang="x-none" smtClean="0"/>
              <a:t>2/25/2025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B3B5D36-D034-6439-A093-4C66CE31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B1BB00D-D361-9F71-F7B2-354F0ABC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0233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F018FF-EC39-A529-4C5A-136D3E6B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4AD1951-E6E5-8800-599B-E131A6426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59A5-826C-4D37-AC6F-0C189058D54A}" type="datetime1">
              <a:rPr lang="x-none" smtClean="0"/>
              <a:t>2/25/2025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C12690C-F6EC-34A5-0E5D-FDE2A9E5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BFA6F25-E943-69B9-F9BE-BDAF9686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0673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00648FC-3C66-F114-3A03-118660CE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E606-52C4-4617-A46C-4FDF4C3F1752}" type="datetime1">
              <a:rPr lang="x-none" smtClean="0"/>
              <a:t>2/25/2025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FB43B26-0CD1-A89D-35F7-79E45564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EA0FD5-9F48-E964-A1C4-C23E7137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2086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38CD48-B8D8-45D5-6CFD-C8CD33955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11F043-D29F-E1B9-F606-0281387DA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6B8D80E-2708-24A1-0F76-D604C57A3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CEB4131-BFEC-3C04-4454-24AEF2B4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05C28-8FB0-4400-8E4B-6FC65942EE0B}" type="datetime1">
              <a:rPr lang="x-none" smtClean="0"/>
              <a:t>2/25/2025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875F821-81C8-0F69-208E-15A3F7ADF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B7F5A9B-91EB-D0A6-8BFE-FAFCA51F2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1274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8C6E0D-8BF9-2621-795B-DEA644F4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7082984-E0F0-F45A-946A-32FD33D35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D856F7A-8AA9-ADB9-33FE-BDA71435A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56FBFBD-EAB4-7C10-94F9-4C44F64B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04E3-61F5-439E-B5C2-379FEF8B85ED}" type="datetime1">
              <a:rPr lang="x-none" smtClean="0"/>
              <a:t>2/25/2025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2113394-92D5-F1D2-6561-5521F9E8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6D7D344-80AA-0A6A-90E9-58DC8574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2108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62D14E-5E90-E234-32FF-9A4297A2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0026537-3129-418F-A6D6-DE83B3F0F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24A74AE-AD3A-D7B4-ACB3-7C82C273E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CE52-4202-489B-9E9A-23B9175668E8}" type="datetime1">
              <a:rPr lang="x-none" smtClean="0"/>
              <a:t>2/25/2025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9DFD133-2226-A004-D36D-971B42D5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562EC0-D1C7-5A40-558F-C46E6046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09400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665F209-EBC7-E49C-412E-17953D053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F06B823-A29C-7CF0-7359-C0A4E3A5B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EB2139-7B40-8D0B-7C2C-034A4213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724C-C47B-4950-BADB-E98639BAFA1C}" type="datetime1">
              <a:rPr lang="x-none" smtClean="0"/>
              <a:t>2/25/2025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50CAB7-6FA8-4DC0-8152-1CB0B3246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DFB0957-5907-CF01-699C-E428CCA0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1358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21F9FAE-25C2-C919-0FE7-444E4B4F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1F7711C-D07D-60CF-0DB1-F43BA1881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B2F54D-57B0-74FE-DFE2-A2AC56499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E6FCD-E080-4D9C-8763-3EC06D265334}" type="datetime1">
              <a:rPr lang="x-none" smtClean="0"/>
              <a:t>2/25/2025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BF35C3E-5774-530A-69D7-989110838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89013FB-94C6-CABA-C31A-2201F4B2E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31F28-28AB-4F95-8A9D-23C792B48924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251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4B3000-37EA-C90E-3CC1-58EF76C1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123" y="248083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Cleaning</a:t>
            </a:r>
            <a:endParaRPr lang="x-none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5BF90D6-D95E-630F-1CF7-DFAEFA8CE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840" y="1845837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Data cleaning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is the process of fixing or removing incorrect, corrupted, incorrectly formatted, duplicate, or incomplete data within a dataset.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Common Operations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Unnecessary Data Attributes</a:t>
            </a:r>
            <a:endParaRPr lang="en-GB" sz="20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Missing Values</a:t>
            </a:r>
          </a:p>
          <a:p>
            <a:pPr lvl="1"/>
            <a:r>
              <a:rPr lang="en-GB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in wrong format</a:t>
            </a:r>
          </a:p>
          <a:p>
            <a:pPr lvl="1"/>
            <a:r>
              <a:rPr lang="en-GB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Duplicates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Outliers</a:t>
            </a:r>
            <a:endParaRPr lang="en-GB" sz="20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x-non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F0273E8-2092-BD08-6EC7-4B728C2A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33573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20858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Cleaning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831990"/>
            <a:ext cx="9849751" cy="1945043"/>
          </a:xfrm>
        </p:spPr>
        <p:txBody>
          <a:bodyPr anchor="ctr">
            <a:normAutofit/>
          </a:bodyPr>
          <a:lstStyle/>
          <a:p>
            <a:r>
              <a:rPr lang="en-GB" sz="2200" b="1" dirty="0"/>
              <a:t>Un-necessary Attributes</a:t>
            </a:r>
          </a:p>
          <a:p>
            <a:pPr lvl="1"/>
            <a:r>
              <a:rPr lang="en-GB" sz="2200" b="0" i="0" dirty="0" err="1">
                <a:effectLst/>
                <a:latin typeface="Verdana" panose="020B0604030504040204" pitchFamily="34" charset="0"/>
              </a:rPr>
              <a:t>DataFrame.drop</a:t>
            </a:r>
            <a:r>
              <a:rPr lang="en-GB" sz="2200" b="0" i="0" dirty="0">
                <a:effectLst/>
                <a:latin typeface="Verdana" panose="020B0604030504040204" pitchFamily="34" charset="0"/>
              </a:rPr>
              <a:t>([‘column1’, ‘column2’], axis=1, inplace=True)</a:t>
            </a:r>
          </a:p>
          <a:p>
            <a:pPr lvl="1"/>
            <a:r>
              <a:rPr lang="en-GB" sz="2200" dirty="0" err="1"/>
              <a:t>df.drop</a:t>
            </a:r>
            <a:r>
              <a:rPr lang="en-GB" sz="2200" dirty="0"/>
              <a:t>(columns=['sepal width (cm)'], inplace=True)</a:t>
            </a:r>
            <a:endParaRPr lang="en-GB" sz="2200" dirty="0">
              <a:latin typeface="Verdana" panose="020B0604030504040204" pitchFamily="34" charset="0"/>
            </a:endParaRPr>
          </a:p>
          <a:p>
            <a:pPr lvl="1"/>
            <a:endParaRPr lang="en-GB" sz="2000" b="0" i="0" dirty="0">
              <a:effectLst/>
              <a:latin typeface="Verdana" panose="020B060403050404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DFE6631-47B0-9F8E-A004-8E7A85A7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8544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848" y="248083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Cleaning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1597754"/>
            <a:ext cx="9849751" cy="4337327"/>
          </a:xfrm>
        </p:spPr>
        <p:txBody>
          <a:bodyPr anchor="ctr">
            <a:normAutofit/>
          </a:bodyPr>
          <a:lstStyle/>
          <a:p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Handling Missing Values</a:t>
            </a:r>
          </a:p>
          <a:p>
            <a:pPr lvl="1"/>
            <a:r>
              <a:rPr lang="en-GB" sz="1600" b="1" dirty="0"/>
              <a:t>Counting null values</a:t>
            </a:r>
          </a:p>
          <a:p>
            <a:pPr lvl="2"/>
            <a:r>
              <a:rPr lang="en-GB" sz="1600" b="0" i="0" dirty="0" err="1">
                <a:effectLst/>
                <a:latin typeface="Verdana" panose="020B0604030504040204" pitchFamily="34" charset="0"/>
              </a:rPr>
              <a:t>DataFrame.isna</a:t>
            </a:r>
            <a:r>
              <a:rPr lang="en-GB" sz="1600" b="0" i="0" dirty="0">
                <a:effectLst/>
                <a:latin typeface="Verdana" panose="020B0604030504040204" pitchFamily="34" charset="0"/>
              </a:rPr>
              <a:t>().sum()</a:t>
            </a:r>
          </a:p>
          <a:p>
            <a:pPr lvl="1"/>
            <a:r>
              <a:rPr lang="en-GB" sz="1600" b="1" dirty="0"/>
              <a:t>Dropping rows having null values</a:t>
            </a:r>
          </a:p>
          <a:p>
            <a:pPr lvl="2"/>
            <a:r>
              <a:rPr lang="en-GB" sz="1600" b="0" i="0" dirty="0" err="1">
                <a:effectLst/>
                <a:latin typeface="Verdana" panose="020B0604030504040204" pitchFamily="34" charset="0"/>
              </a:rPr>
              <a:t>DataFrame.dropna</a:t>
            </a:r>
            <a:r>
              <a:rPr lang="en-GB" sz="1600" b="0" i="0" dirty="0">
                <a:effectLst/>
                <a:latin typeface="Verdana" panose="020B0604030504040204" pitchFamily="34" charset="0"/>
              </a:rPr>
              <a:t>()</a:t>
            </a:r>
          </a:p>
          <a:p>
            <a:pPr lvl="1"/>
            <a:r>
              <a:rPr lang="en-GB" sz="1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Filling missing values with some other values</a:t>
            </a:r>
          </a:p>
          <a:p>
            <a:pPr lvl="2"/>
            <a:r>
              <a:rPr lang="en-GB" sz="16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DataFrame.fillna</a:t>
            </a:r>
            <a:r>
              <a:rPr lang="en-GB" sz="1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(value)</a:t>
            </a:r>
          </a:p>
          <a:p>
            <a:pPr lvl="2"/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df.fillna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df.mean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(), inplace=True) # fill each column with its mean</a:t>
            </a:r>
            <a:endParaRPr lang="en-GB" sz="16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Interpolation: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Interpolation is a method of estimating unknown values that fall within the range of known values. </a:t>
            </a:r>
          </a:p>
          <a:p>
            <a:pPr lvl="2"/>
            <a:r>
              <a:rPr lang="en-GB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DataFrame.interpolate</a:t>
            </a: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(‘linear’)</a:t>
            </a:r>
          </a:p>
          <a:p>
            <a:pPr lvl="2"/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df.interpolate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(method='linear', inplace=True)</a:t>
            </a:r>
          </a:p>
          <a:p>
            <a:pPr lvl="2"/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df.interpolate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(method='polynomial', order=2)</a:t>
            </a:r>
          </a:p>
          <a:p>
            <a:pPr lvl="2"/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df.interpolate(method='nearest')</a:t>
            </a:r>
            <a:endParaRPr lang="en-GB" sz="16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38C77D0-65CA-A2E8-8177-61ED39CF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1130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848" y="248083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Cleaning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313" y="1933148"/>
            <a:ext cx="9849751" cy="3032168"/>
          </a:xfrm>
        </p:spPr>
        <p:txBody>
          <a:bodyPr anchor="ctr">
            <a:normAutofit lnSpcReduction="10000"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Data in wrong Format</a:t>
            </a:r>
          </a:p>
          <a:p>
            <a:pPr lvl="1"/>
            <a:r>
              <a:rPr lang="en-GB" sz="2000" dirty="0"/>
              <a:t>Changing data format typically refers to converting data from one type to another </a:t>
            </a:r>
          </a:p>
          <a:p>
            <a:pPr lvl="1"/>
            <a:r>
              <a:rPr lang="en-GB" sz="2000" b="1" dirty="0"/>
              <a:t>Convert Strings to Datetime Objects</a:t>
            </a:r>
          </a:p>
          <a:p>
            <a:pPr lvl="2"/>
            <a:r>
              <a:rPr lang="de-DE" dirty="0"/>
              <a:t>df['date'] = pd.to_datetime(df['date‘], format=‚mixed‘) # change date to column to date type</a:t>
            </a:r>
          </a:p>
          <a:p>
            <a:pPr lvl="1"/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Converting numbers to strings</a:t>
            </a:r>
          </a:p>
          <a:p>
            <a:pPr lvl="2"/>
            <a:r>
              <a:rPr lang="de-DE" dirty="0"/>
              <a:t>df['value'] = df['value'].astype(str)</a:t>
            </a:r>
          </a:p>
          <a:p>
            <a:pPr lvl="1"/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Strings to Numbers</a:t>
            </a:r>
          </a:p>
          <a:p>
            <a:pPr lvl="2"/>
            <a:r>
              <a:rPr lang="de-DE" dirty="0"/>
              <a:t>df['numeric'] = pd.to_numeric(df['numeric_str'])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1F685DE-2A7E-41CF-748B-EF77895F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3045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-89221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Cleaning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516" y="1346639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Handling Duplicate Rows</a:t>
            </a:r>
          </a:p>
          <a:p>
            <a:pPr lvl="1"/>
            <a:r>
              <a:rPr lang="en-GB" sz="2000" dirty="0">
                <a:latin typeface="Verdana" panose="020B0604030504040204" pitchFamily="34" charset="0"/>
              </a:rPr>
              <a:t>Counting Duplicate rows</a:t>
            </a:r>
          </a:p>
          <a:p>
            <a:pPr lvl="2"/>
            <a:r>
              <a:rPr lang="en-GB" b="0" i="0" dirty="0" err="1">
                <a:effectLst/>
                <a:latin typeface="Verdana" panose="020B0604030504040204" pitchFamily="34" charset="0"/>
              </a:rPr>
              <a:t>DataFrame.duplicated</a:t>
            </a:r>
            <a:r>
              <a:rPr lang="en-GB" b="0" i="0" dirty="0">
                <a:effectLst/>
                <a:latin typeface="Verdana" panose="020B0604030504040204" pitchFamily="34" charset="0"/>
              </a:rPr>
              <a:t>().sum()</a:t>
            </a:r>
          </a:p>
          <a:p>
            <a:pPr lvl="1"/>
            <a:r>
              <a:rPr lang="en-GB" sz="2000" dirty="0">
                <a:latin typeface="Verdana" panose="020B0604030504040204" pitchFamily="34" charset="0"/>
              </a:rPr>
              <a:t>Dropping Duplicates</a:t>
            </a:r>
          </a:p>
          <a:p>
            <a:pPr lvl="2"/>
            <a:r>
              <a:rPr lang="en-GB" b="0" i="0" dirty="0" err="1">
                <a:effectLst/>
                <a:latin typeface="Verdana" panose="020B0604030504040204" pitchFamily="34" charset="0"/>
              </a:rPr>
              <a:t>DataFrame.drop_duplicates</a:t>
            </a:r>
            <a:r>
              <a:rPr lang="en-GB" b="0" i="0" dirty="0">
                <a:effectLst/>
                <a:latin typeface="Verdana" panose="020B0604030504040204" pitchFamily="34" charset="0"/>
              </a:rPr>
              <a:t>()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0719B42-7F95-8FC8-DF25-D3AFE094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High Impact IT Training, 2024, ICG F-6/2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3104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922919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Cleaning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598" y="787056"/>
            <a:ext cx="9849751" cy="3767433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Handling Outliers </a:t>
            </a:r>
            <a:endParaRPr lang="en-GB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code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removes outliers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from a dataset based on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Interquartile Range (IQR)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method.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IQR method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is a statistical way to identify outliers by looking at data points that lie significantly outside the middle 50% of the dataset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it-IT" sz="2000" dirty="0" smtClean="0"/>
              <a:t>Q1</a:t>
            </a:r>
            <a:r>
              <a:rPr lang="it-IT" sz="2000" dirty="0"/>
              <a:t>= df[‘attribute'].quantile(0.25</a:t>
            </a:r>
            <a:r>
              <a:rPr lang="it-IT" sz="2000" dirty="0" smtClean="0"/>
              <a:t>) </a:t>
            </a:r>
            <a:r>
              <a:rPr lang="en-US" sz="1400" dirty="0"/>
              <a:t># First quartile (25th percentile)</a:t>
            </a:r>
            <a:endParaRPr lang="it-IT" sz="1400" dirty="0"/>
          </a:p>
          <a:p>
            <a:pPr lvl="1"/>
            <a:r>
              <a:rPr lang="it-IT" sz="2000" dirty="0"/>
              <a:t>Q3= df[‘attribute'].quantile(0.75</a:t>
            </a:r>
            <a:r>
              <a:rPr lang="it-IT" sz="2000" dirty="0" smtClean="0"/>
              <a:t>)</a:t>
            </a:r>
            <a:r>
              <a:rPr lang="en-US" sz="2000" dirty="0"/>
              <a:t> </a:t>
            </a:r>
            <a:r>
              <a:rPr lang="en-US" sz="1400" dirty="0"/>
              <a:t># Third quartile (75th percentile)</a:t>
            </a:r>
            <a:endParaRPr lang="it-IT" sz="1400" dirty="0"/>
          </a:p>
          <a:p>
            <a:pPr lvl="1"/>
            <a:r>
              <a:rPr lang="it-IT" sz="2000" dirty="0"/>
              <a:t>IQR = Q3 – </a:t>
            </a:r>
            <a:r>
              <a:rPr lang="it-IT" sz="2000" dirty="0" smtClean="0"/>
              <a:t>Q1 </a:t>
            </a:r>
            <a:r>
              <a:rPr lang="en-US" sz="1400" dirty="0"/>
              <a:t># Interquartile Range (</a:t>
            </a:r>
            <a:r>
              <a:rPr lang="en-US" sz="1400" dirty="0" smtClean="0"/>
              <a:t>IQR) - Measures </a:t>
            </a:r>
            <a:r>
              <a:rPr lang="en-US" sz="1400" dirty="0"/>
              <a:t>the </a:t>
            </a:r>
            <a:r>
              <a:rPr lang="en-US" sz="1400" b="1" dirty="0"/>
              <a:t>spread</a:t>
            </a:r>
            <a:r>
              <a:rPr lang="en-US" sz="1400" dirty="0"/>
              <a:t> of the middle 50% of the data</a:t>
            </a:r>
            <a:endParaRPr lang="it-IT" sz="1400" dirty="0"/>
          </a:p>
          <a:p>
            <a:pPr lvl="1"/>
            <a:r>
              <a:rPr lang="en-US" sz="2000" dirty="0"/>
              <a:t>lower = Q1 - </a:t>
            </a:r>
            <a:r>
              <a:rPr lang="en-US" sz="2000" dirty="0" smtClean="0"/>
              <a:t>1.5*IQR </a:t>
            </a:r>
            <a:r>
              <a:rPr lang="en-US" sz="2000" dirty="0"/>
              <a:t># Lower bound</a:t>
            </a:r>
          </a:p>
          <a:p>
            <a:pPr lvl="1"/>
            <a:r>
              <a:rPr lang="en-US" sz="2000" dirty="0"/>
              <a:t>upper = Q1 +</a:t>
            </a:r>
            <a:r>
              <a:rPr lang="en-US" sz="2000" dirty="0" smtClean="0"/>
              <a:t>1.5*IQR </a:t>
            </a:r>
            <a:r>
              <a:rPr lang="en-US" sz="2000" dirty="0"/>
              <a:t># Upper bound</a:t>
            </a:r>
            <a:endParaRPr lang="it-IT" sz="2000" dirty="0"/>
          </a:p>
          <a:p>
            <a:pPr lvl="1"/>
            <a:r>
              <a:rPr lang="en-GB" sz="2000" dirty="0"/>
              <a:t>cleandf = </a:t>
            </a:r>
            <a:r>
              <a:rPr lang="en-GB" sz="2000" dirty="0" err="1"/>
              <a:t>df</a:t>
            </a:r>
            <a:r>
              <a:rPr lang="en-GB" sz="2000" dirty="0"/>
              <a:t>[(</a:t>
            </a:r>
            <a:r>
              <a:rPr lang="en-GB" sz="2000" dirty="0" err="1"/>
              <a:t>df</a:t>
            </a:r>
            <a:r>
              <a:rPr lang="en-GB" sz="2000" dirty="0"/>
              <a:t>[‘column']&gt;lower) &amp; (</a:t>
            </a:r>
            <a:r>
              <a:rPr lang="en-GB" sz="2000" dirty="0" err="1"/>
              <a:t>df</a:t>
            </a:r>
            <a:r>
              <a:rPr lang="en-GB" sz="2000" dirty="0"/>
              <a:t>[‘column']&lt;upper)]</a:t>
            </a:r>
          </a:p>
          <a:p>
            <a:pPr lvl="1"/>
            <a:endParaRPr lang="en-GB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31B659C-3D92-BE9D-B67F-D71CFF51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19604" y="4545998"/>
            <a:ext cx="95527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Q1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(First Quartile)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The 25th percentile (i.e., 25% of values are below this point).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Q3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(Third Quartile)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The 75th percentile (i.e., 75% of values are below this point).</a:t>
            </a:r>
          </a:p>
        </p:txBody>
      </p:sp>
    </p:spTree>
    <p:extLst>
      <p:ext uri="{BB962C8B-B14F-4D97-AF65-F5344CB8AC3E}">
        <p14:creationId xmlns:p14="http://schemas.microsoft.com/office/powerpoint/2010/main" val="183830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Cleaning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516" y="1457739"/>
            <a:ext cx="9849751" cy="3039309"/>
          </a:xfrm>
        </p:spPr>
        <p:txBody>
          <a:bodyPr anchor="ctr">
            <a:normAutofit fontScale="92500" lnSpcReduction="20000"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Handling Outliers </a:t>
            </a:r>
            <a:endParaRPr lang="en-GB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/>
              <a:t>This code removes </a:t>
            </a:r>
            <a:r>
              <a:rPr lang="en-US" sz="2000" b="1" dirty="0"/>
              <a:t>outliers</a:t>
            </a:r>
            <a:r>
              <a:rPr lang="en-US" sz="2000" dirty="0"/>
              <a:t> from a dataset using the </a:t>
            </a:r>
            <a:r>
              <a:rPr lang="en-US" sz="2000" b="1" dirty="0"/>
              <a:t>Z-score method</a:t>
            </a:r>
            <a:r>
              <a:rPr lang="en-US" sz="2000" dirty="0"/>
              <a:t>, which detects extreme values by measuring how far they are from the </a:t>
            </a:r>
            <a:r>
              <a:rPr lang="en-US" sz="2000" b="1" dirty="0"/>
              <a:t>mean</a:t>
            </a:r>
            <a:r>
              <a:rPr lang="en-US" sz="2000" dirty="0"/>
              <a:t> in terms of standard deviations.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GB" sz="2000" dirty="0"/>
          </a:p>
          <a:p>
            <a:pPr lvl="1"/>
            <a:r>
              <a:rPr lang="de-DE" sz="2000" dirty="0"/>
              <a:t>mean = df['A'].mean() </a:t>
            </a:r>
            <a:r>
              <a:rPr lang="en-US" sz="1800" dirty="0"/>
              <a:t># Calculate the mean of column 'A'</a:t>
            </a:r>
            <a:endParaRPr lang="de-DE" sz="2000" dirty="0"/>
          </a:p>
          <a:p>
            <a:pPr lvl="1"/>
            <a:r>
              <a:rPr lang="de-DE" sz="2000" dirty="0"/>
              <a:t>std_dev = df['A'].std() </a:t>
            </a:r>
            <a:r>
              <a:rPr lang="en-US" sz="1800" dirty="0"/>
              <a:t># Calculate the standard deviation of column </a:t>
            </a:r>
            <a:r>
              <a:rPr lang="en-US" sz="1800" dirty="0" smtClean="0"/>
              <a:t>'A‘. Measures how spread out the values in column A are.</a:t>
            </a:r>
            <a:endParaRPr lang="de-DE" sz="2000" dirty="0"/>
          </a:p>
          <a:p>
            <a:pPr lvl="1"/>
            <a:r>
              <a:rPr lang="de-DE" sz="2000" dirty="0"/>
              <a:t>threshold = 3 * std_dev </a:t>
            </a:r>
            <a:r>
              <a:rPr lang="de-DE" sz="2000" dirty="0" smtClean="0"/>
              <a:t># </a:t>
            </a:r>
            <a:r>
              <a:rPr lang="en-US" sz="2000" dirty="0"/>
              <a:t>Defines the </a:t>
            </a:r>
            <a:r>
              <a:rPr lang="en-US" sz="2000" b="1" dirty="0"/>
              <a:t>outlier threshold</a:t>
            </a:r>
            <a:r>
              <a:rPr lang="en-US" sz="2000" dirty="0"/>
              <a:t> as </a:t>
            </a:r>
            <a:r>
              <a:rPr lang="en-US" sz="2000" b="1" dirty="0"/>
              <a:t>3 times the standard deviation</a:t>
            </a:r>
            <a:endParaRPr lang="de-DE" sz="2000" dirty="0"/>
          </a:p>
          <a:p>
            <a:pPr lvl="1"/>
            <a:r>
              <a:rPr lang="de-DE" sz="2000" dirty="0"/>
              <a:t>df_no_outliers = df[(df['A'] - mean).abs() &lt;= threshold]</a:t>
            </a:r>
            <a:endParaRPr lang="x-none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31B659C-3D92-BE9D-B67F-D71CFF51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High Impact IT Training, 2024, ICG F-6/2</a:t>
            </a:r>
            <a:endParaRPr lang="x-none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21722" y="4806114"/>
            <a:ext cx="1169600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According to the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Empirical Rule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99.7% of values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normal distribution lie within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±3 standard deviations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mean.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value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beyond this range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considered an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9940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Cleaning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40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Handling Outliers </a:t>
            </a:r>
          </a:p>
          <a:p>
            <a:pPr lvl="1"/>
            <a:r>
              <a:rPr lang="de-DE" dirty="0"/>
              <a:t>z_scores = np.abs((df['A'] - df['A'].mean()) / df['A'].std()) # find z_scores</a:t>
            </a:r>
          </a:p>
          <a:p>
            <a:pPr lvl="1"/>
            <a:r>
              <a:rPr lang="de-DE" dirty="0"/>
              <a:t>threshold = 3        # Filter out outliers </a:t>
            </a:r>
          </a:p>
          <a:p>
            <a:pPr lvl="1"/>
            <a:r>
              <a:rPr lang="de-DE" dirty="0"/>
              <a:t>df_no_outliers = df[z_scores &lt;= threshold]</a:t>
            </a:r>
            <a:endParaRPr lang="x-non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High Impact IT Training, 2024, ICG F-6/2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9856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Scaling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39"/>
            <a:ext cx="9849751" cy="4766080"/>
          </a:xfrm>
        </p:spPr>
        <p:txBody>
          <a:bodyPr anchor="t">
            <a:normAutofit lnSpcReduction="10000"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Data scaling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(also known as normalization) is the process of transforming data to a standard scale, ensuring that all features have a similar range 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It involves adjusting the values of numerical variables in a dataset to a common scale, without altering differences in the ranges of values or losing information</a:t>
            </a:r>
          </a:p>
          <a:p>
            <a:r>
              <a:rPr lang="en-GB" sz="2000" dirty="0"/>
              <a:t>Primary </a:t>
            </a:r>
            <a:r>
              <a:rPr lang="en-GB" sz="2000" b="1" dirty="0"/>
              <a:t>objectives</a:t>
            </a:r>
            <a:r>
              <a:rPr lang="en-GB" sz="2000" dirty="0"/>
              <a:t> of data scaling are:</a:t>
            </a:r>
          </a:p>
          <a:p>
            <a:pPr lvl="1"/>
            <a:r>
              <a:rPr lang="en-GB" sz="1600" b="1" dirty="0"/>
              <a:t>Improved Performance:</a:t>
            </a:r>
            <a:r>
              <a:rPr lang="en-GB" sz="1600" dirty="0"/>
              <a:t> Scaling can lead to better performance of machine learning algorithms, especially those sensitive to the scale of input data </a:t>
            </a:r>
          </a:p>
          <a:p>
            <a:pPr lvl="1"/>
            <a:r>
              <a:rPr lang="en-GB" sz="1600" b="1" dirty="0"/>
              <a:t>Equal Weight:</a:t>
            </a:r>
            <a:r>
              <a:rPr lang="en-GB" sz="1600" dirty="0"/>
              <a:t> Ensure all features contribute equally to the analysis and model training</a:t>
            </a:r>
          </a:p>
          <a:p>
            <a:pPr lvl="1"/>
            <a:r>
              <a:rPr lang="en-GB" sz="1600" b="1" dirty="0"/>
              <a:t>Convergence:</a:t>
            </a:r>
            <a:r>
              <a:rPr lang="en-GB" sz="1600" dirty="0"/>
              <a:t> Help algorithms converge faster and avoid computational issues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Common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Standardized Scaling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Min-Max Scaling 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Robust Scaling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Unit Vector Scaling</a:t>
            </a: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Scaling …</a:t>
            </a:r>
            <a:endParaRPr lang="x-none" sz="5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="" xmlns:a16="http://schemas.microsoft.com/office/drawing/2014/main" id="{FF158863-4BAF-F436-D2DE-7E5934A3A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1123" y="1457739"/>
                <a:ext cx="9849751" cy="476608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GB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Standardized Scaling</a:t>
                </a:r>
              </a:p>
              <a:p>
                <a:pPr marL="0" indent="0">
                  <a:buNone/>
                </a:pPr>
                <a:r>
                  <a:rPr lang="en-GB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Steps:</a:t>
                </a:r>
              </a:p>
              <a:p>
                <a:pPr lvl="1"/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Calculate the mean and standard-deviation</a:t>
                </a:r>
              </a:p>
              <a:p>
                <a:pPr lvl="1"/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Apply the standardization formula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𝑠𝑐𝑎𝑙𝑒𝑑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𝑚𝑒𝑎𝑛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GB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lvl="1"/>
                <a:r>
                  <a:rPr lang="en-GB" sz="1600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Mean = 0, S.D = 1</a:t>
                </a:r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r>
                  <a:rPr lang="de-DE" sz="2000" dirty="0">
                    <a:latin typeface="Consolas" panose="020B0609020204030204" pitchFamily="49" charset="0"/>
                  </a:rPr>
                  <a:t>from sklearn.preprocessing import StandardScaler </a:t>
                </a:r>
              </a:p>
              <a:p>
                <a:pPr marL="457200" lvl="1" indent="0">
                  <a:buNone/>
                </a:pPr>
                <a:r>
                  <a:rPr lang="de-DE" sz="2000" dirty="0">
                    <a:latin typeface="Consolas" panose="020B0609020204030204" pitchFamily="49" charset="0"/>
                  </a:rPr>
                  <a:t>scaler = StandardScaler() // select scaler</a:t>
                </a:r>
              </a:p>
              <a:p>
                <a:pPr marL="457200" lvl="1" indent="0">
                  <a:buNone/>
                </a:pPr>
                <a:r>
                  <a:rPr lang="de-DE" sz="2000" dirty="0">
                    <a:latin typeface="Consolas" panose="020B0609020204030204" pitchFamily="49" charset="0"/>
                  </a:rPr>
                  <a:t>scaled_data = scaler.fit_transform(data) // transform</a:t>
                </a:r>
              </a:p>
              <a:p>
                <a:pPr marL="457200" lvl="1" indent="0">
                  <a:buNone/>
                </a:pPr>
                <a:r>
                  <a:rPr lang="de-DE" sz="2000" dirty="0">
                    <a:latin typeface="Consolas" panose="020B0609020204030204" pitchFamily="49" charset="0"/>
                  </a:rPr>
                  <a:t>new_df = pd.DataFrame(scaled_data, columns=data.columns, index=data.index)  // convert back to dataframe</a:t>
                </a:r>
              </a:p>
              <a:p>
                <a:r>
                  <a:rPr lang="de-DE" sz="2400" dirty="0">
                    <a:latin typeface="Consolas" panose="020B0609020204030204" pitchFamily="49" charset="0"/>
                  </a:rPr>
                  <a:t>Scaling a single column</a:t>
                </a:r>
              </a:p>
              <a:p>
                <a:pPr marL="457200" lvl="1" indent="0">
                  <a:buNone/>
                </a:pPr>
                <a:r>
                  <a:rPr lang="de-DE" sz="2000" dirty="0">
                    <a:latin typeface="Consolas" panose="020B0609020204030204" pitchFamily="49" charset="0"/>
                  </a:rPr>
                  <a:t>s_col=scaler.fit_transform(data['col'].values.reshape(-1,1))</a:t>
                </a:r>
              </a:p>
              <a:p>
                <a:pPr marL="457200" lvl="1" indent="0">
                  <a:buNone/>
                </a:pPr>
                <a:r>
                  <a:rPr lang="de-DE" sz="2000" dirty="0">
                    <a:latin typeface="Consolas" panose="020B0609020204030204" pitchFamily="49" charset="0"/>
                  </a:rPr>
                  <a:t>data['col‘]=s_col  // add back column in dataframe</a:t>
                </a:r>
              </a:p>
              <a:p>
                <a:pPr marL="457200" lvl="1" indent="0">
                  <a:buNone/>
                </a:pPr>
                <a:endParaRPr lang="en-GB" sz="2000" dirty="0">
                  <a:latin typeface="Consolas" panose="020B0609020204030204" pitchFamily="49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F158863-4BAF-F436-D2DE-7E5934A3A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1123" y="1457739"/>
                <a:ext cx="9849751" cy="4766080"/>
              </a:xfrm>
              <a:blipFill rotWithShape="0">
                <a:blip r:embed="rId2"/>
                <a:stretch>
                  <a:fillRect l="-804"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660C956-3220-E6DA-57FB-E6FB5660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x-none" altLang="x-non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5563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470" y="-308484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Scaling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014446"/>
            <a:ext cx="9849751" cy="4766080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Min-max Scaling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Method:</a:t>
            </a: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Scales the data to a fixed range, usually [0, 1], by subtracting the minimum value and then dividing by the range (max - min).</a:t>
            </a:r>
          </a:p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Steps: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Identify the min and max values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Find range (max – min)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Subtract min from each x and divide with range</a:t>
            </a:r>
          </a:p>
          <a:p>
            <a:pPr marL="457200" lvl="1" indent="0">
              <a:buNone/>
            </a:pPr>
            <a:endParaRPr lang="en-GB" sz="20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GB" sz="2000" dirty="0">
                <a:latin typeface="Consolas" panose="020B0609020204030204" pitchFamily="49" charset="0"/>
              </a:rPr>
              <a:t>from </a:t>
            </a:r>
            <a:r>
              <a:rPr lang="en-GB" sz="2000" dirty="0" err="1">
                <a:latin typeface="Consolas" panose="020B0609020204030204" pitchFamily="49" charset="0"/>
              </a:rPr>
              <a:t>sklearn.preprocessing</a:t>
            </a:r>
            <a:r>
              <a:rPr lang="en-GB" sz="2000" dirty="0">
                <a:latin typeface="Consolas" panose="020B0609020204030204" pitchFamily="49" charset="0"/>
              </a:rPr>
              <a:t> import </a:t>
            </a:r>
            <a:r>
              <a:rPr lang="en-GB" sz="2000" dirty="0" err="1">
                <a:latin typeface="Consolas" panose="020B0609020204030204" pitchFamily="49" charset="0"/>
              </a:rPr>
              <a:t>MinMaxScaler</a:t>
            </a:r>
            <a:r>
              <a:rPr lang="en-GB" sz="2000" dirty="0"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GB" sz="2000" dirty="0">
                <a:latin typeface="Consolas" panose="020B0609020204030204" pitchFamily="49" charset="0"/>
              </a:rPr>
              <a:t>scaler = </a:t>
            </a:r>
            <a:r>
              <a:rPr lang="en-GB" sz="2000" dirty="0" err="1">
                <a:latin typeface="Consolas" panose="020B0609020204030204" pitchFamily="49" charset="0"/>
              </a:rPr>
              <a:t>MinMaxScaler</a:t>
            </a:r>
            <a:r>
              <a:rPr lang="en-GB" sz="2000" dirty="0">
                <a:latin typeface="Consolas" panose="020B0609020204030204" pitchFamily="49" charset="0"/>
              </a:rPr>
              <a:t>()  // scaler</a:t>
            </a:r>
          </a:p>
          <a:p>
            <a:pPr marL="457200" lvl="1" indent="0">
              <a:buNone/>
            </a:pPr>
            <a:r>
              <a:rPr lang="en-GB" sz="2000" dirty="0" err="1">
                <a:latin typeface="Consolas" panose="020B0609020204030204" pitchFamily="49" charset="0"/>
              </a:rPr>
              <a:t>sd</a:t>
            </a:r>
            <a:r>
              <a:rPr lang="en-GB" sz="2000" dirty="0">
                <a:latin typeface="Consolas" panose="020B0609020204030204" pitchFamily="49" charset="0"/>
              </a:rPr>
              <a:t> = </a:t>
            </a:r>
            <a:r>
              <a:rPr lang="en-GB" sz="2000" dirty="0" err="1">
                <a:latin typeface="Consolas" panose="020B0609020204030204" pitchFamily="49" charset="0"/>
              </a:rPr>
              <a:t>scaler.fit_transform</a:t>
            </a:r>
            <a:r>
              <a:rPr lang="en-GB" sz="2000" dirty="0">
                <a:latin typeface="Consolas" panose="020B0609020204030204" pitchFamily="49" charset="0"/>
              </a:rPr>
              <a:t>(data)  // fit scaler on data dataframe</a:t>
            </a:r>
          </a:p>
          <a:p>
            <a:pPr marL="457200" lvl="1" indent="0">
              <a:buNone/>
            </a:pP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df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=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pd.DataFrame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(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sd,columns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=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data.columns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, index=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data.index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)  // convert the scaled data back to dataframe</a:t>
            </a:r>
          </a:p>
          <a:p>
            <a:pPr marL="457200" lvl="1" indent="0">
              <a:buNone/>
            </a:pP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Scaling a single column</a:t>
            </a:r>
          </a:p>
          <a:p>
            <a:pPr marL="457200" lvl="1" indent="0">
              <a:buNone/>
            </a:pP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s_c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 = 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scaler.fit_transform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(data[‘col'].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values.reshape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(-1,1))</a:t>
            </a:r>
          </a:p>
          <a:p>
            <a:pPr marL="457200" lvl="1" indent="0">
              <a:buNone/>
            </a:pP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data[‘col’] = 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s_c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   // add back the scaled column in the 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df</a:t>
            </a:r>
            <a:endParaRPr lang="en-GB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660C956-3220-E6DA-57FB-E6FB5660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814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470" y="-308484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Scaling …</a:t>
            </a:r>
            <a:endParaRPr lang="x-none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="" xmlns:a16="http://schemas.microsoft.com/office/drawing/2014/main" id="{FF158863-4BAF-F436-D2DE-7E5934A3A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1123" y="1014446"/>
                <a:ext cx="9849751" cy="476608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GB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Robust Scaling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x-none" altLang="x-none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Method:</a:t>
                </a:r>
                <a:r>
                  <a:rPr kumimoji="0" lang="x-none" altLang="x-none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altLang="x-none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Method: Similar to standardization but uses median and interquartile range (IQR) instead of mean and standard deviation. It subtracts the median and scales to the IQR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altLang="x-none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0" lang="en-GB" altLang="x-none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GB" altLang="x-none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𝑠𝑐𝑎𝑙𝑒𝑑</m:t>
                        </m:r>
                      </m:sub>
                    </m:sSub>
                    <m:r>
                      <a:rPr kumimoji="0" lang="en-GB" altLang="x-none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kumimoji="0" lang="en-GB" altLang="x-none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kumimoji="0" lang="en-GB" altLang="x-none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kumimoji="0" lang="en-GB" altLang="x-none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kumimoji="0" lang="en-GB" altLang="x-none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𝑚𝑒𝑑𝑖𝑎𝑛</m:t>
                        </m:r>
                      </m:num>
                      <m:den>
                        <m:sSub>
                          <m:sSubPr>
                            <m:ctrlPr>
                              <a:rPr kumimoji="0" lang="en-GB" altLang="x-none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GB" altLang="x-none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r>
                              <a:rPr kumimoji="0" lang="en-GB" altLang="x-none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kumimoji="0" lang="en-GB" altLang="x-none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kumimoji="0" lang="en-GB" altLang="x-none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GB" altLang="x-none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r>
                              <a:rPr kumimoji="0" lang="en-GB" altLang="x-none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kumimoji="0" lang="en-GB" altLang="x-none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GB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GB" sz="2000" dirty="0">
                  <a:latin typeface="Consolas" panose="020B06090202040302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sz="2000" dirty="0">
                    <a:latin typeface="Consolas" panose="020B0609020204030204" pitchFamily="49" charset="0"/>
                  </a:rPr>
                  <a:t>from </a:t>
                </a:r>
                <a:r>
                  <a:rPr lang="en-GB" sz="2000" dirty="0" err="1">
                    <a:latin typeface="Consolas" panose="020B0609020204030204" pitchFamily="49" charset="0"/>
                  </a:rPr>
                  <a:t>sklearn.preprocessing</a:t>
                </a:r>
                <a:r>
                  <a:rPr lang="en-GB" sz="2000" dirty="0">
                    <a:latin typeface="Consolas" panose="020B0609020204030204" pitchFamily="49" charset="0"/>
                  </a:rPr>
                  <a:t> import </a:t>
                </a:r>
                <a:r>
                  <a:rPr lang="en-GB" sz="2000" dirty="0" err="1">
                    <a:latin typeface="Consolas" panose="020B0609020204030204" pitchFamily="49" charset="0"/>
                  </a:rPr>
                  <a:t>RobustScaler</a:t>
                </a:r>
                <a:r>
                  <a:rPr lang="en-GB" sz="2000" dirty="0">
                    <a:latin typeface="Consolas" panose="020B0609020204030204" pitchFamily="49" charset="0"/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GB" sz="2000" dirty="0">
                    <a:latin typeface="Consolas" panose="020B0609020204030204" pitchFamily="49" charset="0"/>
                  </a:rPr>
                  <a:t>scaler = </a:t>
                </a:r>
                <a:r>
                  <a:rPr lang="en-GB" sz="2000" dirty="0" err="1">
                    <a:latin typeface="Consolas" panose="020B0609020204030204" pitchFamily="49" charset="0"/>
                  </a:rPr>
                  <a:t>RobustScaler</a:t>
                </a:r>
                <a:r>
                  <a:rPr lang="en-GB" sz="2000" dirty="0">
                    <a:latin typeface="Consolas" panose="020B0609020204030204" pitchFamily="49" charset="0"/>
                  </a:rPr>
                  <a:t>()  // scaler</a:t>
                </a:r>
              </a:p>
              <a:p>
                <a:pPr marL="457200" lvl="1" indent="0">
                  <a:buNone/>
                </a:pPr>
                <a:r>
                  <a:rPr lang="en-GB" sz="2000" dirty="0" err="1">
                    <a:latin typeface="Consolas" panose="020B0609020204030204" pitchFamily="49" charset="0"/>
                  </a:rPr>
                  <a:t>sd</a:t>
                </a:r>
                <a:r>
                  <a:rPr lang="en-GB" sz="2000" dirty="0">
                    <a:latin typeface="Consolas" panose="020B0609020204030204" pitchFamily="49" charset="0"/>
                  </a:rPr>
                  <a:t> = </a:t>
                </a:r>
                <a:r>
                  <a:rPr lang="en-GB" sz="2000" dirty="0" err="1">
                    <a:latin typeface="Consolas" panose="020B0609020204030204" pitchFamily="49" charset="0"/>
                  </a:rPr>
                  <a:t>scaler.fit_transform</a:t>
                </a:r>
                <a:r>
                  <a:rPr lang="en-GB" sz="2000" dirty="0">
                    <a:latin typeface="Consolas" panose="020B0609020204030204" pitchFamily="49" charset="0"/>
                  </a:rPr>
                  <a:t>(data)  // fit scaler on data dataframe</a:t>
                </a:r>
              </a:p>
              <a:p>
                <a:pPr marL="457200" lvl="1" indent="0">
                  <a:buNone/>
                </a:pP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df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=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pd.DataFrame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(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sd,columns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=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data.columns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, index=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data.index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)  // convert the scaled data back to dataframe</a:t>
                </a:r>
              </a:p>
              <a:p>
                <a:pPr marL="457200" lvl="1" indent="0">
                  <a:buNone/>
                </a:pPr>
                <a:r>
                  <a:rPr lang="en-GB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Scaling a single column</a:t>
                </a:r>
              </a:p>
              <a:p>
                <a:pPr marL="457200" lvl="1" indent="0">
                  <a:buNone/>
                </a:pP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s_c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 = 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scaler.fit_transform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(data[‘col'].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values.reshape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(-1,1))</a:t>
                </a:r>
              </a:p>
              <a:p>
                <a:pPr marL="457200" lvl="1" indent="0">
                  <a:buNone/>
                </a:pP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data[‘col’] = 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s_c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   // add back the scaled column in the 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df</a:t>
                </a:r>
                <a:endParaRPr lang="en-GB" sz="2000" dirty="0">
                  <a:latin typeface="Consolas" panose="020B0609020204030204" pitchFamily="49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F158863-4BAF-F436-D2DE-7E5934A3A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1123" y="1014446"/>
                <a:ext cx="9849751" cy="4766080"/>
              </a:xfrm>
              <a:blipFill>
                <a:blip r:embed="rId2"/>
                <a:stretch>
                  <a:fillRect l="-619" t="-1279" r="-371" b="-10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660C956-3220-E6DA-57FB-E6FB5660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x-none" altLang="x-non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80541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470" y="-308484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 Scaling …</a:t>
            </a:r>
            <a:endParaRPr lang="x-none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="" xmlns:a16="http://schemas.microsoft.com/office/drawing/2014/main" id="{FF158863-4BAF-F436-D2DE-7E5934A3A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1123" y="1014446"/>
                <a:ext cx="9849751" cy="476608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GB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Normalization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GB" altLang="x-none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Steps: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Calculate Euclidean Length 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𝐸𝑢𝑐𝑙𝑖𝑑𝑒𝑎𝑛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𝐿𝑒𝑛𝑔𝑡h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 …+</m:t>
                        </m:r>
                        <m:sSubSup>
                          <m:sSub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kumimoji="0" lang="en-GB" altLang="x-none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2000" dirty="0"/>
                  <a:t>Apply the Normalization Formula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𝑠𝑐𝑎𝑙𝑒𝑑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𝐸𝑢𝑐𝑙𝑖𝑑𝑒𝑎𝑛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𝐿𝑒𝑛𝑔𝑡h</m:t>
                        </m:r>
                      </m:den>
                    </m:f>
                  </m:oMath>
                </a14:m>
                <a:endParaRPr lang="en-GB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GB" sz="2000" dirty="0">
                  <a:latin typeface="Consolas" panose="020B06090202040302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sz="2000" dirty="0">
                    <a:latin typeface="Consolas" panose="020B0609020204030204" pitchFamily="49" charset="0"/>
                  </a:rPr>
                  <a:t>from </a:t>
                </a:r>
                <a:r>
                  <a:rPr lang="en-GB" sz="2000" dirty="0" err="1">
                    <a:latin typeface="Consolas" panose="020B0609020204030204" pitchFamily="49" charset="0"/>
                  </a:rPr>
                  <a:t>sklearn.preprocessing</a:t>
                </a:r>
                <a:r>
                  <a:rPr lang="en-GB" sz="2000" dirty="0">
                    <a:latin typeface="Consolas" panose="020B0609020204030204" pitchFamily="49" charset="0"/>
                  </a:rPr>
                  <a:t> import Normalizer </a:t>
                </a:r>
              </a:p>
              <a:p>
                <a:pPr marL="457200" lvl="1" indent="0">
                  <a:buNone/>
                </a:pPr>
                <a:r>
                  <a:rPr lang="en-GB" sz="2000" dirty="0">
                    <a:latin typeface="Consolas" panose="020B0609020204030204" pitchFamily="49" charset="0"/>
                  </a:rPr>
                  <a:t>scaler = Normalizer()  // scaler</a:t>
                </a:r>
              </a:p>
              <a:p>
                <a:pPr marL="457200" lvl="1" indent="0">
                  <a:buNone/>
                </a:pPr>
                <a:r>
                  <a:rPr lang="en-GB" sz="2000" dirty="0" err="1">
                    <a:latin typeface="Consolas" panose="020B0609020204030204" pitchFamily="49" charset="0"/>
                  </a:rPr>
                  <a:t>sd</a:t>
                </a:r>
                <a:r>
                  <a:rPr lang="en-GB" sz="2000" dirty="0">
                    <a:latin typeface="Consolas" panose="020B0609020204030204" pitchFamily="49" charset="0"/>
                  </a:rPr>
                  <a:t> = </a:t>
                </a:r>
                <a:r>
                  <a:rPr lang="en-GB" sz="2000" dirty="0" err="1">
                    <a:latin typeface="Consolas" panose="020B0609020204030204" pitchFamily="49" charset="0"/>
                  </a:rPr>
                  <a:t>scaler.fit_transform</a:t>
                </a:r>
                <a:r>
                  <a:rPr lang="en-GB" sz="2000" dirty="0">
                    <a:latin typeface="Consolas" panose="020B0609020204030204" pitchFamily="49" charset="0"/>
                  </a:rPr>
                  <a:t>(data)  // fit scaler on data dataframe</a:t>
                </a:r>
              </a:p>
              <a:p>
                <a:pPr marL="457200" lvl="1" indent="0">
                  <a:buNone/>
                </a:pP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df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=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pd.DataFrame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(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sd,columns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=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data.columns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, index=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data.index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)  // convert the scaled data back to dataframe</a:t>
                </a:r>
              </a:p>
              <a:p>
                <a:pPr marL="457200" lvl="1" indent="0">
                  <a:buNone/>
                </a:pPr>
                <a:r>
                  <a:rPr lang="en-GB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Scaling a single column</a:t>
                </a:r>
              </a:p>
              <a:p>
                <a:pPr marL="457200" lvl="1" indent="0">
                  <a:buNone/>
                </a:pP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s_c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 = 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scaler.fit_transform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(data[‘col'].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values.reshape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(-1,1))</a:t>
                </a:r>
              </a:p>
              <a:p>
                <a:pPr marL="457200" lvl="1" indent="0">
                  <a:buNone/>
                </a:pP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data[‘col’] = 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s_c</a:t>
                </a:r>
                <a:r>
                  <a:rPr lang="en-GB" sz="2000" dirty="0">
                    <a:latin typeface="Consolas" panose="020B0609020204030204" pitchFamily="49" charset="0"/>
                    <a:cs typeface="Calibri" panose="020F0502020204030204" pitchFamily="34" charset="0"/>
                  </a:rPr>
                  <a:t>   // add back the scaled column in the </a:t>
                </a:r>
                <a:r>
                  <a:rPr lang="en-GB" sz="2000" dirty="0" err="1">
                    <a:latin typeface="Consolas" panose="020B0609020204030204" pitchFamily="49" charset="0"/>
                    <a:cs typeface="Calibri" panose="020F0502020204030204" pitchFamily="34" charset="0"/>
                  </a:rPr>
                  <a:t>df</a:t>
                </a:r>
                <a:endParaRPr lang="en-GB" sz="2000" dirty="0">
                  <a:latin typeface="Consolas" panose="020B0609020204030204" pitchFamily="49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F158863-4BAF-F436-D2DE-7E5934A3A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1123" y="1014446"/>
                <a:ext cx="9849751" cy="4766080"/>
              </a:xfrm>
              <a:blipFill>
                <a:blip r:embed="rId2"/>
                <a:stretch>
                  <a:fillRect l="-619" t="-1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660C956-3220-E6DA-57FB-E6FB5660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x-none" altLang="x-non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28608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Transformation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39"/>
            <a:ext cx="9849751" cy="4766080"/>
          </a:xfrm>
        </p:spPr>
        <p:txBody>
          <a:bodyPr anchor="t">
            <a:normAutofit/>
          </a:bodyPr>
          <a:lstStyle/>
          <a:p>
            <a:pPr algn="just"/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Transformation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involves applying mathematical functions or algorithms to modify data to meet specific objectives such as normalization, handling skewness, capturing non-linear relationships, and improving model performance.</a:t>
            </a:r>
          </a:p>
          <a:p>
            <a:pPr algn="just"/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 Data: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Transformations can normalize data to ensure all features have similar scales, preventing certain features from dominating due to their larger magnitude.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Skewed Data: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Transformations can mitigate skewness in data distributions, making them more symmetric and suitable for models that assume normality.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Non-linear Relationships: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Transformations can transform variables to capture non-linear relationships that might exist between features and the target variable.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Model Performance: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preprocessing data through transformations, models can be trained more effectively, leading to improved accuracy and generalization.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708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Transformation…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39"/>
            <a:ext cx="9849751" cy="4766080"/>
          </a:xfrm>
        </p:spPr>
        <p:txBody>
          <a:bodyPr anchor="t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Log Transformation</a:t>
            </a:r>
          </a:p>
          <a:p>
            <a:pPr lvl="1"/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Method: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Apply Logarithm to Each Data Point</a:t>
            </a:r>
          </a:p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Objective: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Logarithmic transformations are effective for reducing skewness in data with positive skew (right-skewed distributions).</a:t>
            </a:r>
          </a:p>
          <a:p>
            <a:pPr lvl="1"/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They can stabilize variance across features and make relationships more linear.</a:t>
            </a:r>
          </a:p>
          <a:p>
            <a:pPr marL="0" indent="0" algn="just">
              <a:buNone/>
            </a:pPr>
            <a:endParaRPr lang="de-DE" sz="1800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de-DE" sz="1800" dirty="0">
                <a:latin typeface="Consolas" panose="020B0609020204030204" pitchFamily="49" charset="0"/>
              </a:rPr>
              <a:t>Import numpy as np</a:t>
            </a:r>
          </a:p>
          <a:p>
            <a:pPr marL="0" indent="0" algn="just">
              <a:buNone/>
            </a:pPr>
            <a:r>
              <a:rPr lang="de-DE" sz="1800" dirty="0">
                <a:latin typeface="Consolas" panose="020B0609020204030204" pitchFamily="49" charset="0"/>
              </a:rPr>
              <a:t>transformed_data = np.log1p(data)  // data is the dataframe</a:t>
            </a:r>
          </a:p>
          <a:p>
            <a:pPr marL="0" indent="0" algn="just">
              <a:buNone/>
            </a:pPr>
            <a:endParaRPr lang="en-GB" sz="18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GB" sz="1800" b="1" dirty="0">
                <a:latin typeface="Consolas" panose="020B0609020204030204" pitchFamily="49" charset="0"/>
                <a:cs typeface="Calibri" panose="020F0502020204030204" pitchFamily="34" charset="0"/>
              </a:rPr>
              <a:t>Transforming single column</a:t>
            </a:r>
          </a:p>
          <a:p>
            <a:pPr marL="0" indent="0" algn="just">
              <a:buNone/>
            </a:pPr>
            <a:r>
              <a:rPr lang="de-DE" sz="1800" dirty="0">
                <a:latin typeface="Consolas" panose="020B0609020204030204" pitchFamily="49" charset="0"/>
              </a:rPr>
              <a:t>transformed_data = np.log1p(data['col'])  // col is column name</a:t>
            </a:r>
          </a:p>
          <a:p>
            <a:pPr marL="0" indent="0" algn="just">
              <a:buNone/>
            </a:pPr>
            <a:endParaRPr lang="de-DE" sz="18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093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Transformation…</a:t>
            </a:r>
            <a:endParaRPr lang="x-none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="" xmlns:a16="http://schemas.microsoft.com/office/drawing/2014/main" id="{FF158863-4BAF-F436-D2DE-7E5934A3A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1123" y="1457739"/>
                <a:ext cx="5229677" cy="4766080"/>
              </a:xfrm>
            </p:spPr>
            <p:txBody>
              <a:bodyPr anchor="t">
                <a:normAutofit/>
              </a:bodyPr>
              <a:lstStyle/>
              <a:p>
                <a:r>
                  <a:rPr lang="en-GB" sz="2000" b="1" dirty="0"/>
                  <a:t>Box-Cox Transformation</a:t>
                </a:r>
              </a:p>
              <a:p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Box-Cox transformation is a statistical technique used to transform a non-normally distributed dataset into a more normally distributed one. 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𝜆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𝜆</m:t>
                            </m:r>
                          </m:sup>
                        </m:sSup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𝜆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≠0</m:t>
                    </m:r>
                  </m:oMath>
                </a14:m>
                <a:endParaRPr lang="en-GB" sz="20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𝜆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endParaRPr lang="en-GB" sz="20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en-GB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000" b="1" dirty="0"/>
                  <a:t>Objective:</a:t>
                </a:r>
                <a:endParaRPr lang="en-GB" sz="2000" dirty="0"/>
              </a:p>
              <a:p>
                <a:pPr lvl="1"/>
                <a:r>
                  <a:rPr lang="en-GB" sz="1600" dirty="0"/>
                  <a:t>Box-Cox transformations are versatile for stabilizing variance and normalizing data that doesn't follow a normal distribution.</a:t>
                </a:r>
              </a:p>
              <a:p>
                <a:pPr lvl="1"/>
                <a:r>
                  <a:rPr lang="en-GB" sz="1600" dirty="0"/>
                  <a:t>They can handle both positively and negatively skewed data.</a:t>
                </a:r>
              </a:p>
              <a:p>
                <a:pPr algn="just"/>
                <a:endParaRPr lang="en-GB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F158863-4BAF-F436-D2DE-7E5934A3A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1123" y="1457739"/>
                <a:ext cx="5229677" cy="4766080"/>
              </a:xfrm>
              <a:blipFill>
                <a:blip r:embed="rId2"/>
                <a:stretch>
                  <a:fillRect l="-1049" t="-115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6075C6E-B719-EA2B-9E66-4DA34D0CEEF7}"/>
              </a:ext>
            </a:extLst>
          </p:cNvPr>
          <p:cNvSpPr txBox="1"/>
          <p:nvPr/>
        </p:nvSpPr>
        <p:spPr>
          <a:xfrm>
            <a:off x="4277033" y="2943591"/>
            <a:ext cx="791496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de-DE" dirty="0">
                <a:latin typeface="Consolas" panose="020B0609020204030204" pitchFamily="49" charset="0"/>
              </a:rPr>
              <a:t>from scipy.stats import boxcox</a:t>
            </a:r>
          </a:p>
          <a:p>
            <a:r>
              <a:rPr lang="de-DE" dirty="0">
                <a:latin typeface="Consolas" panose="020B0609020204030204" pitchFamily="49" charset="0"/>
              </a:rPr>
              <a:t>lambda_optimal = boxcox(data, lmbda=None)[1] // 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single column </a:t>
            </a:r>
          </a:p>
          <a:p>
            <a:r>
              <a:rPr lang="de-DE" dirty="0">
                <a:latin typeface="Consolas" panose="020B0609020204030204" pitchFamily="49" charset="0"/>
              </a:rPr>
              <a:t>data_transformed = boxcox(data, lmbda=lambda_optimal)</a:t>
            </a:r>
          </a:p>
          <a:p>
            <a:r>
              <a:rPr lang="de-DE" dirty="0">
                <a:latin typeface="Consolas" panose="020B0609020204030204" pitchFamily="49" charset="0"/>
              </a:rPr>
              <a:t>plt.hist(data)  //visualize data</a:t>
            </a:r>
          </a:p>
          <a:p>
            <a:r>
              <a:rPr lang="de-DE" dirty="0">
                <a:latin typeface="Consolas" panose="020B0609020204030204" pitchFamily="49" charset="0"/>
              </a:rPr>
              <a:t>Plt.hist(data_transformed)  // visualize transformed data</a:t>
            </a:r>
            <a:endParaRPr lang="x-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734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Transformation…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mc="http://schemas.openxmlformats.org/markup-compatibility/2006" xmlns:a14="http://schemas.microsoft.com/office/drawing/2010/main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39"/>
            <a:ext cx="10441349" cy="4766080"/>
          </a:xfrm>
        </p:spPr>
        <p:txBody>
          <a:bodyPr anchor="t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Quantile Transformation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Quantile transformations transform data into a uniform or normal distribution, respectively.</a:t>
            </a:r>
          </a:p>
          <a:p>
            <a:r>
              <a:rPr lang="en-GB" sz="2000" b="1" dirty="0"/>
              <a:t>Steps in Quantile Transformation</a:t>
            </a:r>
          </a:p>
          <a:p>
            <a:pPr lvl="1"/>
            <a:r>
              <a:rPr lang="en-US" sz="1600" dirty="0"/>
              <a:t>Quantile transformation is a </a:t>
            </a:r>
            <a:r>
              <a:rPr lang="en-US" sz="1600" b="1" dirty="0"/>
              <a:t>non-linear transformation</a:t>
            </a:r>
            <a:r>
              <a:rPr lang="en-US" sz="1600" dirty="0"/>
              <a:t> that </a:t>
            </a:r>
            <a:r>
              <a:rPr lang="en-US" sz="1600" b="1" dirty="0"/>
              <a:t>maps data to a uniform or normal distribution</a:t>
            </a:r>
            <a:r>
              <a:rPr lang="en-US" sz="1600" dirty="0"/>
              <a:t> using percentiles. This helps in handling </a:t>
            </a:r>
            <a:r>
              <a:rPr lang="en-US" sz="1600" b="1" dirty="0"/>
              <a:t>skewed data</a:t>
            </a:r>
            <a:r>
              <a:rPr lang="en-US" sz="1600" dirty="0"/>
              <a:t>, making it more Gaussian-like</a:t>
            </a:r>
            <a:r>
              <a:rPr lang="en-US" sz="1600" dirty="0" smtClean="0"/>
              <a:t>.</a:t>
            </a:r>
          </a:p>
          <a:p>
            <a:pPr lvl="1"/>
            <a:endParaRPr lang="en-GB" sz="1600" dirty="0"/>
          </a:p>
          <a:p>
            <a:pPr marL="457200" lvl="1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from </a:t>
            </a:r>
            <a:r>
              <a:rPr lang="en-GB" sz="1600" dirty="0" err="1">
                <a:latin typeface="Consolas" panose="020B0609020204030204" pitchFamily="49" charset="0"/>
              </a:rPr>
              <a:t>sklearn.preprocessing</a:t>
            </a:r>
            <a:r>
              <a:rPr lang="en-GB" sz="1600" dirty="0">
                <a:latin typeface="Consolas" panose="020B0609020204030204" pitchFamily="49" charset="0"/>
              </a:rPr>
              <a:t> import </a:t>
            </a:r>
            <a:r>
              <a:rPr lang="en-GB" sz="1600" dirty="0" err="1">
                <a:latin typeface="Consolas" panose="020B0609020204030204" pitchFamily="49" charset="0"/>
              </a:rPr>
              <a:t>QuantileTransformer</a:t>
            </a:r>
            <a:endParaRPr lang="en-GB" sz="16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qt = QuantileTransformer(output_distribution='normal', random_state=0)</a:t>
            </a:r>
          </a:p>
          <a:p>
            <a:pPr marL="457200" lvl="1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transformed_data = qt.fit_transform(data)</a:t>
            </a:r>
          </a:p>
          <a:p>
            <a:pPr marL="457200" lvl="1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transformed_data_df = pd.DataFrame(transformed_data, columns=data.columns)</a:t>
            </a:r>
          </a:p>
          <a:p>
            <a:pPr marL="457200" lvl="1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plt.hist(data['col']) // visualize any column</a:t>
            </a:r>
          </a:p>
          <a:p>
            <a:pPr marL="457200" lvl="1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plt.hist(transformed_data['col'] // visualize transformed data column</a:t>
            </a:r>
          </a:p>
          <a:p>
            <a:pPr marL="457200" lvl="1" indent="0">
              <a:buNone/>
            </a:pPr>
            <a:endParaRPr lang="en-GB" sz="1600" dirty="0">
              <a:latin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8596DD-4329-D8A7-BE30-96013B33FBA7}"/>
              </a:ext>
            </a:extLst>
          </p:cNvPr>
          <p:cNvSpPr txBox="1"/>
          <p:nvPr/>
        </p:nvSpPr>
        <p:spPr>
          <a:xfrm>
            <a:off x="5723954" y="1717876"/>
            <a:ext cx="6468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x-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466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Transformation…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mc="http://schemas.openxmlformats.org/markup-compatibility/2006" xmlns:a14="http://schemas.microsoft.com/office/drawing/2010/main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39"/>
            <a:ext cx="10441349" cy="4766080"/>
          </a:xfrm>
        </p:spPr>
        <p:txBody>
          <a:bodyPr anchor="t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Quantile Transformation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GB" sz="1600" dirty="0">
              <a:latin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8596DD-4329-D8A7-BE30-96013B33FBA7}"/>
              </a:ext>
            </a:extLst>
          </p:cNvPr>
          <p:cNvSpPr txBox="1"/>
          <p:nvPr/>
        </p:nvSpPr>
        <p:spPr>
          <a:xfrm>
            <a:off x="5723954" y="1717876"/>
            <a:ext cx="6468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x-none" dirty="0"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655" y="1717876"/>
            <a:ext cx="8699007" cy="461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21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39"/>
            <a:ext cx="9849751" cy="4766080"/>
          </a:xfrm>
        </p:spPr>
        <p:txBody>
          <a:bodyPr anchor="t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is the process of selecting and transforming variables (features) from raw data into formats that are suitable for machine learning models 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It involves creating new features or modifying existing ones to improve the performance of machine learning algorithms</a:t>
            </a:r>
          </a:p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Model Performance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engineering aims to enhance the predictive accuracy of machine learning models by providing them with more relevant and discriminative features.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Enabling Machine Learning Algorithms: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algorithms require specific data formats or distributions (e.g., linear models assume linear relationships). Feature engineering prepares data to meet these requirements.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Reducing </a:t>
            </a:r>
            <a:r>
              <a:rPr kumimoji="0" lang="en-US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Overfitting: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prevent models from capturing noise or irrelevant patterns.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Interpretability: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Engineering features can make models more interpretable  </a:t>
            </a: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968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39"/>
            <a:ext cx="9849751" cy="4766080"/>
          </a:xfrm>
        </p:spPr>
        <p:txBody>
          <a:bodyPr anchor="t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For numeric data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, feature engineering involves various techniques to improve data quality, create new features, and enhance model performance.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Handling Missing Values</a:t>
            </a:r>
            <a:endParaRPr kumimoji="0" lang="en-GB" altLang="x-none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Transformation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Scaling and Normalization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Binning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Polynomial Features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Interaction Features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Clipping </a:t>
            </a:r>
            <a:endParaRPr kumimoji="0" lang="en-GB" altLang="x-none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6926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23" y="1457739"/>
            <a:ext cx="10229380" cy="4766080"/>
          </a:xfrm>
        </p:spPr>
        <p:txBody>
          <a:bodyPr anchor="t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b="1" dirty="0"/>
              <a:t>Binning</a:t>
            </a:r>
            <a:r>
              <a:rPr lang="en-GB" sz="2000" dirty="0"/>
              <a:t>, also known as </a:t>
            </a:r>
            <a:r>
              <a:rPr lang="en-GB" sz="2000" b="1" dirty="0"/>
              <a:t>discretization</a:t>
            </a:r>
            <a:r>
              <a:rPr lang="en-GB" sz="2000" dirty="0"/>
              <a:t> or </a:t>
            </a:r>
            <a:r>
              <a:rPr lang="en-GB" sz="2000" b="1" dirty="0"/>
              <a:t>bucketing</a:t>
            </a:r>
            <a:r>
              <a:rPr lang="en-GB" sz="2000" dirty="0"/>
              <a:t>, is a data preprocessing technique used to group continuous or discrete data into a smaller number of "bins" or intervals. </a:t>
            </a:r>
            <a:endParaRPr kumimoji="0" lang="x-none" altLang="x-none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de-DE" sz="1800" dirty="0">
                <a:latin typeface="Consolas" panose="020B0609020204030204" pitchFamily="49" charset="0"/>
              </a:rPr>
              <a:t>data['A_binned'] = pd.cut(data['A'], bins=3, labels=["Low", "Medium", "High"])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194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2" y="1457739"/>
            <a:ext cx="11111729" cy="4766080"/>
          </a:xfrm>
        </p:spPr>
        <p:txBody>
          <a:bodyPr anchor="t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Polynomial features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refer to the creation of new features based on the existing features, by taking their polynomial combinations up to a specified degree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Capture Non-Linear Relationships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Polynomial features allow linear models to fit more complex, non-linear patterns.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Improved Model Performance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In some cases, introducing polynomial features can significantly improve the performance of models, particularly for algorithms like linear regression. </a:t>
            </a:r>
          </a:p>
          <a:p>
            <a:pPr marL="0" indent="0">
              <a:buNone/>
            </a:pPr>
            <a:r>
              <a:rPr lang="de-DE" sz="1800" dirty="0">
                <a:latin typeface="Consolas" panose="020B0609020204030204" pitchFamily="49" charset="0"/>
              </a:rPr>
              <a:t>from sklearn.preprocessing import PolynomialFeatures </a:t>
            </a:r>
          </a:p>
          <a:p>
            <a:pPr marL="0" indent="0">
              <a:buNone/>
            </a:pPr>
            <a:r>
              <a:rPr lang="de-DE" sz="1800" dirty="0">
                <a:latin typeface="Consolas" panose="020B0609020204030204" pitchFamily="49" charset="0"/>
              </a:rPr>
              <a:t>poly = PolynomialFeatures(degree=2, include_bias=False) </a:t>
            </a:r>
          </a:p>
          <a:p>
            <a:pPr marL="0" indent="0">
              <a:buNone/>
            </a:pPr>
            <a:r>
              <a:rPr lang="de-DE" sz="1800" dirty="0">
                <a:latin typeface="Consolas" panose="020B0609020204030204" pitchFamily="49" charset="0"/>
              </a:rPr>
              <a:t>data_poly = poly.fit_transform(data.fillna(0))</a:t>
            </a:r>
          </a:p>
          <a:p>
            <a:pPr marL="0" indent="0">
              <a:buNone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Single Column:</a:t>
            </a:r>
          </a:p>
          <a:p>
            <a:pPr marL="0" indent="0">
              <a:buNone/>
            </a:pPr>
            <a:r>
              <a:rPr lang="de-DE" sz="1800" dirty="0">
                <a:latin typeface="Consolas" panose="020B0609020204030204" pitchFamily="49" charset="0"/>
              </a:rPr>
              <a:t>from sklearn.preprocessing import PolynomialFeatures </a:t>
            </a:r>
          </a:p>
          <a:p>
            <a:pPr marL="0" indent="0">
              <a:buNone/>
            </a:pPr>
            <a:r>
              <a:rPr lang="de-DE" sz="1800" dirty="0">
                <a:latin typeface="Consolas" panose="020B0609020204030204" pitchFamily="49" charset="0"/>
              </a:rPr>
              <a:t>poly = PolynomialFeatures(degree=2, include_bias=False) // 2 degree</a:t>
            </a:r>
          </a:p>
          <a:p>
            <a:pPr marL="0" indent="0">
              <a:buNone/>
            </a:pPr>
            <a:r>
              <a:rPr lang="de-DE" sz="1800" dirty="0">
                <a:latin typeface="Consolas" panose="020B0609020204030204" pitchFamily="49" charset="0"/>
              </a:rPr>
              <a:t>data_poly = poly.fit_transform(data['col'].values.reshape(-1,1)) // convert col</a:t>
            </a:r>
          </a:p>
          <a:p>
            <a:pPr marL="0" indent="0">
              <a:buNone/>
            </a:pPr>
            <a:r>
              <a:rPr lang="en-GB" sz="1800" dirty="0" err="1">
                <a:latin typeface="Consolas" panose="020B0609020204030204" pitchFamily="49" charset="0"/>
                <a:cs typeface="Calibri" panose="020F0502020204030204" pitchFamily="34" charset="0"/>
              </a:rPr>
              <a:t>poly_df</a:t>
            </a:r>
            <a:r>
              <a:rPr lang="en-GB" sz="1800" dirty="0">
                <a:latin typeface="Consolas" panose="020B0609020204030204" pitchFamily="49" charset="0"/>
                <a:cs typeface="Calibri" panose="020F0502020204030204" pitchFamily="34" charset="0"/>
              </a:rPr>
              <a:t> = </a:t>
            </a:r>
            <a:r>
              <a:rPr lang="en-GB" sz="1800" dirty="0" err="1">
                <a:latin typeface="Consolas" panose="020B0609020204030204" pitchFamily="49" charset="0"/>
                <a:cs typeface="Calibri" panose="020F0502020204030204" pitchFamily="34" charset="0"/>
              </a:rPr>
              <a:t>pd.DataFrame</a:t>
            </a:r>
            <a:r>
              <a:rPr lang="en-GB" sz="1800" dirty="0">
                <a:latin typeface="Consolas" panose="020B0609020204030204" pitchFamily="49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onsolas" panose="020B0609020204030204" pitchFamily="49" charset="0"/>
                <a:cs typeface="Calibri" panose="020F0502020204030204" pitchFamily="34" charset="0"/>
              </a:rPr>
              <a:t>data_poly</a:t>
            </a:r>
            <a:r>
              <a:rPr lang="en-GB" sz="1800" dirty="0">
                <a:latin typeface="Consolas" panose="020B0609020204030204" pitchFamily="49" charset="0"/>
                <a:cs typeface="Calibri" panose="020F0502020204030204" pitchFamily="34" charset="0"/>
              </a:rPr>
              <a:t>, columns=['col', '</a:t>
            </a:r>
            <a:r>
              <a:rPr lang="en-GB" sz="1800" dirty="0" err="1">
                <a:latin typeface="Consolas" panose="020B0609020204030204" pitchFamily="49" charset="0"/>
                <a:cs typeface="Calibri" panose="020F0502020204030204" pitchFamily="34" charset="0"/>
              </a:rPr>
              <a:t>new_col</a:t>
            </a:r>
            <a:r>
              <a:rPr lang="en-GB" sz="1800" dirty="0">
                <a:latin typeface="Consolas" panose="020B0609020204030204" pitchFamily="49" charset="0"/>
                <a:cs typeface="Calibri" panose="020F0502020204030204" pitchFamily="34" charset="0"/>
              </a:rPr>
              <a:t>’]) // convert to dataframe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  <a:cs typeface="Calibri" panose="020F0502020204030204" pitchFamily="34" charset="0"/>
              </a:rPr>
              <a:t>Data = </a:t>
            </a:r>
            <a:r>
              <a:rPr lang="en-GB" sz="1800" dirty="0" err="1">
                <a:latin typeface="Consolas" panose="020B0609020204030204" pitchFamily="49" charset="0"/>
                <a:cs typeface="Calibri" panose="020F0502020204030204" pitchFamily="34" charset="0"/>
              </a:rPr>
              <a:t>data.join</a:t>
            </a:r>
            <a:r>
              <a:rPr lang="en-GB" sz="1800" dirty="0">
                <a:latin typeface="Consolas" panose="020B0609020204030204" pitchFamily="49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onsolas" panose="020B0609020204030204" pitchFamily="49" charset="0"/>
                <a:cs typeface="Calibri" panose="020F0502020204030204" pitchFamily="34" charset="0"/>
              </a:rPr>
              <a:t>poly_df</a:t>
            </a:r>
            <a:r>
              <a:rPr lang="en-GB" sz="1800" dirty="0">
                <a:latin typeface="Consolas" panose="020B0609020204030204" pitchFamily="49" charset="0"/>
                <a:cs typeface="Calibri" panose="020F0502020204030204" pitchFamily="34" charset="0"/>
              </a:rPr>
              <a:t>) // join with old dataframe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13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2" y="1457739"/>
            <a:ext cx="11111729" cy="4766080"/>
          </a:xfrm>
        </p:spPr>
        <p:txBody>
          <a:bodyPr anchor="t">
            <a:normAutofit/>
          </a:bodyPr>
          <a:lstStyle/>
          <a:p>
            <a:r>
              <a:rPr lang="en-GB" sz="2200" b="1" dirty="0">
                <a:latin typeface="Calibri" panose="020F0502020204030204" pitchFamily="34" charset="0"/>
                <a:cs typeface="Calibri" panose="020F0502020204030204" pitchFamily="34" charset="0"/>
              </a:rPr>
              <a:t>Interaction features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 are new features created by multiplying two or more existing features together. </a:t>
            </a:r>
          </a:p>
          <a:p>
            <a:pPr lvl="1"/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They capture the combined effect of features on the target variable, which might not be apparent when considering each feature individually.</a:t>
            </a:r>
          </a:p>
          <a:p>
            <a:pPr marL="0" indent="0">
              <a:buNone/>
            </a:pPr>
            <a:r>
              <a:rPr lang="it-IT" sz="2000" dirty="0">
                <a:latin typeface="Consolas" panose="020B0609020204030204" pitchFamily="49" charset="0"/>
                <a:cs typeface="Calibri" panose="020F0502020204030204" pitchFamily="34" charset="0"/>
              </a:rPr>
              <a:t>data['X1_X2'] = data['X1'] * data['X2’]</a:t>
            </a:r>
          </a:p>
          <a:p>
            <a:pPr marL="0" indent="0">
              <a:buNone/>
            </a:pPr>
            <a:endParaRPr lang="it-IT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Clipping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is a data preprocessing technique that involves limiting the range of values in a dataset to a specific interval. Values outside this interval are replaced with the maximum or minimum value of the interval.</a:t>
            </a:r>
          </a:p>
          <a:p>
            <a:pPr lvl="1"/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Handle outliers</a:t>
            </a:r>
          </a:p>
          <a:p>
            <a:pPr lvl="1"/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Data normalization</a:t>
            </a:r>
          </a:p>
          <a:p>
            <a:pPr marL="457200" lvl="1" indent="0">
              <a:buNone/>
            </a:pPr>
            <a:endParaRPr lang="de-D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it-IT" sz="1800" dirty="0">
                <a:latin typeface="Consolas" panose="020B0609020204030204" pitchFamily="49" charset="0"/>
              </a:rPr>
              <a:t>data['A_clipped'] = data['A'].clip(2, 4)  // numpy’s clip function is used</a:t>
            </a:r>
            <a:endParaRPr lang="en-GB" sz="18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887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2" y="1457739"/>
            <a:ext cx="11111729" cy="4766080"/>
          </a:xfrm>
        </p:spPr>
        <p:txBody>
          <a:bodyPr anchor="t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Feature engineering for </a:t>
            </a:r>
            <a:r>
              <a:rPr lang="en-GB" sz="2200" b="1" dirty="0">
                <a:latin typeface="Calibri" panose="020F0502020204030204" pitchFamily="34" charset="0"/>
                <a:cs typeface="Calibri" panose="020F0502020204030204" pitchFamily="34" charset="0"/>
              </a:rPr>
              <a:t>categorical data 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involves transforming and preparing categorical features to make them suitable for use in machine learning models. </a:t>
            </a:r>
            <a:endParaRPr kumimoji="0" lang="en-GB" altLang="x-non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Encoding Categorical Variables: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Converts categorical data into numerical form using methods like Label Encoding, One-Hot Encoding, and Ordinal Encoding.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Handling Rare Categories: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Manages categories with low frequency to prevent model bias.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Creating Interaction Features: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Generates new features from interactions between categorical or between categorical and numerical features.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Feature Hashing: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Reduces dimensionality for high-cardinality features using hash functions.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Frequency Encoding: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Encodes categories based on their frequency of occurrence 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56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2" y="1457739"/>
            <a:ext cx="11111729" cy="4766080"/>
          </a:xfrm>
        </p:spPr>
        <p:txBody>
          <a:bodyPr anchor="t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200" b="1" dirty="0">
                <a:latin typeface="Calibri" panose="020F0502020204030204" pitchFamily="34" charset="0"/>
                <a:cs typeface="Calibri" panose="020F0502020204030204" pitchFamily="34" charset="0"/>
              </a:rPr>
              <a:t>Encoding Categorical Variables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x-non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Label Encoding: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Converts each category into a unique integer.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GB" altLang="x-non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GB" altLang="x-non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latin typeface="Consolas" panose="020B0609020204030204" pitchFamily="49" charset="0"/>
              </a:rPr>
              <a:t>from </a:t>
            </a:r>
            <a:r>
              <a:rPr lang="en-GB" sz="2000" dirty="0" err="1">
                <a:latin typeface="Consolas" panose="020B0609020204030204" pitchFamily="49" charset="0"/>
              </a:rPr>
              <a:t>sklearn.preprocessing</a:t>
            </a:r>
            <a:r>
              <a:rPr lang="en-GB" sz="2000" dirty="0">
                <a:latin typeface="Consolas" panose="020B0609020204030204" pitchFamily="49" charset="0"/>
              </a:rPr>
              <a:t> import </a:t>
            </a:r>
            <a:r>
              <a:rPr lang="en-GB" sz="2000" dirty="0" err="1">
                <a:latin typeface="Consolas" panose="020B0609020204030204" pitchFamily="49" charset="0"/>
              </a:rPr>
              <a:t>LabelEncoder</a:t>
            </a:r>
            <a:endParaRPr lang="en-GB" sz="2000" b="1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latin typeface="Consolas" panose="020B0609020204030204" pitchFamily="49" charset="0"/>
              </a:rPr>
              <a:t>le = </a:t>
            </a:r>
            <a:r>
              <a:rPr lang="en-GB" sz="2000" dirty="0" err="1">
                <a:latin typeface="Consolas" panose="020B0609020204030204" pitchFamily="49" charset="0"/>
              </a:rPr>
              <a:t>LabelEncoder</a:t>
            </a:r>
            <a:r>
              <a:rPr lang="en-GB" sz="2000" dirty="0">
                <a:latin typeface="Consolas" panose="020B0609020204030204" pitchFamily="49" charset="0"/>
              </a:rPr>
              <a:t>()  // choose encoder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latin typeface="Consolas" panose="020B0609020204030204" pitchFamily="49" charset="0"/>
              </a:rPr>
              <a:t>data['</a:t>
            </a:r>
            <a:r>
              <a:rPr lang="en-GB" sz="2000" dirty="0" err="1">
                <a:latin typeface="Consolas" panose="020B0609020204030204" pitchFamily="49" charset="0"/>
              </a:rPr>
              <a:t>Encoded_col</a:t>
            </a:r>
            <a:r>
              <a:rPr lang="en-GB" sz="2000" dirty="0">
                <a:latin typeface="Consolas" panose="020B0609020204030204" pitchFamily="49" charset="0"/>
              </a:rPr>
              <a:t>'] = </a:t>
            </a:r>
            <a:r>
              <a:rPr lang="en-GB" sz="2000" dirty="0" err="1">
                <a:latin typeface="Consolas" panose="020B0609020204030204" pitchFamily="49" charset="0"/>
              </a:rPr>
              <a:t>le.fit_transform</a:t>
            </a:r>
            <a:r>
              <a:rPr lang="en-GB" sz="2000" dirty="0">
                <a:latin typeface="Consolas" panose="020B0609020204030204" pitchFamily="49" charset="0"/>
              </a:rPr>
              <a:t>(data['Col']) // encode col</a:t>
            </a:r>
            <a:endParaRPr kumimoji="0" lang="x-none" altLang="x-non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908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2" y="1457739"/>
            <a:ext cx="11111729" cy="4766080"/>
          </a:xfrm>
        </p:spPr>
        <p:txBody>
          <a:bodyPr anchor="t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200" b="1" dirty="0">
                <a:latin typeface="Calibri" panose="020F0502020204030204" pitchFamily="34" charset="0"/>
                <a:cs typeface="Calibri" panose="020F0502020204030204" pitchFamily="34" charset="0"/>
              </a:rPr>
              <a:t>Encoding Categorical Variables …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400" b="1" dirty="0">
                <a:latin typeface="Calibri" panose="020F0502020204030204" pitchFamily="34" charset="0"/>
                <a:cs typeface="Calibri" panose="020F0502020204030204" pitchFamily="34" charset="0"/>
              </a:rPr>
              <a:t>One-Hot Encoding: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Converts each category into a binary vector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GB" altLang="x-non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GB" altLang="x-non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000" dirty="0">
                <a:latin typeface="Consolas" panose="020B0609020204030204" pitchFamily="49" charset="0"/>
              </a:rPr>
              <a:t>data= pd.get_dummies(data, columns=['Col'])</a:t>
            </a:r>
            <a:endParaRPr lang="en-GB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667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2" y="1457739"/>
            <a:ext cx="11111729" cy="4766080"/>
          </a:xfrm>
        </p:spPr>
        <p:txBody>
          <a:bodyPr anchor="t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200" b="1" dirty="0">
                <a:latin typeface="Calibri" panose="020F0502020204030204" pitchFamily="34" charset="0"/>
                <a:cs typeface="Calibri" panose="020F0502020204030204" pitchFamily="34" charset="0"/>
              </a:rPr>
              <a:t>Encoding Categorical Variables …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400" b="1" dirty="0">
                <a:latin typeface="Calibri" panose="020F0502020204030204" pitchFamily="34" charset="0"/>
                <a:cs typeface="Calibri" panose="020F0502020204030204" pitchFamily="34" charset="0"/>
              </a:rPr>
              <a:t>Oridinal Encoding: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Converts categories to integers based on their order.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GB" altLang="x-non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GB" altLang="x-non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>
                <a:latin typeface="Consolas" panose="020B0609020204030204" pitchFamily="49" charset="0"/>
              </a:rPr>
              <a:t>from </a:t>
            </a:r>
            <a:r>
              <a:rPr lang="en-GB" sz="2000" dirty="0" err="1">
                <a:latin typeface="Consolas" panose="020B0609020204030204" pitchFamily="49" charset="0"/>
              </a:rPr>
              <a:t>sklearn.preprocessing</a:t>
            </a:r>
            <a:r>
              <a:rPr lang="en-GB" sz="2000" dirty="0">
                <a:latin typeface="Consolas" panose="020B0609020204030204" pitchFamily="49" charset="0"/>
              </a:rPr>
              <a:t> import </a:t>
            </a:r>
            <a:r>
              <a:rPr lang="en-GB" sz="2000" dirty="0" err="1">
                <a:latin typeface="Consolas" panose="020B0609020204030204" pitchFamily="49" charset="0"/>
              </a:rPr>
              <a:t>OrdinalEncoder</a:t>
            </a:r>
            <a:endParaRPr lang="en-GB" sz="2000" dirty="0"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categories = [[‘female', ‘male']] // categories order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oe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 = 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OrdinalEncoder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(categories=categories)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data['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col_encoded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'] = </a:t>
            </a:r>
            <a:r>
              <a:rPr lang="en-GB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oe.fit_transform</a:t>
            </a:r>
            <a:r>
              <a:rPr lang="en-GB" sz="2000" dirty="0">
                <a:latin typeface="Consolas" panose="020B0609020204030204" pitchFamily="49" charset="0"/>
                <a:cs typeface="Calibri" panose="020F0502020204030204" pitchFamily="34" charset="0"/>
              </a:rPr>
              <a:t>(data[['col']])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392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2" y="1457739"/>
            <a:ext cx="11111729" cy="4766080"/>
          </a:xfrm>
        </p:spPr>
        <p:txBody>
          <a:bodyPr anchor="t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200" b="1" dirty="0">
                <a:latin typeface="Calibri" panose="020F0502020204030204" pitchFamily="34" charset="0"/>
                <a:cs typeface="Calibri" panose="020F0502020204030204" pitchFamily="34" charset="0"/>
              </a:rPr>
              <a:t>Managing Rare Categories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: Manage categories that occur infrequently, which may cause issues in models due to low representation.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x-none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Combine infrequent categories into a single category (e.g., 'Other') to reduce sparsity.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GB" altLang="x-non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>
                <a:latin typeface="Consolas" panose="020B0609020204030204" pitchFamily="49" charset="0"/>
              </a:rPr>
              <a:t>threshold = 2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 err="1">
                <a:latin typeface="Consolas" panose="020B0609020204030204" pitchFamily="49" charset="0"/>
              </a:rPr>
              <a:t>freq</a:t>
            </a:r>
            <a:r>
              <a:rPr lang="en-GB" sz="2000" dirty="0">
                <a:latin typeface="Consolas" panose="020B0609020204030204" pitchFamily="49" charset="0"/>
              </a:rPr>
              <a:t> = data['Category'].</a:t>
            </a:r>
            <a:r>
              <a:rPr lang="en-GB" sz="2000" dirty="0" err="1">
                <a:latin typeface="Consolas" panose="020B0609020204030204" pitchFamily="49" charset="0"/>
              </a:rPr>
              <a:t>value_counts</a:t>
            </a:r>
            <a:r>
              <a:rPr lang="en-GB" sz="2000" dirty="0">
                <a:latin typeface="Consolas" panose="020B0609020204030204" pitchFamily="49" charset="0"/>
              </a:rPr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 err="1">
                <a:latin typeface="Consolas" panose="020B0609020204030204" pitchFamily="49" charset="0"/>
              </a:rPr>
              <a:t>rare_categories</a:t>
            </a:r>
            <a:r>
              <a:rPr lang="en-GB" sz="2000" dirty="0">
                <a:latin typeface="Consolas" panose="020B0609020204030204" pitchFamily="49" charset="0"/>
              </a:rPr>
              <a:t> = </a:t>
            </a:r>
            <a:r>
              <a:rPr lang="en-GB" sz="2000" dirty="0" err="1">
                <a:latin typeface="Consolas" panose="020B0609020204030204" pitchFamily="49" charset="0"/>
              </a:rPr>
              <a:t>freq</a:t>
            </a:r>
            <a:r>
              <a:rPr lang="en-GB" sz="2000" dirty="0">
                <a:latin typeface="Consolas" panose="020B0609020204030204" pitchFamily="49" charset="0"/>
              </a:rPr>
              <a:t>[</a:t>
            </a:r>
            <a:r>
              <a:rPr lang="en-GB" sz="2000" dirty="0" err="1">
                <a:latin typeface="Consolas" panose="020B0609020204030204" pitchFamily="49" charset="0"/>
              </a:rPr>
              <a:t>freq</a:t>
            </a:r>
            <a:r>
              <a:rPr lang="en-GB" sz="2000" dirty="0">
                <a:latin typeface="Consolas" panose="020B0609020204030204" pitchFamily="49" charset="0"/>
              </a:rPr>
              <a:t> &lt; threshold].index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>
                <a:latin typeface="Consolas" panose="020B0609020204030204" pitchFamily="49" charset="0"/>
              </a:rPr>
              <a:t>data['Category'] = data['Category'].replace(</a:t>
            </a:r>
            <a:r>
              <a:rPr lang="en-GB" sz="2000" dirty="0" err="1">
                <a:latin typeface="Consolas" panose="020B0609020204030204" pitchFamily="49" charset="0"/>
              </a:rPr>
              <a:t>rare_categories</a:t>
            </a:r>
            <a:r>
              <a:rPr lang="en-GB" sz="2000" dirty="0">
                <a:latin typeface="Consolas" panose="020B0609020204030204" pitchFamily="49" charset="0"/>
              </a:rPr>
              <a:t>, 'Other')</a:t>
            </a:r>
            <a:endParaRPr lang="en-GB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5963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5400" dirty="0"/>
              <a:t>Feature Engineering …</a:t>
            </a:r>
            <a:endParaRPr lang="x-none" sz="5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F158863-4BAF-F436-D2DE-7E5934A3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2" y="1457739"/>
            <a:ext cx="11111729" cy="4766080"/>
          </a:xfrm>
        </p:spPr>
        <p:txBody>
          <a:bodyPr anchor="t">
            <a:norm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Creating Interaction Features: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Capture interactions between categorical features or between categorical and numerical features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x-non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>
                <a:latin typeface="Consolas" panose="020B0609020204030204" pitchFamily="49" charset="0"/>
              </a:rPr>
              <a:t>data['</a:t>
            </a:r>
            <a:r>
              <a:rPr lang="en-GB" sz="2000" dirty="0" err="1">
                <a:latin typeface="Consolas" panose="020B0609020204030204" pitchFamily="49" charset="0"/>
              </a:rPr>
              <a:t>Color_Size</a:t>
            </a:r>
            <a:r>
              <a:rPr lang="en-GB" sz="2000" dirty="0">
                <a:latin typeface="Consolas" panose="020B0609020204030204" pitchFamily="49" charset="0"/>
              </a:rPr>
              <a:t>'] = data['</a:t>
            </a:r>
            <a:r>
              <a:rPr lang="en-GB" sz="2000" dirty="0" err="1">
                <a:latin typeface="Consolas" panose="020B0609020204030204" pitchFamily="49" charset="0"/>
              </a:rPr>
              <a:t>Color</a:t>
            </a:r>
            <a:r>
              <a:rPr lang="en-GB" sz="2000" dirty="0">
                <a:latin typeface="Consolas" panose="020B0609020204030204" pitchFamily="49" charset="0"/>
              </a:rPr>
              <a:t>'] + '_' + data['Size’]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Frequency Encoding: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Encode categorical variables based on their frequency in the dataset.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>
                <a:latin typeface="Consolas" panose="020B0609020204030204" pitchFamily="49" charset="0"/>
              </a:rPr>
              <a:t>frequency = data['Category'].</a:t>
            </a:r>
            <a:r>
              <a:rPr lang="en-GB" sz="2000" dirty="0" err="1">
                <a:latin typeface="Consolas" panose="020B0609020204030204" pitchFamily="49" charset="0"/>
              </a:rPr>
              <a:t>value_counts</a:t>
            </a:r>
            <a:r>
              <a:rPr lang="en-GB" sz="2000" dirty="0">
                <a:latin typeface="Consolas" panose="020B0609020204030204" pitchFamily="49" charset="0"/>
              </a:rPr>
              <a:t>() </a:t>
            </a:r>
            <a:r>
              <a:rPr lang="en-GB" sz="2000" dirty="0" smtClean="0">
                <a:latin typeface="Consolas" panose="020B0609020204030204" pitchFamily="49" charset="0"/>
              </a:rPr>
              <a:t>#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000" dirty="0"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000" dirty="0"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>
                <a:latin typeface="Consolas" panose="020B0609020204030204" pitchFamily="49" charset="0"/>
              </a:rPr>
              <a:t>data['</a:t>
            </a:r>
            <a:r>
              <a:rPr lang="en-GB" sz="2000" dirty="0" err="1">
                <a:latin typeface="Consolas" panose="020B0609020204030204" pitchFamily="49" charset="0"/>
              </a:rPr>
              <a:t>Category_encoded</a:t>
            </a:r>
            <a:r>
              <a:rPr lang="en-GB" sz="2000" dirty="0">
                <a:latin typeface="Consolas" panose="020B0609020204030204" pitchFamily="49" charset="0"/>
              </a:rPr>
              <a:t>'] = data['Category'].map(frequency</a:t>
            </a:r>
            <a:r>
              <a:rPr lang="en-GB" sz="2000" dirty="0" smtClean="0">
                <a:latin typeface="Consolas" panose="020B0609020204030204" pitchFamily="49" charset="0"/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000" dirty="0"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replaces each category with its corresponding </a:t>
            </a:r>
            <a:r>
              <a:rPr lang="en-US" sz="2000" b="1" dirty="0"/>
              <a:t>frequency count</a:t>
            </a:r>
            <a:r>
              <a:rPr lang="en-US" sz="2000" dirty="0"/>
              <a:t>.</a:t>
            </a:r>
            <a:endParaRPr lang="en-GB" sz="2000" dirty="0">
              <a:latin typeface="Consolas" panose="020B06090202040302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106599" y="41972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the count (frequency)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unique category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'Category'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column.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021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4DA718D0-4865-4629-8134-44F68D41D5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5167ED7-6315-43AB-B1B6-C326D5FD8F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EF4D8839-FB03-487D-ACC8-8BFEDD4FE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0EF75023-9A3B-42FC-B704-61A8F7BEF4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BC4F608-B4B8-48C3-9572-C0F061B1CD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B06ED5-0B35-BA0E-127C-DAC725EE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684" y="2079011"/>
            <a:ext cx="9849751" cy="1349671"/>
          </a:xfrm>
        </p:spPr>
        <p:txBody>
          <a:bodyPr anchor="b">
            <a:normAutofit/>
          </a:bodyPr>
          <a:lstStyle/>
          <a:p>
            <a:pPr algn="ctr"/>
            <a:r>
              <a:rPr lang="en-GB" sz="5400" dirty="0"/>
              <a:t>The End</a:t>
            </a:r>
            <a:endParaRPr lang="x-none" sz="5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26B6379-4BAA-416E-41E6-A464DA5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Impact IT Training, 2024, ICG F-6/2</a:t>
            </a:r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04E51FA-12D1-FABC-CFD0-93CD4A5A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777C61A9-A488-B57D-6DEC-EF4A534A2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x-none" alt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13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42EB5B25AA94681E01C533BC4E547" ma:contentTypeVersion="3" ma:contentTypeDescription="Create a new document." ma:contentTypeScope="" ma:versionID="5e8853d87939594dd11300b895153a60">
  <xsd:schema xmlns:xsd="http://www.w3.org/2001/XMLSchema" xmlns:xs="http://www.w3.org/2001/XMLSchema" xmlns:p="http://schemas.microsoft.com/office/2006/metadata/properties" xmlns:ns2="b1cd9ac4-537d-4700-ace9-c3dc8aafaf16" targetNamespace="http://schemas.microsoft.com/office/2006/metadata/properties" ma:root="true" ma:fieldsID="cc6f7d3b10a75145a31d85fa157930a3" ns2:_="">
    <xsd:import namespace="b1cd9ac4-537d-4700-ace9-c3dc8aafaf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d9ac4-537d-4700-ace9-c3dc8aafaf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63D496-0983-4726-8A67-4629D6ED3309}"/>
</file>

<file path=customXml/itemProps2.xml><?xml version="1.0" encoding="utf-8"?>
<ds:datastoreItem xmlns:ds="http://schemas.openxmlformats.org/officeDocument/2006/customXml" ds:itemID="{6F3EF94E-1814-4666-B644-4E073ED77B27}"/>
</file>

<file path=customXml/itemProps3.xml><?xml version="1.0" encoding="utf-8"?>
<ds:datastoreItem xmlns:ds="http://schemas.openxmlformats.org/officeDocument/2006/customXml" ds:itemID="{47920AFE-C691-4F8A-A375-C6CDDEF37D8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3483</TotalTime>
  <Words>2395</Words>
  <Application>Microsoft Office PowerPoint</Application>
  <PresentationFormat>Widescreen</PresentationFormat>
  <Paragraphs>314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 Unicode MS</vt:lpstr>
      <vt:lpstr>Aptos</vt:lpstr>
      <vt:lpstr>Aptos Display</vt:lpstr>
      <vt:lpstr>Arial</vt:lpstr>
      <vt:lpstr>Calibri</vt:lpstr>
      <vt:lpstr>Cambria Math</vt:lpstr>
      <vt:lpstr>Consolas</vt:lpstr>
      <vt:lpstr>Verdana</vt:lpstr>
      <vt:lpstr>Office Theme</vt:lpstr>
      <vt:lpstr>Data Cleaning</vt:lpstr>
      <vt:lpstr>Data Cleaning …</vt:lpstr>
      <vt:lpstr>Data Cleaning …</vt:lpstr>
      <vt:lpstr>Data Cleaning …</vt:lpstr>
      <vt:lpstr>Data Cleaning …</vt:lpstr>
      <vt:lpstr>Data Cleaning …</vt:lpstr>
      <vt:lpstr>Data Cleaning …</vt:lpstr>
      <vt:lpstr>Data Cleaning …</vt:lpstr>
      <vt:lpstr>Data Scaling</vt:lpstr>
      <vt:lpstr>Data Scaling …</vt:lpstr>
      <vt:lpstr>Data Scaling …</vt:lpstr>
      <vt:lpstr>Data Scaling …</vt:lpstr>
      <vt:lpstr>Data Scaling …</vt:lpstr>
      <vt:lpstr>Transformation</vt:lpstr>
      <vt:lpstr>Transformation…</vt:lpstr>
      <vt:lpstr>Transformation…</vt:lpstr>
      <vt:lpstr>Transformation…</vt:lpstr>
      <vt:lpstr>Transformation…</vt:lpstr>
      <vt:lpstr>Feature Engineering</vt:lpstr>
      <vt:lpstr>Feature Engineering …</vt:lpstr>
      <vt:lpstr>Feature Engineering …</vt:lpstr>
      <vt:lpstr>Feature Engineering …</vt:lpstr>
      <vt:lpstr>Feature Engineering …</vt:lpstr>
      <vt:lpstr>Feature Engineering …</vt:lpstr>
      <vt:lpstr>Feature Engineering …</vt:lpstr>
      <vt:lpstr>Feature Engineering …</vt:lpstr>
      <vt:lpstr>Feature Engineering …</vt:lpstr>
      <vt:lpstr>Feature Engineering …</vt:lpstr>
      <vt:lpstr>Feature Engineering …</vt:lpstr>
      <vt:lpstr>The 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</dc:title>
  <dc:creator>Basharat Mahmood</dc:creator>
  <cp:lastModifiedBy>admin</cp:lastModifiedBy>
  <cp:revision>126</cp:revision>
  <dcterms:created xsi:type="dcterms:W3CDTF">2024-07-10T04:37:55Z</dcterms:created>
  <dcterms:modified xsi:type="dcterms:W3CDTF">2025-02-25T09:12:12Z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0x010100BC842EB5B25AA94681E01C533BC4E547</vt:lpwstr>
  </property>
</Properties>
</file>