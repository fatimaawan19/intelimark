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94" r:id="rId4"/>
    <p:sldId id="295" r:id="rId5"/>
    <p:sldId id="330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32" r:id="rId14"/>
    <p:sldId id="331" r:id="rId15"/>
    <p:sldId id="333" r:id="rId16"/>
    <p:sldId id="306" r:id="rId17"/>
    <p:sldId id="307" r:id="rId18"/>
    <p:sldId id="329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28" r:id="rId30"/>
    <p:sldId id="318" r:id="rId31"/>
    <p:sldId id="319" r:id="rId32"/>
    <p:sldId id="320" r:id="rId33"/>
    <p:sldId id="321" r:id="rId34"/>
    <p:sldId id="322" r:id="rId35"/>
    <p:sldId id="323" r:id="rId36"/>
    <p:sldId id="327" r:id="rId37"/>
    <p:sldId id="334" r:id="rId38"/>
    <p:sldId id="335" r:id="rId39"/>
    <p:sldId id="336" r:id="rId40"/>
    <p:sldId id="292" r:id="rId41"/>
    <p:sldId id="293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7C8867-775D-85D0-276E-9A4429A9CE99}" v="1" dt="2022-10-11T10:34:28.65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236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A8398816-5A9E-4028-ACA2-23BAB8E93277}"/>
    <pc:docChg chg="modSld">
      <pc:chgData name="Rizwan Rashid" userId="12b6bffb-8fd7-410a-bd1e-f473b901c3a4" providerId="ADAL" clId="{A8398816-5A9E-4028-ACA2-23BAB8E93277}" dt="2022-10-04T06:16:11.454" v="0" actId="20577"/>
      <pc:docMkLst>
        <pc:docMk/>
      </pc:docMkLst>
      <pc:sldChg chg="modSp mod">
        <pc:chgData name="Rizwan Rashid" userId="12b6bffb-8fd7-410a-bd1e-f473b901c3a4" providerId="ADAL" clId="{A8398816-5A9E-4028-ACA2-23BAB8E93277}" dt="2022-10-04T06:16:11.454" v="0" actId="20577"/>
        <pc:sldMkLst>
          <pc:docMk/>
          <pc:sldMk cId="764188204" sldId="256"/>
        </pc:sldMkLst>
        <pc:spChg chg="mod">
          <ac:chgData name="Rizwan Rashid" userId="12b6bffb-8fd7-410a-bd1e-f473b901c3a4" providerId="ADAL" clId="{A8398816-5A9E-4028-ACA2-23BAB8E93277}" dt="2022-10-04T06:16:11.454" v="0" actId="20577"/>
          <ac:spMkLst>
            <pc:docMk/>
            <pc:sldMk cId="764188204" sldId="256"/>
            <ac:spMk id="5" creationId="{00000000-0000-0000-0000-000000000000}"/>
          </ac:spMkLst>
        </pc:spChg>
      </pc:sldChg>
    </pc:docChg>
  </pc:docChgLst>
  <pc:docChgLst>
    <pc:chgData clId="Web-{5C7C8867-775D-85D0-276E-9A4429A9CE99}"/>
    <pc:docChg chg="modSld">
      <pc:chgData name="" userId="" providerId="" clId="Web-{5C7C8867-775D-85D0-276E-9A4429A9CE99}" dt="2022-10-11T10:34:28.650" v="0" actId="1076"/>
      <pc:docMkLst>
        <pc:docMk/>
      </pc:docMkLst>
      <pc:sldChg chg="modSp">
        <pc:chgData name="" userId="" providerId="" clId="Web-{5C7C8867-775D-85D0-276E-9A4429A9CE99}" dt="2022-10-11T10:34:28.650" v="0" actId="1076"/>
        <pc:sldMkLst>
          <pc:docMk/>
          <pc:sldMk cId="764188204" sldId="256"/>
        </pc:sldMkLst>
        <pc:grpChg chg="mod">
          <ac:chgData name="" userId="" providerId="" clId="Web-{5C7C8867-775D-85D0-276E-9A4429A9CE99}" dt="2022-10-11T10:34:28.650" v="0" actId="1076"/>
          <ac:grpSpMkLst>
            <pc:docMk/>
            <pc:sldMk cId="764188204" sldId="256"/>
            <ac:grpSpMk id="4" creationId="{00000000-0000-0000-0000-000000000000}"/>
          </ac:grpSpMkLst>
        </pc:gr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0C2BB-0A71-43EC-8B6B-1FC2E576D304}" type="datetimeFigureOut">
              <a:rPr lang="en-US" smtClean="0"/>
              <a:t>08-Jun-24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406AD-5AEF-4217-BA9D-D06D426BC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54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823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076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172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7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508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5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739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0740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086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680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9165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885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621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899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023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2947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541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6547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4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386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38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39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5038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3187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396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5235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60169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851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9331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106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1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15066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9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6078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7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72517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5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8983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17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5"/>
            <a:ext cx="8763000" cy="1470025"/>
          </a:xfrm>
        </p:spPr>
        <p:txBody>
          <a:bodyPr>
            <a:normAutofit/>
          </a:bodyPr>
          <a:lstStyle/>
          <a:p>
            <a:r>
              <a:rPr lang="en-US" dirty="0"/>
              <a:t>CSC103-Programming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81400"/>
            <a:ext cx="6400800" cy="1219200"/>
          </a:xfrm>
        </p:spPr>
        <p:txBody>
          <a:bodyPr/>
          <a:lstStyle/>
          <a:p>
            <a:r>
              <a:rPr lang="en-US" dirty="0"/>
              <a:t>Selections</a:t>
            </a:r>
          </a:p>
          <a:p>
            <a:r>
              <a:rPr lang="en-US" dirty="0"/>
              <a:t>Lecture-8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8600" y="5622399"/>
            <a:ext cx="8763000" cy="738664"/>
            <a:chOff x="609600" y="5608022"/>
            <a:chExt cx="8077199" cy="738664"/>
          </a:xfrm>
        </p:grpSpPr>
        <p:sp>
          <p:nvSpPr>
            <p:cNvPr id="5" name="Rectangle 4"/>
            <p:cNvSpPr/>
            <p:nvPr/>
          </p:nvSpPr>
          <p:spPr>
            <a:xfrm>
              <a:off x="609600" y="5977354"/>
              <a:ext cx="8077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Mr. Rizwan Rashid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09600" y="5608022"/>
              <a:ext cx="12793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/>
                <a:t>Instructors</a:t>
              </a:r>
              <a:r>
                <a:rPr lang="en-US" sz="20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18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Nested </a:t>
            </a:r>
            <a:r>
              <a:rPr lang="en-US" b="1" dirty="0"/>
              <a:t>if </a:t>
            </a:r>
            <a:r>
              <a:rPr lang="en-US" dirty="0"/>
              <a:t>statement</a:t>
            </a:r>
          </a:p>
          <a:p>
            <a:r>
              <a:rPr lang="en-US" dirty="0"/>
              <a:t>Multi-way </a:t>
            </a:r>
            <a:r>
              <a:rPr lang="en-US" b="1" dirty="0"/>
              <a:t>if-else </a:t>
            </a:r>
            <a:r>
              <a:rPr lang="en-US" b="1" dirty="0" err="1"/>
              <a:t>if-else</a:t>
            </a:r>
            <a:r>
              <a:rPr lang="en-US" b="1" dirty="0"/>
              <a:t> </a:t>
            </a:r>
            <a:r>
              <a:rPr lang="en-US" dirty="0"/>
              <a:t>statement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Conditional Expressions</a:t>
            </a:r>
            <a:endParaRPr lang="en-US" altLang="en-US" dirty="0">
              <a:solidFill>
                <a:srgbClr val="000000"/>
              </a:solidFill>
            </a:endParaRPr>
          </a:p>
          <a:p>
            <a:endParaRPr lang="en-US" altLang="en-US" dirty="0">
              <a:solidFill>
                <a:srgbClr val="00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97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Nested Decision Structures</a:t>
            </a:r>
            <a:endParaRPr lang="he-IL" altLang="en-US" sz="4000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>
            <a:noAutofit/>
          </a:bodyPr>
          <a:lstStyle/>
          <a:p>
            <a:r>
              <a:rPr lang="en-US" altLang="en-US" sz="2400" b="1" dirty="0"/>
              <a:t>Example: </a:t>
            </a:r>
          </a:p>
          <a:p>
            <a:pPr lvl="1"/>
            <a:r>
              <a:rPr lang="en-US" altLang="en-US" sz="2400" dirty="0"/>
              <a:t>Determine if someone qualifies for a loan, they must meet two conditions:</a:t>
            </a:r>
          </a:p>
          <a:p>
            <a:pPr lvl="2"/>
            <a:r>
              <a:rPr lang="en-US" altLang="en-US" sz="2000" dirty="0"/>
              <a:t>Must earn at least $30,000/year</a:t>
            </a:r>
          </a:p>
          <a:p>
            <a:pPr lvl="2"/>
            <a:r>
              <a:rPr lang="en-US" altLang="en-US" sz="2000" dirty="0"/>
              <a:t>Must have been employed for at least two years</a:t>
            </a:r>
          </a:p>
          <a:p>
            <a:pPr lvl="1"/>
            <a:r>
              <a:rPr lang="en-US" altLang="en-US" sz="2400" dirty="0"/>
              <a:t>Check first condition, and if it is true, check second condition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2636" y="1496115"/>
            <a:ext cx="88392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An if statement can be inside another if statement to form a nested if statement</a:t>
            </a:r>
          </a:p>
        </p:txBody>
      </p:sp>
    </p:spTree>
    <p:extLst>
      <p:ext uri="{BB962C8B-B14F-4D97-AF65-F5344CB8AC3E}">
        <p14:creationId xmlns:p14="http://schemas.microsoft.com/office/powerpoint/2010/main" val="326964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7"/>
          <a:stretch/>
        </p:blipFill>
        <p:spPr bwMode="auto">
          <a:xfrm>
            <a:off x="586897" y="1371600"/>
            <a:ext cx="7780283" cy="495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Nested Decision Structures – Example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C8C74-4A28-42C1-92A0-1CB51970C1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89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Multiple Alternative if Statements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90600" y="2313801"/>
            <a:ext cx="7232073" cy="3967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if (condition)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      statement;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else if (condition)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      statement;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   . 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else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      statement; 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695" y="144638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/>
              <a:t>Syntax</a:t>
            </a:r>
          </a:p>
        </p:txBody>
      </p:sp>
      <p:sp>
        <p:nvSpPr>
          <p:cNvPr id="6" name="AutoShape 3" descr="if-else-if-ladd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1" r="10558"/>
          <a:stretch/>
        </p:blipFill>
        <p:spPr bwMode="auto">
          <a:xfrm>
            <a:off x="4405744" y="1446388"/>
            <a:ext cx="4560917" cy="5411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199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24582" name="Object 5"/>
          <p:cNvGraphicFramePr>
            <a:graphicFrameLocks noChangeAspect="1"/>
          </p:cNvGraphicFramePr>
          <p:nvPr/>
        </p:nvGraphicFramePr>
        <p:xfrm>
          <a:off x="117475" y="1700213"/>
          <a:ext cx="8909050" cy="367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4" imgW="4486613" imgH="1849336" progId="">
                  <p:embed/>
                </p:oleObj>
              </mc:Choice>
              <mc:Fallback>
                <p:oleObj r:id="rId4" imgW="4486613" imgH="1849336" progId="">
                  <p:embed/>
                  <p:pic>
                    <p:nvPicPr>
                      <p:cNvPr id="2458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" y="1700213"/>
                        <a:ext cx="8909050" cy="367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Multiple Alternative if Statements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527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0" y="2033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pic>
        <p:nvPicPr>
          <p:cNvPr id="2663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625475"/>
            <a:ext cx="7588250" cy="585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31" name="Text Box 6"/>
          <p:cNvSpPr txBox="1">
            <a:spLocks noChangeArrowheads="1"/>
          </p:cNvSpPr>
          <p:nvPr/>
        </p:nvSpPr>
        <p:spPr bwMode="auto">
          <a:xfrm>
            <a:off x="685800" y="203200"/>
            <a:ext cx="80010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 dirty="0">
                <a:latin typeface="+mj-lt"/>
              </a:rPr>
              <a:t>Multi-Way if-else Statements</a:t>
            </a:r>
          </a:p>
        </p:txBody>
      </p:sp>
    </p:spTree>
    <p:extLst>
      <p:ext uri="{BB962C8B-B14F-4D97-AF65-F5344CB8AC3E}">
        <p14:creationId xmlns:p14="http://schemas.microsoft.com/office/powerpoint/2010/main" val="18934576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>
                <a:latin typeface="+mj-lt"/>
              </a:rPr>
              <a:t>Trace if-else statement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28678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381000" y="16002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28680" name="AutoShape 7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99144"/>
              <a:gd name="adj2" fmla="val 90236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The condition is false</a:t>
            </a:r>
          </a:p>
        </p:txBody>
      </p:sp>
    </p:spTree>
    <p:extLst>
      <p:ext uri="{BB962C8B-B14F-4D97-AF65-F5344CB8AC3E}">
        <p14:creationId xmlns:p14="http://schemas.microsoft.com/office/powerpoint/2010/main" val="40339618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Trace if-else statement</a:t>
            </a:r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30726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30727" name="AutoShape 6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87745"/>
              <a:gd name="adj2" fmla="val 222782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The condition is false</a:t>
            </a:r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381000" y="22860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61141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Trace if-else statement</a:t>
            </a:r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32774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32775" name="AutoShape 6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79472"/>
              <a:gd name="adj2" fmla="val 357102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The condition is true</a:t>
            </a: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381000" y="30480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70693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 dirty="0">
                <a:latin typeface="+mj-lt"/>
              </a:rPr>
              <a:t>Trace if-else statement</a:t>
            </a:r>
          </a:p>
        </p:txBody>
      </p:sp>
      <p:sp>
        <p:nvSpPr>
          <p:cNvPr id="3482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34821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34822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34823" name="AutoShape 6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78676"/>
              <a:gd name="adj2" fmla="val 453551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grade is C</a:t>
            </a:r>
          </a:p>
        </p:txBody>
      </p:sp>
      <p:sp>
        <p:nvSpPr>
          <p:cNvPr id="34824" name="Rectangle 7"/>
          <p:cNvSpPr>
            <a:spLocks noChangeArrowheads="1"/>
          </p:cNvSpPr>
          <p:nvPr/>
        </p:nvSpPr>
        <p:spPr bwMode="auto">
          <a:xfrm>
            <a:off x="381000" y="34290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360667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685800" y="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>
                <a:latin typeface="+mj-lt"/>
              </a:rPr>
              <a:t>Trace if-else statement</a:t>
            </a: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36869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3429000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if (score &gt;= 90.0)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System.out.print("A");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80.0)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System.out.print("B");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70.0)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System.out.print("C");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 if (score &gt;= 60.0)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System.out.print("D");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else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System.out.print("F");</a:t>
            </a:r>
          </a:p>
        </p:txBody>
      </p:sp>
      <p:sp>
        <p:nvSpPr>
          <p:cNvPr id="36870" name="AutoShape 5"/>
          <p:cNvSpPr>
            <a:spLocks noChangeArrowheads="1"/>
          </p:cNvSpPr>
          <p:nvPr/>
        </p:nvSpPr>
        <p:spPr bwMode="auto">
          <a:xfrm>
            <a:off x="533400" y="914400"/>
            <a:ext cx="2590800" cy="536575"/>
          </a:xfrm>
          <a:prstGeom prst="wedgeRoundRectCallout">
            <a:avLst>
              <a:gd name="adj1" fmla="val -16421"/>
              <a:gd name="adj2" fmla="val 88463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score is 70.0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381000" y="5334000"/>
            <a:ext cx="30480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381000" y="52578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81000" y="5334000"/>
            <a:ext cx="3048000" cy="3810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36874" name="AutoShape 9"/>
          <p:cNvSpPr>
            <a:spLocks noChangeArrowheads="1"/>
          </p:cNvSpPr>
          <p:nvPr/>
        </p:nvSpPr>
        <p:spPr bwMode="auto">
          <a:xfrm>
            <a:off x="3810000" y="914400"/>
            <a:ext cx="2590800" cy="536575"/>
          </a:xfrm>
          <a:prstGeom prst="wedgeRoundRectCallout">
            <a:avLst>
              <a:gd name="adj1" fmla="val -88847"/>
              <a:gd name="adj2" fmla="val 817162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Exit the if statement</a:t>
            </a:r>
          </a:p>
        </p:txBody>
      </p:sp>
    </p:spTree>
    <p:extLst>
      <p:ext uri="{BB962C8B-B14F-4D97-AF65-F5344CB8AC3E}">
        <p14:creationId xmlns:p14="http://schemas.microsoft.com/office/powerpoint/2010/main" val="15694200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570696"/>
            <a:ext cx="6553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24" y="2532846"/>
            <a:ext cx="6577207" cy="175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705600" y="3041758"/>
            <a:ext cx="23643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else </a:t>
            </a:r>
            <a:r>
              <a:rPr lang="en-US" dirty="0"/>
              <a:t>clause always matches the most recent unmatched </a:t>
            </a:r>
            <a:r>
              <a:rPr lang="en-US" b="1" dirty="0"/>
              <a:t>if</a:t>
            </a:r>
            <a:r>
              <a:rPr lang="en-US" dirty="0"/>
              <a:t> clause in the same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629400" y="2667000"/>
            <a:ext cx="2464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Dangling else ambiguity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23" y="4716887"/>
            <a:ext cx="2643398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979504" y="519380"/>
            <a:ext cx="3110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Wrong Semicolon at the if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5201" y="501722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/>
              <a:t>To force the </a:t>
            </a:r>
            <a:r>
              <a:rPr lang="en-US" b="1" i="1" dirty="0"/>
              <a:t>else</a:t>
            </a:r>
            <a:r>
              <a:rPr lang="en-US" i="1" dirty="0"/>
              <a:t> clause to match the first </a:t>
            </a:r>
            <a:r>
              <a:rPr lang="en-US" b="1" i="1" dirty="0"/>
              <a:t>if</a:t>
            </a:r>
            <a:r>
              <a:rPr lang="en-US" i="1" dirty="0"/>
              <a:t> clause, you must add a pair of braces</a:t>
            </a:r>
          </a:p>
        </p:txBody>
      </p:sp>
    </p:spTree>
    <p:extLst>
      <p:ext uri="{BB962C8B-B14F-4D97-AF65-F5344CB8AC3E}">
        <p14:creationId xmlns:p14="http://schemas.microsoft.com/office/powerpoint/2010/main" val="1044995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00" y="4024649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Suppose x = 2 and y = 3. Show the output, if any, of the following code. What is </a:t>
            </a:r>
          </a:p>
          <a:p>
            <a:r>
              <a:rPr lang="en-US" dirty="0"/>
              <a:t>the output if x = 3 and y = 2? What is the output if x = 3 and y = 3?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467098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(x &gt; 2)</a:t>
            </a:r>
          </a:p>
          <a:p>
            <a:r>
              <a:rPr lang="en-US" dirty="0"/>
              <a:t>     if (y &gt; 2) {</a:t>
            </a:r>
          </a:p>
          <a:p>
            <a:r>
              <a:rPr lang="en-US" dirty="0"/>
              <a:t>          </a:t>
            </a:r>
            <a:r>
              <a:rPr lang="en-US" dirty="0" err="1"/>
              <a:t>int</a:t>
            </a:r>
            <a:r>
              <a:rPr lang="en-US" dirty="0"/>
              <a:t> z = x + y;</a:t>
            </a:r>
          </a:p>
          <a:p>
            <a:r>
              <a:rPr lang="en-US" dirty="0"/>
              <a:t>         </a:t>
            </a:r>
            <a:r>
              <a:rPr lang="en-US" dirty="0" err="1"/>
              <a:t>System.out.println</a:t>
            </a:r>
            <a:r>
              <a:rPr lang="en-US" dirty="0"/>
              <a:t>("z is " + z);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</a:t>
            </a:r>
            <a:r>
              <a:rPr lang="en-US" dirty="0" err="1"/>
              <a:t>System.out.println</a:t>
            </a:r>
            <a:r>
              <a:rPr lang="en-US" dirty="0"/>
              <a:t>("x is " + x);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62000" y="480605"/>
            <a:ext cx="3739769" cy="3219917"/>
            <a:chOff x="762000" y="480605"/>
            <a:chExt cx="3739769" cy="3219917"/>
          </a:xfrm>
        </p:grpSpPr>
        <p:sp>
          <p:nvSpPr>
            <p:cNvPr id="2" name="Rectangle 1"/>
            <p:cNvSpPr/>
            <p:nvPr/>
          </p:nvSpPr>
          <p:spPr>
            <a:xfrm>
              <a:off x="762000" y="838200"/>
              <a:ext cx="3429000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if (score &gt;= 60.0) 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("D");</a:t>
              </a:r>
            </a:p>
            <a:p>
              <a:r>
                <a:rPr lang="en-US" dirty="0"/>
                <a:t>else if (score &gt;= 70.0) 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("C");</a:t>
              </a:r>
            </a:p>
            <a:p>
              <a:r>
                <a:rPr lang="en-US" dirty="0"/>
                <a:t>else if (score &gt;= 80.0)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("B");</a:t>
              </a:r>
            </a:p>
            <a:p>
              <a:r>
                <a:rPr lang="en-US" dirty="0"/>
                <a:t>else if (score &gt;= 90.0) 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("A");</a:t>
              </a:r>
            </a:p>
            <a:p>
              <a:r>
                <a:rPr lang="en-US" dirty="0"/>
                <a:t>else  </a:t>
              </a:r>
            </a:p>
            <a:p>
              <a:r>
                <a:rPr lang="en-US" dirty="0"/>
                <a:t>	</a:t>
              </a:r>
              <a:r>
                <a:rPr lang="en-US" dirty="0" err="1"/>
                <a:t>System.out.println</a:t>
              </a:r>
              <a:r>
                <a:rPr lang="en-US" dirty="0"/>
                <a:t>("F");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768439" y="480605"/>
              <a:ext cx="37333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What is wrong in the following code?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40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6055" y="2013466"/>
            <a:ext cx="4088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Simplifying Boolean Variable 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52400"/>
            <a:ext cx="4156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Equality Test of Two Floating-Point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6858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double x = 1.0 - 0.1 - 0.1 - 0.1 - 0.1 - 0.1;</a:t>
            </a:r>
          </a:p>
          <a:p>
            <a:r>
              <a:rPr lang="en-US" dirty="0" err="1"/>
              <a:t>System.out.println</a:t>
            </a:r>
            <a:r>
              <a:rPr lang="en-US" dirty="0"/>
              <a:t>(x == 0.5);</a:t>
            </a:r>
          </a:p>
        </p:txBody>
      </p:sp>
      <p:sp>
        <p:nvSpPr>
          <p:cNvPr id="5" name="Rectangle 4"/>
          <p:cNvSpPr/>
          <p:nvPr/>
        </p:nvSpPr>
        <p:spPr>
          <a:xfrm>
            <a:off x="387438" y="1332131"/>
            <a:ext cx="68515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x is not exactly 0.5, but is 0.5000000000000001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7145032" cy="148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1763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2"/>
          <p:cNvSpPr txBox="1">
            <a:spLocks noChangeArrowheads="1"/>
          </p:cNvSpPr>
          <p:nvPr/>
        </p:nvSpPr>
        <p:spPr bwMode="auto">
          <a:xfrm>
            <a:off x="6096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>
                <a:latin typeface="+mj-lt"/>
              </a:rPr>
              <a:t>switch</a:t>
            </a:r>
            <a:r>
              <a:rPr lang="en-US" altLang="en-US" sz="4400">
                <a:latin typeface="+mj-lt"/>
              </a:rPr>
              <a:t> Statements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95400" y="1371600"/>
            <a:ext cx="6629400" cy="4204821"/>
            <a:chOff x="1600200" y="1205379"/>
            <a:chExt cx="4674809" cy="2604621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1205379"/>
              <a:ext cx="3475630" cy="728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200" y="1933606"/>
              <a:ext cx="4674809" cy="1876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465195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Text Box 2"/>
          <p:cNvSpPr txBox="1">
            <a:spLocks noChangeArrowheads="1"/>
          </p:cNvSpPr>
          <p:nvPr/>
        </p:nvSpPr>
        <p:spPr bwMode="auto">
          <a:xfrm>
            <a:off x="685800" y="165100"/>
            <a:ext cx="7772400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3800">
                <a:latin typeface="Courier New" pitchFamily="49" charset="0"/>
              </a:rPr>
              <a:t>switch</a:t>
            </a:r>
            <a:r>
              <a:rPr lang="en-US" altLang="en-US" sz="4000"/>
              <a:t> Statement Flow Chart</a:t>
            </a:r>
          </a:p>
        </p:txBody>
      </p:sp>
      <p:sp>
        <p:nvSpPr>
          <p:cNvPr id="77828" name="Rectangle 3"/>
          <p:cNvSpPr>
            <a:spLocks noChangeArrowheads="1"/>
          </p:cNvSpPr>
          <p:nvPr/>
        </p:nvSpPr>
        <p:spPr bwMode="auto">
          <a:xfrm>
            <a:off x="2743200" y="18859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auto">
          <a:xfrm>
            <a:off x="0" y="18859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pic>
        <p:nvPicPr>
          <p:cNvPr id="7783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1035050"/>
            <a:ext cx="80645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7569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76400"/>
            <a:ext cx="7620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number=20;  </a:t>
            </a:r>
          </a:p>
          <a:p>
            <a:r>
              <a:rPr lang="en-US" sz="2400" dirty="0"/>
              <a:t>        //Switch expression  </a:t>
            </a:r>
          </a:p>
          <a:p>
            <a:r>
              <a:rPr lang="en-US" sz="2400" dirty="0"/>
              <a:t>        switch(number){  </a:t>
            </a:r>
          </a:p>
          <a:p>
            <a:r>
              <a:rPr lang="en-US" sz="2400" dirty="0"/>
              <a:t>        //Case statements  </a:t>
            </a:r>
          </a:p>
          <a:p>
            <a:r>
              <a:rPr lang="en-US" sz="2400" dirty="0"/>
              <a:t>            case 10: </a:t>
            </a:r>
            <a:r>
              <a:rPr lang="en-US" sz="2400" dirty="0" err="1"/>
              <a:t>System.out.println</a:t>
            </a:r>
            <a:r>
              <a:rPr lang="en-US" sz="2400" dirty="0"/>
              <a:t>("10");  </a:t>
            </a:r>
          </a:p>
          <a:p>
            <a:r>
              <a:rPr lang="en-US" sz="2400" dirty="0"/>
              <a:t>            break;  </a:t>
            </a:r>
          </a:p>
          <a:p>
            <a:r>
              <a:rPr lang="en-US" sz="2400" dirty="0"/>
              <a:t>            case 20: </a:t>
            </a:r>
            <a:r>
              <a:rPr lang="en-US" sz="2400" dirty="0" err="1"/>
              <a:t>System.out.println</a:t>
            </a:r>
            <a:r>
              <a:rPr lang="en-US" sz="2400" dirty="0"/>
              <a:t>("20");  </a:t>
            </a:r>
          </a:p>
          <a:p>
            <a:r>
              <a:rPr lang="en-US" sz="2400" dirty="0"/>
              <a:t>            break;  </a:t>
            </a:r>
          </a:p>
          <a:p>
            <a:r>
              <a:rPr lang="en-US" sz="2400" dirty="0"/>
              <a:t>            case 30: </a:t>
            </a:r>
            <a:r>
              <a:rPr lang="en-US" sz="2400" dirty="0" err="1"/>
              <a:t>System.out.println</a:t>
            </a:r>
            <a:r>
              <a:rPr lang="en-US" sz="2400" dirty="0"/>
              <a:t>("30");  </a:t>
            </a:r>
          </a:p>
          <a:p>
            <a:r>
              <a:rPr lang="en-US" sz="2400" dirty="0"/>
              <a:t>            break;  </a:t>
            </a:r>
          </a:p>
          <a:p>
            <a:r>
              <a:rPr lang="en-US" sz="2400" dirty="0"/>
              <a:t>            //Default case statement  </a:t>
            </a:r>
          </a:p>
          <a:p>
            <a:r>
              <a:rPr lang="en-US" sz="2400" dirty="0"/>
              <a:t>            </a:t>
            </a:r>
            <a:r>
              <a:rPr lang="en-US" sz="2400" dirty="0" err="1"/>
              <a:t>default:System.out.println</a:t>
            </a:r>
            <a:r>
              <a:rPr lang="en-US" sz="2400" dirty="0"/>
              <a:t>("Not in 10, 20 or 30");  </a:t>
            </a:r>
          </a:p>
          <a:p>
            <a:r>
              <a:rPr lang="en-US" sz="2400" dirty="0"/>
              <a:t>        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Switch- Example</a:t>
            </a:r>
          </a:p>
        </p:txBody>
      </p:sp>
    </p:spTree>
    <p:extLst>
      <p:ext uri="{BB962C8B-B14F-4D97-AF65-F5344CB8AC3E}">
        <p14:creationId xmlns:p14="http://schemas.microsoft.com/office/powerpoint/2010/main" val="2422330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2"/>
          <p:cNvSpPr txBox="1">
            <a:spLocks noChangeArrowheads="1"/>
          </p:cNvSpPr>
          <p:nvPr/>
        </p:nvSpPr>
        <p:spPr bwMode="auto">
          <a:xfrm>
            <a:off x="685800" y="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 dirty="0">
                <a:latin typeface="Courier New" pitchFamily="49" charset="0"/>
              </a:rPr>
              <a:t>switch</a:t>
            </a:r>
            <a:r>
              <a:rPr lang="en-US" altLang="en-US" sz="4400" dirty="0"/>
              <a:t> Statement Rules</a:t>
            </a:r>
          </a:p>
        </p:txBody>
      </p:sp>
      <p:sp>
        <p:nvSpPr>
          <p:cNvPr id="79876" name="Rectangle 3"/>
          <p:cNvSpPr>
            <a:spLocks noChangeArrowheads="1"/>
          </p:cNvSpPr>
          <p:nvPr/>
        </p:nvSpPr>
        <p:spPr bwMode="auto">
          <a:xfrm>
            <a:off x="5105400" y="1246628"/>
            <a:ext cx="3657600" cy="3810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2160" tIns="46080" rIns="92160" bIns="46080"/>
          <a:lstStyle/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switch (</a:t>
            </a:r>
            <a:r>
              <a:rPr lang="en-US" altLang="en-US" sz="1900" b="1" dirty="0">
                <a:solidFill>
                  <a:srgbClr val="FF0000"/>
                </a:solidFill>
                <a:cs typeface="Times New Roman" pitchFamily="16" charset="0"/>
              </a:rPr>
              <a:t>switch-expression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) {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case </a:t>
            </a:r>
            <a:r>
              <a:rPr lang="en-US" altLang="en-US" sz="1900" b="1" dirty="0">
                <a:solidFill>
                  <a:srgbClr val="FF0000"/>
                </a:solidFill>
                <a:cs typeface="Times New Roman" pitchFamily="16" charset="0"/>
              </a:rPr>
              <a:t>value1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:  statement(s)1;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         break;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case </a:t>
            </a:r>
            <a:r>
              <a:rPr lang="en-US" altLang="en-US" sz="1900" b="1" dirty="0">
                <a:solidFill>
                  <a:srgbClr val="FF0000"/>
                </a:solidFill>
                <a:cs typeface="Times New Roman" pitchFamily="16" charset="0"/>
              </a:rPr>
              <a:t>value2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: statement(s)2;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         break;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…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case </a:t>
            </a:r>
            <a:r>
              <a:rPr lang="en-US" altLang="en-US" sz="1900" b="1" dirty="0" err="1">
                <a:solidFill>
                  <a:srgbClr val="FF0000"/>
                </a:solidFill>
                <a:cs typeface="Times New Roman" pitchFamily="16" charset="0"/>
              </a:rPr>
              <a:t>valueN</a:t>
            </a: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: statement(s)N;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         break;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  default: statement(s)-for-default;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cs typeface="Times New Roman" pitchFamily="16" charset="0"/>
              </a:rPr>
              <a:t>}</a:t>
            </a:r>
          </a:p>
        </p:txBody>
      </p: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381000" y="1066800"/>
            <a:ext cx="5791201" cy="914400"/>
            <a:chOff x="240" y="672"/>
            <a:chExt cx="3648" cy="576"/>
          </a:xfrm>
        </p:grpSpPr>
        <p:sp>
          <p:nvSpPr>
            <p:cNvPr id="79883" name="Rectangle 5"/>
            <p:cNvSpPr>
              <a:spLocks noChangeArrowheads="1"/>
            </p:cNvSpPr>
            <p:nvPr/>
          </p:nvSpPr>
          <p:spPr bwMode="auto">
            <a:xfrm>
              <a:off x="240" y="672"/>
              <a:ext cx="2540" cy="576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/>
            <a:p>
              <a:pPr marL="55563" indent="-53975">
                <a:lnSpc>
                  <a:spcPct val="90000"/>
                </a:lnSpc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switch-expression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must yield a value of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char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byte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short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or </a:t>
              </a:r>
              <a:r>
                <a:rPr lang="en-US" altLang="en-US" sz="1800" u="sng" dirty="0" err="1">
                  <a:solidFill>
                    <a:srgbClr val="000000"/>
                  </a:solidFill>
                  <a:cs typeface="Times New Roman" pitchFamily="16" charset="0"/>
                </a:rPr>
                <a:t>int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type and must always be enclosed in parentheses.</a:t>
              </a:r>
            </a:p>
          </p:txBody>
        </p:sp>
        <p:sp>
          <p:nvSpPr>
            <p:cNvPr id="79884" name="Line 6"/>
            <p:cNvSpPr>
              <a:spLocks noChangeShapeType="1"/>
            </p:cNvSpPr>
            <p:nvPr/>
          </p:nvSpPr>
          <p:spPr bwMode="auto">
            <a:xfrm>
              <a:off x="2780" y="863"/>
              <a:ext cx="1108" cy="0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41991" name="Group 7"/>
          <p:cNvGrpSpPr>
            <a:grpSpLocks/>
          </p:cNvGrpSpPr>
          <p:nvPr/>
        </p:nvGrpSpPr>
        <p:grpSpPr bwMode="auto">
          <a:xfrm>
            <a:off x="381000" y="1828105"/>
            <a:ext cx="5486619" cy="4496496"/>
            <a:chOff x="432" y="1160"/>
            <a:chExt cx="3232" cy="2582"/>
          </a:xfrm>
        </p:grpSpPr>
        <p:sp>
          <p:nvSpPr>
            <p:cNvPr id="79879" name="Rectangle 8"/>
            <p:cNvSpPr>
              <a:spLocks noChangeArrowheads="1"/>
            </p:cNvSpPr>
            <p:nvPr/>
          </p:nvSpPr>
          <p:spPr bwMode="auto">
            <a:xfrm>
              <a:off x="432" y="1335"/>
              <a:ext cx="2469" cy="2407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/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value1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..., and </a:t>
              </a:r>
              <a:r>
                <a:rPr lang="en-US" altLang="en-US" sz="1800" u="sng" dirty="0" err="1">
                  <a:solidFill>
                    <a:srgbClr val="000000"/>
                  </a:solidFill>
                  <a:cs typeface="Times New Roman" pitchFamily="16" charset="0"/>
                </a:rPr>
                <a:t>valueN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must have the same data type as the value of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switch-expression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. </a:t>
              </a: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endParaRPr lang="en-US" altLang="en-US" dirty="0">
                <a:solidFill>
                  <a:srgbClr val="000000"/>
                </a:solidFill>
                <a:cs typeface="Times New Roman" pitchFamily="16" charset="0"/>
              </a:endParaRP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The resulting statements in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case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statement are executed when the value in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case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statement matches the value of the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switch-expression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. </a:t>
              </a: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dirty="0">
                  <a:solidFill>
                    <a:srgbClr val="000000"/>
                  </a:solidFill>
                  <a:cs typeface="Times New Roman" pitchFamily="16" charset="0"/>
                </a:rPr>
                <a:t> </a:t>
              </a:r>
            </a:p>
            <a:p>
              <a:pPr marL="55563" indent="-53975">
                <a:buSzPct val="75000"/>
                <a:tabLst>
                  <a:tab pos="55563" algn="l"/>
                  <a:tab pos="969963" algn="l"/>
                  <a:tab pos="1884363" algn="l"/>
                  <a:tab pos="2798763" algn="l"/>
                  <a:tab pos="3713163" algn="l"/>
                  <a:tab pos="4627563" algn="l"/>
                  <a:tab pos="5541963" algn="l"/>
                  <a:tab pos="6456363" algn="l"/>
                  <a:tab pos="7370763" algn="l"/>
                  <a:tab pos="8285163" algn="l"/>
                  <a:tab pos="9199563" algn="l"/>
                  <a:tab pos="10113963" algn="l"/>
                </a:tabLst>
              </a:pP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Note that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value1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, ..., and </a:t>
              </a:r>
              <a:r>
                <a:rPr lang="en-US" altLang="en-US" sz="1800" u="sng" dirty="0" err="1">
                  <a:solidFill>
                    <a:srgbClr val="000000"/>
                  </a:solidFill>
                  <a:cs typeface="Times New Roman" pitchFamily="16" charset="0"/>
                </a:rPr>
                <a:t>valueN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 are constant expressions, meaning that they cannot contain variables in the expression, such as 1 + </a:t>
              </a:r>
              <a:r>
                <a:rPr lang="en-US" altLang="en-US" sz="1800" u="sng" dirty="0">
                  <a:solidFill>
                    <a:srgbClr val="000000"/>
                  </a:solidFill>
                  <a:cs typeface="Times New Roman" pitchFamily="16" charset="0"/>
                </a:rPr>
                <a:t>x</a:t>
              </a:r>
              <a:r>
                <a:rPr lang="en-US" altLang="en-US" sz="1800" dirty="0">
                  <a:solidFill>
                    <a:srgbClr val="000000"/>
                  </a:solidFill>
                  <a:cs typeface="Times New Roman" pitchFamily="16" charset="0"/>
                </a:rPr>
                <a:t>. </a:t>
              </a:r>
            </a:p>
          </p:txBody>
        </p:sp>
        <p:sp>
          <p:nvSpPr>
            <p:cNvPr id="79880" name="Line 9"/>
            <p:cNvSpPr>
              <a:spLocks noChangeShapeType="1"/>
            </p:cNvSpPr>
            <p:nvPr/>
          </p:nvSpPr>
          <p:spPr bwMode="auto">
            <a:xfrm flipV="1">
              <a:off x="2901" y="1160"/>
              <a:ext cx="763" cy="621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881" name="Line 10"/>
            <p:cNvSpPr>
              <a:spLocks noChangeShapeType="1"/>
            </p:cNvSpPr>
            <p:nvPr/>
          </p:nvSpPr>
          <p:spPr bwMode="auto">
            <a:xfrm flipV="1">
              <a:off x="2901" y="1642"/>
              <a:ext cx="718" cy="139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882" name="Line 11"/>
            <p:cNvSpPr>
              <a:spLocks noChangeShapeType="1"/>
            </p:cNvSpPr>
            <p:nvPr/>
          </p:nvSpPr>
          <p:spPr bwMode="auto">
            <a:xfrm>
              <a:off x="2901" y="1781"/>
              <a:ext cx="763" cy="330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49355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Text Box 2"/>
          <p:cNvSpPr txBox="1">
            <a:spLocks noChangeArrowheads="1"/>
          </p:cNvSpPr>
          <p:nvPr/>
        </p:nvSpPr>
        <p:spPr bwMode="auto">
          <a:xfrm>
            <a:off x="685800" y="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200" dirty="0">
                <a:latin typeface="+mj-lt"/>
              </a:rPr>
              <a:t>switch</a:t>
            </a:r>
            <a:r>
              <a:rPr lang="en-US" altLang="en-US" sz="4400" dirty="0">
                <a:latin typeface="+mj-lt"/>
              </a:rPr>
              <a:t> Statement Rules</a:t>
            </a: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5051946" y="1219200"/>
            <a:ext cx="3657600" cy="3810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2160" tIns="46080" rIns="92160" bIns="46080"/>
          <a:lstStyle/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switch (switch-expression) {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case value1:  statement(s)1;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       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break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case value2: statement(s)2;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       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break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…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case </a:t>
            </a:r>
            <a:r>
              <a:rPr lang="en-US" altLang="en-US" sz="1900" dirty="0" err="1">
                <a:solidFill>
                  <a:srgbClr val="000000"/>
                </a:solidFill>
                <a:latin typeface="+mj-lt"/>
                <a:cs typeface="Times New Roman" pitchFamily="16" charset="0"/>
              </a:rPr>
              <a:t>valueN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: statement(s)N;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       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break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 </a:t>
            </a:r>
            <a:r>
              <a:rPr lang="en-US" altLang="en-US" sz="1900" b="1" dirty="0">
                <a:solidFill>
                  <a:srgbClr val="FF0000"/>
                </a:solidFill>
                <a:latin typeface="+mj-lt"/>
                <a:cs typeface="Times New Roman" pitchFamily="16" charset="0"/>
              </a:rPr>
              <a:t>default</a:t>
            </a: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: statement(s)-for-default;</a:t>
            </a:r>
          </a:p>
          <a:p>
            <a:pPr>
              <a:spcBef>
                <a:spcPts val="475"/>
              </a:spcBef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9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}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8600" y="1219200"/>
            <a:ext cx="5486400" cy="2590800"/>
            <a:chOff x="228600" y="1219200"/>
            <a:chExt cx="5486400" cy="2590800"/>
          </a:xfrm>
        </p:grpSpPr>
        <p:sp>
          <p:nvSpPr>
            <p:cNvPr id="43011" name="Text Box 3"/>
            <p:cNvSpPr txBox="1">
              <a:spLocks noChangeArrowheads="1"/>
            </p:cNvSpPr>
            <p:nvPr/>
          </p:nvSpPr>
          <p:spPr bwMode="auto">
            <a:xfrm>
              <a:off x="228600" y="1219200"/>
              <a:ext cx="3886200" cy="20574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>
              <a:lvl1pPr marL="55563" indent="-53975"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32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1pPr>
              <a:lvl2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8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2pPr>
              <a:lvl3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3pPr>
              <a:lvl4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4pPr>
              <a:lvl5pPr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5pPr>
              <a:lvl6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6pPr>
              <a:lvl7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7pPr>
              <a:lvl8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8pPr>
              <a:lvl9pPr defTabSz="457200" eaLnBrk="0" fontAlgn="base" hangingPunct="0"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  <a:defRPr sz="2000">
                  <a:solidFill>
                    <a:srgbClr val="000000"/>
                  </a:solidFill>
                  <a:latin typeface="Times New Roman" pitchFamily="16" charset="0"/>
                  <a:ea typeface="Droid Sans" charset="0"/>
                  <a:cs typeface="Droid Sans" charset="0"/>
                </a:defRPr>
              </a:lvl9pPr>
            </a:lstStyle>
            <a:p>
              <a:pPr eaLnBrk="1" hangingPunct="1">
                <a:buSzPct val="75000"/>
              </a:pPr>
              <a:r>
                <a:rPr lang="en-US" altLang="en-US" dirty="0">
                  <a:latin typeface="+mj-lt"/>
                  <a:cs typeface="Times New Roman" pitchFamily="16" charset="0"/>
                </a:rPr>
                <a:t>	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The keyword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break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is optional, but it should be used at the end of each case in order to terminate the remainder of the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switch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statement. If the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break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statement is not present, the next </a:t>
              </a:r>
              <a:r>
                <a:rPr lang="en-US" altLang="en-US" sz="1800" u="sng" dirty="0">
                  <a:latin typeface="+mj-lt"/>
                  <a:cs typeface="Times New Roman" pitchFamily="16" charset="0"/>
                </a:rPr>
                <a:t>case</a:t>
              </a:r>
              <a:r>
                <a:rPr lang="en-US" altLang="en-US" sz="1800" dirty="0">
                  <a:latin typeface="+mj-lt"/>
                  <a:cs typeface="Times New Roman" pitchFamily="16" charset="0"/>
                </a:rPr>
                <a:t> statement will be executed.</a:t>
              </a:r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 flipV="1">
              <a:off x="4114800" y="2133600"/>
              <a:ext cx="1600200" cy="266700"/>
            </a:xfrm>
            <a:prstGeom prst="line">
              <a:avLst/>
            </a:prstGeom>
            <a:ln w="28575">
              <a:headEnd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>
                <a:latin typeface="+mj-lt"/>
              </a:endParaRP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>
              <a:off x="4114800" y="2400300"/>
              <a:ext cx="1600200" cy="419100"/>
            </a:xfrm>
            <a:prstGeom prst="line">
              <a:avLst/>
            </a:prstGeom>
            <a:ln w="28575">
              <a:headEnd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>
                <a:latin typeface="+mj-lt"/>
              </a:endParaRPr>
            </a:p>
          </p:txBody>
        </p:sp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4114800" y="2400300"/>
              <a:ext cx="1600200" cy="1409700"/>
            </a:xfrm>
            <a:prstGeom prst="line">
              <a:avLst/>
            </a:prstGeom>
            <a:ln w="28575">
              <a:headEnd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>
                <a:latin typeface="+mj-lt"/>
              </a:endParaRPr>
            </a:p>
          </p:txBody>
        </p:sp>
      </p:grpSp>
      <p:grpSp>
        <p:nvGrpSpPr>
          <p:cNvPr id="43016" name="Group 8"/>
          <p:cNvGrpSpPr>
            <a:grpSpLocks/>
          </p:cNvGrpSpPr>
          <p:nvPr/>
        </p:nvGrpSpPr>
        <p:grpSpPr bwMode="auto">
          <a:xfrm>
            <a:off x="228600" y="3733800"/>
            <a:ext cx="4953001" cy="1522413"/>
            <a:chOff x="144" y="2352"/>
            <a:chExt cx="3120" cy="959"/>
          </a:xfrm>
        </p:grpSpPr>
        <p:sp>
          <p:nvSpPr>
            <p:cNvPr id="81931" name="Rectangle 9"/>
            <p:cNvSpPr>
              <a:spLocks noChangeArrowheads="1"/>
            </p:cNvSpPr>
            <p:nvPr/>
          </p:nvSpPr>
          <p:spPr bwMode="auto">
            <a:xfrm>
              <a:off x="144" y="2352"/>
              <a:ext cx="2592" cy="959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2160" tIns="46080" rIns="92160" bIns="46080"/>
            <a:lstStyle/>
            <a:p>
              <a:pPr marL="55563" indent="-53975">
                <a:buSzPct val="75000"/>
                <a:tabLst>
                  <a:tab pos="55563" algn="l"/>
                  <a:tab pos="285750" algn="l"/>
                  <a:tab pos="573088" algn="l"/>
                  <a:tab pos="860425" algn="l"/>
                  <a:tab pos="1147763" algn="l"/>
                  <a:tab pos="1435100" algn="l"/>
                  <a:tab pos="1722438" algn="l"/>
                  <a:tab pos="2009775" algn="l"/>
                  <a:tab pos="2297113" algn="l"/>
                  <a:tab pos="2584450" algn="l"/>
                  <a:tab pos="2871788" algn="l"/>
                  <a:tab pos="3159125" algn="l"/>
                  <a:tab pos="3446463" algn="l"/>
                  <a:tab pos="3733800" algn="l"/>
                  <a:tab pos="4021138" algn="l"/>
                  <a:tab pos="4308475" algn="l"/>
                  <a:tab pos="4595813" algn="l"/>
                  <a:tab pos="4883150" algn="l"/>
                  <a:tab pos="5170488" algn="l"/>
                  <a:tab pos="5457825" algn="l"/>
                  <a:tab pos="5745163" algn="l"/>
                </a:tabLst>
              </a:pPr>
              <a:r>
                <a:rPr lang="en-US" altLang="en-US" sz="36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	</a:t>
              </a:r>
              <a:r>
                <a:rPr lang="en-US" altLang="en-US" sz="20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The </a:t>
              </a:r>
              <a:r>
                <a:rPr lang="en-US" altLang="en-US" sz="2000" u="sng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default</a:t>
              </a:r>
              <a:r>
                <a:rPr lang="en-US" altLang="en-US" sz="20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 case, which is optional, can be used to perform actions when none of the specified cases matches the </a:t>
              </a:r>
              <a:r>
                <a:rPr lang="en-US" altLang="en-US" sz="2000" u="sng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switch-expression</a:t>
              </a:r>
              <a:r>
                <a:rPr lang="en-US" altLang="en-US" sz="2000" dirty="0">
                  <a:solidFill>
                    <a:srgbClr val="000000"/>
                  </a:solidFill>
                  <a:latin typeface="+mj-lt"/>
                  <a:cs typeface="Times New Roman" pitchFamily="16" charset="0"/>
                </a:rPr>
                <a:t>.</a:t>
              </a:r>
            </a:p>
          </p:txBody>
        </p:sp>
        <p:sp>
          <p:nvSpPr>
            <p:cNvPr id="81932" name="Line 10"/>
            <p:cNvSpPr>
              <a:spLocks noChangeShapeType="1"/>
            </p:cNvSpPr>
            <p:nvPr/>
          </p:nvSpPr>
          <p:spPr bwMode="auto">
            <a:xfrm flipV="1">
              <a:off x="2736" y="2688"/>
              <a:ext cx="528" cy="0"/>
            </a:xfrm>
            <a:prstGeom prst="line">
              <a:avLst/>
            </a:prstGeom>
            <a:ln>
              <a:headEnd/>
              <a:tailEnd type="stealth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369627" y="5426501"/>
            <a:ext cx="8077200" cy="13208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2160" tIns="46080" rIns="92160" bIns="46080"/>
          <a:lstStyle/>
          <a:p>
            <a:pPr marL="55563" indent="-53975">
              <a:buSzPct val="75000"/>
              <a:tabLst>
                <a:tab pos="55563" algn="l"/>
                <a:tab pos="969963" algn="l"/>
                <a:tab pos="1884363" algn="l"/>
                <a:tab pos="2798763" algn="l"/>
                <a:tab pos="3713163" algn="l"/>
                <a:tab pos="4627563" algn="l"/>
                <a:tab pos="5541963" algn="l"/>
                <a:tab pos="6456363" algn="l"/>
                <a:tab pos="7370763" algn="l"/>
                <a:tab pos="8285163" algn="l"/>
                <a:tab pos="9199563" algn="l"/>
                <a:tab pos="10113963" algn="l"/>
              </a:tabLst>
            </a:pP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When the value in a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case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statement matches the value of the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switch-expression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,  the statements </a:t>
            </a:r>
            <a:r>
              <a:rPr lang="en-US" altLang="en-US" sz="1800" i="1" dirty="0">
                <a:solidFill>
                  <a:srgbClr val="000000"/>
                </a:solidFill>
                <a:latin typeface="+mj-lt"/>
              </a:rPr>
              <a:t>starting from this case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are executed until either a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break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statement or the end of the </a:t>
            </a:r>
            <a:r>
              <a:rPr lang="en-US" altLang="en-US" sz="1800" b="1" dirty="0">
                <a:solidFill>
                  <a:srgbClr val="000000"/>
                </a:solidFill>
                <a:latin typeface="+mj-lt"/>
              </a:rPr>
              <a:t>switch</a:t>
            </a:r>
            <a:r>
              <a:rPr lang="en-US" altLang="en-US" sz="1800" dirty="0">
                <a:solidFill>
                  <a:srgbClr val="000000"/>
                </a:solidFill>
                <a:latin typeface="+mj-lt"/>
              </a:rPr>
              <a:t>  statement is reached.</a:t>
            </a:r>
          </a:p>
        </p:txBody>
      </p:sp>
    </p:spTree>
    <p:extLst>
      <p:ext uri="{BB962C8B-B14F-4D97-AF65-F5344CB8AC3E}">
        <p14:creationId xmlns:p14="http://schemas.microsoft.com/office/powerpoint/2010/main" val="11175309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 dirty="0">
                <a:latin typeface="+mj-lt"/>
              </a:rPr>
              <a:t>Trace switch statement</a:t>
            </a:r>
          </a:p>
        </p:txBody>
      </p:sp>
      <p:sp>
        <p:nvSpPr>
          <p:cNvPr id="83972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83973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 dirty="0">
                <a:latin typeface="+mj-lt"/>
                <a:cs typeface="Arial" charset="0"/>
              </a:rPr>
              <a:t>switch</a:t>
            </a:r>
            <a:r>
              <a:rPr lang="en-US" altLang="en-US" sz="2400" dirty="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5: </a:t>
            </a:r>
            <a:r>
              <a:rPr lang="en-US" altLang="en-US" sz="2400" dirty="0" err="1">
                <a:latin typeface="+mj-lt"/>
                <a:cs typeface="Arial" charset="0"/>
              </a:rPr>
              <a:t>System.out.println</a:t>
            </a:r>
            <a:r>
              <a:rPr lang="en-US" altLang="en-US" sz="2400" dirty="0">
                <a:latin typeface="+mj-lt"/>
                <a:cs typeface="Arial" charset="0"/>
              </a:rPr>
              <a:t>("Weekday"); </a:t>
            </a:r>
            <a:r>
              <a:rPr lang="en-US" altLang="en-US" sz="2400" b="1" dirty="0">
                <a:latin typeface="+mj-lt"/>
                <a:cs typeface="Arial" charset="0"/>
              </a:rPr>
              <a:t>break</a:t>
            </a:r>
            <a:r>
              <a:rPr lang="en-US" altLang="en-US" sz="2400" dirty="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  </a:t>
            </a:r>
            <a:r>
              <a:rPr lang="en-US" altLang="en-US" sz="2400" b="1" dirty="0">
                <a:latin typeface="+mj-lt"/>
                <a:cs typeface="Arial" charset="0"/>
              </a:rPr>
              <a:t>case</a:t>
            </a:r>
            <a:r>
              <a:rPr lang="en-US" altLang="en-US" sz="2400" dirty="0">
                <a:latin typeface="+mj-lt"/>
                <a:cs typeface="Arial" charset="0"/>
              </a:rPr>
              <a:t> 6: </a:t>
            </a:r>
            <a:r>
              <a:rPr lang="en-US" altLang="en-US" sz="2400" dirty="0" err="1">
                <a:latin typeface="+mj-lt"/>
                <a:cs typeface="Arial" charset="0"/>
              </a:rPr>
              <a:t>System.out.println</a:t>
            </a:r>
            <a:r>
              <a:rPr lang="en-US" altLang="en-US" sz="2400" dirty="0">
                <a:latin typeface="+mj-lt"/>
                <a:cs typeface="Arial" charset="0"/>
              </a:rPr>
              <a:t>("Weekend"); </a:t>
            </a:r>
          </a:p>
          <a:p>
            <a:pPr>
              <a:buSzPct val="75000"/>
            </a:pPr>
            <a:r>
              <a:rPr lang="en-US" altLang="en-US" sz="2400" dirty="0">
                <a:latin typeface="+mj-lt"/>
                <a:cs typeface="Arial" charset="0"/>
              </a:rPr>
              <a:t>}  </a:t>
            </a:r>
          </a:p>
        </p:txBody>
      </p:sp>
      <p:sp>
        <p:nvSpPr>
          <p:cNvPr id="83974" name="Rectangle 5"/>
          <p:cNvSpPr>
            <a:spLocks noChangeArrowheads="1"/>
          </p:cNvSpPr>
          <p:nvPr/>
        </p:nvSpPr>
        <p:spPr bwMode="auto">
          <a:xfrm>
            <a:off x="1492250" y="2306638"/>
            <a:ext cx="42227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  <p:sp>
        <p:nvSpPr>
          <p:cNvPr id="44038" name="AutoShape 6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6745"/>
              <a:gd name="adj2" fmla="val 177255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Suppose day is 2: </a:t>
            </a:r>
          </a:p>
        </p:txBody>
      </p:sp>
    </p:spTree>
    <p:extLst>
      <p:ext uri="{BB962C8B-B14F-4D97-AF65-F5344CB8AC3E}">
        <p14:creationId xmlns:p14="http://schemas.microsoft.com/office/powerpoint/2010/main" val="13276687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/>
              <a:t>Trace switch statement</a:t>
            </a:r>
          </a:p>
        </p:txBody>
      </p:sp>
      <p:sp>
        <p:nvSpPr>
          <p:cNvPr id="8602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86021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cs typeface="Arial" charset="0"/>
              </a:rPr>
              <a:t>switch</a:t>
            </a:r>
            <a:r>
              <a:rPr lang="en-US" altLang="en-US" sz="2400"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5: System.out.println("Weekday"); </a:t>
            </a:r>
            <a:r>
              <a:rPr lang="en-US" altLang="en-US" sz="2400" b="1">
                <a:cs typeface="Arial" charset="0"/>
              </a:rPr>
              <a:t>break</a:t>
            </a:r>
            <a:r>
              <a:rPr lang="en-US" altLang="en-US" sz="2400"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  </a:t>
            </a:r>
            <a:r>
              <a:rPr lang="en-US" altLang="en-US" sz="2400" b="1">
                <a:cs typeface="Arial" charset="0"/>
              </a:rPr>
              <a:t>case</a:t>
            </a:r>
            <a:r>
              <a:rPr lang="en-US" altLang="en-US" sz="2400"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cs typeface="Arial" charset="0"/>
              </a:rPr>
              <a:t>}  </a:t>
            </a:r>
          </a:p>
        </p:txBody>
      </p:sp>
      <p:sp>
        <p:nvSpPr>
          <p:cNvPr id="45061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3736"/>
              <a:gd name="adj2" fmla="val 298056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</a:rPr>
              <a:t>Match case 2 </a:t>
            </a:r>
          </a:p>
        </p:txBody>
      </p:sp>
      <p:sp>
        <p:nvSpPr>
          <p:cNvPr id="86024" name="Rectangle 7"/>
          <p:cNvSpPr>
            <a:spLocks noChangeArrowheads="1"/>
          </p:cNvSpPr>
          <p:nvPr/>
        </p:nvSpPr>
        <p:spPr bwMode="auto">
          <a:xfrm>
            <a:off x="574675" y="3082925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71742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88068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88069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6085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1958"/>
              <a:gd name="adj2" fmla="val 388944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Fall through case 3</a:t>
            </a:r>
          </a:p>
        </p:txBody>
      </p:sp>
      <p:sp>
        <p:nvSpPr>
          <p:cNvPr id="88072" name="Rectangle 7"/>
          <p:cNvSpPr>
            <a:spLocks noChangeArrowheads="1"/>
          </p:cNvSpPr>
          <p:nvPr/>
        </p:nvSpPr>
        <p:spPr bwMode="auto">
          <a:xfrm>
            <a:off x="574675" y="3429000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001104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0116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0117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7109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0181"/>
              <a:gd name="adj2" fmla="val 445750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Fall through case 4 </a:t>
            </a:r>
          </a:p>
        </p:txBody>
      </p:sp>
      <p:sp>
        <p:nvSpPr>
          <p:cNvPr id="90120" name="Rectangle 7"/>
          <p:cNvSpPr>
            <a:spLocks noChangeArrowheads="1"/>
          </p:cNvSpPr>
          <p:nvPr/>
        </p:nvSpPr>
        <p:spPr bwMode="auto">
          <a:xfrm>
            <a:off x="571500" y="3773488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5930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2164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2165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8133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30630"/>
              <a:gd name="adj2" fmla="val 508306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Fall through case 5 </a:t>
            </a:r>
          </a:p>
        </p:txBody>
      </p:sp>
      <p:sp>
        <p:nvSpPr>
          <p:cNvPr id="92168" name="Rectangle 7"/>
          <p:cNvSpPr>
            <a:spLocks noChangeArrowheads="1"/>
          </p:cNvSpPr>
          <p:nvPr/>
        </p:nvSpPr>
        <p:spPr bwMode="auto">
          <a:xfrm>
            <a:off x="568325" y="4119563"/>
            <a:ext cx="949325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1886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4212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4213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49157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150185"/>
              <a:gd name="adj2" fmla="val 514778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Encounter break</a:t>
            </a:r>
          </a:p>
        </p:txBody>
      </p:sp>
      <p:sp>
        <p:nvSpPr>
          <p:cNvPr id="94216" name="Rectangle 7"/>
          <p:cNvSpPr>
            <a:spLocks noChangeArrowheads="1"/>
          </p:cNvSpPr>
          <p:nvPr/>
        </p:nvSpPr>
        <p:spPr bwMode="auto">
          <a:xfrm>
            <a:off x="5494338" y="4119563"/>
            <a:ext cx="947737" cy="3460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3618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Text Box 2"/>
          <p:cNvSpPr txBox="1">
            <a:spLocks noChangeArrowheads="1"/>
          </p:cNvSpPr>
          <p:nvPr/>
        </p:nvSpPr>
        <p:spPr bwMode="auto">
          <a:xfrm>
            <a:off x="685800" y="317500"/>
            <a:ext cx="8001000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000">
                <a:latin typeface="+mj-lt"/>
              </a:rPr>
              <a:t>Trace switch statement</a:t>
            </a:r>
          </a:p>
        </p:txBody>
      </p:sp>
      <p:sp>
        <p:nvSpPr>
          <p:cNvPr id="96260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96261" name="Text Box 4"/>
          <p:cNvSpPr txBox="1">
            <a:spLocks noChangeArrowheads="1"/>
          </p:cNvSpPr>
          <p:nvPr/>
        </p:nvSpPr>
        <p:spPr bwMode="auto">
          <a:xfrm>
            <a:off x="385763" y="2238375"/>
            <a:ext cx="829627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buSzPct val="75000"/>
            </a:pPr>
            <a:r>
              <a:rPr lang="en-US" altLang="en-US" sz="2400" b="1">
                <a:latin typeface="+mj-lt"/>
                <a:cs typeface="Arial" charset="0"/>
              </a:rPr>
              <a:t>switch</a:t>
            </a:r>
            <a:r>
              <a:rPr lang="en-US" altLang="en-US" sz="2400">
                <a:latin typeface="+mj-lt"/>
                <a:cs typeface="Arial" charset="0"/>
              </a:rPr>
              <a:t> (day) {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1: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2: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3: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4: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5: System.out.println("Weekday"); </a:t>
            </a:r>
            <a:r>
              <a:rPr lang="en-US" altLang="en-US" sz="2400" b="1">
                <a:latin typeface="+mj-lt"/>
                <a:cs typeface="Arial" charset="0"/>
              </a:rPr>
              <a:t>break</a:t>
            </a:r>
            <a:r>
              <a:rPr lang="en-US" altLang="en-US" sz="2400">
                <a:latin typeface="+mj-lt"/>
                <a:cs typeface="Arial" charset="0"/>
              </a:rPr>
              <a:t>;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0: 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  </a:t>
            </a:r>
            <a:r>
              <a:rPr lang="en-US" altLang="en-US" sz="2400" b="1">
                <a:latin typeface="+mj-lt"/>
                <a:cs typeface="Arial" charset="0"/>
              </a:rPr>
              <a:t>case</a:t>
            </a:r>
            <a:r>
              <a:rPr lang="en-US" altLang="en-US" sz="2400">
                <a:latin typeface="+mj-lt"/>
                <a:cs typeface="Arial" charset="0"/>
              </a:rPr>
              <a:t> 6: System.out.println("Weekend"); </a:t>
            </a:r>
          </a:p>
          <a:p>
            <a:pPr>
              <a:buSzPct val="75000"/>
            </a:pPr>
            <a:r>
              <a:rPr lang="en-US" altLang="en-US" sz="2400">
                <a:latin typeface="+mj-lt"/>
                <a:cs typeface="Arial" charset="0"/>
              </a:rPr>
              <a:t>}  </a:t>
            </a:r>
          </a:p>
        </p:txBody>
      </p:sp>
      <p:sp>
        <p:nvSpPr>
          <p:cNvPr id="50181" name="AutoShape 5"/>
          <p:cNvSpPr>
            <a:spLocks noChangeArrowheads="1"/>
          </p:cNvSpPr>
          <p:nvPr/>
        </p:nvSpPr>
        <p:spPr bwMode="auto">
          <a:xfrm>
            <a:off x="654050" y="1123950"/>
            <a:ext cx="2573338" cy="536575"/>
          </a:xfrm>
          <a:prstGeom prst="wedgeRoundRectCallout">
            <a:avLst>
              <a:gd name="adj1" fmla="val -57167"/>
              <a:gd name="adj2" fmla="val 834032"/>
              <a:gd name="adj3" fmla="val 16667"/>
            </a:avLst>
          </a:prstGeom>
          <a:solidFill>
            <a:srgbClr val="CBCBCB"/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1800">
                <a:solidFill>
                  <a:srgbClr val="000000"/>
                </a:solidFill>
                <a:latin typeface="+mj-lt"/>
              </a:rPr>
              <a:t>Exit the statement</a:t>
            </a:r>
          </a:p>
        </p:txBody>
      </p:sp>
    </p:spTree>
    <p:extLst>
      <p:ext uri="{BB962C8B-B14F-4D97-AF65-F5344CB8AC3E}">
        <p14:creationId xmlns:p14="http://schemas.microsoft.com/office/powerpoint/2010/main" val="22039743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Text Box 2"/>
          <p:cNvSpPr txBox="1">
            <a:spLocks noChangeArrowheads="1"/>
          </p:cNvSpPr>
          <p:nvPr/>
        </p:nvSpPr>
        <p:spPr bwMode="auto">
          <a:xfrm>
            <a:off x="193675" y="241300"/>
            <a:ext cx="86407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3600" dirty="0">
                <a:latin typeface="+mj-lt"/>
              </a:rPr>
              <a:t>Problem: Chinese Zodiac</a:t>
            </a:r>
            <a:r>
              <a:rPr lang="en-US" altLang="en-US" sz="4400" dirty="0">
                <a:latin typeface="+mj-lt"/>
              </a:rPr>
              <a:t> </a:t>
            </a:r>
          </a:p>
        </p:txBody>
      </p:sp>
      <p:sp>
        <p:nvSpPr>
          <p:cNvPr id="98308" name="Text Box 3"/>
          <p:cNvSpPr txBox="1">
            <a:spLocks noChangeArrowheads="1"/>
          </p:cNvSpPr>
          <p:nvPr/>
        </p:nvSpPr>
        <p:spPr bwMode="auto">
          <a:xfrm>
            <a:off x="193675" y="990600"/>
            <a:ext cx="86836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eaLnBrk="1" hangingPunct="1">
              <a:spcBef>
                <a:spcPts val="800"/>
              </a:spcBef>
              <a:buSzPct val="75000"/>
            </a:pPr>
            <a:r>
              <a:rPr lang="en-US" altLang="en-US" sz="2800" dirty="0">
                <a:latin typeface="+mj-lt"/>
              </a:rPr>
              <a:t>Write a program that prompts the user to enter a year and displays the animal for the year. </a:t>
            </a:r>
          </a:p>
        </p:txBody>
      </p:sp>
      <p:sp>
        <p:nvSpPr>
          <p:cNvPr id="98311" name="Rectangle 6"/>
          <p:cNvSpPr>
            <a:spLocks noChangeArrowheads="1"/>
          </p:cNvSpPr>
          <p:nvPr/>
        </p:nvSpPr>
        <p:spPr bwMode="auto">
          <a:xfrm>
            <a:off x="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pic>
        <p:nvPicPr>
          <p:cNvPr id="9831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1931988"/>
            <a:ext cx="7226300" cy="368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7295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"/>
            <a:ext cx="6699536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536" y="5235054"/>
            <a:ext cx="6350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539" y="6057331"/>
            <a:ext cx="6360997" cy="758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813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r>
              <a:rPr lang="en-US" dirty="0"/>
              <a:t>Logical operators, also known as Boolean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6967"/>
            <a:ext cx="8045355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The logical operators !, &amp;&amp;, ||, and ^ can be used to create a compound Boolean expression</a:t>
            </a:r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149428"/>
              </p:ext>
            </p:extLst>
          </p:nvPr>
        </p:nvGraphicFramePr>
        <p:xfrm>
          <a:off x="838200" y="3352800"/>
          <a:ext cx="7502525" cy="3148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90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690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644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!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logical negation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&amp;&amp;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and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logical conjunction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||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logical disjunction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960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^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exclusive or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logical exclusion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anchor="ctr" horzOverflow="overflow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437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!</a:t>
            </a:r>
          </a:p>
        </p:txBody>
      </p:sp>
      <p:sp>
        <p:nvSpPr>
          <p:cNvPr id="57348" name="Rectangle 3"/>
          <p:cNvSpPr>
            <a:spLocks noChangeArrowheads="1"/>
          </p:cNvSpPr>
          <p:nvPr/>
        </p:nvSpPr>
        <p:spPr bwMode="auto">
          <a:xfrm>
            <a:off x="2362200" y="32480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auto">
          <a:xfrm>
            <a:off x="2052638" y="30194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50" name="Rectangle 5"/>
          <p:cNvSpPr>
            <a:spLocks noChangeArrowheads="1"/>
          </p:cNvSpPr>
          <p:nvPr/>
        </p:nvSpPr>
        <p:spPr bwMode="auto">
          <a:xfrm>
            <a:off x="0" y="29718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51" name="Rectangle 6"/>
          <p:cNvSpPr>
            <a:spLocks noChangeArrowheads="1"/>
          </p:cNvSpPr>
          <p:nvPr/>
        </p:nvSpPr>
        <p:spPr bwMode="auto">
          <a:xfrm>
            <a:off x="0" y="30210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7352" name="Rectangle 7"/>
          <p:cNvSpPr>
            <a:spLocks noChangeArrowheads="1"/>
          </p:cNvSpPr>
          <p:nvPr/>
        </p:nvSpPr>
        <p:spPr bwMode="auto">
          <a:xfrm>
            <a:off x="0" y="30210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0728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02401"/>
              </p:ext>
            </p:extLst>
          </p:nvPr>
        </p:nvGraphicFramePr>
        <p:xfrm>
          <a:off x="155575" y="1431925"/>
          <a:ext cx="8720138" cy="4224339"/>
        </p:xfrm>
        <a:graphic>
          <a:graphicData uri="http://schemas.openxmlformats.org/drawingml/2006/table">
            <a:tbl>
              <a:tblPr/>
              <a:tblGrid>
                <a:gridCol w="9667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667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865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40811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!p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0811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!(age &gt; 18) is false, because (age &gt; 18)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0811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!(weight == 150)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is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, because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(weight == 150)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is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54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&amp;&amp;</a:t>
            </a:r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0" y="27241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0" y="281146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1750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54520"/>
              </p:ext>
            </p:extLst>
          </p:nvPr>
        </p:nvGraphicFramePr>
        <p:xfrm>
          <a:off x="250825" y="1239838"/>
          <a:ext cx="8643938" cy="5081587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134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28663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&amp;&amp; 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68412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&lt;= 18) &amp;&amp; (weight &lt; 140) is false, because (age &gt; 18) and (weight &lt;= 140) are both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29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2078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18) &amp;&amp; (weight &gt; 140) is false, because (weight &gt; 140) is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22078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(age &gt; 18) &amp;&amp; (weight &gt;= 140) is true, because both (age &gt; 18) and (weight &gt;= 140) are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3392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||</a:t>
            </a: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auto">
          <a:xfrm>
            <a:off x="0" y="27924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auto">
          <a:xfrm>
            <a:off x="0" y="28194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2774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102746"/>
              </p:ext>
            </p:extLst>
          </p:nvPr>
        </p:nvGraphicFramePr>
        <p:xfrm>
          <a:off x="155575" y="1393825"/>
          <a:ext cx="8720138" cy="5102225"/>
        </p:xfrm>
        <a:graphic>
          <a:graphicData uri="http://schemas.openxmlformats.org/drawingml/2006/table">
            <a:tbl>
              <a:tblPr/>
              <a:tblGrid>
                <a:gridCol w="8524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483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8334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|| p</a:t>
                      </a:r>
                      <a:r>
                        <a:rPr kumimoji="0" lang="en-US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318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4143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34) || (weight &lt;= 140) is true, because (age &gt; 34) is false, but (weight &lt;= 140)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63674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14) || (weight &gt;= 150) is false, because (age &gt; 14)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318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776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defTabSz="457200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 eaLnBrk="1" hangingPunct="1">
              <a:buSzPct val="100000"/>
            </a:pPr>
            <a:r>
              <a:rPr lang="en-US" altLang="en-US" sz="4400"/>
              <a:t>Truth Table for Operator ^</a:t>
            </a:r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2052638" y="2795588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sp>
        <p:nvSpPr>
          <p:cNvPr id="63494" name="Rectangle 5"/>
          <p:cNvSpPr>
            <a:spLocks noChangeArrowheads="1"/>
          </p:cNvSpPr>
          <p:nvPr/>
        </p:nvSpPr>
        <p:spPr bwMode="auto">
          <a:xfrm>
            <a:off x="0" y="28194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 altLang="en-US"/>
          </a:p>
        </p:txBody>
      </p:sp>
      <p:graphicFrame>
        <p:nvGraphicFramePr>
          <p:cNvPr id="3379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812255"/>
              </p:ext>
            </p:extLst>
          </p:nvPr>
        </p:nvGraphicFramePr>
        <p:xfrm>
          <a:off x="193675" y="1316038"/>
          <a:ext cx="8682038" cy="5173662"/>
        </p:xfrm>
        <a:graphic>
          <a:graphicData uri="http://schemas.openxmlformats.org/drawingml/2006/table">
            <a:tbl>
              <a:tblPr/>
              <a:tblGrid>
                <a:gridCol w="8318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02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1277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93738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^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Example (assume age = 24, weight = 140)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50962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34) ^ (weight &gt; 140) is true, because (age &gt; 34) is false and (weight &gt; 140) is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58875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34) ^ (weight &gt;= 140) is true, because (age &gt; 34) is false but (weight &gt;= 140) is true.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350962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(age &gt; 14) ^ (weight &gt; 140) is true, because (age &gt; 14) is true and (weight &gt; 140) is false.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19125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Droid Sans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760" marR="68760" marT="0" marB="0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4545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457200"/>
            <a:ext cx="84682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Whether a number is divisible by 2 and 3, by 2 or 3, and by 2 or 3 but not both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1" y="1752600"/>
            <a:ext cx="8915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 </a:t>
            </a:r>
          </a:p>
          <a:p>
            <a:r>
              <a:rPr lang="en-US" dirty="0"/>
              <a:t>public class </a:t>
            </a:r>
            <a:r>
              <a:rPr lang="en-US" dirty="0" err="1"/>
              <a:t>TestBooleanOperators</a:t>
            </a:r>
            <a:r>
              <a:rPr lang="en-US" dirty="0"/>
              <a:t> {</a:t>
            </a:r>
          </a:p>
          <a:p>
            <a:r>
              <a:rPr lang="en-US" dirty="0"/>
              <a:t> 	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	    Scanner input = new Scanner(System.in);</a:t>
            </a:r>
          </a:p>
          <a:p>
            <a:r>
              <a:rPr lang="en-US" dirty="0"/>
              <a:t>   	    // Receive an input</a:t>
            </a:r>
          </a:p>
          <a:p>
            <a:r>
              <a:rPr lang="en-US" dirty="0"/>
              <a:t>      	   </a:t>
            </a:r>
            <a:r>
              <a:rPr lang="en-US" dirty="0" err="1"/>
              <a:t>System.out.print</a:t>
            </a:r>
            <a:r>
              <a:rPr lang="en-US" dirty="0"/>
              <a:t>("Enter an integer: ");</a:t>
            </a:r>
          </a:p>
          <a:p>
            <a:r>
              <a:rPr lang="en-US" dirty="0"/>
              <a:t> 	   </a:t>
            </a:r>
            <a:r>
              <a:rPr lang="en-US" dirty="0" err="1"/>
              <a:t>int</a:t>
            </a:r>
            <a:r>
              <a:rPr lang="en-US" dirty="0"/>
              <a:t> number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    	 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	   if (number % 2 == 0 &amp;&amp; number % 3 == 0)</a:t>
            </a:r>
          </a:p>
          <a:p>
            <a:r>
              <a:rPr lang="en-US" dirty="0"/>
              <a:t>                            </a:t>
            </a:r>
            <a:r>
              <a:rPr lang="en-US" dirty="0" err="1"/>
              <a:t>System.out.println</a:t>
            </a:r>
            <a:r>
              <a:rPr lang="en-US" dirty="0"/>
              <a:t>(number + " is divisible by 2 and 3.");</a:t>
            </a:r>
          </a:p>
          <a:p>
            <a:r>
              <a:rPr lang="en-US" dirty="0"/>
              <a:t>	   if (number % 2 == 0 || number % 3 == 0)</a:t>
            </a:r>
          </a:p>
          <a:p>
            <a:r>
              <a:rPr lang="en-US" dirty="0"/>
              <a:t>        	          </a:t>
            </a:r>
            <a:r>
              <a:rPr lang="en-US" dirty="0" err="1"/>
              <a:t>System.out.println</a:t>
            </a:r>
            <a:r>
              <a:rPr lang="en-US" dirty="0"/>
              <a:t>(number + " is divisible by 2 or 3.");</a:t>
            </a:r>
          </a:p>
          <a:p>
            <a:r>
              <a:rPr lang="en-US" dirty="0"/>
              <a:t>	   if (number % 2 == 0 ^ number % 3 == 0)</a:t>
            </a:r>
          </a:p>
          <a:p>
            <a:r>
              <a:rPr lang="en-US" dirty="0"/>
              <a:t>	          </a:t>
            </a:r>
            <a:r>
              <a:rPr lang="en-US" dirty="0" err="1"/>
              <a:t>System.out.println</a:t>
            </a:r>
            <a:r>
              <a:rPr lang="en-US" dirty="0"/>
              <a:t>(number +  " is divisible by 2 or 3, but not both.");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16"/>
          <a:stretch/>
        </p:blipFill>
        <p:spPr bwMode="auto">
          <a:xfrm>
            <a:off x="5019101" y="1143000"/>
            <a:ext cx="3972500" cy="10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75"/>
          <a:stretch/>
        </p:blipFill>
        <p:spPr bwMode="auto">
          <a:xfrm>
            <a:off x="5060043" y="2751160"/>
            <a:ext cx="3931557" cy="129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45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4B6D63-3B91-4E3B-8479-B0092CDF4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Expressions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9AF2F94F-B8CD-4740-964F-3F09A7B13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250" y="1905000"/>
            <a:ext cx="8385277" cy="1577203"/>
          </a:xfrm>
        </p:spPr>
        <p:txBody>
          <a:bodyPr>
            <a:noAutofit/>
          </a:bodyPr>
          <a:lstStyle/>
          <a:p>
            <a:r>
              <a:rPr lang="en-US" sz="2400" dirty="0"/>
              <a:t>Conditional expressions are in a completely different style </a:t>
            </a:r>
          </a:p>
          <a:p>
            <a:r>
              <a:rPr lang="en-US" sz="2400" b="1" dirty="0"/>
              <a:t>Syntax :</a:t>
            </a:r>
          </a:p>
          <a:p>
            <a:pPr marL="457200" lvl="1" indent="0">
              <a:buNone/>
            </a:pPr>
            <a:r>
              <a:rPr lang="en-US" sz="2400" b="1" dirty="0" err="1">
                <a:latin typeface="+mj-lt"/>
              </a:rPr>
              <a:t>boolean</a:t>
            </a:r>
            <a:r>
              <a:rPr lang="en-US" sz="2400" b="1" dirty="0">
                <a:latin typeface="+mj-lt"/>
              </a:rPr>
              <a:t>-expression ? expression1 : expression2;</a:t>
            </a:r>
            <a:endParaRPr lang="en-US" sz="1800" b="1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6DB7E65-405F-4811-9A7C-855B57D2D4C8}"/>
              </a:ext>
            </a:extLst>
          </p:cNvPr>
          <p:cNvSpPr/>
          <p:nvPr/>
        </p:nvSpPr>
        <p:spPr>
          <a:xfrm>
            <a:off x="454250" y="1343055"/>
            <a:ext cx="8385277" cy="4001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i="1" dirty="0">
                <a:latin typeface="Times-Italic"/>
              </a:rPr>
              <a:t>A conditional expression evaluates an expression based on a condition.</a:t>
            </a:r>
            <a:endParaRPr lang="en-US" sz="20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42824" y="3366534"/>
            <a:ext cx="6874615" cy="1692771"/>
            <a:chOff x="622738" y="3828926"/>
            <a:chExt cx="6874615" cy="1692771"/>
          </a:xfrm>
        </p:grpSpPr>
        <p:grpSp>
          <p:nvGrpSpPr>
            <p:cNvPr id="8" name="Group 7"/>
            <p:cNvGrpSpPr/>
            <p:nvPr/>
          </p:nvGrpSpPr>
          <p:grpSpPr>
            <a:xfrm>
              <a:off x="622738" y="3828926"/>
              <a:ext cx="1500732" cy="1692771"/>
              <a:chOff x="830317" y="3828926"/>
              <a:chExt cx="2000976" cy="1692771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830317" y="4198258"/>
                <a:ext cx="2000976" cy="132343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lvl="1"/>
                <a:r>
                  <a:rPr lang="es-ES" sz="2000" b="1" dirty="0" err="1"/>
                  <a:t>if</a:t>
                </a:r>
                <a:r>
                  <a:rPr lang="es-ES" sz="2000" b="1" dirty="0"/>
                  <a:t> (x &gt; 0)</a:t>
                </a:r>
              </a:p>
              <a:p>
                <a:pPr lvl="1"/>
                <a:r>
                  <a:rPr lang="es-ES" sz="2000" b="1" dirty="0"/>
                  <a:t>  y = 1;</a:t>
                </a:r>
              </a:p>
              <a:p>
                <a:pPr lvl="1"/>
                <a:r>
                  <a:rPr lang="es-ES" sz="2000" b="1" dirty="0" err="1"/>
                  <a:t>else</a:t>
                </a:r>
                <a:endParaRPr lang="es-ES" sz="2000" b="1" dirty="0"/>
              </a:p>
              <a:p>
                <a:pPr lvl="1"/>
                <a:r>
                  <a:rPr lang="es-ES" sz="2000" b="1" dirty="0"/>
                  <a:t>  y = -1;</a:t>
                </a:r>
                <a:endParaRPr lang="en-US" sz="2000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30317" y="3828926"/>
                <a:ext cx="15772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Example-1</a:t>
                </a:r>
                <a:endParaRPr lang="en-US" dirty="0"/>
              </a:p>
            </p:txBody>
          </p:sp>
        </p:grpSp>
        <p:sp>
          <p:nvSpPr>
            <p:cNvPr id="9" name="Right Arrow 8"/>
            <p:cNvSpPr/>
            <p:nvPr/>
          </p:nvSpPr>
          <p:spPr>
            <a:xfrm>
              <a:off x="2298197" y="4366808"/>
              <a:ext cx="2447597" cy="8940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Can be written as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46270" y="4613756"/>
              <a:ext cx="2751083" cy="400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1"/>
              <a:r>
                <a:rPr lang="es-ES" sz="2000" b="1" dirty="0"/>
                <a:t>y = (x &gt; 0)? 1 : -1;</a:t>
              </a:r>
              <a:endParaRPr lang="en-US" sz="20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57024" y="5460142"/>
            <a:ext cx="8001176" cy="830997"/>
            <a:chOff x="1142824" y="5460142"/>
            <a:chExt cx="6077604" cy="830997"/>
          </a:xfrm>
        </p:grpSpPr>
        <p:sp>
          <p:nvSpPr>
            <p:cNvPr id="11" name="Rectangle 10"/>
            <p:cNvSpPr/>
            <p:nvPr/>
          </p:nvSpPr>
          <p:spPr>
            <a:xfrm>
              <a:off x="1142824" y="5829474"/>
              <a:ext cx="6077604" cy="461665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sz="2400" dirty="0"/>
                <a:t>max = (num1 &gt; num2) ? num1 : num2;</a:t>
              </a:r>
              <a:endParaRPr lang="en-US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49668" y="5460142"/>
              <a:ext cx="1948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MaxNum</a:t>
              </a:r>
              <a:r>
                <a:rPr lang="en-US" b="1" dirty="0"/>
                <a:t>-Example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97635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Precedence and Associativity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2209800"/>
            <a:ext cx="8610600" cy="3916363"/>
          </a:xfrm>
        </p:spPr>
        <p:txBody>
          <a:bodyPr>
            <a:normAutofit/>
          </a:bodyPr>
          <a:lstStyle/>
          <a:p>
            <a:r>
              <a:rPr lang="en-US" sz="2800" dirty="0"/>
              <a:t>If operators with the same precedence are next to each other, their associativity determines the order of evaluation</a:t>
            </a:r>
          </a:p>
          <a:p>
            <a:pPr lvl="1"/>
            <a:r>
              <a:rPr lang="en-US" sz="2400" dirty="0"/>
              <a:t>All binary operators except assignment operators are </a:t>
            </a:r>
            <a:r>
              <a:rPr lang="en-US" sz="2400" i="1" dirty="0"/>
              <a:t>left associative</a:t>
            </a:r>
          </a:p>
          <a:p>
            <a:pPr lvl="1"/>
            <a:r>
              <a:rPr lang="en-US" sz="2400" dirty="0"/>
              <a:t>Assignment operators are </a:t>
            </a:r>
            <a:r>
              <a:rPr lang="en-US" sz="2400" i="1" dirty="0"/>
              <a:t>right associative</a:t>
            </a: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304800" y="1371600"/>
            <a:ext cx="8610600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1" dirty="0"/>
              <a:t>Operator precedence and associativity determine the order in which operators are evaluated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857750"/>
            <a:ext cx="6732651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871950"/>
            <a:ext cx="6783313" cy="701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4839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Precedence and Associativity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0"/>
          <a:stretch/>
        </p:blipFill>
        <p:spPr bwMode="auto">
          <a:xfrm>
            <a:off x="335506" y="1371600"/>
            <a:ext cx="8503693" cy="5363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2590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true || true &amp;&amp; false</a:t>
            </a:r>
          </a:p>
          <a:p>
            <a:r>
              <a:rPr lang="en-US" sz="2800" dirty="0"/>
              <a:t>true &amp;&amp; true || false</a:t>
            </a:r>
          </a:p>
          <a:p>
            <a:r>
              <a:rPr lang="en-US" sz="2800" dirty="0"/>
              <a:t>2 * 2 - 3 &gt; 2 &amp;&amp; 4 - 2 &gt; 5</a:t>
            </a:r>
          </a:p>
          <a:p>
            <a:r>
              <a:rPr lang="en-US" sz="2800" dirty="0"/>
              <a:t>2 * 2 - 3 &gt; 2 || 4 - 2 &gt; 5</a:t>
            </a:r>
          </a:p>
          <a:p>
            <a:r>
              <a:rPr lang="en-US" sz="2800" dirty="0"/>
              <a:t>Is x &gt; 0 &amp;&amp; x &lt; 10   the same as(x &gt; 0) &amp;&amp; (x &lt; 10) ?</a:t>
            </a:r>
          </a:p>
          <a:p>
            <a:r>
              <a:rPr lang="en-US" sz="2800" dirty="0"/>
              <a:t>Is (x &gt; 0 || x &lt; 10) the same as ((x &gt; 0) || (x &lt; 10))?</a:t>
            </a:r>
          </a:p>
          <a:p>
            <a:r>
              <a:rPr lang="en-US" sz="2400" dirty="0"/>
              <a:t>Is (x &gt; 0 || x &lt; 10 &amp;&amp; y &lt; 0) the same as (x &gt; 0 || (x &lt; 10 &amp;&amp; y &lt; 0))?</a:t>
            </a:r>
          </a:p>
          <a:p>
            <a:r>
              <a:rPr lang="en-US" sz="2800" dirty="0"/>
              <a:t>3 + 4 * 4 &gt; 5 * (4 + 3) – 1 </a:t>
            </a:r>
            <a:r>
              <a:rPr lang="en-US" sz="2400" dirty="0"/>
              <a:t>&amp;&amp;</a:t>
            </a:r>
            <a:r>
              <a:rPr lang="en-US" sz="2800" dirty="0"/>
              <a:t> (4 - 3 &gt; 5)</a:t>
            </a:r>
          </a:p>
        </p:txBody>
      </p:sp>
    </p:spTree>
    <p:extLst>
      <p:ext uri="{BB962C8B-B14F-4D97-AF65-F5344CB8AC3E}">
        <p14:creationId xmlns:p14="http://schemas.microsoft.com/office/powerpoint/2010/main" val="4234452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</a:t>
            </a:r>
            <a:r>
              <a:rPr lang="en-US" b="1" dirty="0"/>
              <a:t>if</a:t>
            </a:r>
            <a:r>
              <a:rPr lang="en-US" dirty="0"/>
              <a:t> and Multi way </a:t>
            </a:r>
            <a:r>
              <a:rPr lang="en-US" b="1" dirty="0"/>
              <a:t>if</a:t>
            </a:r>
            <a:r>
              <a:rPr lang="en-US" dirty="0"/>
              <a:t> statements and switch statement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Conditional Expression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205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Repetition Structure</a:t>
            </a:r>
          </a:p>
        </p:txBody>
      </p:sp>
    </p:spTree>
    <p:extLst>
      <p:ext uri="{BB962C8B-B14F-4D97-AF65-F5344CB8AC3E}">
        <p14:creationId xmlns:p14="http://schemas.microsoft.com/office/powerpoint/2010/main" val="322321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29091</TotalTime>
  <Words>1961</Words>
  <Application>Microsoft Office PowerPoint</Application>
  <PresentationFormat>On-screen Show (4:3)</PresentationFormat>
  <Paragraphs>397</Paragraphs>
  <Slides>41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Courier New</vt:lpstr>
      <vt:lpstr>Droid Sans</vt:lpstr>
      <vt:lpstr>Times New Roman</vt:lpstr>
      <vt:lpstr>Times-Italic</vt:lpstr>
      <vt:lpstr>Office Theme</vt:lpstr>
      <vt:lpstr>CSC103-Programming Fundamentals</vt:lpstr>
      <vt:lpstr>Lecture Outline</vt:lpstr>
      <vt:lpstr>Nested Decision Structures</vt:lpstr>
      <vt:lpstr>Nested Decision Structures – Example </vt:lpstr>
      <vt:lpstr>Multiple Alternative if Statements</vt:lpstr>
      <vt:lpstr>Multiple Alternative if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Switch-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Logical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Expressions</vt:lpstr>
      <vt:lpstr>Operator Precedence and Associativity</vt:lpstr>
      <vt:lpstr>Operator Precedence and Associativity</vt:lpstr>
      <vt:lpstr>Example</vt:lpstr>
      <vt:lpstr>Summary</vt:lpstr>
      <vt:lpstr>Next Lecture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CSC103-Programming Fundamentals</dc:title>
  <dc:creator>Rizwan</dc:creator>
  <cp:lastModifiedBy>HP</cp:lastModifiedBy>
  <cp:revision>65</cp:revision>
  <dcterms:created xsi:type="dcterms:W3CDTF">2006-08-16T00:00:00Z</dcterms:created>
  <dcterms:modified xsi:type="dcterms:W3CDTF">2024-06-07T19:32:00Z</dcterms:modified>
</cp:coreProperties>
</file>