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257" r:id="rId3"/>
    <p:sldId id="258" r:id="rId4"/>
    <p:sldId id="259" r:id="rId5"/>
    <p:sldId id="261" r:id="rId6"/>
    <p:sldId id="262" r:id="rId7"/>
    <p:sldId id="280" r:id="rId8"/>
    <p:sldId id="263" r:id="rId9"/>
    <p:sldId id="264" r:id="rId10"/>
    <p:sldId id="265" r:id="rId11"/>
    <p:sldId id="266" r:id="rId12"/>
    <p:sldId id="267" r:id="rId13"/>
    <p:sldId id="268" r:id="rId14"/>
    <p:sldId id="281" r:id="rId15"/>
    <p:sldId id="282" r:id="rId16"/>
    <p:sldId id="283" r:id="rId17"/>
    <p:sldId id="284" r:id="rId18"/>
    <p:sldId id="285" r:id="rId19"/>
    <p:sldId id="286" r:id="rId20"/>
    <p:sldId id="270" r:id="rId21"/>
    <p:sldId id="271" r:id="rId22"/>
    <p:sldId id="275" r:id="rId23"/>
    <p:sldId id="272" r:id="rId24"/>
    <p:sldId id="273" r:id="rId25"/>
    <p:sldId id="274" r:id="rId26"/>
    <p:sldId id="287" r:id="rId27"/>
    <p:sldId id="276" r:id="rId28"/>
    <p:sldId id="277" r:id="rId29"/>
    <p:sldId id="288" r:id="rId30"/>
    <p:sldId id="289" r:id="rId31"/>
    <p:sldId id="278" r:id="rId32"/>
    <p:sldId id="279" r:id="rId33"/>
    <p:sldId id="290" r:id="rId34"/>
    <p:sldId id="26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8A8A9-737E-4973-BCCE-5E8ACA8416F0}" type="datetimeFigureOut">
              <a:rPr lang="en-PK" smtClean="0"/>
              <a:t>10/17/2024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67EC2-2F69-4175-91FF-922841F27176}" type="slidenum">
              <a:rPr lang="en-PK" smtClean="0"/>
              <a:t>‹#›</a:t>
            </a:fld>
            <a:endParaRPr lang="en-PK"/>
          </a:p>
        </p:txBody>
      </p:sp>
    </p:spTree>
    <p:extLst>
      <p:ext uri="{BB962C8B-B14F-4D97-AF65-F5344CB8AC3E}">
        <p14:creationId xmlns:p14="http://schemas.microsoft.com/office/powerpoint/2010/main" val="2635901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F0F4D8-D242-48FF-A470-21F6192F9124}" type="datetime8">
              <a:rPr lang="en-PK" smtClean="0"/>
              <a:t>10/17/2024 08:52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34AB335-1227-4A53-9E15-22ED1B97A1F2}"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3606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C9AE81-272B-4231-89E5-C57E73088551}" type="datetime8">
              <a:rPr lang="en-PK" smtClean="0"/>
              <a:t>10/17/2024 08:52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576248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4DBE9B-62AF-4E70-97E7-AE3B1169E08F}" type="datetime8">
              <a:rPr lang="en-PK" smtClean="0"/>
              <a:t>10/17/2024 08:52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34AB335-1227-4A53-9E15-22ED1B97A1F2}"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230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769898-3314-4EC8-8510-57D0CDA64952}" type="datetime8">
              <a:rPr lang="en-PK" smtClean="0"/>
              <a:t>10/17/2024 08:52</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3855340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1CF10F-1392-41DD-BE73-C140C44FF024}" type="datetime8">
              <a:rPr lang="en-PK" smtClean="0"/>
              <a:t>10/17/2024 08:52</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1990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E2D605-3DD0-462D-AF81-4D440A5066BB}" type="datetime8">
              <a:rPr lang="en-PK" smtClean="0"/>
              <a:t>10/17/2024 08:52</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301604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AA69BE1-B0DF-4138-B7EE-F99E5A1E4205}" type="datetime8">
              <a:rPr lang="en-PK" smtClean="0"/>
              <a:t>10/17/2024 08:52</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2481363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017F27B-24C7-4E9D-BAE5-67719CC082FD}" type="datetime8">
              <a:rPr lang="en-PK" smtClean="0"/>
              <a:t>10/17/2024 08:52</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34AB335-1227-4A53-9E15-22ED1B97A1F2}" type="slidenum">
              <a:rPr lang="en-PK" smtClean="0"/>
              <a:t>‹#›</a:t>
            </a:fld>
            <a:endParaRPr lang="en-PK"/>
          </a:p>
        </p:txBody>
      </p:sp>
    </p:spTree>
    <p:extLst>
      <p:ext uri="{BB962C8B-B14F-4D97-AF65-F5344CB8AC3E}">
        <p14:creationId xmlns:p14="http://schemas.microsoft.com/office/powerpoint/2010/main" val="22202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93B694-7221-4A95-B5A8-9BB64E10901A}" type="datetime8">
              <a:rPr lang="en-PK" smtClean="0"/>
              <a:t>10/17/2024 08:52</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268330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8D2887-F345-452B-83F5-92E7239D9A50}" type="datetime8">
              <a:rPr lang="en-PK" smtClean="0"/>
              <a:t>10/17/2024 08:52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701010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41C98A-CFD6-4BC8-86EC-03F52213EC73}" type="datetime8">
              <a:rPr lang="en-PK" smtClean="0"/>
              <a:t>10/17/2024 08:52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834AB335-1227-4A53-9E15-22ED1B97A1F2}" type="slidenum">
              <a:rPr lang="en-PK" smtClean="0"/>
              <a:t>‹#›</a:t>
            </a:fld>
            <a:endParaRPr lang="en-PK"/>
          </a:p>
        </p:txBody>
      </p:sp>
    </p:spTree>
    <p:extLst>
      <p:ext uri="{BB962C8B-B14F-4D97-AF65-F5344CB8AC3E}">
        <p14:creationId xmlns:p14="http://schemas.microsoft.com/office/powerpoint/2010/main" val="923887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5B855D9-3C35-446D-8821-F04ED9B9B66F}" type="datetime8">
              <a:rPr lang="en-PK" smtClean="0"/>
              <a:t>10/17/2024 08:52</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34AB335-1227-4A53-9E15-22ED1B97A1F2}"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0526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E6B0-B8D5-65C1-F916-587CCF9B59BC}"/>
              </a:ext>
            </a:extLst>
          </p:cNvPr>
          <p:cNvSpPr>
            <a:spLocks noGrp="1"/>
          </p:cNvSpPr>
          <p:nvPr>
            <p:ph type="ctrTitle"/>
          </p:nvPr>
        </p:nvSpPr>
        <p:spPr>
          <a:xfrm>
            <a:off x="1524000" y="829994"/>
            <a:ext cx="9144000" cy="1273200"/>
          </a:xfrm>
        </p:spPr>
        <p:txBody>
          <a:bodyPr/>
          <a:lstStyle/>
          <a:p>
            <a:r>
              <a:rPr lang="en-GB" dirty="0"/>
              <a:t>Sampling</a:t>
            </a:r>
            <a:endParaRPr lang="en-PK" dirty="0"/>
          </a:p>
        </p:txBody>
      </p:sp>
      <p:sp>
        <p:nvSpPr>
          <p:cNvPr id="3" name="Subtitle 2">
            <a:extLst>
              <a:ext uri="{FF2B5EF4-FFF2-40B4-BE49-F238E27FC236}">
                <a16:creationId xmlns:a16="http://schemas.microsoft.com/office/drawing/2014/main" id="{E7F86B13-99F4-AA7A-9FC2-719336D160BA}"/>
              </a:ext>
            </a:extLst>
          </p:cNvPr>
          <p:cNvSpPr>
            <a:spLocks noGrp="1"/>
          </p:cNvSpPr>
          <p:nvPr>
            <p:ph type="subTitle" idx="1"/>
          </p:nvPr>
        </p:nvSpPr>
        <p:spPr/>
        <p:txBody>
          <a:bodyPr>
            <a:normAutofit fontScale="92500" lnSpcReduction="10000"/>
          </a:bodyPr>
          <a:lstStyle/>
          <a:p>
            <a:r>
              <a:rPr lang="en-GB" dirty="0"/>
              <a:t>Dr. Basharat Mahmood</a:t>
            </a:r>
          </a:p>
          <a:p>
            <a:r>
              <a:rPr lang="en-GB" dirty="0"/>
              <a:t>Assistant Professor, Department of Computer Science, COMSATS University Islamabad, Pakistan. </a:t>
            </a:r>
            <a:endParaRPr lang="en-PK" dirty="0"/>
          </a:p>
        </p:txBody>
      </p:sp>
      <p:sp>
        <p:nvSpPr>
          <p:cNvPr id="4" name="Date Placeholder 3">
            <a:extLst>
              <a:ext uri="{FF2B5EF4-FFF2-40B4-BE49-F238E27FC236}">
                <a16:creationId xmlns:a16="http://schemas.microsoft.com/office/drawing/2014/main" id="{D6DA8FBF-ADD6-4989-7D6A-D5628FC99526}"/>
              </a:ext>
            </a:extLst>
          </p:cNvPr>
          <p:cNvSpPr>
            <a:spLocks noGrp="1"/>
          </p:cNvSpPr>
          <p:nvPr>
            <p:ph type="dt" sz="half" idx="10"/>
          </p:nvPr>
        </p:nvSpPr>
        <p:spPr/>
        <p:txBody>
          <a:bodyPr/>
          <a:lstStyle/>
          <a:p>
            <a:fld id="{1A1371F9-6BEE-48E4-A256-DF3C5A5A18C2}" type="datetime8">
              <a:rPr lang="en-PK" smtClean="0"/>
              <a:t>10/17/2024 08:52</a:t>
            </a:fld>
            <a:endParaRPr lang="en-PK"/>
          </a:p>
        </p:txBody>
      </p:sp>
      <p:sp>
        <p:nvSpPr>
          <p:cNvPr id="5" name="Slide Number Placeholder 4">
            <a:extLst>
              <a:ext uri="{FF2B5EF4-FFF2-40B4-BE49-F238E27FC236}">
                <a16:creationId xmlns:a16="http://schemas.microsoft.com/office/drawing/2014/main" id="{BF15614D-E029-BC00-A68A-E00A5FAA2E52}"/>
              </a:ext>
            </a:extLst>
          </p:cNvPr>
          <p:cNvSpPr>
            <a:spLocks noGrp="1"/>
          </p:cNvSpPr>
          <p:nvPr>
            <p:ph type="sldNum" sz="quarter" idx="12"/>
          </p:nvPr>
        </p:nvSpPr>
        <p:spPr/>
        <p:txBody>
          <a:bodyPr/>
          <a:lstStyle/>
          <a:p>
            <a:fld id="{834AB335-1227-4A53-9E15-22ED1B97A1F2}" type="slidenum">
              <a:rPr lang="en-PK" smtClean="0"/>
              <a:t>1</a:t>
            </a:fld>
            <a:endParaRPr lang="en-PK"/>
          </a:p>
        </p:txBody>
      </p:sp>
    </p:spTree>
    <p:extLst>
      <p:ext uri="{BB962C8B-B14F-4D97-AF65-F5344CB8AC3E}">
        <p14:creationId xmlns:p14="http://schemas.microsoft.com/office/powerpoint/2010/main" val="3813653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EEED-8CEB-B290-566C-F10CA21DB0B6}"/>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2655BD58-E273-2424-E139-F0A8294AE1BD}"/>
              </a:ext>
            </a:extLst>
          </p:cNvPr>
          <p:cNvSpPr>
            <a:spLocks noGrp="1"/>
          </p:cNvSpPr>
          <p:nvPr>
            <p:ph idx="1"/>
          </p:nvPr>
        </p:nvSpPr>
        <p:spPr/>
        <p:txBody>
          <a:bodyPr>
            <a:normAutofit/>
          </a:bodyPr>
          <a:lstStyle/>
          <a:p>
            <a:r>
              <a:rPr lang="en-GB" b="1" i="0" dirty="0">
                <a:solidFill>
                  <a:srgbClr val="111111"/>
                </a:solidFill>
                <a:effectLst/>
              </a:rPr>
              <a:t>Statistics-</a:t>
            </a:r>
            <a:r>
              <a:rPr lang="en-GB" b="0" i="0" dirty="0">
                <a:solidFill>
                  <a:srgbClr val="111111"/>
                </a:solidFill>
                <a:effectLst/>
              </a:rPr>
              <a:t> is the science of data</a:t>
            </a:r>
          </a:p>
          <a:p>
            <a:pPr lvl="1"/>
            <a:r>
              <a:rPr lang="en-GB" b="0" i="0" dirty="0">
                <a:solidFill>
                  <a:srgbClr val="111111"/>
                </a:solidFill>
                <a:effectLst/>
              </a:rPr>
              <a:t>a systematic collection of numerical facts</a:t>
            </a:r>
          </a:p>
          <a:p>
            <a:pPr lvl="1"/>
            <a:r>
              <a:rPr lang="en-GB" sz="2800" b="0" i="0" dirty="0">
                <a:solidFill>
                  <a:srgbClr val="111111"/>
                </a:solidFill>
                <a:effectLst/>
              </a:rPr>
              <a:t>Statistics is a branch of applied mathematics that involves the collection, description, analysis, and inference of conclusions from quantitative data</a:t>
            </a:r>
          </a:p>
          <a:p>
            <a:r>
              <a:rPr lang="en-GB" b="1" i="0" dirty="0">
                <a:solidFill>
                  <a:srgbClr val="202124"/>
                </a:solidFill>
                <a:effectLst/>
              </a:rPr>
              <a:t>Data-</a:t>
            </a:r>
            <a:r>
              <a:rPr lang="en-GB" b="0" i="0" dirty="0">
                <a:solidFill>
                  <a:srgbClr val="202124"/>
                </a:solidFill>
                <a:effectLst/>
              </a:rPr>
              <a:t> </a:t>
            </a:r>
            <a:r>
              <a:rPr lang="en-GB" i="0" dirty="0">
                <a:solidFill>
                  <a:srgbClr val="202124"/>
                </a:solidFill>
                <a:effectLst/>
              </a:rPr>
              <a:t>data are individual pieces of factual-information recorded and used for the purpose of analysis</a:t>
            </a:r>
            <a:endParaRPr lang="en-GB" dirty="0">
              <a:solidFill>
                <a:srgbClr val="202124"/>
              </a:solidFill>
            </a:endParaRPr>
          </a:p>
          <a:p>
            <a:pPr lvl="1"/>
            <a:r>
              <a:rPr lang="en-GB" b="0" i="0" dirty="0">
                <a:solidFill>
                  <a:srgbClr val="202124"/>
                </a:solidFill>
                <a:effectLst/>
              </a:rPr>
              <a:t>It is the raw information from which statistics are created</a:t>
            </a:r>
          </a:p>
          <a:p>
            <a:pPr lvl="1"/>
            <a:r>
              <a:rPr lang="en-GB" dirty="0"/>
              <a:t>Data is used to create new information or knowledge</a:t>
            </a:r>
          </a:p>
          <a:p>
            <a:pPr lvl="1"/>
            <a:r>
              <a:rPr lang="en-GB" dirty="0"/>
              <a:t>For example, census data provides data about the number of people within a particular area with variables such as gender, age, income, etc.</a:t>
            </a:r>
            <a:endParaRPr lang="en-PK" dirty="0"/>
          </a:p>
        </p:txBody>
      </p:sp>
      <p:sp>
        <p:nvSpPr>
          <p:cNvPr id="4" name="Date Placeholder 3">
            <a:extLst>
              <a:ext uri="{FF2B5EF4-FFF2-40B4-BE49-F238E27FC236}">
                <a16:creationId xmlns:a16="http://schemas.microsoft.com/office/drawing/2014/main" id="{B19A61DE-6D00-3AD5-6D2A-2946DD69FD5D}"/>
              </a:ext>
            </a:extLst>
          </p:cNvPr>
          <p:cNvSpPr>
            <a:spLocks noGrp="1"/>
          </p:cNvSpPr>
          <p:nvPr>
            <p:ph type="dt" sz="half" idx="10"/>
          </p:nvPr>
        </p:nvSpPr>
        <p:spPr/>
        <p:txBody>
          <a:bodyPr/>
          <a:lstStyle/>
          <a:p>
            <a:fld id="{88F385C4-C0BC-45CB-9228-5573372D8573}" type="datetime8">
              <a:rPr lang="en-PK" smtClean="0"/>
              <a:t>10/17/2024 08:52</a:t>
            </a:fld>
            <a:endParaRPr lang="en-PK"/>
          </a:p>
        </p:txBody>
      </p:sp>
      <p:sp>
        <p:nvSpPr>
          <p:cNvPr id="5" name="Slide Number Placeholder 4">
            <a:extLst>
              <a:ext uri="{FF2B5EF4-FFF2-40B4-BE49-F238E27FC236}">
                <a16:creationId xmlns:a16="http://schemas.microsoft.com/office/drawing/2014/main" id="{7D44CFE4-96B9-8CC7-2E9C-F1B95F9D8D50}"/>
              </a:ext>
            </a:extLst>
          </p:cNvPr>
          <p:cNvSpPr>
            <a:spLocks noGrp="1"/>
          </p:cNvSpPr>
          <p:nvPr>
            <p:ph type="sldNum" sz="quarter" idx="12"/>
          </p:nvPr>
        </p:nvSpPr>
        <p:spPr/>
        <p:txBody>
          <a:bodyPr/>
          <a:lstStyle/>
          <a:p>
            <a:fld id="{834AB335-1227-4A53-9E15-22ED1B97A1F2}" type="slidenum">
              <a:rPr lang="en-PK" smtClean="0"/>
              <a:t>2</a:t>
            </a:fld>
            <a:endParaRPr lang="en-PK"/>
          </a:p>
        </p:txBody>
      </p:sp>
    </p:spTree>
    <p:extLst>
      <p:ext uri="{BB962C8B-B14F-4D97-AF65-F5344CB8AC3E}">
        <p14:creationId xmlns:p14="http://schemas.microsoft.com/office/powerpoint/2010/main" val="3352379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p:txBody>
          <a:bodyPr>
            <a:normAutofit/>
          </a:bodyPr>
          <a:lstStyle/>
          <a:p>
            <a:r>
              <a:rPr lang="en-GB" b="1" dirty="0">
                <a:solidFill>
                  <a:srgbClr val="111111"/>
                </a:solidFill>
              </a:rPr>
              <a:t>Statistical Methods-</a:t>
            </a:r>
            <a:r>
              <a:rPr lang="en-GB" dirty="0">
                <a:solidFill>
                  <a:srgbClr val="111111"/>
                </a:solidFill>
              </a:rPr>
              <a:t> Statistical methods are mathematical formulas, models, and techniques that are used in statistical analysis of raw research data.</a:t>
            </a:r>
          </a:p>
          <a:p>
            <a:r>
              <a:rPr lang="en-GB" b="1" dirty="0">
                <a:solidFill>
                  <a:srgbClr val="111111"/>
                </a:solidFill>
              </a:rPr>
              <a:t>Descriptive Statistic- </a:t>
            </a:r>
            <a:r>
              <a:rPr lang="en-GB" dirty="0">
                <a:solidFill>
                  <a:srgbClr val="111111"/>
                </a:solidFill>
              </a:rPr>
              <a:t>A descriptive statistic is a summary statistic that quantitatively describes or summarizes features of a collection of information</a:t>
            </a:r>
          </a:p>
          <a:p>
            <a:pPr lvl="1"/>
            <a:r>
              <a:rPr lang="en-GB" dirty="0">
                <a:solidFill>
                  <a:srgbClr val="111111"/>
                </a:solidFill>
              </a:rPr>
              <a:t>descriptive statistics is the process of using and analysing those statistics.</a:t>
            </a:r>
          </a:p>
          <a:p>
            <a:r>
              <a:rPr lang="en-GB" b="1" dirty="0">
                <a:solidFill>
                  <a:srgbClr val="111111"/>
                </a:solidFill>
              </a:rPr>
              <a:t>Inferential Statistics- </a:t>
            </a:r>
            <a:r>
              <a:rPr lang="en-GB" dirty="0">
                <a:solidFill>
                  <a:srgbClr val="111111"/>
                </a:solidFill>
              </a:rPr>
              <a:t>is the process of using data analysis to infer properties of a population</a:t>
            </a:r>
            <a:endParaRPr lang="en-PK"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3</a:t>
            </a:fld>
            <a:endParaRPr lang="en-PK"/>
          </a:p>
        </p:txBody>
      </p:sp>
    </p:spTree>
    <p:extLst>
      <p:ext uri="{BB962C8B-B14F-4D97-AF65-F5344CB8AC3E}">
        <p14:creationId xmlns:p14="http://schemas.microsoft.com/office/powerpoint/2010/main" val="446401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p:txBody>
          <a:bodyPr/>
          <a:lstStyle/>
          <a:p>
            <a:pPr algn="l"/>
            <a:r>
              <a:rPr lang="en-GB" b="1" dirty="0">
                <a:solidFill>
                  <a:srgbClr val="111111"/>
                </a:solidFill>
              </a:rPr>
              <a:t>Population vs. Sample- </a:t>
            </a:r>
            <a:r>
              <a:rPr lang="en-GB" dirty="0">
                <a:solidFill>
                  <a:srgbClr val="111111"/>
                </a:solidFill>
              </a:rPr>
              <a:t>A population is the entire group that you want to draw conclusions about while a sample is the specific group that you will collect data from</a:t>
            </a:r>
          </a:p>
          <a:p>
            <a:pPr marL="685800" lvl="2">
              <a:spcBef>
                <a:spcPts val="1000"/>
              </a:spcBef>
            </a:pPr>
            <a:r>
              <a:rPr lang="en-GB" sz="2400" dirty="0">
                <a:solidFill>
                  <a:srgbClr val="111111"/>
                </a:solidFill>
              </a:rPr>
              <a:t>size of the sample is always less than the total size of the population</a:t>
            </a:r>
          </a:p>
          <a:p>
            <a:r>
              <a:rPr lang="en-GB" sz="3200" b="1" dirty="0">
                <a:solidFill>
                  <a:srgbClr val="111111"/>
                </a:solidFill>
              </a:rPr>
              <a:t>Parameter vs. Statistic- </a:t>
            </a:r>
            <a:r>
              <a:rPr lang="en-GB" sz="3200" dirty="0">
                <a:solidFill>
                  <a:srgbClr val="111111"/>
                </a:solidFill>
              </a:rPr>
              <a:t>A parameter is a number describing a whole population (e.g., population mean), while a statistic is a number describing a sample (e.g., sample mean)</a:t>
            </a: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4</a:t>
            </a:fld>
            <a:endParaRPr lang="en-PK"/>
          </a:p>
        </p:txBody>
      </p:sp>
    </p:spTree>
    <p:extLst>
      <p:ext uri="{BB962C8B-B14F-4D97-AF65-F5344CB8AC3E}">
        <p14:creationId xmlns:p14="http://schemas.microsoft.com/office/powerpoint/2010/main" val="371340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a:xfrm>
            <a:off x="838200" y="2020528"/>
            <a:ext cx="10515600" cy="3903215"/>
          </a:xfrm>
        </p:spPr>
        <p:txBody>
          <a:bodyPr/>
          <a:lstStyle/>
          <a:p>
            <a:pPr algn="l"/>
            <a:r>
              <a:rPr lang="en-GB" b="1" dirty="0">
                <a:solidFill>
                  <a:srgbClr val="111111"/>
                </a:solidFill>
              </a:rPr>
              <a:t>Sampling- </a:t>
            </a:r>
            <a:r>
              <a:rPr lang="en-GB" dirty="0">
                <a:solidFill>
                  <a:srgbClr val="111111"/>
                </a:solidFill>
              </a:rPr>
              <a:t>selecting the group that you will actually-collect data from in your research</a:t>
            </a:r>
          </a:p>
          <a:p>
            <a:pPr algn="l"/>
            <a:r>
              <a:rPr lang="en-GB" b="1" dirty="0">
                <a:solidFill>
                  <a:srgbClr val="111111"/>
                </a:solidFill>
              </a:rPr>
              <a:t>Simple Random Sample </a:t>
            </a:r>
            <a:r>
              <a:rPr lang="en-GB" dirty="0">
                <a:solidFill>
                  <a:srgbClr val="111111"/>
                </a:solidFill>
              </a:rPr>
              <a:t>– A sample designed in such a way as to ensure that (1) every member of the population has an equal chance of being chosen and (2) every combination of N members has an equal chance of being chosen. </a:t>
            </a:r>
          </a:p>
          <a:p>
            <a:pPr algn="l"/>
            <a:endParaRPr lang="en-GB"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5</a:t>
            </a:fld>
            <a:endParaRPr lang="en-PK"/>
          </a:p>
        </p:txBody>
      </p:sp>
    </p:spTree>
    <p:extLst>
      <p:ext uri="{BB962C8B-B14F-4D97-AF65-F5344CB8AC3E}">
        <p14:creationId xmlns:p14="http://schemas.microsoft.com/office/powerpoint/2010/main" val="200357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a:xfrm>
            <a:off x="838200" y="2094270"/>
            <a:ext cx="10515600" cy="3829473"/>
          </a:xfrm>
        </p:spPr>
        <p:txBody>
          <a:bodyPr>
            <a:normAutofit/>
          </a:bodyPr>
          <a:lstStyle/>
          <a:p>
            <a:pPr marL="0" indent="0" algn="l">
              <a:buNone/>
            </a:pPr>
            <a:r>
              <a:rPr lang="en-GB" b="1" dirty="0">
                <a:solidFill>
                  <a:srgbClr val="111111"/>
                </a:solidFill>
              </a:rPr>
              <a:t>Sampling Techniques</a:t>
            </a:r>
          </a:p>
          <a:p>
            <a:r>
              <a:rPr lang="en-GB" b="1" dirty="0"/>
              <a:t>Probability Sampling Techniques: </a:t>
            </a:r>
            <a:r>
              <a:rPr lang="en-GB" dirty="0"/>
              <a:t>In probability sampling, each member of the population has a known and non-zero chance of being selected. </a:t>
            </a:r>
          </a:p>
          <a:p>
            <a:r>
              <a:rPr lang="en-GB" b="1" dirty="0"/>
              <a:t>Non-Probability Sampling Techniques: </a:t>
            </a:r>
            <a:r>
              <a:rPr lang="en-GB" dirty="0"/>
              <a:t>In non-probability sampling, not all individuals have a known or equal chance of being selected. This approach is often more practical but can lead to bias.</a:t>
            </a:r>
          </a:p>
          <a:p>
            <a:endParaRPr lang="en-GB" b="1" dirty="0">
              <a:solidFill>
                <a:srgbClr val="111111"/>
              </a:solidFill>
            </a:endParaRPr>
          </a:p>
          <a:p>
            <a:pPr algn="l"/>
            <a:endParaRPr lang="en-GB"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6</a:t>
            </a:fld>
            <a:endParaRPr lang="en-PK"/>
          </a:p>
        </p:txBody>
      </p:sp>
    </p:spTree>
    <p:extLst>
      <p:ext uri="{BB962C8B-B14F-4D97-AF65-F5344CB8AC3E}">
        <p14:creationId xmlns:p14="http://schemas.microsoft.com/office/powerpoint/2010/main" val="348820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a:xfrm>
            <a:off x="838200" y="1976284"/>
            <a:ext cx="10515600" cy="3947460"/>
          </a:xfrm>
        </p:spPr>
        <p:txBody>
          <a:bodyPr>
            <a:normAutofit/>
          </a:bodyPr>
          <a:lstStyle/>
          <a:p>
            <a:pPr marL="0" indent="0" algn="l">
              <a:buNone/>
            </a:pPr>
            <a:r>
              <a:rPr lang="en-GB" b="1" dirty="0">
                <a:solidFill>
                  <a:srgbClr val="111111"/>
                </a:solidFill>
              </a:rPr>
              <a:t>Probability Sampling Techniques</a:t>
            </a:r>
          </a:p>
          <a:p>
            <a:r>
              <a:rPr lang="en-GB" b="1" dirty="0">
                <a:solidFill>
                  <a:srgbClr val="111111"/>
                </a:solidFill>
              </a:rPr>
              <a:t>Simple Random Sampling: </a:t>
            </a:r>
            <a:r>
              <a:rPr lang="en-GB" b="0" i="0" dirty="0">
                <a:effectLst/>
                <a:latin typeface="Fira Sans" panose="020B0604020202020204" pitchFamily="34" charset="0"/>
              </a:rPr>
              <a:t> </a:t>
            </a:r>
            <a:r>
              <a:rPr lang="en-GB" dirty="0">
                <a:solidFill>
                  <a:srgbClr val="111111"/>
                </a:solidFill>
              </a:rPr>
              <a:t>every single member of a population is chosen randomly, merely by chance. </a:t>
            </a:r>
          </a:p>
          <a:p>
            <a:pPr marL="685800" lvl="2">
              <a:spcBef>
                <a:spcPts val="1000"/>
              </a:spcBef>
            </a:pPr>
            <a:r>
              <a:rPr lang="en-GB" sz="2400" dirty="0">
                <a:solidFill>
                  <a:srgbClr val="111111"/>
                </a:solidFill>
              </a:rPr>
              <a:t>everyone has the same probability of being chosen to be a part of a sample.</a:t>
            </a:r>
          </a:p>
          <a:p>
            <a:r>
              <a:rPr lang="en-GB" b="1" dirty="0">
                <a:solidFill>
                  <a:srgbClr val="111111"/>
                </a:solidFill>
              </a:rPr>
              <a:t>Systematic Sampling: </a:t>
            </a:r>
            <a:r>
              <a:rPr lang="en-US" altLang="en-PK" dirty="0">
                <a:solidFill>
                  <a:srgbClr val="111111"/>
                </a:solidFill>
              </a:rPr>
              <a:t>Systematic random sampling – A method of sampling in which every Kth member in the total population is chosen for inclusion in the sample after the first member of the sample is selected at random from among the first K members of the population.</a:t>
            </a:r>
          </a:p>
          <a:p>
            <a:pPr marL="0" indent="0" algn="l">
              <a:buNone/>
            </a:pPr>
            <a:endParaRPr lang="en-GB" b="1" dirty="0">
              <a:solidFill>
                <a:srgbClr val="111111"/>
              </a:solidFill>
            </a:endParaRPr>
          </a:p>
          <a:p>
            <a:pPr algn="l"/>
            <a:endParaRPr lang="en-GB"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7</a:t>
            </a:fld>
            <a:endParaRPr lang="en-PK"/>
          </a:p>
        </p:txBody>
      </p:sp>
    </p:spTree>
    <p:extLst>
      <p:ext uri="{BB962C8B-B14F-4D97-AF65-F5344CB8AC3E}">
        <p14:creationId xmlns:p14="http://schemas.microsoft.com/office/powerpoint/2010/main" val="2019048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pic>
        <p:nvPicPr>
          <p:cNvPr id="7" name="Content Placeholder 6">
            <a:extLst>
              <a:ext uri="{FF2B5EF4-FFF2-40B4-BE49-F238E27FC236}">
                <a16:creationId xmlns:a16="http://schemas.microsoft.com/office/drawing/2014/main" id="{06457CAE-2572-6BCB-EDD3-ED3EA1D396FE}"/>
              </a:ext>
            </a:extLst>
          </p:cNvPr>
          <p:cNvPicPr>
            <a:picLocks noGrp="1" noChangeAspect="1"/>
          </p:cNvPicPr>
          <p:nvPr>
            <p:ph idx="1"/>
          </p:nvPr>
        </p:nvPicPr>
        <p:blipFill>
          <a:blip r:embed="rId2"/>
          <a:stretch>
            <a:fillRect/>
          </a:stretch>
        </p:blipFill>
        <p:spPr>
          <a:xfrm>
            <a:off x="1439594" y="1932038"/>
            <a:ext cx="8087864" cy="4064267"/>
          </a:xfrm>
        </p:spPr>
      </p:pic>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8</a:t>
            </a:fld>
            <a:endParaRPr lang="en-PK"/>
          </a:p>
        </p:txBody>
      </p:sp>
    </p:spTree>
    <p:extLst>
      <p:ext uri="{BB962C8B-B14F-4D97-AF65-F5344CB8AC3E}">
        <p14:creationId xmlns:p14="http://schemas.microsoft.com/office/powerpoint/2010/main" val="24476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6" name="Content Placeholder 5">
            <a:extLst>
              <a:ext uri="{FF2B5EF4-FFF2-40B4-BE49-F238E27FC236}">
                <a16:creationId xmlns:a16="http://schemas.microsoft.com/office/drawing/2014/main" id="{1B7836F8-C34A-84E2-4963-F39EAA26DBC3}"/>
              </a:ext>
            </a:extLst>
          </p:cNvPr>
          <p:cNvSpPr>
            <a:spLocks noGrp="1"/>
          </p:cNvSpPr>
          <p:nvPr>
            <p:ph idx="1"/>
          </p:nvPr>
        </p:nvSpPr>
        <p:spPr/>
        <p:txBody>
          <a:bodyPr/>
          <a:lstStyle/>
          <a:p>
            <a:r>
              <a:rPr lang="en-GB" b="1" dirty="0">
                <a:solidFill>
                  <a:srgbClr val="111111"/>
                </a:solidFill>
              </a:rPr>
              <a:t>Stratified Sampling- </a:t>
            </a:r>
            <a:r>
              <a:rPr lang="en-US" altLang="en-PK" dirty="0"/>
              <a:t>A method of sampling obtained by (1) dividing the population into subgroups based on one or more variables central to our analysis and (2) then drawing a simple random sample from each of the subgroups</a:t>
            </a:r>
          </a:p>
          <a:p>
            <a:r>
              <a:rPr lang="en-GB" b="1" dirty="0">
                <a:solidFill>
                  <a:srgbClr val="111111"/>
                </a:solidFill>
              </a:rPr>
              <a:t>Proportionate stratified sample </a:t>
            </a:r>
            <a:r>
              <a:rPr lang="en-GB" dirty="0">
                <a:solidFill>
                  <a:srgbClr val="111111"/>
                </a:solidFill>
              </a:rPr>
              <a:t>– The size of the sample selected from each subgroup is proportional to the size of that subgroup in the entire population. (Self-weighting)</a:t>
            </a:r>
          </a:p>
          <a:p>
            <a:r>
              <a:rPr lang="en-GB" b="1" dirty="0">
                <a:solidFill>
                  <a:srgbClr val="111111"/>
                </a:solidFill>
              </a:rPr>
              <a:t>Disproportionate stratified sample </a:t>
            </a:r>
            <a:r>
              <a:rPr lang="en-GB" dirty="0">
                <a:solidFill>
                  <a:srgbClr val="111111"/>
                </a:solidFill>
              </a:rPr>
              <a:t>– The size of the sample selected from each subgroup is disproportional to the size of that subgroup in the population. (needs weights) </a:t>
            </a:r>
          </a:p>
          <a:p>
            <a:endParaRPr lang="en-PK"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9</a:t>
            </a:fld>
            <a:endParaRPr lang="en-PK"/>
          </a:p>
        </p:txBody>
      </p:sp>
    </p:spTree>
    <p:extLst>
      <p:ext uri="{BB962C8B-B14F-4D97-AF65-F5344CB8AC3E}">
        <p14:creationId xmlns:p14="http://schemas.microsoft.com/office/powerpoint/2010/main" val="2970676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10</a:t>
            </a:fld>
            <a:endParaRPr lang="en-PK"/>
          </a:p>
        </p:txBody>
      </p:sp>
      <p:pic>
        <p:nvPicPr>
          <p:cNvPr id="9" name="Picture 8">
            <a:extLst>
              <a:ext uri="{FF2B5EF4-FFF2-40B4-BE49-F238E27FC236}">
                <a16:creationId xmlns:a16="http://schemas.microsoft.com/office/drawing/2014/main" id="{62F9B8A6-F9EB-03C4-5D45-CE80014E07AD}"/>
              </a:ext>
            </a:extLst>
          </p:cNvPr>
          <p:cNvPicPr>
            <a:picLocks noChangeAspect="1"/>
          </p:cNvPicPr>
          <p:nvPr/>
        </p:nvPicPr>
        <p:blipFill>
          <a:blip r:embed="rId2"/>
          <a:stretch>
            <a:fillRect/>
          </a:stretch>
        </p:blipFill>
        <p:spPr>
          <a:xfrm>
            <a:off x="1139483" y="2109019"/>
            <a:ext cx="8760975" cy="4157638"/>
          </a:xfrm>
          <a:prstGeom prst="rect">
            <a:avLst/>
          </a:prstGeom>
        </p:spPr>
      </p:pic>
    </p:spTree>
    <p:extLst>
      <p:ext uri="{BB962C8B-B14F-4D97-AF65-F5344CB8AC3E}">
        <p14:creationId xmlns:p14="http://schemas.microsoft.com/office/powerpoint/2010/main" val="3143661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6" name="Content Placeholder 5">
            <a:extLst>
              <a:ext uri="{FF2B5EF4-FFF2-40B4-BE49-F238E27FC236}">
                <a16:creationId xmlns:a16="http://schemas.microsoft.com/office/drawing/2014/main" id="{1B7836F8-C34A-84E2-4963-F39EAA26DBC3}"/>
              </a:ext>
            </a:extLst>
          </p:cNvPr>
          <p:cNvSpPr>
            <a:spLocks noGrp="1"/>
          </p:cNvSpPr>
          <p:nvPr>
            <p:ph idx="1"/>
          </p:nvPr>
        </p:nvSpPr>
        <p:spPr/>
        <p:txBody>
          <a:bodyPr>
            <a:normAutofit/>
          </a:bodyPr>
          <a:lstStyle/>
          <a:p>
            <a:r>
              <a:rPr lang="en-GB" b="1" dirty="0">
                <a:solidFill>
                  <a:srgbClr val="111111"/>
                </a:solidFill>
              </a:rPr>
              <a:t>Cluster Sampling- </a:t>
            </a:r>
            <a:r>
              <a:rPr lang="en-GB" dirty="0">
                <a:solidFill>
                  <a:srgbClr val="111111"/>
                </a:solidFill>
              </a:rPr>
              <a:t>sampling technique where researchers divide the population into multiple groups (clusters) for research. So researchers then select random groups with a simple random or systematic random sampling technique for data collection and analysis.</a:t>
            </a:r>
            <a:endParaRPr lang="en-PK"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11</a:t>
            </a:fld>
            <a:endParaRPr lang="en-PK"/>
          </a:p>
        </p:txBody>
      </p:sp>
    </p:spTree>
    <p:extLst>
      <p:ext uri="{BB962C8B-B14F-4D97-AF65-F5344CB8AC3E}">
        <p14:creationId xmlns:p14="http://schemas.microsoft.com/office/powerpoint/2010/main" val="2495873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pic>
        <p:nvPicPr>
          <p:cNvPr id="7" name="Content Placeholder 6" descr="Diagram">
            <a:extLst>
              <a:ext uri="{FF2B5EF4-FFF2-40B4-BE49-F238E27FC236}">
                <a16:creationId xmlns:a16="http://schemas.microsoft.com/office/drawing/2014/main" id="{57EE0765-86AF-202A-2FAA-A11D18ABE3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4228" y="2374490"/>
            <a:ext cx="7672791" cy="3702752"/>
          </a:xfrm>
        </p:spPr>
      </p:pic>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12</a:t>
            </a:fld>
            <a:endParaRPr lang="en-PK"/>
          </a:p>
        </p:txBody>
      </p:sp>
    </p:spTree>
    <p:extLst>
      <p:ext uri="{BB962C8B-B14F-4D97-AF65-F5344CB8AC3E}">
        <p14:creationId xmlns:p14="http://schemas.microsoft.com/office/powerpoint/2010/main" val="2807568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6" name="Content Placeholder 5">
            <a:extLst>
              <a:ext uri="{FF2B5EF4-FFF2-40B4-BE49-F238E27FC236}">
                <a16:creationId xmlns:a16="http://schemas.microsoft.com/office/drawing/2014/main" id="{1B7836F8-C34A-84E2-4963-F39EAA26DBC3}"/>
              </a:ext>
            </a:extLst>
          </p:cNvPr>
          <p:cNvSpPr>
            <a:spLocks noGrp="1"/>
          </p:cNvSpPr>
          <p:nvPr>
            <p:ph idx="1"/>
          </p:nvPr>
        </p:nvSpPr>
        <p:spPr/>
        <p:txBody>
          <a:bodyPr>
            <a:normAutofit/>
          </a:bodyPr>
          <a:lstStyle/>
          <a:p>
            <a:r>
              <a:rPr lang="en-GB" b="1" dirty="0">
                <a:solidFill>
                  <a:srgbClr val="111111"/>
                </a:solidFill>
              </a:rPr>
              <a:t>Cluster vs. Stratified Sampling</a:t>
            </a:r>
            <a:endParaRPr lang="en-PK"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13</a:t>
            </a:fld>
            <a:endParaRPr lang="en-PK"/>
          </a:p>
        </p:txBody>
      </p:sp>
      <p:pic>
        <p:nvPicPr>
          <p:cNvPr id="7" name="Picture 6" descr="Text">
            <a:extLst>
              <a:ext uri="{FF2B5EF4-FFF2-40B4-BE49-F238E27FC236}">
                <a16:creationId xmlns:a16="http://schemas.microsoft.com/office/drawing/2014/main" id="{B0BB290C-44D2-01EC-5220-6073811B46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376121"/>
            <a:ext cx="9312812" cy="3519488"/>
          </a:xfrm>
          <a:prstGeom prst="rect">
            <a:avLst/>
          </a:prstGeom>
        </p:spPr>
      </p:pic>
    </p:spTree>
    <p:extLst>
      <p:ext uri="{BB962C8B-B14F-4D97-AF65-F5344CB8AC3E}">
        <p14:creationId xmlns:p14="http://schemas.microsoft.com/office/powerpoint/2010/main" val="1532230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a:xfrm>
            <a:off x="838200" y="1858296"/>
            <a:ext cx="10515600" cy="4065447"/>
          </a:xfrm>
        </p:spPr>
        <p:txBody>
          <a:bodyPr>
            <a:normAutofit/>
          </a:bodyPr>
          <a:lstStyle/>
          <a:p>
            <a:pPr marL="0" indent="0" algn="l">
              <a:buNone/>
            </a:pPr>
            <a:r>
              <a:rPr lang="en-GB" sz="2600" b="1" dirty="0">
                <a:solidFill>
                  <a:srgbClr val="111111"/>
                </a:solidFill>
              </a:rPr>
              <a:t>Non-probability Sampling Techniques</a:t>
            </a:r>
          </a:p>
          <a:p>
            <a:pPr eaLnBrk="0" fontAlgn="base" hangingPunct="0">
              <a:lnSpc>
                <a:spcPct val="100000"/>
              </a:lnSpc>
              <a:spcBef>
                <a:spcPct val="0"/>
              </a:spcBef>
              <a:spcAft>
                <a:spcPct val="0"/>
              </a:spcAft>
            </a:pPr>
            <a:r>
              <a:rPr kumimoji="0" lang="LID4096" altLang="LID4096" sz="2200" b="1" i="0" u="none" strike="noStrike" cap="none" normalizeH="0" baseline="0" dirty="0">
                <a:ln>
                  <a:noFill/>
                </a:ln>
                <a:solidFill>
                  <a:schemeClr val="tx1"/>
                </a:solidFill>
                <a:effectLst/>
              </a:rPr>
              <a:t>Convenience Sampling</a:t>
            </a:r>
            <a:r>
              <a:rPr kumimoji="0" lang="LID4096" altLang="LID4096" sz="2200" b="0" i="0" u="none" strike="noStrike" cap="none" normalizeH="0" baseline="0" dirty="0">
                <a:ln>
                  <a:noFill/>
                </a:ln>
                <a:solidFill>
                  <a:schemeClr val="tx1"/>
                </a:solidFill>
                <a:effectLst/>
              </a:rPr>
              <a:t>: Samples are taken from a group that is easily accessible. For example, a researcher might survey friends or colleagues rather than a random selection from the entire population.</a:t>
            </a:r>
          </a:p>
          <a:p>
            <a:pPr eaLnBrk="0" fontAlgn="base" hangingPunct="0">
              <a:lnSpc>
                <a:spcPct val="100000"/>
              </a:lnSpc>
              <a:spcBef>
                <a:spcPct val="0"/>
              </a:spcBef>
              <a:spcAft>
                <a:spcPct val="0"/>
              </a:spcAft>
            </a:pPr>
            <a:r>
              <a:rPr kumimoji="0" lang="LID4096" altLang="LID4096" sz="2200" b="1" i="0" u="none" strike="noStrike" cap="none" normalizeH="0" baseline="0" dirty="0">
                <a:ln>
                  <a:noFill/>
                </a:ln>
                <a:solidFill>
                  <a:schemeClr val="tx1"/>
                </a:solidFill>
                <a:effectLst/>
              </a:rPr>
              <a:t>Judgmental Sampling (Purposive Sampling)</a:t>
            </a:r>
            <a:r>
              <a:rPr kumimoji="0" lang="LID4096" altLang="LID4096" sz="2200" b="0" i="0" u="none" strike="noStrike" cap="none" normalizeH="0" baseline="0" dirty="0">
                <a:ln>
                  <a:noFill/>
                </a:ln>
                <a:solidFill>
                  <a:schemeClr val="tx1"/>
                </a:solidFill>
                <a:effectLst/>
              </a:rPr>
              <a:t>: The researcher uses their judgment to select individuals who are thought to be representative or particularly informative about the research topic. This is common in qualitative research.</a:t>
            </a:r>
          </a:p>
          <a:p>
            <a:pPr eaLnBrk="0" fontAlgn="base" hangingPunct="0">
              <a:lnSpc>
                <a:spcPct val="100000"/>
              </a:lnSpc>
              <a:spcBef>
                <a:spcPct val="0"/>
              </a:spcBef>
              <a:spcAft>
                <a:spcPct val="0"/>
              </a:spcAft>
            </a:pPr>
            <a:r>
              <a:rPr kumimoji="0" lang="LID4096" altLang="LID4096" sz="2200" b="1" i="0" u="none" strike="noStrike" cap="none" normalizeH="0" baseline="0" dirty="0">
                <a:ln>
                  <a:noFill/>
                </a:ln>
                <a:solidFill>
                  <a:schemeClr val="tx1"/>
                </a:solidFill>
                <a:effectLst/>
              </a:rPr>
              <a:t>Snowball Sampling</a:t>
            </a:r>
            <a:r>
              <a:rPr kumimoji="0" lang="LID4096" altLang="LID4096" sz="2200" b="0" i="0" u="none" strike="noStrike" cap="none" normalizeH="0" baseline="0" dirty="0">
                <a:ln>
                  <a:noFill/>
                </a:ln>
                <a:solidFill>
                  <a:schemeClr val="tx1"/>
                </a:solidFill>
                <a:effectLst/>
              </a:rPr>
              <a:t>: Existing study subjects recruit future subjects from among their acquaintances. This technique is particularly useful for reaching populations that are hard to access or identify, such as specific subcultures.</a:t>
            </a:r>
          </a:p>
          <a:p>
            <a:pPr marL="0" indent="0" algn="l">
              <a:buNone/>
            </a:pPr>
            <a:endParaRPr lang="en-GB" b="1" dirty="0">
              <a:solidFill>
                <a:srgbClr val="111111"/>
              </a:solidFill>
            </a:endParaRPr>
          </a:p>
          <a:p>
            <a:pPr algn="l"/>
            <a:endParaRPr lang="en-GB"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14</a:t>
            </a:fld>
            <a:endParaRPr lang="en-PK"/>
          </a:p>
        </p:txBody>
      </p:sp>
    </p:spTree>
    <p:extLst>
      <p:ext uri="{BB962C8B-B14F-4D97-AF65-F5344CB8AC3E}">
        <p14:creationId xmlns:p14="http://schemas.microsoft.com/office/powerpoint/2010/main" val="2627944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3F85E-17E0-6B27-F6C3-001D777CB6F7}"/>
              </a:ext>
            </a:extLst>
          </p:cNvPr>
          <p:cNvSpPr>
            <a:spLocks noGrp="1"/>
          </p:cNvSpPr>
          <p:nvPr>
            <p:ph type="title"/>
          </p:nvPr>
        </p:nvSpPr>
        <p:spPr/>
        <p:txBody>
          <a:bodyPr/>
          <a:lstStyle/>
          <a:p>
            <a:r>
              <a:rPr lang="en-GB" dirty="0"/>
              <a:t>1. Introduction…</a:t>
            </a:r>
            <a:endParaRPr lang="en-PK" dirty="0"/>
          </a:p>
        </p:txBody>
      </p:sp>
      <p:sp>
        <p:nvSpPr>
          <p:cNvPr id="3" name="Content Placeholder 2">
            <a:extLst>
              <a:ext uri="{FF2B5EF4-FFF2-40B4-BE49-F238E27FC236}">
                <a16:creationId xmlns:a16="http://schemas.microsoft.com/office/drawing/2014/main" id="{A373343E-3FBD-D34E-1A8F-16490EFBF060}"/>
              </a:ext>
            </a:extLst>
          </p:cNvPr>
          <p:cNvSpPr>
            <a:spLocks noGrp="1"/>
          </p:cNvSpPr>
          <p:nvPr>
            <p:ph idx="1"/>
          </p:nvPr>
        </p:nvSpPr>
        <p:spPr>
          <a:xfrm>
            <a:off x="838200" y="1917290"/>
            <a:ext cx="10515600" cy="4006454"/>
          </a:xfrm>
        </p:spPr>
        <p:txBody>
          <a:bodyPr>
            <a:normAutofit/>
          </a:bodyPr>
          <a:lstStyle/>
          <a:p>
            <a:pPr marL="0" indent="0" algn="l">
              <a:buNone/>
            </a:pPr>
            <a:r>
              <a:rPr lang="en-GB" sz="2400" b="1" dirty="0">
                <a:solidFill>
                  <a:srgbClr val="111111"/>
                </a:solidFill>
              </a:rPr>
              <a:t>Non-probability Sampling Techniques</a:t>
            </a:r>
          </a:p>
          <a:p>
            <a:pPr eaLnBrk="0" fontAlgn="base" hangingPunct="0">
              <a:lnSpc>
                <a:spcPct val="100000"/>
              </a:lnSpc>
              <a:spcBef>
                <a:spcPct val="0"/>
              </a:spcBef>
              <a:spcAft>
                <a:spcPct val="0"/>
              </a:spcAft>
            </a:pPr>
            <a:r>
              <a:rPr kumimoji="0" lang="LID4096" altLang="LID4096" b="1" i="0" u="none" strike="noStrike" cap="none" normalizeH="0" baseline="0" dirty="0">
                <a:ln>
                  <a:noFill/>
                </a:ln>
                <a:solidFill>
                  <a:schemeClr val="tx1"/>
                </a:solidFill>
                <a:effectLst/>
              </a:rPr>
              <a:t>Quota Sampling</a:t>
            </a:r>
            <a:r>
              <a:rPr kumimoji="0" lang="LID4096" altLang="LID4096" b="0" i="0" u="none" strike="noStrike" cap="none" normalizeH="0" baseline="0" dirty="0">
                <a:ln>
                  <a:noFill/>
                </a:ln>
                <a:solidFill>
                  <a:schemeClr val="tx1"/>
                </a:solidFill>
                <a:effectLst/>
              </a:rPr>
              <a:t>: The researcher ensures equal representation of various subgroups within the sample by setting quotas. For instance, if a researcher wants to ensure that 50% of participants are women and 50% are men, they </a:t>
            </a:r>
            <a:r>
              <a:rPr kumimoji="0" lang="en-US" altLang="LID4096" b="0" i="0" u="none" strike="noStrike" cap="none" normalizeH="0" baseline="0" dirty="0">
                <a:ln>
                  <a:noFill/>
                </a:ln>
                <a:solidFill>
                  <a:schemeClr val="tx1"/>
                </a:solidFill>
                <a:effectLst/>
              </a:rPr>
              <a:t>will</a:t>
            </a:r>
            <a:r>
              <a:rPr kumimoji="0" lang="LID4096" altLang="LID4096" b="0" i="0" u="none" strike="noStrike" cap="none" normalizeH="0" baseline="0" dirty="0">
                <a:ln>
                  <a:noFill/>
                </a:ln>
                <a:solidFill>
                  <a:schemeClr val="tx1"/>
                </a:solidFill>
                <a:effectLst/>
              </a:rPr>
              <a:t> continue sampling until these quotas are met, regardless of the overall population proportion.</a:t>
            </a:r>
          </a:p>
          <a:p>
            <a:pPr eaLnBrk="0" fontAlgn="base" hangingPunct="0">
              <a:lnSpc>
                <a:spcPct val="100000"/>
              </a:lnSpc>
              <a:spcBef>
                <a:spcPct val="0"/>
              </a:spcBef>
              <a:spcAft>
                <a:spcPct val="0"/>
              </a:spcAft>
            </a:pPr>
            <a:r>
              <a:rPr kumimoji="0" lang="LID4096" altLang="LID4096" b="1" i="0" u="none" strike="noStrike" cap="none" normalizeH="0" baseline="0" dirty="0">
                <a:ln>
                  <a:noFill/>
                </a:ln>
                <a:solidFill>
                  <a:schemeClr val="tx1"/>
                </a:solidFill>
                <a:effectLst/>
              </a:rPr>
              <a:t>Self-Selection Sampling</a:t>
            </a:r>
            <a:r>
              <a:rPr kumimoji="0" lang="LID4096" altLang="LID4096" b="0" i="0" u="none" strike="noStrike" cap="none" normalizeH="0" baseline="0" dirty="0">
                <a:ln>
                  <a:noFill/>
                </a:ln>
                <a:solidFill>
                  <a:schemeClr val="tx1"/>
                </a:solidFill>
                <a:effectLst/>
              </a:rPr>
              <a:t>: Individuals volunteer to participate in the study, such as through online surveys. This can lead to a bias since those who choose to participate may have different characteristics or opinions than those who do not.</a:t>
            </a:r>
          </a:p>
          <a:p>
            <a:pPr marL="0" indent="0" algn="l">
              <a:buNone/>
            </a:pPr>
            <a:endParaRPr lang="en-GB" b="1" dirty="0">
              <a:solidFill>
                <a:srgbClr val="111111"/>
              </a:solidFill>
            </a:endParaRPr>
          </a:p>
          <a:p>
            <a:pPr algn="l"/>
            <a:endParaRPr lang="en-GB" dirty="0">
              <a:solidFill>
                <a:srgbClr val="111111"/>
              </a:solidFill>
            </a:endParaRPr>
          </a:p>
        </p:txBody>
      </p:sp>
      <p:sp>
        <p:nvSpPr>
          <p:cNvPr id="4" name="Date Placeholder 3">
            <a:extLst>
              <a:ext uri="{FF2B5EF4-FFF2-40B4-BE49-F238E27FC236}">
                <a16:creationId xmlns:a16="http://schemas.microsoft.com/office/drawing/2014/main" id="{EAC2EB4B-A0DE-7482-5400-7C3404C889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4DAAB416-A9CF-FA9B-333C-2BAF86C439F5}"/>
              </a:ext>
            </a:extLst>
          </p:cNvPr>
          <p:cNvSpPr>
            <a:spLocks noGrp="1"/>
          </p:cNvSpPr>
          <p:nvPr>
            <p:ph type="sldNum" sz="quarter" idx="12"/>
          </p:nvPr>
        </p:nvSpPr>
        <p:spPr/>
        <p:txBody>
          <a:bodyPr/>
          <a:lstStyle/>
          <a:p>
            <a:fld id="{834AB335-1227-4A53-9E15-22ED1B97A1F2}" type="slidenum">
              <a:rPr lang="en-PK" smtClean="0"/>
              <a:t>15</a:t>
            </a:fld>
            <a:endParaRPr lang="en-PK"/>
          </a:p>
        </p:txBody>
      </p:sp>
    </p:spTree>
    <p:extLst>
      <p:ext uri="{BB962C8B-B14F-4D97-AF65-F5344CB8AC3E}">
        <p14:creationId xmlns:p14="http://schemas.microsoft.com/office/powerpoint/2010/main" val="967909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76FA8-411E-01DB-9139-64AF97966CBA}"/>
              </a:ext>
            </a:extLst>
          </p:cNvPr>
          <p:cNvSpPr>
            <a:spLocks noGrp="1"/>
          </p:cNvSpPr>
          <p:nvPr>
            <p:ph type="title"/>
          </p:nvPr>
        </p:nvSpPr>
        <p:spPr/>
        <p:txBody>
          <a:bodyPr/>
          <a:lstStyle/>
          <a:p>
            <a:r>
              <a:rPr lang="en-GB" dirty="0"/>
              <a:t>1. Introduction…</a:t>
            </a:r>
            <a:endParaRPr lang="LID4096" dirty="0"/>
          </a:p>
        </p:txBody>
      </p:sp>
      <p:sp>
        <p:nvSpPr>
          <p:cNvPr id="3" name="Content Placeholder 2">
            <a:extLst>
              <a:ext uri="{FF2B5EF4-FFF2-40B4-BE49-F238E27FC236}">
                <a16:creationId xmlns:a16="http://schemas.microsoft.com/office/drawing/2014/main" id="{B839705C-6900-98F4-253E-16548DC44BBF}"/>
              </a:ext>
            </a:extLst>
          </p:cNvPr>
          <p:cNvSpPr>
            <a:spLocks noGrp="1"/>
          </p:cNvSpPr>
          <p:nvPr>
            <p:ph idx="1"/>
          </p:nvPr>
        </p:nvSpPr>
        <p:spPr/>
        <p:txBody>
          <a:bodyPr>
            <a:normAutofit/>
          </a:bodyPr>
          <a:lstStyle/>
          <a:p>
            <a:pPr marL="0" indent="0">
              <a:buNone/>
            </a:pPr>
            <a:r>
              <a:rPr lang="en-GB" sz="3000" b="1" dirty="0"/>
              <a:t>Probability Sampling vs. Non-probability Sampling</a:t>
            </a:r>
          </a:p>
          <a:p>
            <a:pPr lvl="1"/>
            <a:r>
              <a:rPr lang="en-GB" b="1" dirty="0"/>
              <a:t>Generalizability</a:t>
            </a:r>
            <a:r>
              <a:rPr lang="en-GB" dirty="0"/>
              <a:t>: Probability sampling typically allows for high generalizability of results, meaning findings can be applied to the larger population. Non-probability sampling has limited generalizability; results may not represent the broader population effectively.</a:t>
            </a:r>
          </a:p>
          <a:p>
            <a:pPr lvl="1"/>
            <a:r>
              <a:rPr lang="en-GB" b="1" dirty="0"/>
              <a:t>Bias</a:t>
            </a:r>
            <a:r>
              <a:rPr lang="en-GB" dirty="0"/>
              <a:t>: Probability sampling reduces the risk of selection bias, as the process is random and minimizes researcher influence. Non-probability sampling has a higher potential for bias, as selection can be influenced by the researcher’s choices or by the participants' networks.</a:t>
            </a:r>
          </a:p>
          <a:p>
            <a:pPr lvl="1"/>
            <a:r>
              <a:rPr lang="en-GB" b="1" dirty="0"/>
              <a:t>Statistical Validity</a:t>
            </a:r>
            <a:r>
              <a:rPr lang="en-GB" dirty="0"/>
              <a:t>: Probability sampling supports statistical analysis and allows for the calculation of sampling error, enhancing the reliability of the findings. Non-probability sampling has limited statistical validity and may not support rigorous analysis.</a:t>
            </a:r>
          </a:p>
          <a:p>
            <a:endParaRPr lang="LID4096" dirty="0"/>
          </a:p>
        </p:txBody>
      </p:sp>
      <p:sp>
        <p:nvSpPr>
          <p:cNvPr id="4" name="Date Placeholder 3">
            <a:extLst>
              <a:ext uri="{FF2B5EF4-FFF2-40B4-BE49-F238E27FC236}">
                <a16:creationId xmlns:a16="http://schemas.microsoft.com/office/drawing/2014/main" id="{A9B6DB3D-432E-0D37-FAB2-FD991E4ED4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97769046-44E7-243A-074C-EFE7171BAB6D}"/>
              </a:ext>
            </a:extLst>
          </p:cNvPr>
          <p:cNvSpPr>
            <a:spLocks noGrp="1"/>
          </p:cNvSpPr>
          <p:nvPr>
            <p:ph type="sldNum" sz="quarter" idx="12"/>
          </p:nvPr>
        </p:nvSpPr>
        <p:spPr/>
        <p:txBody>
          <a:bodyPr/>
          <a:lstStyle/>
          <a:p>
            <a:fld id="{834AB335-1227-4A53-9E15-22ED1B97A1F2}" type="slidenum">
              <a:rPr lang="en-PK" smtClean="0"/>
              <a:t>16</a:t>
            </a:fld>
            <a:endParaRPr lang="en-PK"/>
          </a:p>
        </p:txBody>
      </p:sp>
    </p:spTree>
    <p:extLst>
      <p:ext uri="{BB962C8B-B14F-4D97-AF65-F5344CB8AC3E}">
        <p14:creationId xmlns:p14="http://schemas.microsoft.com/office/powerpoint/2010/main" val="1127100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76FA8-411E-01DB-9139-64AF97966CBA}"/>
              </a:ext>
            </a:extLst>
          </p:cNvPr>
          <p:cNvSpPr>
            <a:spLocks noGrp="1"/>
          </p:cNvSpPr>
          <p:nvPr>
            <p:ph type="title"/>
          </p:nvPr>
        </p:nvSpPr>
        <p:spPr/>
        <p:txBody>
          <a:bodyPr/>
          <a:lstStyle/>
          <a:p>
            <a:r>
              <a:rPr lang="en-GB" dirty="0"/>
              <a:t>1. Introduction…</a:t>
            </a:r>
            <a:endParaRPr lang="LID4096" dirty="0"/>
          </a:p>
        </p:txBody>
      </p:sp>
      <p:sp>
        <p:nvSpPr>
          <p:cNvPr id="3" name="Content Placeholder 2">
            <a:extLst>
              <a:ext uri="{FF2B5EF4-FFF2-40B4-BE49-F238E27FC236}">
                <a16:creationId xmlns:a16="http://schemas.microsoft.com/office/drawing/2014/main" id="{B839705C-6900-98F4-253E-16548DC44BBF}"/>
              </a:ext>
            </a:extLst>
          </p:cNvPr>
          <p:cNvSpPr>
            <a:spLocks noGrp="1"/>
          </p:cNvSpPr>
          <p:nvPr>
            <p:ph idx="1"/>
          </p:nvPr>
        </p:nvSpPr>
        <p:spPr/>
        <p:txBody>
          <a:bodyPr>
            <a:normAutofit/>
          </a:bodyPr>
          <a:lstStyle/>
          <a:p>
            <a:pPr marL="0" indent="0">
              <a:buNone/>
            </a:pPr>
            <a:r>
              <a:rPr lang="en-GB" sz="2800" b="1" dirty="0"/>
              <a:t>Probability Sampling vs. Non-probability Sampling</a:t>
            </a:r>
            <a:endParaRPr lang="en-GB" b="1" dirty="0"/>
          </a:p>
          <a:p>
            <a:pPr lvl="1"/>
            <a:r>
              <a:rPr lang="en-GB" b="1" dirty="0"/>
              <a:t>Cost and Time</a:t>
            </a:r>
            <a:r>
              <a:rPr lang="en-GB" dirty="0"/>
              <a:t>: Probability sampling is generally more costly and time-consuming due to the structured methods required for random selection. Non-probability sampling is usually quicker and cheaper, making it easier to implement in exploratory research.</a:t>
            </a:r>
          </a:p>
          <a:p>
            <a:pPr lvl="1"/>
            <a:r>
              <a:rPr lang="en-GB" b="1" dirty="0"/>
              <a:t>Use Cases</a:t>
            </a:r>
            <a:r>
              <a:rPr lang="en-GB" dirty="0"/>
              <a:t>: Probability sampling is suitable for quantitative research aiming for a representative sample. Non-probability sampling is often used in qualitative research, exploratory studies, or when studying hard-to-reach populations.</a:t>
            </a:r>
          </a:p>
          <a:p>
            <a:pPr lvl="1"/>
            <a:r>
              <a:rPr lang="en-GB" b="1" dirty="0"/>
              <a:t>Flexibility</a:t>
            </a:r>
            <a:r>
              <a:rPr lang="en-GB" dirty="0"/>
              <a:t>: Probability sampling is less flexible, requiring structured methods for selection. Non-probability sampling allows for more tailored approaches based on specific research needs.</a:t>
            </a:r>
          </a:p>
          <a:p>
            <a:endParaRPr lang="LID4096" dirty="0"/>
          </a:p>
        </p:txBody>
      </p:sp>
      <p:sp>
        <p:nvSpPr>
          <p:cNvPr id="4" name="Date Placeholder 3">
            <a:extLst>
              <a:ext uri="{FF2B5EF4-FFF2-40B4-BE49-F238E27FC236}">
                <a16:creationId xmlns:a16="http://schemas.microsoft.com/office/drawing/2014/main" id="{A9B6DB3D-432E-0D37-FAB2-FD991E4ED4A3}"/>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97769046-44E7-243A-074C-EFE7171BAB6D}"/>
              </a:ext>
            </a:extLst>
          </p:cNvPr>
          <p:cNvSpPr>
            <a:spLocks noGrp="1"/>
          </p:cNvSpPr>
          <p:nvPr>
            <p:ph type="sldNum" sz="quarter" idx="12"/>
          </p:nvPr>
        </p:nvSpPr>
        <p:spPr/>
        <p:txBody>
          <a:bodyPr/>
          <a:lstStyle/>
          <a:p>
            <a:fld id="{834AB335-1227-4A53-9E15-22ED1B97A1F2}" type="slidenum">
              <a:rPr lang="en-PK" smtClean="0"/>
              <a:t>17</a:t>
            </a:fld>
            <a:endParaRPr lang="en-PK"/>
          </a:p>
        </p:txBody>
      </p:sp>
    </p:spTree>
    <p:extLst>
      <p:ext uri="{BB962C8B-B14F-4D97-AF65-F5344CB8AC3E}">
        <p14:creationId xmlns:p14="http://schemas.microsoft.com/office/powerpoint/2010/main" val="909824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74EB2-7BCE-E2CA-9D95-B3D18387363B}"/>
              </a:ext>
            </a:extLst>
          </p:cNvPr>
          <p:cNvSpPr>
            <a:spLocks noGrp="1"/>
          </p:cNvSpPr>
          <p:nvPr>
            <p:ph type="title"/>
          </p:nvPr>
        </p:nvSpPr>
        <p:spPr/>
        <p:txBody>
          <a:bodyPr/>
          <a:lstStyle/>
          <a:p>
            <a:r>
              <a:rPr lang="en-GB" dirty="0"/>
              <a:t>1. Introduction …</a:t>
            </a:r>
            <a:endParaRPr lang="LID4096" dirty="0"/>
          </a:p>
        </p:txBody>
      </p:sp>
      <p:sp>
        <p:nvSpPr>
          <p:cNvPr id="3" name="Content Placeholder 2">
            <a:extLst>
              <a:ext uri="{FF2B5EF4-FFF2-40B4-BE49-F238E27FC236}">
                <a16:creationId xmlns:a16="http://schemas.microsoft.com/office/drawing/2014/main" id="{E507F7CD-56E9-F6D7-09A9-0EA4E8AD6582}"/>
              </a:ext>
            </a:extLst>
          </p:cNvPr>
          <p:cNvSpPr>
            <a:spLocks noGrp="1"/>
          </p:cNvSpPr>
          <p:nvPr>
            <p:ph idx="1"/>
          </p:nvPr>
        </p:nvSpPr>
        <p:spPr/>
        <p:txBody>
          <a:bodyPr>
            <a:normAutofit lnSpcReduction="10000"/>
          </a:bodyPr>
          <a:lstStyle/>
          <a:p>
            <a:r>
              <a:rPr lang="en-GB" sz="2400" b="1" dirty="0"/>
              <a:t>Characteristics of a Good Sample</a:t>
            </a:r>
          </a:p>
          <a:p>
            <a:r>
              <a:rPr lang="en-GB" sz="2100" b="1" dirty="0"/>
              <a:t>Representativeness: </a:t>
            </a:r>
            <a:r>
              <a:rPr lang="en-GB" sz="2100" dirty="0"/>
              <a:t>The sample should accurately reflect the characteristics of the larger population. This includes demographics, behaviours, and other relevant attributes.</a:t>
            </a:r>
          </a:p>
          <a:p>
            <a:r>
              <a:rPr lang="en-GB" sz="2100" b="1" dirty="0"/>
              <a:t>Size: </a:t>
            </a:r>
            <a:r>
              <a:rPr lang="en-GB" sz="2100" dirty="0"/>
              <a:t>The sample size should be large enough to provide sufficient data for analysis, ensuring that the results are statistically significant. Larger samples generally reduce the margin of error.</a:t>
            </a:r>
          </a:p>
          <a:p>
            <a:r>
              <a:rPr lang="en-GB" sz="2100" b="1" dirty="0"/>
              <a:t>Randomness: </a:t>
            </a:r>
            <a:r>
              <a:rPr lang="en-GB" sz="2100" dirty="0"/>
              <a:t>A good sample should be selected randomly to minimize bias. Random selection helps ensure that every individual has an equal chance of being included, enhancing the sample's representativeness.</a:t>
            </a:r>
          </a:p>
          <a:p>
            <a:r>
              <a:rPr lang="en-GB" sz="2100" b="1" dirty="0"/>
              <a:t>Diversity: </a:t>
            </a:r>
            <a:r>
              <a:rPr lang="en-GB" sz="2100" dirty="0"/>
              <a:t>The sample should include a variety of participants to capture different perspectives and experiences. This diversity can enhance the richness of the data and improve generalizability.</a:t>
            </a:r>
          </a:p>
        </p:txBody>
      </p:sp>
      <p:sp>
        <p:nvSpPr>
          <p:cNvPr id="4" name="Date Placeholder 3">
            <a:extLst>
              <a:ext uri="{FF2B5EF4-FFF2-40B4-BE49-F238E27FC236}">
                <a16:creationId xmlns:a16="http://schemas.microsoft.com/office/drawing/2014/main" id="{427F928D-88A7-9D1F-AA79-E1DED3A3B479}"/>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23847B92-6743-DCBA-77F2-D984A23994FB}"/>
              </a:ext>
            </a:extLst>
          </p:cNvPr>
          <p:cNvSpPr>
            <a:spLocks noGrp="1"/>
          </p:cNvSpPr>
          <p:nvPr>
            <p:ph type="sldNum" sz="quarter" idx="12"/>
          </p:nvPr>
        </p:nvSpPr>
        <p:spPr/>
        <p:txBody>
          <a:bodyPr/>
          <a:lstStyle/>
          <a:p>
            <a:fld id="{834AB335-1227-4A53-9E15-22ED1B97A1F2}" type="slidenum">
              <a:rPr lang="en-PK" smtClean="0"/>
              <a:t>18</a:t>
            </a:fld>
            <a:endParaRPr lang="en-PK"/>
          </a:p>
        </p:txBody>
      </p:sp>
    </p:spTree>
    <p:extLst>
      <p:ext uri="{BB962C8B-B14F-4D97-AF65-F5344CB8AC3E}">
        <p14:creationId xmlns:p14="http://schemas.microsoft.com/office/powerpoint/2010/main" val="171899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74EB2-7BCE-E2CA-9D95-B3D18387363B}"/>
              </a:ext>
            </a:extLst>
          </p:cNvPr>
          <p:cNvSpPr>
            <a:spLocks noGrp="1"/>
          </p:cNvSpPr>
          <p:nvPr>
            <p:ph type="title"/>
          </p:nvPr>
        </p:nvSpPr>
        <p:spPr/>
        <p:txBody>
          <a:bodyPr/>
          <a:lstStyle/>
          <a:p>
            <a:r>
              <a:rPr lang="en-GB" dirty="0"/>
              <a:t>1. Introduction …</a:t>
            </a:r>
            <a:endParaRPr lang="LID4096" dirty="0"/>
          </a:p>
        </p:txBody>
      </p:sp>
      <p:sp>
        <p:nvSpPr>
          <p:cNvPr id="3" name="Content Placeholder 2">
            <a:extLst>
              <a:ext uri="{FF2B5EF4-FFF2-40B4-BE49-F238E27FC236}">
                <a16:creationId xmlns:a16="http://schemas.microsoft.com/office/drawing/2014/main" id="{E507F7CD-56E9-F6D7-09A9-0EA4E8AD6582}"/>
              </a:ext>
            </a:extLst>
          </p:cNvPr>
          <p:cNvSpPr>
            <a:spLocks noGrp="1"/>
          </p:cNvSpPr>
          <p:nvPr>
            <p:ph idx="1"/>
          </p:nvPr>
        </p:nvSpPr>
        <p:spPr>
          <a:xfrm>
            <a:off x="1097280" y="1845734"/>
            <a:ext cx="10058400" cy="4260098"/>
          </a:xfrm>
        </p:spPr>
        <p:txBody>
          <a:bodyPr>
            <a:normAutofit fontScale="92500"/>
          </a:bodyPr>
          <a:lstStyle/>
          <a:p>
            <a:r>
              <a:rPr lang="en-GB" sz="2400" b="1" dirty="0"/>
              <a:t>Characteristics of a Good Sample</a:t>
            </a:r>
          </a:p>
          <a:p>
            <a:r>
              <a:rPr lang="en-GB" sz="2100" b="1" dirty="0"/>
              <a:t>Consistency: </a:t>
            </a:r>
            <a:r>
              <a:rPr lang="en-GB" sz="2100" dirty="0"/>
              <a:t>The sampling method should be applied consistently across all participants. This consistency helps ensure that the sample is not inadvertently skewed by varying selection criteria.</a:t>
            </a:r>
          </a:p>
          <a:p>
            <a:pPr marL="0" indent="0">
              <a:buNone/>
            </a:pPr>
            <a:r>
              <a:rPr lang="en-GB" sz="2100" b="1" dirty="0"/>
              <a:t> Accessibility: </a:t>
            </a:r>
            <a:r>
              <a:rPr lang="en-GB" sz="2100" dirty="0"/>
              <a:t>The sample should be feasible to reach and engage with. Consideration of accessibility ensures that the research can be conducted within practical constraints.</a:t>
            </a:r>
          </a:p>
          <a:p>
            <a:r>
              <a:rPr lang="en-GB" sz="2100" b="1" dirty="0"/>
              <a:t>Clarity of Inclusion Criteria: </a:t>
            </a:r>
            <a:r>
              <a:rPr lang="en-GB" sz="2100" dirty="0"/>
              <a:t>Clearly defined criteria for who is included in the sample help maintain focus and ensure that the sample is relevant to the research question.</a:t>
            </a:r>
          </a:p>
          <a:p>
            <a:r>
              <a:rPr lang="en-GB" sz="2100" b="1" dirty="0"/>
              <a:t>Ethical Considerations: </a:t>
            </a:r>
            <a:r>
              <a:rPr lang="en-GB" sz="2100" dirty="0"/>
              <a:t>The sampling process should adhere to ethical standards, including obtaining informed consent and ensuring the privacy and confidentiality of participants.</a:t>
            </a:r>
          </a:p>
          <a:p>
            <a:r>
              <a:rPr lang="en-GB" sz="2100" b="1" dirty="0"/>
              <a:t>Ability to Analyse: </a:t>
            </a:r>
            <a:r>
              <a:rPr lang="en-GB" sz="2100" dirty="0"/>
              <a:t>The data collected from the sample should be agreeable to analysis using the chosen research methods. This means the sample should provide the type of data necessary for addressing the research questions.</a:t>
            </a:r>
          </a:p>
          <a:p>
            <a:endParaRPr lang="LID4096" sz="2400" b="1" dirty="0"/>
          </a:p>
        </p:txBody>
      </p:sp>
      <p:sp>
        <p:nvSpPr>
          <p:cNvPr id="4" name="Date Placeholder 3">
            <a:extLst>
              <a:ext uri="{FF2B5EF4-FFF2-40B4-BE49-F238E27FC236}">
                <a16:creationId xmlns:a16="http://schemas.microsoft.com/office/drawing/2014/main" id="{427F928D-88A7-9D1F-AA79-E1DED3A3B479}"/>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23847B92-6743-DCBA-77F2-D984A23994FB}"/>
              </a:ext>
            </a:extLst>
          </p:cNvPr>
          <p:cNvSpPr>
            <a:spLocks noGrp="1"/>
          </p:cNvSpPr>
          <p:nvPr>
            <p:ph type="sldNum" sz="quarter" idx="12"/>
          </p:nvPr>
        </p:nvSpPr>
        <p:spPr/>
        <p:txBody>
          <a:bodyPr/>
          <a:lstStyle/>
          <a:p>
            <a:fld id="{834AB335-1227-4A53-9E15-22ED1B97A1F2}" type="slidenum">
              <a:rPr lang="en-PK" smtClean="0"/>
              <a:t>19</a:t>
            </a:fld>
            <a:endParaRPr lang="en-PK"/>
          </a:p>
        </p:txBody>
      </p:sp>
    </p:spTree>
    <p:extLst>
      <p:ext uri="{BB962C8B-B14F-4D97-AF65-F5344CB8AC3E}">
        <p14:creationId xmlns:p14="http://schemas.microsoft.com/office/powerpoint/2010/main" val="75756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p:txBody>
          <a:bodyPr/>
          <a:lstStyle/>
          <a:p>
            <a:r>
              <a:rPr lang="en-GB" dirty="0"/>
              <a:t>2. Sampling Distribution</a:t>
            </a:r>
            <a:endParaRPr lang="en-PK" dirty="0"/>
          </a:p>
        </p:txBody>
      </p:sp>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lstStyle/>
          <a:p>
            <a:r>
              <a:rPr lang="en-GB" dirty="0"/>
              <a:t>A </a:t>
            </a:r>
            <a:r>
              <a:rPr lang="en-GB" b="1" dirty="0"/>
              <a:t>sampling distribution </a:t>
            </a:r>
            <a:r>
              <a:rPr lang="en-GB" dirty="0"/>
              <a:t>is a probability distribution of a statistic obtained from a larger number of samples drawn from a specific population</a:t>
            </a:r>
          </a:p>
          <a:p>
            <a:r>
              <a:rPr lang="en-GB" dirty="0"/>
              <a:t>The sampling distribution of a given population is the distribution of frequencies of a range of different outcomes that could possibly occur for a statistic of a population</a:t>
            </a:r>
          </a:p>
          <a:p>
            <a:r>
              <a:rPr lang="en-GB" b="0" i="0" dirty="0">
                <a:solidFill>
                  <a:srgbClr val="2D2D2D"/>
                </a:solidFill>
                <a:effectLst/>
                <a:latin typeface="Noto Sans" panose="020B0502040204020203" pitchFamily="34" charset="0"/>
              </a:rPr>
              <a:t>Its primary purpose is to establish representative results of small samples of a comparatively larger population</a:t>
            </a:r>
            <a:endParaRPr lang="en-PK" dirty="0"/>
          </a:p>
        </p:txBody>
      </p:sp>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20</a:t>
            </a:fld>
            <a:endParaRPr lang="en-PK"/>
          </a:p>
        </p:txBody>
      </p:sp>
    </p:spTree>
    <p:extLst>
      <p:ext uri="{BB962C8B-B14F-4D97-AF65-F5344CB8AC3E}">
        <p14:creationId xmlns:p14="http://schemas.microsoft.com/office/powerpoint/2010/main" val="1757134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a:xfrm>
            <a:off x="838200" y="365125"/>
            <a:ext cx="11217812" cy="1325563"/>
          </a:xfrm>
        </p:spPr>
        <p:txBody>
          <a:bodyPr>
            <a:normAutofit fontScale="90000"/>
          </a:bodyPr>
          <a:lstStyle/>
          <a:p>
            <a:r>
              <a:rPr lang="en-GB" dirty="0"/>
              <a:t>2.1 Sampling Distribution of the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lstStyle/>
              <a:p>
                <a:r>
                  <a:rPr lang="en-GB" dirty="0"/>
                  <a:t>The probability distribution of sample means is called the sampling distribution of sample means</a:t>
                </a:r>
              </a:p>
              <a:p>
                <a:r>
                  <a:rPr lang="en-GB" dirty="0"/>
                  <a:t>Mean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𝜇</m:t>
                        </m:r>
                      </m:e>
                      <m:sub>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sub>
                    </m:sSub>
                  </m:oMath>
                </a14:m>
                <a:r>
                  <a:rPr lang="en-GB" dirty="0"/>
                  <a:t>) and variance (</a:t>
                </a:r>
                <a14:m>
                  <m:oMath xmlns:m="http://schemas.openxmlformats.org/officeDocument/2006/math">
                    <m:sSubSup>
                      <m:sSubSupPr>
                        <m:ctrlPr>
                          <a:rPr lang="en-GB" i="1" smtClean="0">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𝑥</m:t>
                            </m:r>
                          </m:e>
                        </m:acc>
                      </m:sub>
                      <m:sup>
                        <m:r>
                          <a:rPr lang="en-GB" b="0" i="1" smtClean="0">
                            <a:latin typeface="Cambria Math" panose="02040503050406030204" pitchFamily="18" charset="0"/>
                            <a:ea typeface="Cambria Math" panose="02040503050406030204" pitchFamily="18" charset="0"/>
                          </a:rPr>
                          <m:t>2</m:t>
                        </m:r>
                      </m:sup>
                    </m:sSubSup>
                  </m:oMath>
                </a14:m>
                <a:r>
                  <a:rPr lang="en-GB" dirty="0"/>
                  <a:t>) of the sampling distribution of sample means can be calculated as:</a:t>
                </a:r>
              </a:p>
              <a:p>
                <a:pPr marL="0" indent="0" algn="ctr">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r>
                                <a:rPr lang="en-GB" b="0" i="1" smtClean="0">
                                  <a:latin typeface="Cambria Math" panose="02040503050406030204" pitchFamily="18" charset="0"/>
                                </a:rPr>
                                <m:t>𝑋</m:t>
                              </m:r>
                            </m:e>
                          </m:acc>
                          <m:r>
                            <a:rPr lang="en-GB" b="0" i="1" smtClean="0">
                              <a:latin typeface="Cambria Math" panose="02040503050406030204" pitchFamily="18" charset="0"/>
                            </a:rPr>
                            <m:t> </m:t>
                          </m:r>
                        </m:sub>
                      </m:sSub>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𝑓</m:t>
                          </m:r>
                          <m:d>
                            <m:dPr>
                              <m:ctrlPr>
                                <a:rPr lang="en-GB" b="0" i="1" smtClean="0">
                                  <a:latin typeface="Cambria Math" panose="02040503050406030204" pitchFamily="18" charset="0"/>
                                  <a:ea typeface="Cambria Math" panose="02040503050406030204" pitchFamily="18" charset="0"/>
                                </a:rPr>
                              </m:ctrlPr>
                            </m:dPr>
                            <m:e>
                              <m:acc>
                                <m:accPr>
                                  <m:chr m:val="̅"/>
                                  <m:ctrlPr>
                                    <a:rPr lang="en-GB" b="0"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𝑥</m:t>
                                  </m:r>
                                </m:e>
                              </m:acc>
                            </m:e>
                          </m:d>
                        </m:e>
                      </m:nary>
                    </m:oMath>
                  </m:oMathPara>
                </a14:m>
                <a:endParaRPr lang="en-GB" dirty="0"/>
              </a:p>
              <a:p>
                <a:pPr marL="0" indent="0" algn="ctr">
                  <a:buNone/>
                </a:pPr>
                <a14:m>
                  <m:oMathPara xmlns:m="http://schemas.openxmlformats.org/officeDocument/2006/math">
                    <m:oMathParaPr>
                      <m:jc m:val="centerGroup"/>
                    </m:oMathParaPr>
                    <m:oMath xmlns:m="http://schemas.openxmlformats.org/officeDocument/2006/math">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𝑋</m:t>
                              </m:r>
                            </m:e>
                          </m:acc>
                        </m:sub>
                        <m:sup>
                          <m:r>
                            <a:rPr lang="en-GB" i="1">
                              <a:latin typeface="Cambria Math" panose="02040503050406030204" pitchFamily="18" charset="0"/>
                              <a:ea typeface="Cambria Math" panose="02040503050406030204" pitchFamily="18" charset="0"/>
                            </a:rPr>
                            <m:t>2</m:t>
                          </m:r>
                        </m:sup>
                      </m:sSubSup>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i="1">
                                          <a:latin typeface="Cambria Math" panose="02040503050406030204" pitchFamily="18" charset="0"/>
                                        </a:rPr>
                                        <m:t> </m:t>
                                      </m:r>
                                    </m:sub>
                                  </m:sSub>
                                </m:e>
                              </m:d>
                            </m:e>
                            <m:sup>
                              <m:r>
                                <a:rPr lang="en-GB" b="0" i="1" smtClean="0">
                                  <a:latin typeface="Cambria Math" panose="02040503050406030204" pitchFamily="18" charset="0"/>
                                </a:rPr>
                                <m:t>2</m:t>
                              </m:r>
                            </m:sup>
                          </m:sSup>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𝑓</m:t>
                          </m:r>
                          <m:d>
                            <m:dPr>
                              <m:ctrlPr>
                                <a:rPr lang="en-GB" b="0" i="1" smtClean="0">
                                  <a:latin typeface="Cambria Math" panose="02040503050406030204" pitchFamily="18" charset="0"/>
                                  <a:ea typeface="Cambria Math" panose="02040503050406030204" pitchFamily="18" charset="0"/>
                                </a:rPr>
                              </m:ctrlPr>
                            </m:dPr>
                            <m:e>
                              <m:acc>
                                <m:accPr>
                                  <m:chr m:val="̅"/>
                                  <m:ctrlPr>
                                    <a:rPr lang="en-GB" b="0"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𝑥</m:t>
                                  </m:r>
                                </m:e>
                              </m:acc>
                            </m:e>
                          </m:d>
                        </m:e>
                      </m:nary>
                    </m:oMath>
                  </m:oMathPara>
                </a14:m>
                <a:endParaRPr lang="en-GB" dirty="0"/>
              </a:p>
              <a:p>
                <a:endParaRPr lang="en-GB" dirty="0"/>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PK">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21</a:t>
            </a:fld>
            <a:endParaRPr lang="en-PK"/>
          </a:p>
        </p:txBody>
      </p:sp>
    </p:spTree>
    <p:extLst>
      <p:ext uri="{BB962C8B-B14F-4D97-AF65-F5344CB8AC3E}">
        <p14:creationId xmlns:p14="http://schemas.microsoft.com/office/powerpoint/2010/main" val="1540879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a:xfrm>
            <a:off x="838200" y="365125"/>
            <a:ext cx="11217812" cy="1325563"/>
          </a:xfrm>
        </p:spPr>
        <p:txBody>
          <a:bodyPr>
            <a:normAutofit fontScale="90000"/>
          </a:bodyPr>
          <a:lstStyle/>
          <a:p>
            <a:r>
              <a:rPr lang="en-GB" dirty="0"/>
              <a:t>2.1 Sampling Distribution of the Sample Means</a:t>
            </a:r>
            <a:endParaRPr lang="en-PK" dirty="0"/>
          </a:p>
        </p:txBody>
      </p:sp>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lstStyle/>
          <a:p>
            <a:r>
              <a:rPr lang="en-GB" dirty="0"/>
              <a:t>Example 1: Given the population 1, 2, 3 and 4. Draw all possible samples of size 2 with replacement and without replacement; and draw a sampling distribution of sample means. Also find the mean and variance of the sampling distribution of sample mean. </a:t>
            </a:r>
          </a:p>
          <a:p>
            <a:endParaRPr lang="en-GB" dirty="0"/>
          </a:p>
        </p:txBody>
      </p:sp>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22</a:t>
            </a:fld>
            <a:endParaRPr lang="en-PK"/>
          </a:p>
        </p:txBody>
      </p:sp>
    </p:spTree>
    <p:extLst>
      <p:ext uri="{BB962C8B-B14F-4D97-AF65-F5344CB8AC3E}">
        <p14:creationId xmlns:p14="http://schemas.microsoft.com/office/powerpoint/2010/main" val="3659630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a:xfrm>
            <a:off x="838200" y="365125"/>
            <a:ext cx="11217812" cy="1325563"/>
          </a:xfrm>
        </p:spPr>
        <p:txBody>
          <a:bodyPr>
            <a:normAutofit fontScale="90000"/>
          </a:bodyPr>
          <a:lstStyle/>
          <a:p>
            <a:r>
              <a:rPr lang="en-GB" dirty="0"/>
              <a:t>2.1 Sampling Distribution of the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lstStyle/>
              <a:p>
                <a:pPr marL="0" indent="0">
                  <a:buNone/>
                </a:pPr>
                <a:r>
                  <a:rPr lang="en-GB" dirty="0"/>
                  <a:t>Properties of Sampling distribution of means:</a:t>
                </a:r>
              </a:p>
              <a:p>
                <a:endParaRPr lang="en-GB" dirty="0"/>
              </a:p>
              <a:p>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b="0" i="1" smtClean="0">
                            <a:latin typeface="Cambria Math" panose="02040503050406030204" pitchFamily="18" charset="0"/>
                          </a:rPr>
                          <m:t> </m:t>
                        </m:r>
                      </m:sub>
                    </m:sSub>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𝜇</m:t>
                    </m:r>
                  </m:oMath>
                </a14:m>
                <a:endParaRPr lang="en-GB" dirty="0"/>
              </a:p>
              <a:p>
                <a:endParaRPr lang="en-GB" dirty="0"/>
              </a:p>
              <a:p>
                <a:r>
                  <a:rPr lang="en-GB" dirty="0">
                    <a:ea typeface="Cambria Math" panose="02040503050406030204" pitchFamily="18" charset="0"/>
                  </a:rPr>
                  <a:t>        </a:t>
                </a:r>
                <a14:m>
                  <m:oMath xmlns:m="http://schemas.openxmlformats.org/officeDocument/2006/math">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𝑥</m:t>
                            </m:r>
                          </m:e>
                        </m:acc>
                      </m:sub>
                      <m:sup>
                        <m:r>
                          <a:rPr lang="en-GB" i="1">
                            <a:latin typeface="Cambria Math" panose="02040503050406030204" pitchFamily="18" charset="0"/>
                            <a:ea typeface="Cambria Math" panose="02040503050406030204" pitchFamily="18" charset="0"/>
                          </a:rPr>
                          <m:t>2</m:t>
                        </m:r>
                      </m:sup>
                    </m:sSubSup>
                    <m:r>
                      <a:rPr lang="en-GB" b="0" i="1" smtClean="0">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𝜎</m:t>
                            </m:r>
                          </m:e>
                          <m:sup>
                            <m:r>
                              <a:rPr lang="en-GB" b="0" i="1" smtClean="0">
                                <a:latin typeface="Cambria Math" panose="02040503050406030204" pitchFamily="18" charset="0"/>
                              </a:rPr>
                              <m:t>2</m:t>
                            </m:r>
                          </m:sup>
                        </m:sSup>
                      </m:num>
                      <m:den>
                        <m:r>
                          <a:rPr lang="en-GB" b="0" i="1" smtClean="0">
                            <a:latin typeface="Cambria Math" panose="02040503050406030204" pitchFamily="18" charset="0"/>
                          </a:rPr>
                          <m:t>𝑛</m:t>
                        </m:r>
                      </m:den>
                    </m:f>
                  </m:oMath>
                </a14:m>
                <a:r>
                  <a:rPr lang="en-GB" dirty="0"/>
                  <a:t>  (if sampling is done with-replacement)</a:t>
                </a:r>
              </a:p>
              <a:p>
                <a:pPr marL="0" indent="0">
                  <a:buNone/>
                </a:pPr>
                <a:endParaRPr lang="en-GB" dirty="0"/>
              </a:p>
              <a:p>
                <a:r>
                  <a:rPr lang="en-GB" dirty="0">
                    <a:ea typeface="Cambria Math" panose="02040503050406030204" pitchFamily="18" charset="0"/>
                  </a:rPr>
                  <a:t>        </a:t>
                </a:r>
                <a14:m>
                  <m:oMath xmlns:m="http://schemas.openxmlformats.org/officeDocument/2006/math">
                    <m:sSub>
                      <m:sSubPr>
                        <m:ctrlPr>
                          <a:rPr lang="en-GB" i="1" smtClean="0">
                            <a:latin typeface="Cambria Math" panose="02040503050406030204" pitchFamily="18" charset="0"/>
                            <a:ea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𝜎</m:t>
                        </m:r>
                      </m:e>
                      <m:sub>
                        <m:acc>
                          <m:accPr>
                            <m:chr m:val="̅"/>
                            <m:ctrlPr>
                              <a:rPr lang="en-GB" i="1" smtClean="0">
                                <a:latin typeface="Cambria Math" panose="02040503050406030204" pitchFamily="18" charset="0"/>
                                <a:ea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𝑥</m:t>
                            </m:r>
                          </m:e>
                        </m:acc>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𝜎</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𝑛</m:t>
                            </m:r>
                          </m:e>
                        </m:rad>
                      </m:den>
                    </m:f>
                    <m:rad>
                      <m:radPr>
                        <m:degHide m:val="on"/>
                        <m:ctrlPr>
                          <a:rPr lang="en-GB" b="0" i="1" smtClean="0">
                            <a:latin typeface="Cambria Math" panose="02040503050406030204" pitchFamily="18" charset="0"/>
                          </a:rPr>
                        </m:ctrlPr>
                      </m:radPr>
                      <m:deg/>
                      <m:e>
                        <m:f>
                          <m:fPr>
                            <m:ctrlPr>
                              <a:rPr lang="en-GB" b="0" i="1" smtClean="0">
                                <a:latin typeface="Cambria Math" panose="02040503050406030204" pitchFamily="18" charset="0"/>
                              </a:rPr>
                            </m:ctrlPr>
                          </m:fPr>
                          <m:num>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𝑛</m:t>
                            </m:r>
                          </m:num>
                          <m:den>
                            <m:r>
                              <a:rPr lang="en-GB" b="0" i="1" smtClean="0">
                                <a:latin typeface="Cambria Math" panose="02040503050406030204" pitchFamily="18" charset="0"/>
                              </a:rPr>
                              <m:t>𝑁</m:t>
                            </m:r>
                            <m:r>
                              <a:rPr lang="en-GB" b="0" i="1" smtClean="0">
                                <a:latin typeface="Cambria Math" panose="02040503050406030204" pitchFamily="18" charset="0"/>
                              </a:rPr>
                              <m:t>−1</m:t>
                            </m:r>
                          </m:den>
                        </m:f>
                      </m:e>
                    </m:rad>
                  </m:oMath>
                </a14:m>
                <a:r>
                  <a:rPr lang="en-GB" dirty="0"/>
                  <a:t>  (if sampling is done with-out replacement)</a:t>
                </a:r>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PK">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23</a:t>
            </a:fld>
            <a:endParaRPr lang="en-PK"/>
          </a:p>
        </p:txBody>
      </p:sp>
    </p:spTree>
    <p:extLst>
      <p:ext uri="{BB962C8B-B14F-4D97-AF65-F5344CB8AC3E}">
        <p14:creationId xmlns:p14="http://schemas.microsoft.com/office/powerpoint/2010/main" val="253461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a:xfrm>
            <a:off x="838200" y="365125"/>
            <a:ext cx="11217812" cy="1325563"/>
          </a:xfrm>
        </p:spPr>
        <p:txBody>
          <a:bodyPr>
            <a:normAutofit fontScale="90000"/>
          </a:bodyPr>
          <a:lstStyle/>
          <a:p>
            <a:r>
              <a:rPr lang="en-GB" dirty="0"/>
              <a:t>2.1 Sampling Distribution of the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a:xfrm>
                <a:off x="838200" y="1976283"/>
                <a:ext cx="10515600" cy="4200679"/>
              </a:xfrm>
            </p:spPr>
            <p:txBody>
              <a:bodyPr>
                <a:normAutofit/>
              </a:bodyPr>
              <a:lstStyle/>
              <a:p>
                <a:r>
                  <a:rPr lang="en-GB" dirty="0"/>
                  <a:t>Central-Limit Theorem</a:t>
                </a:r>
              </a:p>
              <a:p>
                <a:pPr marL="0" indent="0">
                  <a:buNone/>
                </a:pPr>
                <a:r>
                  <a:rPr lang="en-GB" i="1" dirty="0"/>
                  <a:t>If all possible random samples of size n are drawn with replacement from a finite population of size N with mean </a:t>
                </a:r>
                <a14:m>
                  <m:oMath xmlns:m="http://schemas.openxmlformats.org/officeDocument/2006/math">
                    <m:r>
                      <a:rPr lang="en-GB" i="1" smtClean="0">
                        <a:latin typeface="Cambria Math" panose="02040503050406030204" pitchFamily="18" charset="0"/>
                        <a:ea typeface="Cambria Math" panose="02040503050406030204" pitchFamily="18" charset="0"/>
                      </a:rPr>
                      <m:t>𝜇</m:t>
                    </m:r>
                  </m:oMath>
                </a14:m>
                <a:r>
                  <a:rPr lang="en-GB" i="1" dirty="0"/>
                  <a:t> and standard deviation </a:t>
                </a:r>
                <a14:m>
                  <m:oMath xmlns:m="http://schemas.openxmlformats.org/officeDocument/2006/math">
                    <m:r>
                      <a:rPr lang="en-GB" i="1" smtClean="0">
                        <a:latin typeface="Cambria Math" panose="02040503050406030204" pitchFamily="18" charset="0"/>
                        <a:ea typeface="Cambria Math" panose="02040503050406030204" pitchFamily="18" charset="0"/>
                      </a:rPr>
                      <m:t>𝜎</m:t>
                    </m:r>
                    <m:r>
                      <a:rPr lang="en-GB" b="0" i="1" smtClean="0">
                        <a:latin typeface="Cambria Math" panose="02040503050406030204" pitchFamily="18" charset="0"/>
                        <a:ea typeface="Cambria Math" panose="02040503050406030204" pitchFamily="18" charset="0"/>
                      </a:rPr>
                      <m:t>, </m:t>
                    </m:r>
                  </m:oMath>
                </a14:m>
                <a:r>
                  <a:rPr lang="en-GB" i="1" dirty="0"/>
                  <a:t>then for sufficiently large n the sampling distribution n of the mean </a:t>
                </a:r>
                <a14:m>
                  <m:oMath xmlns:m="http://schemas.openxmlformats.org/officeDocument/2006/math">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𝑋</m:t>
                        </m:r>
                      </m:e>
                    </m:acc>
                    <m:r>
                      <a:rPr lang="en-GB" b="0" i="1" smtClean="0">
                        <a:latin typeface="Cambria Math" panose="02040503050406030204" pitchFamily="18" charset="0"/>
                      </a:rPr>
                      <m:t> </m:t>
                    </m:r>
                  </m:oMath>
                </a14:m>
                <a:r>
                  <a:rPr lang="en-GB" i="1" dirty="0"/>
                  <a:t>will be approximately normally distributed with mean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r>
                              <a:rPr lang="en-GB" i="1">
                                <a:latin typeface="Cambria Math" panose="02040503050406030204" pitchFamily="18" charset="0"/>
                              </a:rPr>
                              <m:t>𝑥</m:t>
                            </m:r>
                          </m:e>
                        </m:acc>
                        <m:r>
                          <a:rPr lang="en-GB" i="1">
                            <a:latin typeface="Cambria Math" panose="02040503050406030204" pitchFamily="18" charset="0"/>
                          </a:rPr>
                          <m:t> </m:t>
                        </m:r>
                      </m:sub>
                    </m:sSub>
                    <m:r>
                      <a:rPr lang="en-GB" i="1">
                        <a:latin typeface="Cambria Math" panose="02040503050406030204" pitchFamily="18" charset="0"/>
                      </a:rPr>
                      <m:t>=</m:t>
                    </m:r>
                    <m:r>
                      <a:rPr lang="en-GB" i="1">
                        <a:latin typeface="Cambria Math" panose="02040503050406030204" pitchFamily="18" charset="0"/>
                        <a:ea typeface="Cambria Math" panose="02040503050406030204" pitchFamily="18" charset="0"/>
                      </a:rPr>
                      <m:t>𝜇</m:t>
                    </m:r>
                  </m:oMath>
                </a14:m>
                <a:r>
                  <a:rPr lang="en-GB" i="1" dirty="0"/>
                  <a:t> and standard deviation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𝜎</m:t>
                        </m:r>
                      </m:e>
                      <m:sub>
                        <m:acc>
                          <m:accPr>
                            <m:chr m:val="̅"/>
                            <m:ctrlPr>
                              <a:rPr lang="en-GB" i="1" smtClean="0">
                                <a:latin typeface="Cambria Math" panose="02040503050406030204" pitchFamily="18" charset="0"/>
                              </a:rPr>
                            </m:ctrlPr>
                          </m:accPr>
                          <m:e>
                            <m:r>
                              <a:rPr lang="en-GB" b="0" i="1" smtClean="0">
                                <a:latin typeface="Cambria Math" panose="02040503050406030204" pitchFamily="18" charset="0"/>
                              </a:rPr>
                              <m:t>𝑥</m:t>
                            </m:r>
                          </m:e>
                        </m:acc>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𝜎</m:t>
                        </m:r>
                      </m:num>
                      <m:den>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𝑛</m:t>
                            </m:r>
                          </m:e>
                        </m:rad>
                      </m:den>
                    </m:f>
                  </m:oMath>
                </a14:m>
                <a:r>
                  <a:rPr lang="en-GB" i="1" dirty="0"/>
                  <a:t>. Hence, </a:t>
                </a:r>
              </a:p>
              <a:p>
                <a:pPr marL="0" indent="0" algn="ctr">
                  <a:buNone/>
                </a:pPr>
                <a14:m>
                  <m:oMath xmlns:m="http://schemas.openxmlformats.org/officeDocument/2006/math">
                    <m:r>
                      <a:rPr lang="en-GB" b="0" i="1" smtClean="0">
                        <a:latin typeface="Cambria Math" panose="02040503050406030204" pitchFamily="18" charset="0"/>
                      </a:rPr>
                      <m:t>𝑧</m:t>
                    </m:r>
                    <m:r>
                      <a:rPr lang="en-GB" b="0" i="1" smtClean="0">
                        <a:latin typeface="Cambria Math" panose="02040503050406030204" pitchFamily="18" charset="0"/>
                      </a:rPr>
                      <m:t>=</m:t>
                    </m:r>
                    <m:f>
                      <m:fPr>
                        <m:ctrlPr>
                          <a:rPr lang="en-GB" b="0" i="1" smtClean="0">
                            <a:latin typeface="Cambria Math" panose="02040503050406030204" pitchFamily="18" charset="0"/>
                          </a:rPr>
                        </m:ctrlPr>
                      </m:fPr>
                      <m:num>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𝜇</m:t>
                        </m:r>
                      </m:num>
                      <m:den>
                        <m:f>
                          <m:fPr>
                            <m:ctrlPr>
                              <a:rPr lang="en-GB" i="1">
                                <a:latin typeface="Cambria Math" panose="02040503050406030204" pitchFamily="18" charset="0"/>
                              </a:rPr>
                            </m:ctrlPr>
                          </m:fPr>
                          <m:num>
                            <m:r>
                              <a:rPr lang="en-GB" i="1">
                                <a:latin typeface="Cambria Math" panose="02040503050406030204" pitchFamily="18" charset="0"/>
                                <a:ea typeface="Cambria Math" panose="02040503050406030204" pitchFamily="18" charset="0"/>
                              </a:rPr>
                              <m:t>𝜎</m:t>
                            </m:r>
                          </m:num>
                          <m:den>
                            <m:rad>
                              <m:radPr>
                                <m:degHide m:val="on"/>
                                <m:ctrlPr>
                                  <a:rPr lang="en-GB" i="1">
                                    <a:latin typeface="Cambria Math" panose="02040503050406030204" pitchFamily="18" charset="0"/>
                                  </a:rPr>
                                </m:ctrlPr>
                              </m:radPr>
                              <m:deg/>
                              <m:e>
                                <m:r>
                                  <a:rPr lang="en-GB" i="1">
                                    <a:latin typeface="Cambria Math" panose="02040503050406030204" pitchFamily="18" charset="0"/>
                                  </a:rPr>
                                  <m:t>𝑛</m:t>
                                </m:r>
                              </m:e>
                            </m:rad>
                          </m:den>
                        </m:f>
                      </m:den>
                    </m:f>
                  </m:oMath>
                </a14:m>
                <a:r>
                  <a:rPr lang="en-GB" i="1" dirty="0"/>
                  <a:t> </a:t>
                </a:r>
              </a:p>
              <a:p>
                <a:pPr marL="0" indent="0">
                  <a:buNone/>
                </a:pPr>
                <a:r>
                  <a:rPr lang="en-GB" i="1" dirty="0"/>
                  <a:t>is a value of a standard normal variable Z.</a:t>
                </a:r>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xfrm>
                <a:off x="838200" y="1976283"/>
                <a:ext cx="10515600" cy="4200679"/>
              </a:xfrm>
              <a:blipFill>
                <a:blip r:embed="rId2"/>
                <a:stretch>
                  <a:fillRect l="-1507" t="-1451" r="-522"/>
                </a:stretch>
              </a:blipFill>
            </p:spPr>
            <p:txBody>
              <a:bodyPr/>
              <a:lstStyle/>
              <a:p>
                <a:r>
                  <a:rPr lang="LID4096">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24</a:t>
            </a:fld>
            <a:endParaRPr lang="en-PK"/>
          </a:p>
        </p:txBody>
      </p:sp>
    </p:spTree>
    <p:extLst>
      <p:ext uri="{BB962C8B-B14F-4D97-AF65-F5344CB8AC3E}">
        <p14:creationId xmlns:p14="http://schemas.microsoft.com/office/powerpoint/2010/main" val="1498891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C20C6-6840-2EA3-30A8-D4A8CE6A0EB9}"/>
              </a:ext>
            </a:extLst>
          </p:cNvPr>
          <p:cNvSpPr>
            <a:spLocks noGrp="1"/>
          </p:cNvSpPr>
          <p:nvPr>
            <p:ph type="title"/>
          </p:nvPr>
        </p:nvSpPr>
        <p:spPr/>
        <p:txBody>
          <a:bodyPr/>
          <a:lstStyle/>
          <a:p>
            <a:r>
              <a:rPr lang="en-GB" dirty="0"/>
              <a:t>2.1 Sampling Distribution of the Sample Means</a:t>
            </a:r>
            <a:endParaRPr lang="en-PK" dirty="0"/>
          </a:p>
        </p:txBody>
      </p:sp>
      <p:sp>
        <p:nvSpPr>
          <p:cNvPr id="3" name="Content Placeholder 2">
            <a:extLst>
              <a:ext uri="{FF2B5EF4-FFF2-40B4-BE49-F238E27FC236}">
                <a16:creationId xmlns:a16="http://schemas.microsoft.com/office/drawing/2014/main" id="{8D099437-2FE1-F254-C112-D37EA33F283D}"/>
              </a:ext>
            </a:extLst>
          </p:cNvPr>
          <p:cNvSpPr>
            <a:spLocks noGrp="1"/>
          </p:cNvSpPr>
          <p:nvPr>
            <p:ph idx="1"/>
          </p:nvPr>
        </p:nvSpPr>
        <p:spPr>
          <a:xfrm>
            <a:off x="1097280" y="1961534"/>
            <a:ext cx="10058400" cy="3907559"/>
          </a:xfrm>
        </p:spPr>
        <p:txBody>
          <a:bodyPr/>
          <a:lstStyle/>
          <a:p>
            <a:r>
              <a:rPr lang="en-GB" dirty="0"/>
              <a:t>Example No. 2: </a:t>
            </a:r>
            <a:r>
              <a:rPr lang="en-US" dirty="0">
                <a:effectLst/>
                <a:latin typeface="Calibri" panose="020F0502020204030204" pitchFamily="34" charset="0"/>
                <a:ea typeface="Calibri" panose="020F0502020204030204" pitchFamily="34" charset="0"/>
                <a:cs typeface="Times New Roman" panose="02020603050405020304" pitchFamily="18" charset="0"/>
              </a:rPr>
              <a:t>Given the population 1, 1, 1, 3, 4, 5, 6, 6, 6, and 7, find the probability that a random sample of size 36, selected with replacement will yield a sample mean greater than 3.85 but less than 4.5 if the mean is measured to the nearest tenth.</a:t>
            </a:r>
            <a:endParaRPr lang="en-PK"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
        <p:nvSpPr>
          <p:cNvPr id="4" name="Date Placeholder 3">
            <a:extLst>
              <a:ext uri="{FF2B5EF4-FFF2-40B4-BE49-F238E27FC236}">
                <a16:creationId xmlns:a16="http://schemas.microsoft.com/office/drawing/2014/main" id="{74281C97-0B18-1C49-7B47-464BC9F9DC5C}"/>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B5B344B4-10DD-7A78-F714-7C8EA14A020B}"/>
              </a:ext>
            </a:extLst>
          </p:cNvPr>
          <p:cNvSpPr>
            <a:spLocks noGrp="1"/>
          </p:cNvSpPr>
          <p:nvPr>
            <p:ph type="sldNum" sz="quarter" idx="12"/>
          </p:nvPr>
        </p:nvSpPr>
        <p:spPr/>
        <p:txBody>
          <a:bodyPr/>
          <a:lstStyle/>
          <a:p>
            <a:fld id="{834AB335-1227-4A53-9E15-22ED1B97A1F2}" type="slidenum">
              <a:rPr lang="en-PK" smtClean="0"/>
              <a:t>25</a:t>
            </a:fld>
            <a:endParaRPr lang="en-PK"/>
          </a:p>
        </p:txBody>
      </p:sp>
    </p:spTree>
    <p:extLst>
      <p:ext uri="{BB962C8B-B14F-4D97-AF65-F5344CB8AC3E}">
        <p14:creationId xmlns:p14="http://schemas.microsoft.com/office/powerpoint/2010/main" val="2739146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05924-94E2-20CC-DE2D-545B5DC579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82F62-AB35-98C9-6B8B-16A55DABF0B3}"/>
              </a:ext>
            </a:extLst>
          </p:cNvPr>
          <p:cNvSpPr>
            <a:spLocks noGrp="1"/>
          </p:cNvSpPr>
          <p:nvPr>
            <p:ph type="title"/>
          </p:nvPr>
        </p:nvSpPr>
        <p:spPr>
          <a:xfrm>
            <a:off x="876054" y="368708"/>
            <a:ext cx="5775468" cy="1401097"/>
          </a:xfrm>
        </p:spPr>
        <p:txBody>
          <a:bodyPr>
            <a:normAutofit fontScale="90000"/>
          </a:bodyPr>
          <a:lstStyle/>
          <a:p>
            <a:r>
              <a:rPr lang="en-GB" dirty="0"/>
              <a:t>2.1 Sampling Distribution of the Sample Means</a:t>
            </a:r>
            <a:endParaRPr lang="en-PK" dirty="0"/>
          </a:p>
        </p:txBody>
      </p:sp>
      <p:sp>
        <p:nvSpPr>
          <p:cNvPr id="4" name="Date Placeholder 3">
            <a:extLst>
              <a:ext uri="{FF2B5EF4-FFF2-40B4-BE49-F238E27FC236}">
                <a16:creationId xmlns:a16="http://schemas.microsoft.com/office/drawing/2014/main" id="{D03CC4E4-D54C-B93A-3BC6-DEF5E8C2302B}"/>
              </a:ext>
            </a:extLst>
          </p:cNvPr>
          <p:cNvSpPr>
            <a:spLocks noGrp="1"/>
          </p:cNvSpPr>
          <p:nvPr>
            <p:ph type="dt" sz="half" idx="10"/>
          </p:nvPr>
        </p:nvSpPr>
        <p:spPr/>
        <p:txBody>
          <a:bodyPr/>
          <a:lstStyle/>
          <a:p>
            <a:fld id="{0EC9AE81-272B-4231-89E5-C57E73088551}" type="datetime8">
              <a:rPr lang="en-PK" smtClean="0"/>
              <a:t>10/17/2024 09:06</a:t>
            </a:fld>
            <a:endParaRPr lang="en-PK"/>
          </a:p>
        </p:txBody>
      </p:sp>
      <p:sp>
        <p:nvSpPr>
          <p:cNvPr id="5" name="Slide Number Placeholder 4">
            <a:extLst>
              <a:ext uri="{FF2B5EF4-FFF2-40B4-BE49-F238E27FC236}">
                <a16:creationId xmlns:a16="http://schemas.microsoft.com/office/drawing/2014/main" id="{9E798DBD-A107-777F-A113-5E21A73BFB3F}"/>
              </a:ext>
            </a:extLst>
          </p:cNvPr>
          <p:cNvSpPr>
            <a:spLocks noGrp="1"/>
          </p:cNvSpPr>
          <p:nvPr>
            <p:ph type="sldNum" sz="quarter" idx="12"/>
          </p:nvPr>
        </p:nvSpPr>
        <p:spPr/>
        <p:txBody>
          <a:bodyPr/>
          <a:lstStyle/>
          <a:p>
            <a:fld id="{834AB335-1227-4A53-9E15-22ED1B97A1F2}" type="slidenum">
              <a:rPr lang="en-PK" smtClean="0"/>
              <a:t>26</a:t>
            </a:fld>
            <a:endParaRPr lang="en-PK"/>
          </a:p>
        </p:txBody>
      </p:sp>
      <p:graphicFrame>
        <p:nvGraphicFramePr>
          <p:cNvPr id="8" name="Object 7">
            <a:extLst>
              <a:ext uri="{FF2B5EF4-FFF2-40B4-BE49-F238E27FC236}">
                <a16:creationId xmlns:a16="http://schemas.microsoft.com/office/drawing/2014/main" id="{B07FA1B3-4C1D-9E0D-30C4-738EFAD6944B}"/>
              </a:ext>
            </a:extLst>
          </p:cNvPr>
          <p:cNvGraphicFramePr>
            <a:graphicFrameLocks noChangeAspect="1"/>
          </p:cNvGraphicFramePr>
          <p:nvPr>
            <p:extLst>
              <p:ext uri="{D42A27DB-BD31-4B8C-83A1-F6EECF244321}">
                <p14:modId xmlns:p14="http://schemas.microsoft.com/office/powerpoint/2010/main" val="1955769774"/>
              </p:ext>
            </p:extLst>
          </p:nvPr>
        </p:nvGraphicFramePr>
        <p:xfrm>
          <a:off x="7265669" y="191729"/>
          <a:ext cx="4503543" cy="6091084"/>
        </p:xfrm>
        <a:graphic>
          <a:graphicData uri="http://schemas.openxmlformats.org/presentationml/2006/ole">
            <mc:AlternateContent xmlns:mc="http://schemas.openxmlformats.org/markup-compatibility/2006">
              <mc:Choice xmlns:v="urn:schemas-microsoft-com:vml" Requires="v">
                <p:oleObj name="Acrobat Document" r:id="rId2" imgW="5667131" imgH="8019991" progId="Acrobat.Document.DC">
                  <p:embed/>
                </p:oleObj>
              </mc:Choice>
              <mc:Fallback>
                <p:oleObj name="Acrobat Document" r:id="rId2" imgW="5667131" imgH="8019991" progId="Acrobat.Document.DC">
                  <p:embed/>
                  <p:pic>
                    <p:nvPicPr>
                      <p:cNvPr id="0" name=""/>
                      <p:cNvPicPr/>
                      <p:nvPr/>
                    </p:nvPicPr>
                    <p:blipFill>
                      <a:blip r:embed="rId3"/>
                      <a:stretch>
                        <a:fillRect/>
                      </a:stretch>
                    </p:blipFill>
                    <p:spPr>
                      <a:xfrm>
                        <a:off x="7265669" y="191729"/>
                        <a:ext cx="4503543" cy="6091084"/>
                      </a:xfrm>
                      <a:prstGeom prst="rect">
                        <a:avLst/>
                      </a:prstGeom>
                    </p:spPr>
                  </p:pic>
                </p:oleObj>
              </mc:Fallback>
            </mc:AlternateContent>
          </a:graphicData>
        </a:graphic>
      </p:graphicFrame>
    </p:spTree>
    <p:extLst>
      <p:ext uri="{BB962C8B-B14F-4D97-AF65-F5344CB8AC3E}">
        <p14:creationId xmlns:p14="http://schemas.microsoft.com/office/powerpoint/2010/main" val="2625202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p:txBody>
          <a:bodyPr/>
          <a:lstStyle/>
          <a:p>
            <a:r>
              <a:rPr lang="en-GB" dirty="0"/>
              <a:t>2.2 Sampling Distribution of difference between Two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a:xfrm>
                <a:off x="1097280" y="2064774"/>
                <a:ext cx="10058400" cy="3804320"/>
              </a:xfrm>
            </p:spPr>
            <p:txBody>
              <a:bodyPr/>
              <a:lstStyle/>
              <a:p>
                <a:r>
                  <a:rPr lang="en-GB" dirty="0"/>
                  <a:t>The probability distribution of difference between sample means is called the sampling distribution of difference between sample means</a:t>
                </a:r>
              </a:p>
              <a:p>
                <a:r>
                  <a:rPr lang="en-GB" dirty="0"/>
                  <a:t>Mean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𝜇</m:t>
                        </m:r>
                      </m:e>
                      <m:sub>
                        <m:acc>
                          <m:accPr>
                            <m:chr m:val="̅"/>
                            <m:ctrlPr>
                              <a:rPr lang="en-GB" i="1" smtClean="0">
                                <a:latin typeface="Cambria Math" panose="02040503050406030204" pitchFamily="18" charset="0"/>
                              </a:rPr>
                            </m:ctrlPr>
                          </m:accPr>
                          <m:e>
                            <m:sSub>
                              <m:sSubPr>
                                <m:ctrlPr>
                                  <a:rPr lang="en-GB"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acc>
                        <m:r>
                          <a:rPr lang="en-GB" b="0" i="1" smtClean="0">
                            <a:latin typeface="Cambria Math" panose="02040503050406030204" pitchFamily="18" charset="0"/>
                          </a:rPr>
                          <m:t>−</m:t>
                        </m:r>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e>
                        </m:acc>
                      </m:sub>
                    </m:sSub>
                  </m:oMath>
                </a14:m>
                <a:r>
                  <a:rPr lang="en-GB" dirty="0"/>
                  <a:t>) and variance (</a:t>
                </a:r>
                <a14:m>
                  <m:oMath xmlns:m="http://schemas.openxmlformats.org/officeDocument/2006/math">
                    <m:sSubSup>
                      <m:sSubSupPr>
                        <m:ctrlPr>
                          <a:rPr lang="en-GB" i="1" smtClean="0">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up>
                        <m:r>
                          <a:rPr lang="en-GB" b="0" i="1" smtClean="0">
                            <a:latin typeface="Cambria Math" panose="02040503050406030204" pitchFamily="18" charset="0"/>
                            <a:ea typeface="Cambria Math" panose="02040503050406030204" pitchFamily="18" charset="0"/>
                          </a:rPr>
                          <m:t>2</m:t>
                        </m:r>
                      </m:sup>
                    </m:sSubSup>
                  </m:oMath>
                </a14:m>
                <a:r>
                  <a:rPr lang="en-GB" dirty="0"/>
                  <a:t>) of the sampling distribution of difference between sample means can be calculated as:</a:t>
                </a:r>
              </a:p>
              <a:p>
                <a:pPr marL="0" indent="0" algn="ctr">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d>
                            <m:dPr>
                              <m:ctrlPr>
                                <a:rPr lang="en-GB" b="0" i="1" smtClean="0">
                                  <a:latin typeface="Cambria Math" panose="02040503050406030204" pitchFamily="18" charset="0"/>
                                </a:rPr>
                              </m:ctrlPr>
                            </m:dPr>
                            <m:e>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b="0" i="1" smtClean="0">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e>
                              </m:acc>
                            </m:e>
                          </m:d>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𝑓</m:t>
                          </m:r>
                          <m:d>
                            <m:dPr>
                              <m:ctrlPr>
                                <a:rPr lang="en-GB" b="0" i="1" smtClean="0">
                                  <a:latin typeface="Cambria Math" panose="02040503050406030204" pitchFamily="18" charset="0"/>
                                  <a:ea typeface="Cambria Math" panose="02040503050406030204" pitchFamily="18" charset="0"/>
                                </a:rPr>
                              </m:ctrlPr>
                            </m:dPr>
                            <m:e>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e>
                          </m:d>
                        </m:e>
                      </m:nary>
                    </m:oMath>
                  </m:oMathPara>
                </a14:m>
                <a:endParaRPr lang="en-GB" dirty="0"/>
              </a:p>
              <a:p>
                <a:pPr marL="0" indent="0" algn="ctr">
                  <a:buNone/>
                </a:pPr>
                <a14:m>
                  <m:oMathPara xmlns:m="http://schemas.openxmlformats.org/officeDocument/2006/math">
                    <m:oMathParaPr>
                      <m:jc m:val="centerGroup"/>
                    </m:oMathParaPr>
                    <m:oMath xmlns:m="http://schemas.openxmlformats.org/officeDocument/2006/math">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up>
                          <m:r>
                            <a:rPr lang="en-GB" i="1">
                              <a:latin typeface="Cambria Math" panose="02040503050406030204" pitchFamily="18" charset="0"/>
                              <a:ea typeface="Cambria Math" panose="02040503050406030204" pitchFamily="18" charset="0"/>
                            </a:rPr>
                            <m:t>2</m:t>
                          </m:r>
                        </m:sup>
                      </m:sSubSup>
                      <m:r>
                        <a:rPr lang="en-GB" b="0" i="1" smtClean="0">
                          <a:latin typeface="Cambria Math" panose="02040503050406030204" pitchFamily="18" charset="0"/>
                        </a:rPr>
                        <m:t>= </m:t>
                      </m:r>
                      <m:nary>
                        <m:naryPr>
                          <m:chr m:val="∑"/>
                          <m:subHide m:val="on"/>
                          <m:supHide m:val="on"/>
                          <m:ctrlPr>
                            <a:rPr lang="en-GB" b="0" i="1" smtClean="0">
                              <a:latin typeface="Cambria Math" panose="02040503050406030204" pitchFamily="18" charset="0"/>
                            </a:rPr>
                          </m:ctrlPr>
                        </m:naryPr>
                        <m:sub/>
                        <m:sup/>
                        <m:e>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d>
                                    <m:dPr>
                                      <m:ctrlPr>
                                        <a:rPr lang="en-GB" i="1">
                                          <a:latin typeface="Cambria Math" panose="02040503050406030204" pitchFamily="18" charset="0"/>
                                        </a:rPr>
                                      </m:ctrlPr>
                                    </m:dPr>
                                    <m:e>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e>
                              </m:d>
                            </m:e>
                            <m:sup>
                              <m:r>
                                <a:rPr lang="en-GB" b="0" i="1" smtClean="0">
                                  <a:latin typeface="Cambria Math" panose="02040503050406030204" pitchFamily="18" charset="0"/>
                                </a:rPr>
                                <m:t>2</m:t>
                              </m:r>
                            </m:sup>
                          </m:sSup>
                          <m:r>
                            <a:rPr lang="en-GB"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𝑓</m:t>
                          </m:r>
                          <m:d>
                            <m:dPr>
                              <m:ctrlPr>
                                <a:rPr lang="en-GB" i="1">
                                  <a:latin typeface="Cambria Math" panose="02040503050406030204" pitchFamily="18" charset="0"/>
                                  <a:ea typeface="Cambria Math" panose="02040503050406030204" pitchFamily="18" charset="0"/>
                                </a:rPr>
                              </m:ctrlPr>
                            </m:dPr>
                            <m:e>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e>
                          </m:d>
                        </m:e>
                      </m:nary>
                    </m:oMath>
                  </m:oMathPara>
                </a14:m>
                <a:endParaRPr lang="en-GB" dirty="0"/>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xfrm>
                <a:off x="1097280" y="2064774"/>
                <a:ext cx="10058400" cy="3804320"/>
              </a:xfrm>
              <a:blipFill>
                <a:blip r:embed="rId2"/>
                <a:stretch>
                  <a:fillRect l="-606" t="-1763" r="-970"/>
                </a:stretch>
              </a:blipFill>
            </p:spPr>
            <p:txBody>
              <a:bodyPr/>
              <a:lstStyle/>
              <a:p>
                <a:r>
                  <a:rPr lang="LID4096">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27</a:t>
            </a:fld>
            <a:endParaRPr lang="en-PK"/>
          </a:p>
        </p:txBody>
      </p:sp>
    </p:spTree>
    <p:extLst>
      <p:ext uri="{BB962C8B-B14F-4D97-AF65-F5344CB8AC3E}">
        <p14:creationId xmlns:p14="http://schemas.microsoft.com/office/powerpoint/2010/main" val="2219043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p:txBody>
          <a:bodyPr/>
          <a:lstStyle/>
          <a:p>
            <a:r>
              <a:rPr lang="en-GB" dirty="0"/>
              <a:t>2.2 Sampling Distribution of difference between Two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lstStyle/>
              <a:p>
                <a:r>
                  <a:rPr lang="en-GB" dirty="0"/>
                  <a:t>Properties of sampling distribution of difference between means</a:t>
                </a:r>
              </a:p>
              <a:p>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2</m:t>
                        </m:r>
                      </m:sub>
                    </m:sSub>
                  </m:oMath>
                </a14:m>
                <a:endParaRPr lang="en-GB" dirty="0"/>
              </a:p>
              <a:p>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f>
                          <m:fPr>
                            <m:ctrlPr>
                              <a:rPr lang="en-GB" b="0" i="1" smtClean="0">
                                <a:latin typeface="Cambria Math" panose="02040503050406030204" pitchFamily="18" charset="0"/>
                              </a:rPr>
                            </m:ctrlPr>
                          </m:fPr>
                          <m:num>
                            <m:sSubSup>
                              <m:sSubSupPr>
                                <m:ctrlPr>
                                  <a:rPr lang="en-GB" b="0" i="1" smtClean="0">
                                    <a:latin typeface="Cambria Math" panose="02040503050406030204" pitchFamily="18" charset="0"/>
                                  </a:rPr>
                                </m:ctrlPr>
                              </m:sSubSupPr>
                              <m:e>
                                <m:r>
                                  <a:rPr lang="en-GB" b="0" i="1" smtClean="0">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1</m:t>
                                </m:r>
                              </m:sub>
                              <m:sup>
                                <m:r>
                                  <a:rPr lang="en-GB" b="0" i="1" smtClean="0">
                                    <a:latin typeface="Cambria Math" panose="02040503050406030204" pitchFamily="18" charset="0"/>
                                  </a:rPr>
                                  <m:t>2</m:t>
                                </m:r>
                              </m:sup>
                            </m:sSubSup>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𝑛</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b="0" i="1" smtClean="0">
                                    <a:latin typeface="Cambria Math" panose="02040503050406030204" pitchFamily="18" charset="0"/>
                                  </a:rPr>
                                  <m:t>2</m:t>
                                </m:r>
                              </m:sub>
                            </m:sSub>
                          </m:den>
                        </m:f>
                      </m:e>
                    </m:rad>
                  </m:oMath>
                </a14:m>
                <a:endParaRPr lang="en-GB" dirty="0"/>
              </a:p>
              <a:p>
                <a:endParaRPr lang="en-GB" dirty="0"/>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PK">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28</a:t>
            </a:fld>
            <a:endParaRPr lang="en-PK"/>
          </a:p>
        </p:txBody>
      </p:sp>
    </p:spTree>
    <p:extLst>
      <p:ext uri="{BB962C8B-B14F-4D97-AF65-F5344CB8AC3E}">
        <p14:creationId xmlns:p14="http://schemas.microsoft.com/office/powerpoint/2010/main" val="19555379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D38DB-31F0-534F-205C-09B12B61B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2BF37-17FB-36A6-8AE2-887179E48299}"/>
              </a:ext>
            </a:extLst>
          </p:cNvPr>
          <p:cNvSpPr>
            <a:spLocks noGrp="1"/>
          </p:cNvSpPr>
          <p:nvPr>
            <p:ph type="title"/>
          </p:nvPr>
        </p:nvSpPr>
        <p:spPr>
          <a:xfrm>
            <a:off x="593326" y="825010"/>
            <a:ext cx="5952449" cy="1450757"/>
          </a:xfrm>
        </p:spPr>
        <p:txBody>
          <a:bodyPr>
            <a:normAutofit fontScale="90000"/>
          </a:bodyPr>
          <a:lstStyle/>
          <a:p>
            <a:r>
              <a:rPr lang="en-GB" dirty="0"/>
              <a:t>2.2 Sampling Distribution of difference between Two Sample Means</a:t>
            </a:r>
            <a:endParaRPr lang="en-PK" dirty="0"/>
          </a:p>
        </p:txBody>
      </p:sp>
      <p:sp>
        <p:nvSpPr>
          <p:cNvPr id="4" name="Date Placeholder 3">
            <a:extLst>
              <a:ext uri="{FF2B5EF4-FFF2-40B4-BE49-F238E27FC236}">
                <a16:creationId xmlns:a16="http://schemas.microsoft.com/office/drawing/2014/main" id="{FEB43959-E4BA-C26E-C3EF-2F9F8EE8622C}"/>
              </a:ext>
            </a:extLst>
          </p:cNvPr>
          <p:cNvSpPr>
            <a:spLocks noGrp="1"/>
          </p:cNvSpPr>
          <p:nvPr>
            <p:ph type="dt" sz="half" idx="10"/>
          </p:nvPr>
        </p:nvSpPr>
        <p:spPr/>
        <p:txBody>
          <a:bodyPr/>
          <a:lstStyle/>
          <a:p>
            <a:fld id="{0EC9AE81-272B-4231-89E5-C57E73088551}" type="datetime8">
              <a:rPr lang="en-PK" smtClean="0"/>
              <a:t>10/17/2024 09:53</a:t>
            </a:fld>
            <a:endParaRPr lang="en-PK"/>
          </a:p>
        </p:txBody>
      </p:sp>
      <p:sp>
        <p:nvSpPr>
          <p:cNvPr id="5" name="Slide Number Placeholder 4">
            <a:extLst>
              <a:ext uri="{FF2B5EF4-FFF2-40B4-BE49-F238E27FC236}">
                <a16:creationId xmlns:a16="http://schemas.microsoft.com/office/drawing/2014/main" id="{22CB900C-8596-2423-CDE9-EB9AEBC6C4EE}"/>
              </a:ext>
            </a:extLst>
          </p:cNvPr>
          <p:cNvSpPr>
            <a:spLocks noGrp="1"/>
          </p:cNvSpPr>
          <p:nvPr>
            <p:ph type="sldNum" sz="quarter" idx="12"/>
          </p:nvPr>
        </p:nvSpPr>
        <p:spPr/>
        <p:txBody>
          <a:bodyPr/>
          <a:lstStyle/>
          <a:p>
            <a:fld id="{834AB335-1227-4A53-9E15-22ED1B97A1F2}" type="slidenum">
              <a:rPr lang="en-PK" smtClean="0"/>
              <a:t>29</a:t>
            </a:fld>
            <a:endParaRPr lang="en-PK"/>
          </a:p>
        </p:txBody>
      </p:sp>
      <p:pic>
        <p:nvPicPr>
          <p:cNvPr id="9" name="Picture 8" descr="A sheet of paper with numbers and a triangle&#10;&#10;Description automatically generated">
            <a:extLst>
              <a:ext uri="{FF2B5EF4-FFF2-40B4-BE49-F238E27FC236}">
                <a16:creationId xmlns:a16="http://schemas.microsoft.com/office/drawing/2014/main" id="{A0D587DA-BE9C-DF7B-4BD7-DDCC5A290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820" y="235075"/>
            <a:ext cx="4157663" cy="6032990"/>
          </a:xfrm>
          <a:prstGeom prst="rect">
            <a:avLst/>
          </a:prstGeom>
        </p:spPr>
      </p:pic>
    </p:spTree>
    <p:extLst>
      <p:ext uri="{BB962C8B-B14F-4D97-AF65-F5344CB8AC3E}">
        <p14:creationId xmlns:p14="http://schemas.microsoft.com/office/powerpoint/2010/main" val="4124955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1847F-0B9F-B008-C961-806411BE5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C6D95-C4EE-B4F3-111B-00117A77A126}"/>
              </a:ext>
            </a:extLst>
          </p:cNvPr>
          <p:cNvSpPr>
            <a:spLocks noGrp="1"/>
          </p:cNvSpPr>
          <p:nvPr>
            <p:ph type="title"/>
          </p:nvPr>
        </p:nvSpPr>
        <p:spPr>
          <a:xfrm>
            <a:off x="305733" y="988906"/>
            <a:ext cx="6527636" cy="1450757"/>
          </a:xfrm>
        </p:spPr>
        <p:txBody>
          <a:bodyPr>
            <a:normAutofit fontScale="90000"/>
          </a:bodyPr>
          <a:lstStyle/>
          <a:p>
            <a:r>
              <a:rPr lang="en-GB" dirty="0"/>
              <a:t>2.2 Sampling Distribution of difference between Two Sample Means</a:t>
            </a:r>
            <a:endParaRPr lang="en-PK" dirty="0"/>
          </a:p>
        </p:txBody>
      </p:sp>
      <p:sp>
        <p:nvSpPr>
          <p:cNvPr id="4" name="Date Placeholder 3">
            <a:extLst>
              <a:ext uri="{FF2B5EF4-FFF2-40B4-BE49-F238E27FC236}">
                <a16:creationId xmlns:a16="http://schemas.microsoft.com/office/drawing/2014/main" id="{EB296763-1FB5-0D3B-9E34-54DCEBD03286}"/>
              </a:ext>
            </a:extLst>
          </p:cNvPr>
          <p:cNvSpPr>
            <a:spLocks noGrp="1"/>
          </p:cNvSpPr>
          <p:nvPr>
            <p:ph type="dt" sz="half" idx="10"/>
          </p:nvPr>
        </p:nvSpPr>
        <p:spPr/>
        <p:txBody>
          <a:bodyPr/>
          <a:lstStyle/>
          <a:p>
            <a:fld id="{0EC9AE81-272B-4231-89E5-C57E73088551}" type="datetime8">
              <a:rPr lang="en-PK" smtClean="0"/>
              <a:t>10/17/2024 09:53</a:t>
            </a:fld>
            <a:endParaRPr lang="en-PK"/>
          </a:p>
        </p:txBody>
      </p:sp>
      <p:sp>
        <p:nvSpPr>
          <p:cNvPr id="5" name="Slide Number Placeholder 4">
            <a:extLst>
              <a:ext uri="{FF2B5EF4-FFF2-40B4-BE49-F238E27FC236}">
                <a16:creationId xmlns:a16="http://schemas.microsoft.com/office/drawing/2014/main" id="{FB2B53B1-E11F-B3A5-BC3C-9F505F53ED9A}"/>
              </a:ext>
            </a:extLst>
          </p:cNvPr>
          <p:cNvSpPr>
            <a:spLocks noGrp="1"/>
          </p:cNvSpPr>
          <p:nvPr>
            <p:ph type="sldNum" sz="quarter" idx="12"/>
          </p:nvPr>
        </p:nvSpPr>
        <p:spPr/>
        <p:txBody>
          <a:bodyPr/>
          <a:lstStyle/>
          <a:p>
            <a:fld id="{834AB335-1227-4A53-9E15-22ED1B97A1F2}" type="slidenum">
              <a:rPr lang="en-PK" smtClean="0"/>
              <a:t>30</a:t>
            </a:fld>
            <a:endParaRPr lang="en-PK"/>
          </a:p>
        </p:txBody>
      </p:sp>
      <p:pic>
        <p:nvPicPr>
          <p:cNvPr id="9" name="Picture 8" descr="A white paper with writing on it&#10;&#10;Description automatically generated">
            <a:extLst>
              <a:ext uri="{FF2B5EF4-FFF2-40B4-BE49-F238E27FC236}">
                <a16:creationId xmlns:a16="http://schemas.microsoft.com/office/drawing/2014/main" id="{2D591E87-CE8A-6F92-DC92-4BA368E57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8405" y="48602"/>
            <a:ext cx="4511278" cy="6175981"/>
          </a:xfrm>
          <a:prstGeom prst="rect">
            <a:avLst/>
          </a:prstGeom>
        </p:spPr>
      </p:pic>
    </p:spTree>
    <p:extLst>
      <p:ext uri="{BB962C8B-B14F-4D97-AF65-F5344CB8AC3E}">
        <p14:creationId xmlns:p14="http://schemas.microsoft.com/office/powerpoint/2010/main" val="160229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D87A-2FC6-2517-4B28-B1148F2EECBA}"/>
              </a:ext>
            </a:extLst>
          </p:cNvPr>
          <p:cNvSpPr>
            <a:spLocks noGrp="1"/>
          </p:cNvSpPr>
          <p:nvPr>
            <p:ph type="title"/>
          </p:nvPr>
        </p:nvSpPr>
        <p:spPr/>
        <p:txBody>
          <a:bodyPr/>
          <a:lstStyle/>
          <a:p>
            <a:r>
              <a:rPr lang="en-GB" dirty="0"/>
              <a:t>2.2 Sampling Distribution of difference between sample means</a:t>
            </a:r>
            <a:endParaRPr lang="en-P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DC078A-EE97-B991-F984-ECE254340612}"/>
                  </a:ext>
                </a:extLst>
              </p:cNvPr>
              <p:cNvSpPr>
                <a:spLocks noGrp="1"/>
              </p:cNvSpPr>
              <p:nvPr>
                <p:ph idx="1"/>
              </p:nvPr>
            </p:nvSpPr>
            <p:spPr/>
            <p:txBody>
              <a:bodyPr>
                <a:normAutofit fontScale="92500" lnSpcReduction="10000"/>
              </a:bodyPr>
              <a:lstStyle/>
              <a:p>
                <a:pPr marL="0" indent="0">
                  <a:buNone/>
                </a:pPr>
                <a:r>
                  <a:rPr lang="en-GB" b="1" dirty="0"/>
                  <a:t>Theorem: </a:t>
                </a:r>
                <a:r>
                  <a:rPr lang="en-GB" dirty="0"/>
                  <a:t>If independent samples of size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1</m:t>
                        </m:r>
                      </m:sub>
                    </m:sSub>
                  </m:oMath>
                </a14:m>
                <a:r>
                  <a:rPr lang="en-GB" dirty="0"/>
                  <a:t> and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oMath>
                </a14:m>
                <a:r>
                  <a:rPr lang="en-GB" dirty="0"/>
                  <a:t> are drawn from two large or infinite populations, discrete or continuous, with means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1</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1</m:t>
                        </m:r>
                      </m:sub>
                    </m:sSub>
                  </m:oMath>
                </a14:m>
                <a:r>
                  <a:rPr lang="en-GB" dirty="0"/>
                  <a:t> and variances </a:t>
                </a:r>
                <a14:m>
                  <m:oMath xmlns:m="http://schemas.openxmlformats.org/officeDocument/2006/math">
                    <m:sSub>
                      <m:sSubPr>
                        <m:ctrlPr>
                          <a:rPr lang="en-GB" i="1">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2</m:t>
                        </m:r>
                      </m:sub>
                    </m:sSub>
                    <m:r>
                      <a:rPr lang="en-GB" b="0" i="0" smtClean="0">
                        <a:latin typeface="Cambria Math" panose="02040503050406030204" pitchFamily="18" charset="0"/>
                      </a:rPr>
                      <m:t>,</m:t>
                    </m:r>
                  </m:oMath>
                </a14:m>
                <a:r>
                  <a:rPr lang="en-GB" dirty="0"/>
                  <a:t> respectively, then the sampling distribution of the difference of means, </a:t>
                </a:r>
                <a14:m>
                  <m:oMath xmlns:m="http://schemas.openxmlformats.org/officeDocument/2006/math">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b="0" i="1" smtClean="0">
                                <a:latin typeface="Cambria Math" panose="02040503050406030204" pitchFamily="18" charset="0"/>
                              </a:rPr>
                              <m:t>𝑋</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b="0" i="1" smtClean="0">
                                <a:latin typeface="Cambria Math" panose="02040503050406030204" pitchFamily="18" charset="0"/>
                              </a:rPr>
                              <m:t>𝑋</m:t>
                            </m:r>
                          </m:e>
                          <m:sub>
                            <m:r>
                              <a:rPr lang="en-GB" i="1">
                                <a:latin typeface="Cambria Math" panose="02040503050406030204" pitchFamily="18" charset="0"/>
                              </a:rPr>
                              <m:t>2</m:t>
                            </m:r>
                          </m:sub>
                        </m:sSub>
                      </m:e>
                    </m:acc>
                  </m:oMath>
                </a14:m>
                <a:r>
                  <a:rPr lang="en-GB" dirty="0"/>
                  <a:t> is approximately normally distributed with mean and standard deviation given by</a:t>
                </a:r>
              </a:p>
              <a:p>
                <a:pPr marL="0" indent="0" algn="ctr">
                  <a:buNone/>
                </a:pPr>
                <a14:m>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2</m:t>
                        </m:r>
                      </m:sub>
                    </m:sSub>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𝜎</m:t>
                        </m:r>
                      </m:e>
                      <m:sub>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sub>
                    </m:sSub>
                    <m:r>
                      <a:rPr lang="en-GB" i="1">
                        <a:latin typeface="Cambria Math" panose="02040503050406030204" pitchFamily="18" charset="0"/>
                      </a:rPr>
                      <m:t>=</m:t>
                    </m:r>
                    <m:rad>
                      <m:radPr>
                        <m:degHide m:val="on"/>
                        <m:ctrlPr>
                          <a:rPr lang="en-GB" i="1">
                            <a:latin typeface="Cambria Math" panose="02040503050406030204" pitchFamily="18" charset="0"/>
                          </a:rPr>
                        </m:ctrlPr>
                      </m:radPr>
                      <m:deg/>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den>
                        </m:f>
                      </m:e>
                    </m:rad>
                  </m:oMath>
                </a14:m>
                <a:endParaRPr lang="en-GB" dirty="0"/>
              </a:p>
              <a:p>
                <a:pPr marL="0" indent="0">
                  <a:buNone/>
                </a:pPr>
                <a:r>
                  <a:rPr lang="en-GB" dirty="0"/>
                  <a:t>Hence,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𝑧</m:t>
                      </m:r>
                      <m:r>
                        <a:rPr lang="en-GB" b="0" i="1" smtClean="0">
                          <a:latin typeface="Cambria Math" panose="02040503050406030204" pitchFamily="18" charset="0"/>
                        </a:rPr>
                        <m:t>=</m:t>
                      </m:r>
                      <m:f>
                        <m:fPr>
                          <m:ctrlPr>
                            <a:rPr lang="en-GB" b="0" i="1" smtClean="0">
                              <a:latin typeface="Cambria Math" panose="02040503050406030204" pitchFamily="18" charset="0"/>
                            </a:rPr>
                          </m:ctrlPr>
                        </m:fPr>
                        <m:num>
                          <m:d>
                            <m:dPr>
                              <m:ctrlPr>
                                <a:rPr lang="en-GB" b="0" i="1" smtClean="0">
                                  <a:latin typeface="Cambria Math" panose="02040503050406030204" pitchFamily="18" charset="0"/>
                                </a:rPr>
                              </m:ctrlPr>
                            </m:dPr>
                            <m:e>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acc>
                              <m:r>
                                <a:rPr lang="en-GB" i="1">
                                  <a:latin typeface="Cambria Math" panose="02040503050406030204" pitchFamily="18" charset="0"/>
                                </a:rPr>
                                <m:t>−</m:t>
                              </m:r>
                              <m:acc>
                                <m:accPr>
                                  <m:chr m:val="̅"/>
                                  <m:ctrlPr>
                                    <a:rPr lang="en-GB" i="1">
                                      <a:latin typeface="Cambria Math" panose="02040503050406030204" pitchFamily="18" charset="0"/>
                                    </a:rPr>
                                  </m:ctrlPr>
                                </m:acc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e>
                              </m:acc>
                            </m:e>
                          </m:d>
                          <m:r>
                            <a:rPr lang="en-GB" b="0" i="1" smtClean="0">
                              <a:latin typeface="Cambria Math" panose="02040503050406030204" pitchFamily="18" charset="0"/>
                            </a:rPr>
                            <m:t>−</m:t>
                          </m:r>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2</m:t>
                                  </m:r>
                                </m:sub>
                              </m:sSub>
                            </m:e>
                          </m:d>
                        </m:num>
                        <m:den>
                          <m:rad>
                            <m:radPr>
                              <m:degHide m:val="on"/>
                              <m:ctrlPr>
                                <a:rPr lang="en-GB" i="1">
                                  <a:latin typeface="Cambria Math" panose="02040503050406030204" pitchFamily="18" charset="0"/>
                                </a:rPr>
                              </m:ctrlPr>
                            </m:radPr>
                            <m:deg/>
                            <m:e>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2</m:t>
                                      </m:r>
                                    </m:sub>
                                    <m:sup>
                                      <m:r>
                                        <a:rPr lang="en-GB" i="1">
                                          <a:latin typeface="Cambria Math" panose="02040503050406030204" pitchFamily="18" charset="0"/>
                                        </a:rPr>
                                        <m:t>2</m:t>
                                      </m:r>
                                    </m:sup>
                                  </m:sSubSup>
                                </m:num>
                                <m:den>
                                  <m:sSub>
                                    <m:sSubPr>
                                      <m:ctrlPr>
                                        <a:rPr lang="en-GB" i="1">
                                          <a:latin typeface="Cambria Math" panose="02040503050406030204" pitchFamily="18" charset="0"/>
                                        </a:rPr>
                                      </m:ctrlPr>
                                    </m:sSubPr>
                                    <m:e>
                                      <m:r>
                                        <a:rPr lang="en-GB" i="1">
                                          <a:latin typeface="Cambria Math" panose="02040503050406030204" pitchFamily="18" charset="0"/>
                                        </a:rPr>
                                        <m:t>𝑛</m:t>
                                      </m:r>
                                    </m:e>
                                    <m:sub>
                                      <m:r>
                                        <a:rPr lang="en-GB" i="1">
                                          <a:latin typeface="Cambria Math" panose="02040503050406030204" pitchFamily="18" charset="0"/>
                                        </a:rPr>
                                        <m:t>2</m:t>
                                      </m:r>
                                    </m:sub>
                                  </m:sSub>
                                </m:den>
                              </m:f>
                            </m:e>
                          </m:rad>
                        </m:den>
                      </m:f>
                    </m:oMath>
                  </m:oMathPara>
                </a14:m>
                <a:endParaRPr lang="en-GB" dirty="0"/>
              </a:p>
              <a:p>
                <a:pPr marL="0" indent="0">
                  <a:buNone/>
                </a:pPr>
                <a:r>
                  <a:rPr lang="en-GB" dirty="0"/>
                  <a:t>    </a:t>
                </a:r>
              </a:p>
              <a:p>
                <a:pPr marL="0" indent="0">
                  <a:buNone/>
                </a:pPr>
                <a:r>
                  <a:rPr lang="en-GB" dirty="0"/>
                  <a:t>is a value of a standard normal variable Z.</a:t>
                </a:r>
              </a:p>
            </p:txBody>
          </p:sp>
        </mc:Choice>
        <mc:Fallback xmlns="">
          <p:sp>
            <p:nvSpPr>
              <p:cNvPr id="3" name="Content Placeholder 2">
                <a:extLst>
                  <a:ext uri="{FF2B5EF4-FFF2-40B4-BE49-F238E27FC236}">
                    <a16:creationId xmlns:a16="http://schemas.microsoft.com/office/drawing/2014/main" id="{3DDC078A-EE97-B991-F984-ECE254340612}"/>
                  </a:ext>
                </a:extLst>
              </p:cNvPr>
              <p:cNvSpPr>
                <a:spLocks noGrp="1" noRot="1" noChangeAspect="1" noMove="1" noResize="1" noEditPoints="1" noAdjustHandles="1" noChangeArrowheads="1" noChangeShapeType="1" noTextEdit="1"/>
              </p:cNvSpPr>
              <p:nvPr>
                <p:ph idx="1"/>
              </p:nvPr>
            </p:nvSpPr>
            <p:spPr>
              <a:blipFill>
                <a:blip r:embed="rId2"/>
                <a:stretch>
                  <a:fillRect l="-1455" t="-1970" r="-1333" b="-1970"/>
                </a:stretch>
              </a:blipFill>
            </p:spPr>
            <p:txBody>
              <a:bodyPr/>
              <a:lstStyle/>
              <a:p>
                <a:r>
                  <a:rPr lang="LID4096">
                    <a:noFill/>
                  </a:rPr>
                  <a:t> </a:t>
                </a:r>
              </a:p>
            </p:txBody>
          </p:sp>
        </mc:Fallback>
      </mc:AlternateContent>
      <p:sp>
        <p:nvSpPr>
          <p:cNvPr id="4" name="Date Placeholder 3">
            <a:extLst>
              <a:ext uri="{FF2B5EF4-FFF2-40B4-BE49-F238E27FC236}">
                <a16:creationId xmlns:a16="http://schemas.microsoft.com/office/drawing/2014/main" id="{B79D938A-484E-CACA-3237-59A0804F2198}"/>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11E81FA5-286E-B04D-62F1-F7990323AB7C}"/>
              </a:ext>
            </a:extLst>
          </p:cNvPr>
          <p:cNvSpPr>
            <a:spLocks noGrp="1"/>
          </p:cNvSpPr>
          <p:nvPr>
            <p:ph type="sldNum" sz="quarter" idx="12"/>
          </p:nvPr>
        </p:nvSpPr>
        <p:spPr/>
        <p:txBody>
          <a:bodyPr/>
          <a:lstStyle/>
          <a:p>
            <a:fld id="{834AB335-1227-4A53-9E15-22ED1B97A1F2}" type="slidenum">
              <a:rPr lang="en-PK" smtClean="0"/>
              <a:t>31</a:t>
            </a:fld>
            <a:endParaRPr lang="en-PK"/>
          </a:p>
        </p:txBody>
      </p:sp>
    </p:spTree>
    <p:extLst>
      <p:ext uri="{BB962C8B-B14F-4D97-AF65-F5344CB8AC3E}">
        <p14:creationId xmlns:p14="http://schemas.microsoft.com/office/powerpoint/2010/main" val="1974539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C20C6-6840-2EA3-30A8-D4A8CE6A0EB9}"/>
              </a:ext>
            </a:extLst>
          </p:cNvPr>
          <p:cNvSpPr>
            <a:spLocks noGrp="1"/>
          </p:cNvSpPr>
          <p:nvPr>
            <p:ph type="title"/>
          </p:nvPr>
        </p:nvSpPr>
        <p:spPr/>
        <p:txBody>
          <a:bodyPr/>
          <a:lstStyle/>
          <a:p>
            <a:r>
              <a:rPr lang="en-GB" dirty="0"/>
              <a:t>2.1 2.1 Sampling Distribution of difference between Two Sample Means</a:t>
            </a:r>
            <a:endParaRPr lang="en-PK"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D099437-2FE1-F254-C112-D37EA33F283D}"/>
                  </a:ext>
                </a:extLst>
              </p:cNvPr>
              <p:cNvSpPr>
                <a:spLocks noGrp="1"/>
              </p:cNvSpPr>
              <p:nvPr>
                <p:ph idx="1"/>
              </p:nvPr>
            </p:nvSpPr>
            <p:spPr/>
            <p:txBody>
              <a:bodyPr/>
              <a:lstStyle/>
              <a:p>
                <a:r>
                  <a:rPr lang="en-GB" b="1" dirty="0"/>
                  <a:t>Example No. 3: </a:t>
                </a:r>
                <a:r>
                  <a:rPr lang="en-GB" dirty="0">
                    <a:effectLst/>
                    <a:latin typeface="Calibri" panose="020F0502020204030204" pitchFamily="34" charset="0"/>
                    <a:ea typeface="Calibri" panose="020F0502020204030204" pitchFamily="34" charset="0"/>
                    <a:cs typeface="Times New Roman" panose="02020603050405020304" pitchFamily="18" charset="0"/>
                  </a:rPr>
                  <a:t>A sample of size </a:t>
                </a:r>
                <a14:m>
                  <m:oMath xmlns:m="http://schemas.openxmlformats.org/officeDocument/2006/math">
                    <m:sSub>
                      <m:sSubPr>
                        <m:ctrlPr>
                          <a:rPr lang="en-GB" i="1" dirty="0" smtClean="0">
                            <a:latin typeface="Cambria Math" panose="02040503050406030204" pitchFamily="18" charset="0"/>
                          </a:rPr>
                        </m:ctrlPr>
                      </m:sSubPr>
                      <m:e>
                        <m:r>
                          <a:rPr lang="en-GB" b="0" i="1" dirty="0" smtClean="0">
                            <a:latin typeface="Cambria Math" panose="02040503050406030204" pitchFamily="18" charset="0"/>
                          </a:rPr>
                          <m:t>𝑛</m:t>
                        </m:r>
                      </m:e>
                      <m:sub>
                        <m:r>
                          <a:rPr lang="en-GB" b="0" i="1" dirty="0" smtClean="0">
                            <a:latin typeface="Cambria Math" panose="02040503050406030204" pitchFamily="18" charset="0"/>
                          </a:rPr>
                          <m:t>1</m:t>
                        </m:r>
                      </m:sub>
                    </m:sSub>
                  </m:oMath>
                </a14:m>
                <a:r>
                  <a:rPr lang="en-GB" dirty="0">
                    <a:effectLst/>
                    <a:latin typeface="Calibri" panose="020F0502020204030204" pitchFamily="34" charset="0"/>
                    <a:ea typeface="Calibri" panose="020F0502020204030204" pitchFamily="34" charset="0"/>
                    <a:cs typeface="Times New Roman" panose="02020603050405020304" pitchFamily="18" charset="0"/>
                  </a:rPr>
                  <a:t>=5 is drawn at random from a population that is normally distributed with mean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i="1">
                            <a:latin typeface="Cambria Math" panose="02040503050406030204" pitchFamily="18" charset="0"/>
                          </a:rPr>
                          <m:t>1</m:t>
                        </m:r>
                      </m:sub>
                    </m:sSub>
                    <m:r>
                      <a:rPr lang="en-GB" b="0" i="0" smtClean="0">
                        <a:latin typeface="Cambria Math" panose="02040503050406030204" pitchFamily="18" charset="0"/>
                      </a:rPr>
                      <m:t>=50</m:t>
                    </m:r>
                  </m:oMath>
                </a14:m>
                <a:r>
                  <a:rPr lang="en-GB" dirty="0">
                    <a:effectLst/>
                    <a:latin typeface="Calibri" panose="020F0502020204030204" pitchFamily="34" charset="0"/>
                    <a:ea typeface="Calibri" panose="020F0502020204030204" pitchFamily="34" charset="0"/>
                    <a:cs typeface="Times New Roman" panose="02020603050405020304" pitchFamily="18" charset="0"/>
                  </a:rPr>
                  <a:t> and variance </a:t>
                </a:r>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i="1">
                            <a:latin typeface="Cambria Math" panose="02040503050406030204" pitchFamily="18" charset="0"/>
                          </a:rPr>
                          <m:t>1</m:t>
                        </m:r>
                      </m:sub>
                      <m:sup>
                        <m:r>
                          <a:rPr lang="en-GB" i="1">
                            <a:latin typeface="Cambria Math" panose="02040503050406030204" pitchFamily="18" charset="0"/>
                          </a:rPr>
                          <m:t>2</m:t>
                        </m:r>
                      </m:sup>
                    </m:sSubSup>
                    <m:r>
                      <a:rPr lang="en-GB" b="0" i="0" smtClean="0">
                        <a:latin typeface="Cambria Math" panose="02040503050406030204" pitchFamily="18" charset="0"/>
                      </a:rPr>
                      <m:t>=9</m:t>
                    </m:r>
                  </m:oMath>
                </a14:m>
                <a:r>
                  <a:rPr lang="en-GB" dirty="0">
                    <a:effectLst/>
                    <a:latin typeface="Calibri" panose="020F0502020204030204" pitchFamily="34" charset="0"/>
                    <a:ea typeface="Calibri" panose="020F0502020204030204" pitchFamily="34" charset="0"/>
                    <a:cs typeface="Times New Roman" panose="02020603050405020304" pitchFamily="18" charset="0"/>
                  </a:rPr>
                  <a:t>, and the sample mean is recorded. A second sample of size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𝑛</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=4</m:t>
                    </m:r>
                  </m:oMath>
                </a14:m>
                <a:r>
                  <a:rPr lang="en-GB" dirty="0">
                    <a:effectLst/>
                    <a:latin typeface="Calibri" panose="020F0502020204030204" pitchFamily="34" charset="0"/>
                    <a:ea typeface="Calibri" panose="020F0502020204030204" pitchFamily="34" charset="0"/>
                    <a:cs typeface="Times New Roman" panose="02020603050405020304" pitchFamily="18" charset="0"/>
                  </a:rPr>
                  <a:t> is selected, independent of the first sample, from a different population that is also normally distributed with mean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GB" b="0" i="1" smtClean="0">
                            <a:latin typeface="Cambria Math" panose="02040503050406030204" pitchFamily="18" charset="0"/>
                          </a:rPr>
                          <m:t>2</m:t>
                        </m:r>
                      </m:sub>
                    </m:sSub>
                    <m:r>
                      <a:rPr lang="en-GB">
                        <a:latin typeface="Cambria Math" panose="02040503050406030204" pitchFamily="18" charset="0"/>
                      </a:rPr>
                      <m:t>=</m:t>
                    </m:r>
                    <m:r>
                      <a:rPr lang="en-GB" b="0" i="0" smtClean="0">
                        <a:latin typeface="Cambria Math" panose="02040503050406030204" pitchFamily="18" charset="0"/>
                      </a:rPr>
                      <m:t>4</m:t>
                    </m:r>
                    <m:r>
                      <a:rPr lang="en-GB">
                        <a:latin typeface="Cambria Math" panose="02040503050406030204" pitchFamily="18" charset="0"/>
                      </a:rPr>
                      <m:t>0</m:t>
                    </m:r>
                  </m:oMath>
                </a14:m>
                <a:r>
                  <a:rPr lang="en-GB" dirty="0">
                    <a:latin typeface="Calibri" panose="020F0502020204030204" pitchFamily="34" charset="0"/>
                    <a:ea typeface="Calibri" panose="020F0502020204030204" pitchFamily="34" charset="0"/>
                    <a:cs typeface="Times New Roman" panose="02020603050405020304" pitchFamily="18" charset="0"/>
                  </a:rPr>
                  <a:t> and variance </a:t>
                </a:r>
                <a14:m>
                  <m:oMath xmlns:m="http://schemas.openxmlformats.org/officeDocument/2006/math">
                    <m:sSubSup>
                      <m:sSubSupPr>
                        <m:ctrlPr>
                          <a:rPr lang="en-GB" i="1">
                            <a:latin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𝜎</m:t>
                        </m:r>
                      </m:e>
                      <m:sub>
                        <m:r>
                          <a:rPr lang="en-GB" b="0" i="1" smtClean="0">
                            <a:latin typeface="Cambria Math" panose="02040503050406030204" pitchFamily="18" charset="0"/>
                          </a:rPr>
                          <m:t>2</m:t>
                        </m:r>
                      </m:sub>
                      <m:sup>
                        <m:r>
                          <a:rPr lang="en-GB" i="1">
                            <a:latin typeface="Cambria Math" panose="02040503050406030204" pitchFamily="18" charset="0"/>
                          </a:rPr>
                          <m:t>2</m:t>
                        </m:r>
                      </m:sup>
                    </m:sSubSup>
                    <m:r>
                      <a:rPr lang="en-GB">
                        <a:latin typeface="Cambria Math" panose="02040503050406030204" pitchFamily="18" charset="0"/>
                      </a:rPr>
                      <m:t>=</m:t>
                    </m:r>
                    <m:r>
                      <a:rPr lang="en-GB" b="0" i="0" smtClean="0">
                        <a:latin typeface="Cambria Math" panose="02040503050406030204" pitchFamily="18" charset="0"/>
                      </a:rPr>
                      <m:t>4,</m:t>
                    </m:r>
                  </m:oMath>
                </a14:m>
                <a:r>
                  <a:rPr lang="en-GB" dirty="0">
                    <a:effectLst/>
                    <a:latin typeface="Calibri" panose="020F0502020204030204" pitchFamily="34" charset="0"/>
                    <a:ea typeface="Calibri" panose="020F0502020204030204" pitchFamily="34" charset="0"/>
                    <a:cs typeface="Times New Roman" panose="02020603050405020304" pitchFamily="18" charset="0"/>
                  </a:rPr>
                  <a:t> and the sample mean is recorded. What is the </a:t>
                </a:r>
                <a14:m>
                  <m:oMath xmlns:m="http://schemas.openxmlformats.org/officeDocument/2006/math">
                    <m:r>
                      <a:rPr lang="en-GB" b="0" i="1" smtClean="0">
                        <a:effectLst/>
                        <a:latin typeface="Cambria Math" panose="02040503050406030204" pitchFamily="18" charset="0"/>
                        <a:ea typeface="Calibri" panose="020F0502020204030204" pitchFamily="34" charset="0"/>
                        <a:cs typeface="Times New Roman" panose="02020603050405020304" pitchFamily="18" charset="0"/>
                      </a:rPr>
                      <m:t>𝑃</m:t>
                    </m:r>
                    <m:d>
                      <m:dPr>
                        <m:ctrlPr>
                          <a:rPr lang="en-GB" b="0" i="1" smtClean="0">
                            <a:effectLst/>
                            <a:latin typeface="Cambria Math" panose="02040503050406030204" pitchFamily="18" charset="0"/>
                            <a:cs typeface="Times New Roman" panose="02020603050405020304" pitchFamily="18" charset="0"/>
                          </a:rPr>
                        </m:ctrlPr>
                      </m:dPr>
                      <m:e>
                        <m:acc>
                          <m:accPr>
                            <m:chr m:val="̅"/>
                            <m:ctrlPr>
                              <a:rPr lang="en-GB" b="0" i="1" smtClean="0">
                                <a:effectLst/>
                                <a:latin typeface="Cambria Math" panose="02040503050406030204" pitchFamily="18" charset="0"/>
                                <a:cs typeface="Times New Roman" panose="02020603050405020304" pitchFamily="18" charset="0"/>
                              </a:rPr>
                            </m:ctrlPr>
                          </m:accPr>
                          <m:e>
                            <m:sSub>
                              <m:sSubPr>
                                <m:ctrlPr>
                                  <a:rPr lang="en-GB" b="0" i="1" smtClean="0">
                                    <a:effectLst/>
                                    <a:latin typeface="Cambria Math" panose="02040503050406030204" pitchFamily="18" charset="0"/>
                                    <a:cs typeface="Times New Roman" panose="02020603050405020304" pitchFamily="18" charset="0"/>
                                  </a:rPr>
                                </m:ctrlPr>
                              </m:sSubPr>
                              <m:e>
                                <m:r>
                                  <a:rPr lang="en-GB" b="0" i="1" smtClean="0">
                                    <a:effectLst/>
                                    <a:latin typeface="Cambria Math" panose="02040503050406030204" pitchFamily="18" charset="0"/>
                                    <a:cs typeface="Times New Roman" panose="02020603050405020304" pitchFamily="18" charset="0"/>
                                  </a:rPr>
                                  <m:t>𝑋</m:t>
                                </m:r>
                              </m:e>
                              <m:sub>
                                <m:r>
                                  <a:rPr lang="en-GB" b="0" i="1" smtClean="0">
                                    <a:effectLst/>
                                    <a:latin typeface="Cambria Math" panose="02040503050406030204" pitchFamily="18" charset="0"/>
                                    <a:cs typeface="Times New Roman" panose="02020603050405020304" pitchFamily="18" charset="0"/>
                                  </a:rPr>
                                  <m:t>1</m:t>
                                </m:r>
                              </m:sub>
                            </m:sSub>
                          </m:e>
                        </m:acc>
                        <m:r>
                          <a:rPr lang="en-GB" b="0" i="1" smtClean="0">
                            <a:effectLst/>
                            <a:latin typeface="Cambria Math" panose="02040503050406030204" pitchFamily="18" charset="0"/>
                            <a:cs typeface="Times New Roman" panose="02020603050405020304" pitchFamily="18" charset="0"/>
                          </a:rPr>
                          <m:t>−</m:t>
                        </m:r>
                        <m:acc>
                          <m:accPr>
                            <m:chr m:val="̅"/>
                            <m:ctrlPr>
                              <a:rPr lang="en-GB" b="0" i="1" smtClean="0">
                                <a:effectLst/>
                                <a:latin typeface="Cambria Math" panose="02040503050406030204" pitchFamily="18" charset="0"/>
                                <a:cs typeface="Times New Roman" panose="02020603050405020304" pitchFamily="18" charset="0"/>
                              </a:rPr>
                            </m:ctrlPr>
                          </m:accPr>
                          <m:e>
                            <m:sSub>
                              <m:sSubPr>
                                <m:ctrlPr>
                                  <a:rPr lang="en-GB" i="1">
                                    <a:latin typeface="Cambria Math" panose="02040503050406030204" pitchFamily="18" charset="0"/>
                                    <a:cs typeface="Times New Roman" panose="02020603050405020304" pitchFamily="18" charset="0"/>
                                  </a:rPr>
                                </m:ctrlPr>
                              </m:sSubPr>
                              <m:e>
                                <m:r>
                                  <a:rPr lang="en-GB" i="1">
                                    <a:latin typeface="Cambria Math" panose="02040503050406030204" pitchFamily="18" charset="0"/>
                                    <a:cs typeface="Times New Roman" panose="02020603050405020304" pitchFamily="18" charset="0"/>
                                  </a:rPr>
                                  <m:t>𝑋</m:t>
                                </m:r>
                              </m:e>
                              <m:sub>
                                <m:r>
                                  <a:rPr lang="en-GB" b="0" i="1" smtClean="0">
                                    <a:latin typeface="Cambria Math" panose="02040503050406030204" pitchFamily="18" charset="0"/>
                                    <a:cs typeface="Times New Roman" panose="02020603050405020304" pitchFamily="18" charset="0"/>
                                  </a:rPr>
                                  <m:t>2</m:t>
                                </m:r>
                              </m:sub>
                            </m:sSub>
                          </m:e>
                        </m:acc>
                        <m:r>
                          <a:rPr lang="en-GB" b="0" i="1" smtClean="0">
                            <a:effectLst/>
                            <a:latin typeface="Cambria Math" panose="02040503050406030204" pitchFamily="18" charset="0"/>
                            <a:cs typeface="Times New Roman" panose="02020603050405020304" pitchFamily="18" charset="0"/>
                          </a:rPr>
                          <m:t>&lt;8.2</m:t>
                        </m:r>
                      </m:e>
                    </m:d>
                    <m:r>
                      <a:rPr lang="en-GB" b="0" i="1" smtClean="0">
                        <a:effectLst/>
                        <a:latin typeface="Cambria Math" panose="02040503050406030204" pitchFamily="18" charset="0"/>
                        <a:cs typeface="Times New Roman" panose="02020603050405020304" pitchFamily="18" charset="0"/>
                      </a:rPr>
                      <m:t>?</m:t>
                    </m:r>
                  </m:oMath>
                </a14:m>
                <a:r>
                  <a:rPr lang="en-GB" dirty="0">
                    <a:effectLst/>
                    <a:latin typeface="Calibri" panose="020F0502020204030204" pitchFamily="34" charset="0"/>
                    <a:ea typeface="Calibri" panose="020F0502020204030204" pitchFamily="34" charset="0"/>
                    <a:cs typeface="Times New Roman" panose="02020603050405020304" pitchFamily="18" charset="0"/>
                  </a:rPr>
                  <a:t>  </a:t>
                </a:r>
                <a:endParaRPr lang="en-PK"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mc:Choice>
        <mc:Fallback>
          <p:sp>
            <p:nvSpPr>
              <p:cNvPr id="3" name="Content Placeholder 2">
                <a:extLst>
                  <a:ext uri="{FF2B5EF4-FFF2-40B4-BE49-F238E27FC236}">
                    <a16:creationId xmlns:a16="http://schemas.microsoft.com/office/drawing/2014/main" id="{8D099437-2FE1-F254-C112-D37EA33F283D}"/>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LID4096">
                    <a:noFill/>
                  </a:rPr>
                  <a:t> </a:t>
                </a:r>
              </a:p>
            </p:txBody>
          </p:sp>
        </mc:Fallback>
      </mc:AlternateContent>
      <p:sp>
        <p:nvSpPr>
          <p:cNvPr id="4" name="Date Placeholder 3">
            <a:extLst>
              <a:ext uri="{FF2B5EF4-FFF2-40B4-BE49-F238E27FC236}">
                <a16:creationId xmlns:a16="http://schemas.microsoft.com/office/drawing/2014/main" id="{74281C97-0B18-1C49-7B47-464BC9F9DC5C}"/>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B5B344B4-10DD-7A78-F714-7C8EA14A020B}"/>
              </a:ext>
            </a:extLst>
          </p:cNvPr>
          <p:cNvSpPr>
            <a:spLocks noGrp="1"/>
          </p:cNvSpPr>
          <p:nvPr>
            <p:ph type="sldNum" sz="quarter" idx="12"/>
          </p:nvPr>
        </p:nvSpPr>
        <p:spPr/>
        <p:txBody>
          <a:bodyPr/>
          <a:lstStyle/>
          <a:p>
            <a:fld id="{834AB335-1227-4A53-9E15-22ED1B97A1F2}" type="slidenum">
              <a:rPr lang="en-PK" smtClean="0"/>
              <a:t>32</a:t>
            </a:fld>
            <a:endParaRPr lang="en-PK"/>
          </a:p>
        </p:txBody>
      </p:sp>
    </p:spTree>
    <p:extLst>
      <p:ext uri="{BB962C8B-B14F-4D97-AF65-F5344CB8AC3E}">
        <p14:creationId xmlns:p14="http://schemas.microsoft.com/office/powerpoint/2010/main" val="34238293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07B6-ED35-D54A-5D82-74D3D7C16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98D18-A9FE-AE45-61EE-7FE87E7BB2CB}"/>
              </a:ext>
            </a:extLst>
          </p:cNvPr>
          <p:cNvSpPr>
            <a:spLocks noGrp="1"/>
          </p:cNvSpPr>
          <p:nvPr>
            <p:ph type="title"/>
          </p:nvPr>
        </p:nvSpPr>
        <p:spPr>
          <a:xfrm>
            <a:off x="359861" y="1717196"/>
            <a:ext cx="4285881" cy="1450757"/>
          </a:xfrm>
        </p:spPr>
        <p:txBody>
          <a:bodyPr>
            <a:normAutofit fontScale="90000"/>
          </a:bodyPr>
          <a:lstStyle/>
          <a:p>
            <a:r>
              <a:rPr lang="en-GB"/>
              <a:t>2.2 </a:t>
            </a:r>
            <a:r>
              <a:rPr lang="en-GB" dirty="0"/>
              <a:t>Sampling Distribution of difference between Two Sample Means</a:t>
            </a:r>
            <a:endParaRPr lang="en-PK" dirty="0"/>
          </a:p>
        </p:txBody>
      </p:sp>
      <p:sp>
        <p:nvSpPr>
          <p:cNvPr id="4" name="Date Placeholder 3">
            <a:extLst>
              <a:ext uri="{FF2B5EF4-FFF2-40B4-BE49-F238E27FC236}">
                <a16:creationId xmlns:a16="http://schemas.microsoft.com/office/drawing/2014/main" id="{C6B1C1D0-5A56-A8C7-D10E-16B7DCC32E0F}"/>
              </a:ext>
            </a:extLst>
          </p:cNvPr>
          <p:cNvSpPr>
            <a:spLocks noGrp="1"/>
          </p:cNvSpPr>
          <p:nvPr>
            <p:ph type="dt" sz="half" idx="10"/>
          </p:nvPr>
        </p:nvSpPr>
        <p:spPr/>
        <p:txBody>
          <a:bodyPr/>
          <a:lstStyle/>
          <a:p>
            <a:fld id="{0EC9AE81-272B-4231-89E5-C57E73088551}" type="datetime8">
              <a:rPr lang="en-PK" smtClean="0"/>
              <a:t>10/17/2024 10:08</a:t>
            </a:fld>
            <a:endParaRPr lang="en-PK"/>
          </a:p>
        </p:txBody>
      </p:sp>
      <p:sp>
        <p:nvSpPr>
          <p:cNvPr id="5" name="Slide Number Placeholder 4">
            <a:extLst>
              <a:ext uri="{FF2B5EF4-FFF2-40B4-BE49-F238E27FC236}">
                <a16:creationId xmlns:a16="http://schemas.microsoft.com/office/drawing/2014/main" id="{6598FCB5-F651-1E99-1BAD-85D2B453EB37}"/>
              </a:ext>
            </a:extLst>
          </p:cNvPr>
          <p:cNvSpPr>
            <a:spLocks noGrp="1"/>
          </p:cNvSpPr>
          <p:nvPr>
            <p:ph type="sldNum" sz="quarter" idx="12"/>
          </p:nvPr>
        </p:nvSpPr>
        <p:spPr/>
        <p:txBody>
          <a:bodyPr/>
          <a:lstStyle/>
          <a:p>
            <a:fld id="{834AB335-1227-4A53-9E15-22ED1B97A1F2}" type="slidenum">
              <a:rPr lang="en-PK" smtClean="0"/>
              <a:t>33</a:t>
            </a:fld>
            <a:endParaRPr lang="en-PK"/>
          </a:p>
        </p:txBody>
      </p:sp>
      <p:pic>
        <p:nvPicPr>
          <p:cNvPr id="7" name="Picture 6" descr="A white paper with math equations&#10;&#10;Description automatically generated">
            <a:extLst>
              <a:ext uri="{FF2B5EF4-FFF2-40B4-BE49-F238E27FC236}">
                <a16:creationId xmlns:a16="http://schemas.microsoft.com/office/drawing/2014/main" id="{B354B8A3-15C0-37EB-333E-A43C33877C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0673" y="196152"/>
            <a:ext cx="4736306" cy="5943601"/>
          </a:xfrm>
          <a:prstGeom prst="rect">
            <a:avLst/>
          </a:prstGeom>
        </p:spPr>
      </p:pic>
    </p:spTree>
    <p:extLst>
      <p:ext uri="{BB962C8B-B14F-4D97-AF65-F5344CB8AC3E}">
        <p14:creationId xmlns:p14="http://schemas.microsoft.com/office/powerpoint/2010/main" val="3145493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7E4B-B219-1204-8014-57CF1E7C872F}"/>
              </a:ext>
            </a:extLst>
          </p:cNvPr>
          <p:cNvSpPr>
            <a:spLocks noGrp="1"/>
          </p:cNvSpPr>
          <p:nvPr>
            <p:ph type="title"/>
          </p:nvPr>
        </p:nvSpPr>
        <p:spPr>
          <a:xfrm>
            <a:off x="627185" y="2644092"/>
            <a:ext cx="10515600" cy="1325563"/>
          </a:xfrm>
        </p:spPr>
        <p:txBody>
          <a:bodyPr/>
          <a:lstStyle/>
          <a:p>
            <a:pPr algn="ctr"/>
            <a:r>
              <a:rPr lang="en-GB" b="1" dirty="0"/>
              <a:t>The End</a:t>
            </a:r>
            <a:endParaRPr lang="en-PK" b="1" dirty="0"/>
          </a:p>
        </p:txBody>
      </p:sp>
      <p:sp>
        <p:nvSpPr>
          <p:cNvPr id="4" name="Date Placeholder 3">
            <a:extLst>
              <a:ext uri="{FF2B5EF4-FFF2-40B4-BE49-F238E27FC236}">
                <a16:creationId xmlns:a16="http://schemas.microsoft.com/office/drawing/2014/main" id="{3F4EC418-15EE-CF13-0E22-3BDB5202DC97}"/>
              </a:ext>
            </a:extLst>
          </p:cNvPr>
          <p:cNvSpPr>
            <a:spLocks noGrp="1"/>
          </p:cNvSpPr>
          <p:nvPr>
            <p:ph type="dt" sz="half" idx="10"/>
          </p:nvPr>
        </p:nvSpPr>
        <p:spPr/>
        <p:txBody>
          <a:bodyPr/>
          <a:lstStyle/>
          <a:p>
            <a:fld id="{0EC9AE81-272B-4231-89E5-C57E73088551}" type="datetime8">
              <a:rPr lang="en-PK" smtClean="0"/>
              <a:t>10/17/2024 08:52</a:t>
            </a:fld>
            <a:endParaRPr lang="en-PK"/>
          </a:p>
        </p:txBody>
      </p:sp>
      <p:sp>
        <p:nvSpPr>
          <p:cNvPr id="5" name="Slide Number Placeholder 4">
            <a:extLst>
              <a:ext uri="{FF2B5EF4-FFF2-40B4-BE49-F238E27FC236}">
                <a16:creationId xmlns:a16="http://schemas.microsoft.com/office/drawing/2014/main" id="{0E8CA769-B1F3-1C92-8B09-E9A9B8C3E48A}"/>
              </a:ext>
            </a:extLst>
          </p:cNvPr>
          <p:cNvSpPr>
            <a:spLocks noGrp="1"/>
          </p:cNvSpPr>
          <p:nvPr>
            <p:ph type="sldNum" sz="quarter" idx="12"/>
          </p:nvPr>
        </p:nvSpPr>
        <p:spPr/>
        <p:txBody>
          <a:bodyPr/>
          <a:lstStyle/>
          <a:p>
            <a:fld id="{834AB335-1227-4A53-9E15-22ED1B97A1F2}" type="slidenum">
              <a:rPr lang="en-PK" smtClean="0"/>
              <a:t>34</a:t>
            </a:fld>
            <a:endParaRPr lang="en-PK"/>
          </a:p>
        </p:txBody>
      </p:sp>
    </p:spTree>
    <p:extLst>
      <p:ext uri="{BB962C8B-B14F-4D97-AF65-F5344CB8AC3E}">
        <p14:creationId xmlns:p14="http://schemas.microsoft.com/office/powerpoint/2010/main" val="20321532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822</TotalTime>
  <Words>2155</Words>
  <Application>Microsoft Office PowerPoint</Application>
  <PresentationFormat>Widescreen</PresentationFormat>
  <Paragraphs>192</Paragraphs>
  <Slides>34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Calibri</vt:lpstr>
      <vt:lpstr>Calibri Light</vt:lpstr>
      <vt:lpstr>Cambria Math</vt:lpstr>
      <vt:lpstr>Fira Sans</vt:lpstr>
      <vt:lpstr>Noto Sans</vt:lpstr>
      <vt:lpstr>Retrospect</vt:lpstr>
      <vt:lpstr>Adobe Acrobat Document</vt:lpstr>
      <vt:lpstr>Sampling</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vt:lpstr>
      <vt:lpstr>1. Introduction …</vt:lpstr>
      <vt:lpstr>1. Introduction …</vt:lpstr>
      <vt:lpstr>2. Sampling Distribution</vt:lpstr>
      <vt:lpstr>2.1 Sampling Distribution of the Sample Means</vt:lpstr>
      <vt:lpstr>2.1 Sampling Distribution of the Sample Means</vt:lpstr>
      <vt:lpstr>2.1 Sampling Distribution of the Sample Means</vt:lpstr>
      <vt:lpstr>2.1 Sampling Distribution of the Sample Means</vt:lpstr>
      <vt:lpstr>2.1 Sampling Distribution of the Sample Means</vt:lpstr>
      <vt:lpstr>2.1 Sampling Distribution of the Sample Means</vt:lpstr>
      <vt:lpstr>2.2 Sampling Distribution of difference between Two Sample Means</vt:lpstr>
      <vt:lpstr>2.2 Sampling Distribution of difference between Two Sample Means</vt:lpstr>
      <vt:lpstr>2.2 Sampling Distribution of difference between Two Sample Means</vt:lpstr>
      <vt:lpstr>2.2 Sampling Distribution of difference between Two Sample Means</vt:lpstr>
      <vt:lpstr>2.2 Sampling Distribution of difference between sample means</vt:lpstr>
      <vt:lpstr>2.1 2.1 Sampling Distribution of difference between Two Sample Means</vt:lpstr>
      <vt:lpstr>2.2 Sampling Distribution of difference between Two Sample Means</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Basharat Mahmood</dc:creator>
  <cp:lastModifiedBy>Basharat Mahmood</cp:lastModifiedBy>
  <cp:revision>87</cp:revision>
  <dcterms:created xsi:type="dcterms:W3CDTF">2023-02-20T04:45:25Z</dcterms:created>
  <dcterms:modified xsi:type="dcterms:W3CDTF">2024-10-17T05:12:30Z</dcterms:modified>
</cp:coreProperties>
</file>