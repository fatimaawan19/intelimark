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6" r:id="rId2"/>
    <p:sldId id="292" r:id="rId3"/>
    <p:sldId id="293" r:id="rId4"/>
    <p:sldId id="258" r:id="rId5"/>
    <p:sldId id="259" r:id="rId6"/>
    <p:sldId id="294" r:id="rId7"/>
    <p:sldId id="260" r:id="rId8"/>
    <p:sldId id="261" r:id="rId9"/>
    <p:sldId id="295" r:id="rId10"/>
    <p:sldId id="262" r:id="rId11"/>
    <p:sldId id="296" r:id="rId12"/>
    <p:sldId id="297" r:id="rId13"/>
    <p:sldId id="279" r:id="rId14"/>
    <p:sldId id="280" r:id="rId15"/>
    <p:sldId id="263" r:id="rId16"/>
    <p:sldId id="264" r:id="rId17"/>
    <p:sldId id="265" r:id="rId18"/>
    <p:sldId id="299" r:id="rId19"/>
    <p:sldId id="298" r:id="rId20"/>
    <p:sldId id="300" r:id="rId21"/>
    <p:sldId id="301" r:id="rId22"/>
    <p:sldId id="266" r:id="rId23"/>
    <p:sldId id="282" r:id="rId24"/>
    <p:sldId id="267" r:id="rId25"/>
    <p:sldId id="268" r:id="rId26"/>
    <p:sldId id="302" r:id="rId27"/>
    <p:sldId id="270" r:id="rId28"/>
    <p:sldId id="276" r:id="rId29"/>
    <p:sldId id="307" r:id="rId30"/>
    <p:sldId id="271" r:id="rId31"/>
    <p:sldId id="308" r:id="rId32"/>
    <p:sldId id="272" r:id="rId33"/>
    <p:sldId id="309" r:id="rId34"/>
    <p:sldId id="273" r:id="rId35"/>
    <p:sldId id="310" r:id="rId36"/>
    <p:sldId id="275" r:id="rId37"/>
    <p:sldId id="277" r:id="rId38"/>
    <p:sldId id="311" r:id="rId39"/>
    <p:sldId id="312" r:id="rId40"/>
    <p:sldId id="278" r:id="rId41"/>
    <p:sldId id="281" r:id="rId42"/>
    <p:sldId id="283" r:id="rId43"/>
    <p:sldId id="313" r:id="rId44"/>
    <p:sldId id="304" r:id="rId45"/>
    <p:sldId id="305" r:id="rId46"/>
    <p:sldId id="286" r:id="rId47"/>
    <p:sldId id="306" r:id="rId48"/>
    <p:sldId id="287" r:id="rId49"/>
    <p:sldId id="314" r:id="rId50"/>
    <p:sldId id="315" r:id="rId51"/>
    <p:sldId id="288" r:id="rId52"/>
    <p:sldId id="289" r:id="rId53"/>
    <p:sldId id="290" r:id="rId54"/>
    <p:sldId id="291"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61" d="100"/>
          <a:sy n="61" d="100"/>
        </p:scale>
        <p:origin x="7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A7BFCD-96EF-40B7-8176-9F2172E51040}" type="datetimeFigureOut">
              <a:rPr lang="en-PK" smtClean="0"/>
              <a:t>04/02/2026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0D8CFE-2CC9-43B9-A0CF-2240C9301EA3}" type="slidenum">
              <a:rPr lang="en-PK" smtClean="0"/>
              <a:t>‹#›</a:t>
            </a:fld>
            <a:endParaRPr lang="en-PK"/>
          </a:p>
        </p:txBody>
      </p:sp>
    </p:spTree>
    <p:extLst>
      <p:ext uri="{BB962C8B-B14F-4D97-AF65-F5344CB8AC3E}">
        <p14:creationId xmlns:p14="http://schemas.microsoft.com/office/powerpoint/2010/main" val="1122474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4885E0-F656-40F2-9A25-9573688AC5C5}" type="slidenum">
              <a:rPr lang="en-US" smtClean="0"/>
              <a:t>9</a:t>
            </a:fld>
            <a:endParaRPr lang="en-US"/>
          </a:p>
        </p:txBody>
      </p:sp>
    </p:spTree>
    <p:extLst>
      <p:ext uri="{BB962C8B-B14F-4D97-AF65-F5344CB8AC3E}">
        <p14:creationId xmlns:p14="http://schemas.microsoft.com/office/powerpoint/2010/main" val="2168384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it’s </a:t>
            </a:r>
            <a:r>
              <a:rPr lang="en-US" b="1" dirty="0"/>
              <a:t>positive</a:t>
            </a:r>
            <a:r>
              <a:rPr lang="en-US" dirty="0"/>
              <a:t> (yep, this is the dish), you have to broaden your recipe guess so it still matches.</a:t>
            </a:r>
          </a:p>
          <a:p>
            <a:r>
              <a:rPr lang="en-US" dirty="0"/>
              <a:t>If it’s </a:t>
            </a:r>
            <a:r>
              <a:rPr lang="en-US" b="1" dirty="0"/>
              <a:t>negative</a:t>
            </a:r>
            <a:r>
              <a:rPr lang="en-US" dirty="0"/>
              <a:t> (nope, not the dish), you tighten the recipe so it excludes that wrong guess.</a:t>
            </a:r>
          </a:p>
          <a:p>
            <a:endParaRPr lang="en-US" dirty="0"/>
          </a:p>
        </p:txBody>
      </p:sp>
      <p:sp>
        <p:nvSpPr>
          <p:cNvPr id="4" name="Slide Number Placeholder 3"/>
          <p:cNvSpPr>
            <a:spLocks noGrp="1"/>
          </p:cNvSpPr>
          <p:nvPr>
            <p:ph type="sldNum" sz="quarter" idx="10"/>
          </p:nvPr>
        </p:nvSpPr>
        <p:spPr/>
        <p:txBody>
          <a:bodyPr/>
          <a:lstStyle/>
          <a:p>
            <a:fld id="{1C4885E0-F656-40F2-9A25-9573688AC5C5}" type="slidenum">
              <a:rPr lang="en-US" smtClean="0"/>
              <a:t>47</a:t>
            </a:fld>
            <a:endParaRPr lang="en-US"/>
          </a:p>
        </p:txBody>
      </p:sp>
    </p:spTree>
    <p:extLst>
      <p:ext uri="{BB962C8B-B14F-4D97-AF65-F5344CB8AC3E}">
        <p14:creationId xmlns:p14="http://schemas.microsoft.com/office/powerpoint/2010/main" val="2517560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a positive example:</a:t>
            </a:r>
            <a:endParaRPr lang="en-US" dirty="0"/>
          </a:p>
          <a:p>
            <a:r>
              <a:rPr lang="en-US" dirty="0"/>
              <a:t>Make sure S covers it → if not, </a:t>
            </a:r>
            <a:r>
              <a:rPr lang="en-US" b="1" dirty="0"/>
              <a:t>generalize S</a:t>
            </a:r>
            <a:r>
              <a:rPr lang="en-US" dirty="0"/>
              <a:t> just enough so it does.</a:t>
            </a:r>
          </a:p>
          <a:p>
            <a:r>
              <a:rPr lang="en-US" dirty="0"/>
              <a:t>Remove from G any rules that would exclude this example.</a:t>
            </a:r>
          </a:p>
          <a:p>
            <a:r>
              <a:rPr lang="en-US" b="1" dirty="0"/>
              <a:t>See a negative example:</a:t>
            </a:r>
            <a:endParaRPr lang="en-US" dirty="0"/>
          </a:p>
          <a:p>
            <a:r>
              <a:rPr lang="en-US" dirty="0"/>
              <a:t>Make sure G excludes it → if not, </a:t>
            </a:r>
            <a:r>
              <a:rPr lang="en-US" b="1" dirty="0"/>
              <a:t>specialize G</a:t>
            </a:r>
            <a:r>
              <a:rPr lang="en-US" dirty="0"/>
              <a:t> just enough so it doesn’t.</a:t>
            </a:r>
          </a:p>
          <a:p>
            <a:r>
              <a:rPr lang="en-US" dirty="0"/>
              <a:t>Remove from S any rules that wrongly include this negative example.</a:t>
            </a:r>
          </a:p>
          <a:p>
            <a:endParaRPr lang="en-US" dirty="0"/>
          </a:p>
          <a:p>
            <a:endParaRPr lang="en-US" dirty="0"/>
          </a:p>
        </p:txBody>
      </p:sp>
      <p:sp>
        <p:nvSpPr>
          <p:cNvPr id="4" name="Slide Number Placeholder 3"/>
          <p:cNvSpPr>
            <a:spLocks noGrp="1"/>
          </p:cNvSpPr>
          <p:nvPr>
            <p:ph type="sldNum" sz="quarter" idx="10"/>
          </p:nvPr>
        </p:nvSpPr>
        <p:spPr/>
        <p:txBody>
          <a:bodyPr/>
          <a:lstStyle/>
          <a:p>
            <a:fld id="{1C4885E0-F656-40F2-9A25-9573688AC5C5}" type="slidenum">
              <a:rPr lang="en-US" smtClean="0"/>
              <a:t>49</a:t>
            </a:fld>
            <a:endParaRPr lang="en-US"/>
          </a:p>
        </p:txBody>
      </p:sp>
    </p:spTree>
    <p:extLst>
      <p:ext uri="{BB962C8B-B14F-4D97-AF65-F5344CB8AC3E}">
        <p14:creationId xmlns:p14="http://schemas.microsoft.com/office/powerpoint/2010/main" val="3382359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See a positive example:</a:t>
            </a:r>
            <a:endParaRPr lang="en-US" dirty="0"/>
          </a:p>
          <a:p>
            <a:r>
              <a:rPr lang="en-US" dirty="0"/>
              <a:t>Make sure S covers it → if not, </a:t>
            </a:r>
            <a:r>
              <a:rPr lang="en-US" b="1" dirty="0"/>
              <a:t>generalize S</a:t>
            </a:r>
            <a:r>
              <a:rPr lang="en-US" dirty="0"/>
              <a:t> just enough so it does.</a:t>
            </a:r>
          </a:p>
          <a:p>
            <a:r>
              <a:rPr lang="en-US" dirty="0"/>
              <a:t>Remove from G any rules that would exclude this example.</a:t>
            </a:r>
          </a:p>
          <a:p>
            <a:r>
              <a:rPr lang="en-US" b="1" dirty="0"/>
              <a:t>See a negative example:</a:t>
            </a:r>
            <a:endParaRPr lang="en-US" dirty="0"/>
          </a:p>
          <a:p>
            <a:r>
              <a:rPr lang="en-US" dirty="0"/>
              <a:t>Make sure G excludes it → if not, </a:t>
            </a:r>
            <a:r>
              <a:rPr lang="en-US" b="1" dirty="0"/>
              <a:t>specialize G</a:t>
            </a:r>
            <a:r>
              <a:rPr lang="en-US" dirty="0"/>
              <a:t> just enough so it doesn’t.</a:t>
            </a:r>
          </a:p>
          <a:p>
            <a:r>
              <a:rPr lang="en-US" dirty="0"/>
              <a:t>Remove from S any rules that wrongly include this negative example.</a:t>
            </a:r>
          </a:p>
          <a:p>
            <a:endParaRPr lang="en-US" dirty="0"/>
          </a:p>
          <a:p>
            <a:endParaRPr lang="en-US" dirty="0"/>
          </a:p>
        </p:txBody>
      </p:sp>
      <p:sp>
        <p:nvSpPr>
          <p:cNvPr id="4" name="Slide Number Placeholder 3"/>
          <p:cNvSpPr>
            <a:spLocks noGrp="1"/>
          </p:cNvSpPr>
          <p:nvPr>
            <p:ph type="sldNum" sz="quarter" idx="10"/>
          </p:nvPr>
        </p:nvSpPr>
        <p:spPr/>
        <p:txBody>
          <a:bodyPr/>
          <a:lstStyle/>
          <a:p>
            <a:fld id="{1C4885E0-F656-40F2-9A25-9573688AC5C5}" type="slidenum">
              <a:rPr lang="en-US" smtClean="0"/>
              <a:t>50</a:t>
            </a:fld>
            <a:endParaRPr lang="en-US"/>
          </a:p>
        </p:txBody>
      </p:sp>
    </p:spTree>
    <p:extLst>
      <p:ext uri="{BB962C8B-B14F-4D97-AF65-F5344CB8AC3E}">
        <p14:creationId xmlns:p14="http://schemas.microsoft.com/office/powerpoint/2010/main" val="533016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BD1EE05-EE4C-4DD3-B90F-CD4EDDCD6E81}"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3199085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D1EE05-EE4C-4DD3-B90F-CD4EDDCD6E81}"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1444086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BD1EE05-EE4C-4DD3-B90F-CD4EDDCD6E81}"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511244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BD1EE05-EE4C-4DD3-B90F-CD4EDDCD6E81}"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261773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BD1EE05-EE4C-4DD3-B90F-CD4EDDCD6E81}" type="datetimeFigureOut">
              <a:rPr lang="en-US" smtClean="0"/>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2558112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BD1EE05-EE4C-4DD3-B90F-CD4EDDCD6E81}" type="datetimeFigureOut">
              <a:rPr lang="en-US" smtClean="0"/>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238478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D1EE05-EE4C-4DD3-B90F-CD4EDDCD6E81}" type="datetimeFigureOut">
              <a:rPr lang="en-US" smtClean="0"/>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4287674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D1EE05-EE4C-4DD3-B90F-CD4EDDCD6E81}"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3679424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BD1EE05-EE4C-4DD3-B90F-CD4EDDCD6E81}" type="datetimeFigureOut">
              <a:rPr lang="en-US" smtClean="0"/>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2919632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D1EE05-EE4C-4DD3-B90F-CD4EDDCD6E81}"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2649151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D1EE05-EE4C-4DD3-B90F-CD4EDDCD6E81}" type="datetimeFigureOut">
              <a:rPr lang="en-US" smtClean="0"/>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86E530-EDD6-4362-9E97-BBC2959546E7}" type="slidenum">
              <a:rPr lang="en-US" smtClean="0"/>
              <a:t>‹#›</a:t>
            </a:fld>
            <a:endParaRPr lang="en-US"/>
          </a:p>
        </p:txBody>
      </p:sp>
    </p:spTree>
    <p:extLst>
      <p:ext uri="{BB962C8B-B14F-4D97-AF65-F5344CB8AC3E}">
        <p14:creationId xmlns:p14="http://schemas.microsoft.com/office/powerpoint/2010/main" val="618399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D1EE05-EE4C-4DD3-B90F-CD4EDDCD6E81}" type="datetimeFigureOut">
              <a:rPr lang="en-US" smtClean="0"/>
              <a:t>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86E530-EDD6-4362-9E97-BBC2959546E7}" type="slidenum">
              <a:rPr lang="en-US" smtClean="0"/>
              <a:t>‹#›</a:t>
            </a:fld>
            <a:endParaRPr lang="en-US"/>
          </a:p>
        </p:txBody>
      </p:sp>
    </p:spTree>
    <p:extLst>
      <p:ext uri="{BB962C8B-B14F-4D97-AF65-F5344CB8AC3E}">
        <p14:creationId xmlns:p14="http://schemas.microsoft.com/office/powerpoint/2010/main" val="2635304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CONCEPT LEARNING AND THE GENERAL-TO-SPECIFIC 0RDERING</a:t>
            </a:r>
          </a:p>
        </p:txBody>
      </p:sp>
      <p:sp>
        <p:nvSpPr>
          <p:cNvPr id="5" name="Subtitle 4"/>
          <p:cNvSpPr txBox="1">
            <a:spLocks/>
          </p:cNvSpPr>
          <p:nvPr/>
        </p:nvSpPr>
        <p:spPr>
          <a:xfrm>
            <a:off x="1676400" y="375443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t>A simple form of supervised learning</a:t>
            </a:r>
            <a:endParaRPr lang="en-US" dirty="0"/>
          </a:p>
        </p:txBody>
      </p:sp>
    </p:spTree>
    <p:extLst>
      <p:ext uri="{BB962C8B-B14F-4D97-AF65-F5344CB8AC3E}">
        <p14:creationId xmlns:p14="http://schemas.microsoft.com/office/powerpoint/2010/main" val="172885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Learning</a:t>
            </a:r>
          </a:p>
        </p:txBody>
      </p:sp>
      <p:sp>
        <p:nvSpPr>
          <p:cNvPr id="3" name="Content Placeholder 2"/>
          <p:cNvSpPr>
            <a:spLocks noGrp="1"/>
          </p:cNvSpPr>
          <p:nvPr>
            <p:ph idx="1"/>
          </p:nvPr>
        </p:nvSpPr>
        <p:spPr/>
        <p:txBody>
          <a:bodyPr/>
          <a:lstStyle/>
          <a:p>
            <a:r>
              <a:rPr lang="en-US" dirty="0"/>
              <a:t>This is the simplest form of machine learning…..supervised learning</a:t>
            </a:r>
          </a:p>
          <a:p>
            <a:r>
              <a:rPr lang="en-US" dirty="0"/>
              <a:t>The idea is to create general rules from specific training examples</a:t>
            </a:r>
          </a:p>
          <a:p>
            <a:r>
              <a:rPr lang="en-US" dirty="0"/>
              <a:t>Concept learning can be formulated as a problem of searching through a predefined space of potential hypothesis</a:t>
            </a:r>
          </a:p>
          <a:p>
            <a:pPr lvl="1"/>
            <a:r>
              <a:rPr lang="en-US" dirty="0"/>
              <a:t>For a hypothesis that best fits the training examples.</a:t>
            </a:r>
          </a:p>
          <a:p>
            <a:endParaRPr lang="en-US" dirty="0"/>
          </a:p>
        </p:txBody>
      </p:sp>
    </p:spTree>
    <p:extLst>
      <p:ext uri="{BB962C8B-B14F-4D97-AF65-F5344CB8AC3E}">
        <p14:creationId xmlns:p14="http://schemas.microsoft.com/office/powerpoint/2010/main" val="2717059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we Learn?</a:t>
            </a:r>
          </a:p>
        </p:txBody>
      </p:sp>
      <p:pic>
        <p:nvPicPr>
          <p:cNvPr id="4" name="Picture 3"/>
          <p:cNvPicPr>
            <a:picLocks noChangeAspect="1"/>
          </p:cNvPicPr>
          <p:nvPr/>
        </p:nvPicPr>
        <p:blipFill>
          <a:blip r:embed="rId2"/>
          <a:stretch>
            <a:fillRect/>
          </a:stretch>
        </p:blipFill>
        <p:spPr>
          <a:xfrm>
            <a:off x="1182414" y="1191009"/>
            <a:ext cx="8156133" cy="4878715"/>
          </a:xfrm>
          <a:prstGeom prst="rect">
            <a:avLst/>
          </a:prstGeom>
        </p:spPr>
      </p:pic>
    </p:spTree>
    <p:extLst>
      <p:ext uri="{BB962C8B-B14F-4D97-AF65-F5344CB8AC3E}">
        <p14:creationId xmlns:p14="http://schemas.microsoft.com/office/powerpoint/2010/main" val="6597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Learning</a:t>
            </a:r>
          </a:p>
        </p:txBody>
      </p:sp>
      <p:sp>
        <p:nvSpPr>
          <p:cNvPr id="3" name="Content Placeholder 2"/>
          <p:cNvSpPr>
            <a:spLocks noGrp="1"/>
          </p:cNvSpPr>
          <p:nvPr>
            <p:ph idx="1"/>
          </p:nvPr>
        </p:nvSpPr>
        <p:spPr/>
        <p:txBody>
          <a:bodyPr/>
          <a:lstStyle/>
          <a:p>
            <a:pPr algn="just"/>
            <a:r>
              <a:rPr lang="en-US" dirty="0"/>
              <a:t>Much of learning involves acquiring general concepts from specific training examples</a:t>
            </a:r>
          </a:p>
          <a:p>
            <a:pPr algn="just"/>
            <a:r>
              <a:rPr lang="en-US" dirty="0"/>
              <a:t>People, for example, continually learn general concepts or categories such as "bird," "car,“</a:t>
            </a:r>
          </a:p>
          <a:p>
            <a:pPr algn="just"/>
            <a:r>
              <a:rPr lang="en-US" dirty="0"/>
              <a:t>Each such concept can be viewed as describing some subset of objects or events defined over a larger set (e.g., the subset of animals that constitute birds</a:t>
            </a:r>
          </a:p>
          <a:p>
            <a:pPr algn="just"/>
            <a:r>
              <a:rPr lang="en-US" dirty="0"/>
              <a:t>Alternatively, each concept can be thought of as a </a:t>
            </a:r>
            <a:r>
              <a:rPr lang="en-US" dirty="0" err="1"/>
              <a:t>boolean</a:t>
            </a:r>
            <a:r>
              <a:rPr lang="en-US" dirty="0"/>
              <a:t>-valued function defined over this larger set (e.g., a function defined over all animals, whose value is true for birds and false for other animals).</a:t>
            </a:r>
          </a:p>
        </p:txBody>
      </p:sp>
    </p:spTree>
    <p:extLst>
      <p:ext uri="{BB962C8B-B14F-4D97-AF65-F5344CB8AC3E}">
        <p14:creationId xmlns:p14="http://schemas.microsoft.com/office/powerpoint/2010/main" val="1965125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Learning – Formally defined…</a:t>
            </a:r>
          </a:p>
        </p:txBody>
      </p:sp>
      <p:sp>
        <p:nvSpPr>
          <p:cNvPr id="3" name="Content Placeholder 2"/>
          <p:cNvSpPr>
            <a:spLocks noGrp="1"/>
          </p:cNvSpPr>
          <p:nvPr>
            <p:ph idx="1"/>
          </p:nvPr>
        </p:nvSpPr>
        <p:spPr>
          <a:xfrm>
            <a:off x="838200" y="1825624"/>
            <a:ext cx="10515600" cy="4676775"/>
          </a:xfrm>
        </p:spPr>
        <p:txBody>
          <a:bodyPr>
            <a:normAutofit lnSpcReduction="10000"/>
          </a:bodyPr>
          <a:lstStyle/>
          <a:p>
            <a:pPr algn="just"/>
            <a:r>
              <a:rPr lang="en-US" dirty="0"/>
              <a:t>The problem of automatically inferring the general definition of some concept, given examples labeled as members or nonmembers of the concept. </a:t>
            </a:r>
          </a:p>
          <a:p>
            <a:pPr algn="just"/>
            <a:endParaRPr lang="en-US" dirty="0"/>
          </a:p>
          <a:p>
            <a:pPr algn="just"/>
            <a:r>
              <a:rPr lang="en-US" dirty="0"/>
              <a:t>This task is commonly referred to as concept learning, or approximating a </a:t>
            </a:r>
            <a:r>
              <a:rPr lang="en-US" dirty="0" err="1"/>
              <a:t>boolean</a:t>
            </a:r>
            <a:r>
              <a:rPr lang="en-US" dirty="0"/>
              <a:t>-valued function from examples. </a:t>
            </a:r>
          </a:p>
          <a:p>
            <a:pPr algn="just"/>
            <a:endParaRPr lang="en-US" dirty="0"/>
          </a:p>
          <a:p>
            <a:pPr algn="just"/>
            <a:r>
              <a:rPr lang="en-US" b="1" u="sng" dirty="0"/>
              <a:t>Concept learning</a:t>
            </a:r>
            <a:r>
              <a:rPr lang="en-US" dirty="0"/>
              <a:t>. Inferring a </a:t>
            </a:r>
            <a:r>
              <a:rPr lang="en-US" dirty="0" err="1"/>
              <a:t>boolean</a:t>
            </a:r>
            <a:r>
              <a:rPr lang="en-US" dirty="0"/>
              <a:t>-valued function from training examples of its input and output.</a:t>
            </a:r>
          </a:p>
          <a:p>
            <a:pPr algn="just"/>
            <a:endParaRPr lang="en-US" dirty="0"/>
          </a:p>
          <a:p>
            <a:pPr algn="just"/>
            <a:r>
              <a:rPr lang="en-US" dirty="0"/>
              <a:t>It helps in finding consistent hypothesis or concepts. </a:t>
            </a:r>
          </a:p>
        </p:txBody>
      </p:sp>
    </p:spTree>
    <p:extLst>
      <p:ext uri="{BB962C8B-B14F-4D97-AF65-F5344CB8AC3E}">
        <p14:creationId xmlns:p14="http://schemas.microsoft.com/office/powerpoint/2010/main" val="4107295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Concept Learning</a:t>
            </a:r>
          </a:p>
        </p:txBody>
      </p:sp>
      <p:sp>
        <p:nvSpPr>
          <p:cNvPr id="3" name="Content Placeholder 2"/>
          <p:cNvSpPr>
            <a:spLocks noGrp="1"/>
          </p:cNvSpPr>
          <p:nvPr>
            <p:ph idx="1"/>
          </p:nvPr>
        </p:nvSpPr>
        <p:spPr/>
        <p:txBody>
          <a:bodyPr>
            <a:normAutofit/>
          </a:bodyPr>
          <a:lstStyle/>
          <a:p>
            <a:pPr marL="0" indent="0" algn="ctr">
              <a:buNone/>
            </a:pPr>
            <a:r>
              <a:rPr lang="en-US" sz="2400" dirty="0"/>
              <a:t>“Inferring a Boolean-valued function from training examples of its input and output”</a:t>
            </a:r>
          </a:p>
        </p:txBody>
      </p:sp>
    </p:spTree>
    <p:extLst>
      <p:ext uri="{BB962C8B-B14F-4D97-AF65-F5344CB8AC3E}">
        <p14:creationId xmlns:p14="http://schemas.microsoft.com/office/powerpoint/2010/main" val="640701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Example Dataset</a:t>
            </a:r>
          </a:p>
        </p:txBody>
      </p:sp>
      <p:sp>
        <p:nvSpPr>
          <p:cNvPr id="3" name="Content Placeholder 2"/>
          <p:cNvSpPr>
            <a:spLocks noGrp="1"/>
          </p:cNvSpPr>
          <p:nvPr>
            <p:ph idx="1"/>
          </p:nvPr>
        </p:nvSpPr>
        <p:spPr>
          <a:xfrm>
            <a:off x="838200" y="1114425"/>
            <a:ext cx="10515600" cy="4351338"/>
          </a:xfrm>
        </p:spPr>
        <p:txBody>
          <a:bodyPr>
            <a:normAutofit/>
          </a:bodyPr>
          <a:lstStyle/>
          <a:p>
            <a:r>
              <a:rPr lang="en-US" sz="2400" dirty="0"/>
              <a:t>Consider the example task of learning the target concept "days on which my friend Aldo enjoys his favorite water sport.</a:t>
            </a:r>
          </a:p>
          <a:p>
            <a:r>
              <a:rPr lang="en-US" sz="2400" dirty="0"/>
              <a:t>Table describes a set of example days, each represented by a set of attributes. The attribute </a:t>
            </a:r>
            <a:r>
              <a:rPr lang="en-US" sz="2400" dirty="0" err="1"/>
              <a:t>EnjoySport</a:t>
            </a:r>
            <a:r>
              <a:rPr lang="en-US" sz="2400" dirty="0"/>
              <a:t> indicates whether or not Aldo enjoys his favorite water sport on this day.</a:t>
            </a:r>
          </a:p>
        </p:txBody>
      </p:sp>
      <p:pic>
        <p:nvPicPr>
          <p:cNvPr id="4" name="Picture 3"/>
          <p:cNvPicPr>
            <a:picLocks noChangeAspect="1"/>
          </p:cNvPicPr>
          <p:nvPr/>
        </p:nvPicPr>
        <p:blipFill>
          <a:blip r:embed="rId2"/>
          <a:stretch>
            <a:fillRect/>
          </a:stretch>
        </p:blipFill>
        <p:spPr>
          <a:xfrm>
            <a:off x="3673475" y="2951163"/>
            <a:ext cx="6877050" cy="3629025"/>
          </a:xfrm>
          <a:prstGeom prst="rect">
            <a:avLst/>
          </a:prstGeom>
        </p:spPr>
      </p:pic>
    </p:spTree>
    <p:extLst>
      <p:ext uri="{BB962C8B-B14F-4D97-AF65-F5344CB8AC3E}">
        <p14:creationId xmlns:p14="http://schemas.microsoft.com/office/powerpoint/2010/main" val="255073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724024"/>
            <a:ext cx="10515600" cy="6454775"/>
          </a:xfrm>
        </p:spPr>
        <p:txBody>
          <a:bodyPr/>
          <a:lstStyle/>
          <a:p>
            <a:r>
              <a:rPr lang="en-US" dirty="0"/>
              <a:t>The task is to learn to predict the value of </a:t>
            </a:r>
            <a:r>
              <a:rPr lang="en-US" dirty="0" err="1"/>
              <a:t>EnjoySport</a:t>
            </a:r>
            <a:r>
              <a:rPr lang="en-US" dirty="0"/>
              <a:t> for an arbitrary day, based on the values of its other attributes. </a:t>
            </a:r>
          </a:p>
          <a:p>
            <a:r>
              <a:rPr lang="en-US" dirty="0"/>
              <a:t>What hypothesis representation shall we provide to the learner in this case? </a:t>
            </a:r>
          </a:p>
          <a:p>
            <a:r>
              <a:rPr lang="en-US" dirty="0"/>
              <a:t>Let us begin by considering a simple representation in which each hypothesis consists of a conjunction of constraints on the instance attributes. </a:t>
            </a:r>
          </a:p>
          <a:p>
            <a:r>
              <a:rPr lang="en-US" dirty="0"/>
              <a:t>In particular, let each hypothesis be a vector of six constraints, specifying the values of the six attributes Sky, </a:t>
            </a:r>
            <a:r>
              <a:rPr lang="en-US" dirty="0" err="1"/>
              <a:t>AirTemp</a:t>
            </a:r>
            <a:r>
              <a:rPr lang="en-US" dirty="0"/>
              <a:t>, Humidity, Wind, Water, and Forecast. </a:t>
            </a:r>
          </a:p>
        </p:txBody>
      </p:sp>
      <p:sp>
        <p:nvSpPr>
          <p:cNvPr id="4" name="Title 1"/>
          <p:cNvSpPr>
            <a:spLocks noGrp="1"/>
          </p:cNvSpPr>
          <p:nvPr>
            <p:ph type="title"/>
          </p:nvPr>
        </p:nvSpPr>
        <p:spPr>
          <a:xfrm>
            <a:off x="838200" y="365125"/>
            <a:ext cx="10515600" cy="1325563"/>
          </a:xfrm>
        </p:spPr>
        <p:txBody>
          <a:bodyPr/>
          <a:lstStyle/>
          <a:p>
            <a:r>
              <a:rPr lang="en-US" dirty="0"/>
              <a:t>Representing Hypothesis</a:t>
            </a:r>
          </a:p>
        </p:txBody>
      </p:sp>
    </p:spTree>
    <p:extLst>
      <p:ext uri="{BB962C8B-B14F-4D97-AF65-F5344CB8AC3E}">
        <p14:creationId xmlns:p14="http://schemas.microsoft.com/office/powerpoint/2010/main" val="908037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Learning task</a:t>
            </a:r>
          </a:p>
        </p:txBody>
      </p:sp>
      <p:pic>
        <p:nvPicPr>
          <p:cNvPr id="4" name="Content Placeholder 3"/>
          <p:cNvPicPr>
            <a:picLocks noGrp="1" noChangeAspect="1"/>
          </p:cNvPicPr>
          <p:nvPr>
            <p:ph idx="1"/>
          </p:nvPr>
        </p:nvPicPr>
        <p:blipFill>
          <a:blip r:embed="rId3"/>
          <a:stretch>
            <a:fillRect/>
          </a:stretch>
        </p:blipFill>
        <p:spPr>
          <a:xfrm>
            <a:off x="464808" y="1839479"/>
            <a:ext cx="7032128" cy="3678238"/>
          </a:xfrm>
          <a:prstGeom prst="rect">
            <a:avLst/>
          </a:prstGeom>
        </p:spPr>
      </p:pic>
      <p:sp>
        <p:nvSpPr>
          <p:cNvPr id="5" name="Rectangle 4"/>
          <p:cNvSpPr/>
          <p:nvPr/>
        </p:nvSpPr>
        <p:spPr>
          <a:xfrm>
            <a:off x="7496936" y="1839479"/>
            <a:ext cx="4196300" cy="923330"/>
          </a:xfrm>
          <a:prstGeom prst="rect">
            <a:avLst/>
          </a:prstGeom>
        </p:spPr>
        <p:txBody>
          <a:bodyPr wrap="square">
            <a:spAutoFit/>
          </a:bodyPr>
          <a:lstStyle/>
          <a:p>
            <a:r>
              <a:rPr lang="en-US" b="1" dirty="0"/>
              <a:t>Task T</a:t>
            </a:r>
            <a:r>
              <a:rPr lang="en-US" dirty="0"/>
              <a:t>: Learn to predict the value of </a:t>
            </a:r>
            <a:r>
              <a:rPr lang="en-US" b="1" dirty="0" err="1"/>
              <a:t>EnjoySport</a:t>
            </a:r>
            <a:r>
              <a:rPr lang="en-US" dirty="0"/>
              <a:t> for an arbitrary day, based on the values of the attributes of the day.</a:t>
            </a:r>
          </a:p>
        </p:txBody>
      </p:sp>
      <p:sp>
        <p:nvSpPr>
          <p:cNvPr id="6" name="Rectangle 5"/>
          <p:cNvSpPr/>
          <p:nvPr/>
        </p:nvSpPr>
        <p:spPr>
          <a:xfrm>
            <a:off x="7509163" y="2939934"/>
            <a:ext cx="4184073" cy="1477328"/>
          </a:xfrm>
          <a:prstGeom prst="rect">
            <a:avLst/>
          </a:prstGeom>
        </p:spPr>
        <p:txBody>
          <a:bodyPr wrap="square">
            <a:spAutoFit/>
          </a:bodyPr>
          <a:lstStyle/>
          <a:p>
            <a:r>
              <a:rPr lang="en-US" b="1" dirty="0">
                <a:solidFill>
                  <a:srgbClr val="212529"/>
                </a:solidFill>
                <a:latin typeface="+mj-lt"/>
              </a:rPr>
              <a:t>Performance measure P</a:t>
            </a:r>
            <a:r>
              <a:rPr lang="en-US" dirty="0">
                <a:solidFill>
                  <a:srgbClr val="212529"/>
                </a:solidFill>
                <a:latin typeface="+mj-lt"/>
              </a:rPr>
              <a:t>: Total percent of days (</a:t>
            </a:r>
            <a:r>
              <a:rPr lang="en-US" dirty="0" err="1">
                <a:solidFill>
                  <a:srgbClr val="212529"/>
                </a:solidFill>
                <a:latin typeface="+mj-lt"/>
              </a:rPr>
              <a:t>EnjoySport</a:t>
            </a:r>
            <a:r>
              <a:rPr lang="en-US" dirty="0">
                <a:solidFill>
                  <a:srgbClr val="212529"/>
                </a:solidFill>
                <a:latin typeface="+mj-lt"/>
              </a:rPr>
              <a:t>) correctly predicted.</a:t>
            </a:r>
          </a:p>
          <a:p>
            <a:endParaRPr lang="en-US" dirty="0">
              <a:solidFill>
                <a:srgbClr val="212529"/>
              </a:solidFill>
              <a:latin typeface="+mj-lt"/>
            </a:endParaRPr>
          </a:p>
          <a:p>
            <a:r>
              <a:rPr lang="en-US" b="1" dirty="0">
                <a:solidFill>
                  <a:srgbClr val="212529"/>
                </a:solidFill>
                <a:latin typeface="+mj-lt"/>
              </a:rPr>
              <a:t>Training experience E</a:t>
            </a:r>
            <a:r>
              <a:rPr lang="en-US" dirty="0">
                <a:solidFill>
                  <a:srgbClr val="212529"/>
                </a:solidFill>
                <a:latin typeface="+mj-lt"/>
              </a:rPr>
              <a:t>: A set of days with given labels (</a:t>
            </a:r>
            <a:r>
              <a:rPr lang="en-US" dirty="0" err="1">
                <a:solidFill>
                  <a:srgbClr val="212529"/>
                </a:solidFill>
                <a:latin typeface="+mj-lt"/>
              </a:rPr>
              <a:t>EnjoySport</a:t>
            </a:r>
            <a:r>
              <a:rPr lang="en-US" dirty="0">
                <a:solidFill>
                  <a:srgbClr val="212529"/>
                </a:solidFill>
                <a:latin typeface="+mj-lt"/>
              </a:rPr>
              <a:t>: Yes/No</a:t>
            </a:r>
            <a:r>
              <a:rPr lang="en-US" dirty="0">
                <a:solidFill>
                  <a:srgbClr val="212529"/>
                </a:solidFill>
                <a:latin typeface="system-ui"/>
              </a:rPr>
              <a:t>)</a:t>
            </a:r>
            <a:endParaRPr lang="en-US" b="0" i="0" dirty="0">
              <a:solidFill>
                <a:srgbClr val="212529"/>
              </a:solidFill>
              <a:effectLst/>
              <a:latin typeface="system-ui"/>
            </a:endParaRPr>
          </a:p>
        </p:txBody>
      </p:sp>
    </p:spTree>
    <p:extLst>
      <p:ext uri="{BB962C8B-B14F-4D97-AF65-F5344CB8AC3E}">
        <p14:creationId xmlns:p14="http://schemas.microsoft.com/office/powerpoint/2010/main" val="26678479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Representing Hypothesis</a:t>
            </a:r>
          </a:p>
        </p:txBody>
      </p:sp>
      <p:sp>
        <p:nvSpPr>
          <p:cNvPr id="3" name="Content Placeholder 2"/>
          <p:cNvSpPr>
            <a:spLocks noGrp="1"/>
          </p:cNvSpPr>
          <p:nvPr>
            <p:ph idx="1"/>
          </p:nvPr>
        </p:nvSpPr>
        <p:spPr>
          <a:xfrm>
            <a:off x="838200" y="1076325"/>
            <a:ext cx="10515600" cy="4351338"/>
          </a:xfrm>
        </p:spPr>
        <p:txBody>
          <a:bodyPr/>
          <a:lstStyle/>
          <a:p>
            <a:pPr marL="0" indent="0">
              <a:buNone/>
            </a:pPr>
            <a:r>
              <a:rPr lang="en-US" dirty="0"/>
              <a:t>For each attribute, the hypothesis will either</a:t>
            </a:r>
          </a:p>
          <a:p>
            <a:endParaRPr lang="en-US" dirty="0"/>
          </a:p>
          <a:p>
            <a:r>
              <a:rPr lang="en-US" dirty="0"/>
              <a:t>indicated by a "?' that any value is acceptable for this attribute, </a:t>
            </a:r>
          </a:p>
          <a:p>
            <a:r>
              <a:rPr lang="en-US" dirty="0"/>
              <a:t>specify a single required value (e.g., Warm) for the attribute, or </a:t>
            </a:r>
          </a:p>
          <a:p>
            <a:r>
              <a:rPr lang="en-US" dirty="0"/>
              <a:t>indicated by a " ᴓ " that no value is acceptable. </a:t>
            </a:r>
          </a:p>
        </p:txBody>
      </p:sp>
    </p:spTree>
    <p:extLst>
      <p:ext uri="{BB962C8B-B14F-4D97-AF65-F5344CB8AC3E}">
        <p14:creationId xmlns:p14="http://schemas.microsoft.com/office/powerpoint/2010/main" val="4029312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Representation</a:t>
            </a:r>
          </a:p>
        </p:txBody>
      </p:sp>
      <p:sp>
        <p:nvSpPr>
          <p:cNvPr id="3" name="Content Placeholder 2"/>
          <p:cNvSpPr>
            <a:spLocks noGrp="1"/>
          </p:cNvSpPr>
          <p:nvPr>
            <p:ph idx="1"/>
          </p:nvPr>
        </p:nvSpPr>
        <p:spPr/>
        <p:txBody>
          <a:bodyPr/>
          <a:lstStyle/>
          <a:p>
            <a:r>
              <a:rPr lang="en-US" dirty="0"/>
              <a:t>A hypothesis is represented as a conjunction of constraints on attributes.</a:t>
            </a:r>
          </a:p>
          <a:p>
            <a:r>
              <a:rPr lang="en-US" dirty="0"/>
              <a:t>Attributes (for </a:t>
            </a:r>
            <a:r>
              <a:rPr lang="en-US" dirty="0" err="1"/>
              <a:t>EnjoySport</a:t>
            </a:r>
            <a:r>
              <a:rPr lang="en-US" dirty="0"/>
              <a:t>):</a:t>
            </a:r>
          </a:p>
          <a:p>
            <a:pPr lvl="1"/>
            <a:r>
              <a:rPr lang="en-US" dirty="0"/>
              <a:t>Sky ∈ {Sunny, Cloudy, Rainy}</a:t>
            </a:r>
          </a:p>
          <a:p>
            <a:pPr lvl="1"/>
            <a:r>
              <a:rPr lang="en-US" dirty="0" err="1"/>
              <a:t>AirTemp</a:t>
            </a:r>
            <a:r>
              <a:rPr lang="en-US" dirty="0"/>
              <a:t> ∈ {Warm, Cold}</a:t>
            </a:r>
          </a:p>
          <a:p>
            <a:pPr lvl="1"/>
            <a:r>
              <a:rPr lang="en-US" dirty="0"/>
              <a:t>Humidity ∈ {Normal, High}</a:t>
            </a:r>
          </a:p>
          <a:p>
            <a:pPr lvl="1"/>
            <a:r>
              <a:rPr lang="en-US" dirty="0"/>
              <a:t>Wind ∈ {Strong, Weak}</a:t>
            </a:r>
          </a:p>
          <a:p>
            <a:pPr lvl="1"/>
            <a:r>
              <a:rPr lang="en-US" dirty="0"/>
              <a:t>Water ∈ {Warm, Cool}</a:t>
            </a:r>
          </a:p>
          <a:p>
            <a:pPr lvl="1"/>
            <a:r>
              <a:rPr lang="en-US" dirty="0"/>
              <a:t>Forecast ∈ {Same, Change}</a:t>
            </a:r>
          </a:p>
          <a:p>
            <a:endParaRPr lang="en-US" dirty="0"/>
          </a:p>
        </p:txBody>
      </p:sp>
    </p:spTree>
    <p:extLst>
      <p:ext uri="{BB962C8B-B14F-4D97-AF65-F5344CB8AC3E}">
        <p14:creationId xmlns:p14="http://schemas.microsoft.com/office/powerpoint/2010/main" val="220100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Hypothesis representation</a:t>
            </a:r>
          </a:p>
        </p:txBody>
      </p:sp>
      <p:sp>
        <p:nvSpPr>
          <p:cNvPr id="3" name="Content Placeholder 2"/>
          <p:cNvSpPr>
            <a:spLocks noGrp="1"/>
          </p:cNvSpPr>
          <p:nvPr>
            <p:ph idx="1"/>
          </p:nvPr>
        </p:nvSpPr>
        <p:spPr/>
        <p:txBody>
          <a:bodyPr/>
          <a:lstStyle/>
          <a:p>
            <a:r>
              <a:rPr lang="en-US" dirty="0"/>
              <a:t>Each hypothesis is a 6-tuple:</a:t>
            </a:r>
          </a:p>
          <a:p>
            <a:r>
              <a:rPr lang="en-US" dirty="0"/>
              <a:t>Specific attribute value (e.g., Sunny)</a:t>
            </a:r>
          </a:p>
          <a:p>
            <a:r>
              <a:rPr lang="en-US" dirty="0"/>
              <a:t>“?” (any value acceptable)</a:t>
            </a:r>
          </a:p>
          <a:p>
            <a:r>
              <a:rPr lang="en-US" dirty="0"/>
              <a:t>“Ø” (no value acceptable = impossible)</a:t>
            </a:r>
          </a:p>
          <a:p>
            <a:endParaRPr lang="en-US" dirty="0"/>
          </a:p>
        </p:txBody>
      </p:sp>
      <p:sp>
        <p:nvSpPr>
          <p:cNvPr id="4" name="TextBox 3"/>
          <p:cNvSpPr txBox="1"/>
          <p:nvPr/>
        </p:nvSpPr>
        <p:spPr>
          <a:xfrm>
            <a:off x="1958109" y="5320145"/>
            <a:ext cx="7904985" cy="646331"/>
          </a:xfrm>
          <a:prstGeom prst="rect">
            <a:avLst/>
          </a:prstGeom>
          <a:noFill/>
        </p:spPr>
        <p:txBody>
          <a:bodyPr wrap="none" rtlCol="0">
            <a:spAutoFit/>
          </a:bodyPr>
          <a:lstStyle/>
          <a:p>
            <a:r>
              <a:rPr lang="en-US" i="1" dirty="0"/>
              <a:t>Concept learning can be formulated as searching through a predefined space of potential</a:t>
            </a:r>
          </a:p>
          <a:p>
            <a:r>
              <a:rPr lang="en-US" i="1" dirty="0"/>
              <a:t>Hypothesis for the hypothesis that best fits the training samples</a:t>
            </a:r>
          </a:p>
        </p:txBody>
      </p:sp>
      <p:pic>
        <p:nvPicPr>
          <p:cNvPr id="5" name="Picture 4"/>
          <p:cNvPicPr>
            <a:picLocks noChangeAspect="1"/>
          </p:cNvPicPr>
          <p:nvPr/>
        </p:nvPicPr>
        <p:blipFill>
          <a:blip r:embed="rId2"/>
          <a:stretch>
            <a:fillRect/>
          </a:stretch>
        </p:blipFill>
        <p:spPr>
          <a:xfrm>
            <a:off x="7227699" y="1162050"/>
            <a:ext cx="4591050" cy="2266950"/>
          </a:xfrm>
          <a:prstGeom prst="rect">
            <a:avLst/>
          </a:prstGeom>
        </p:spPr>
      </p:pic>
    </p:spTree>
    <p:extLst>
      <p:ext uri="{BB962C8B-B14F-4D97-AF65-F5344CB8AC3E}">
        <p14:creationId xmlns:p14="http://schemas.microsoft.com/office/powerpoint/2010/main" val="2208417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Hypothesis</a:t>
            </a:r>
          </a:p>
        </p:txBody>
      </p:sp>
      <p:pic>
        <p:nvPicPr>
          <p:cNvPr id="4" name="Picture 3"/>
          <p:cNvPicPr>
            <a:picLocks noChangeAspect="1"/>
          </p:cNvPicPr>
          <p:nvPr/>
        </p:nvPicPr>
        <p:blipFill>
          <a:blip r:embed="rId2"/>
          <a:stretch>
            <a:fillRect/>
          </a:stretch>
        </p:blipFill>
        <p:spPr>
          <a:xfrm>
            <a:off x="2044700" y="1690688"/>
            <a:ext cx="7470560" cy="4621212"/>
          </a:xfrm>
          <a:prstGeom prst="rect">
            <a:avLst/>
          </a:prstGeom>
        </p:spPr>
      </p:pic>
    </p:spTree>
    <p:extLst>
      <p:ext uri="{BB962C8B-B14F-4D97-AF65-F5344CB8AC3E}">
        <p14:creationId xmlns:p14="http://schemas.microsoft.com/office/powerpoint/2010/main" val="2825897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Hypothesis</a:t>
            </a:r>
          </a:p>
        </p:txBody>
      </p:sp>
      <p:sp>
        <p:nvSpPr>
          <p:cNvPr id="3" name="Content Placeholder 2"/>
          <p:cNvSpPr>
            <a:spLocks noGrp="1"/>
          </p:cNvSpPr>
          <p:nvPr>
            <p:ph idx="1"/>
          </p:nvPr>
        </p:nvSpPr>
        <p:spPr/>
        <p:txBody>
          <a:bodyPr/>
          <a:lstStyle/>
          <a:p>
            <a:r>
              <a:rPr lang="en-US" dirty="0"/>
              <a:t>Most general hypothesis-</a:t>
            </a:r>
          </a:p>
          <a:p>
            <a:endParaRPr lang="en-US" dirty="0"/>
          </a:p>
          <a:p>
            <a:endParaRPr lang="en-US" dirty="0"/>
          </a:p>
          <a:p>
            <a:r>
              <a:rPr lang="en-US" dirty="0"/>
              <a:t>Most specific hypothesis-</a:t>
            </a:r>
          </a:p>
        </p:txBody>
      </p:sp>
      <p:pic>
        <p:nvPicPr>
          <p:cNvPr id="4" name="Picture 3"/>
          <p:cNvPicPr>
            <a:picLocks noChangeAspect="1"/>
          </p:cNvPicPr>
          <p:nvPr/>
        </p:nvPicPr>
        <p:blipFill>
          <a:blip r:embed="rId2"/>
          <a:stretch>
            <a:fillRect/>
          </a:stretch>
        </p:blipFill>
        <p:spPr>
          <a:xfrm>
            <a:off x="4014787" y="2473324"/>
            <a:ext cx="2366963" cy="676275"/>
          </a:xfrm>
          <a:prstGeom prst="rect">
            <a:avLst/>
          </a:prstGeom>
        </p:spPr>
      </p:pic>
      <p:pic>
        <p:nvPicPr>
          <p:cNvPr id="5" name="Picture 4"/>
          <p:cNvPicPr>
            <a:picLocks noChangeAspect="1"/>
          </p:cNvPicPr>
          <p:nvPr/>
        </p:nvPicPr>
        <p:blipFill>
          <a:blip r:embed="rId3"/>
          <a:stretch>
            <a:fillRect/>
          </a:stretch>
        </p:blipFill>
        <p:spPr>
          <a:xfrm>
            <a:off x="4190999" y="4163218"/>
            <a:ext cx="2032547" cy="523082"/>
          </a:xfrm>
          <a:prstGeom prst="rect">
            <a:avLst/>
          </a:prstGeom>
        </p:spPr>
      </p:pic>
    </p:spTree>
    <p:extLst>
      <p:ext uri="{BB962C8B-B14F-4D97-AF65-F5344CB8AC3E}">
        <p14:creationId xmlns:p14="http://schemas.microsoft.com/office/powerpoint/2010/main" val="3711771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Representing Hypothesis</a:t>
            </a:r>
          </a:p>
        </p:txBody>
      </p:sp>
      <p:sp>
        <p:nvSpPr>
          <p:cNvPr id="3" name="Content Placeholder 2"/>
          <p:cNvSpPr>
            <a:spLocks noGrp="1"/>
          </p:cNvSpPr>
          <p:nvPr>
            <p:ph idx="1"/>
          </p:nvPr>
        </p:nvSpPr>
        <p:spPr/>
        <p:txBody>
          <a:bodyPr/>
          <a:lstStyle/>
          <a:p>
            <a:r>
              <a:rPr lang="en-US" dirty="0"/>
              <a:t>If some instance x satisfies all the constraints of hypothesis h, then h classifies x as a positive example (h(x) = 1). </a:t>
            </a:r>
          </a:p>
          <a:p>
            <a:endParaRPr lang="en-US" dirty="0"/>
          </a:p>
          <a:p>
            <a:r>
              <a:rPr lang="en-US" dirty="0"/>
              <a:t>To illustrate, the hypothesis that Aldo enjoys his favorite sport only on cold days with high humidity (independent of the values of the other attributes) is represented by the expression </a:t>
            </a:r>
          </a:p>
          <a:p>
            <a:endParaRPr lang="en-US" dirty="0"/>
          </a:p>
          <a:p>
            <a:r>
              <a:rPr lang="en-US" dirty="0"/>
              <a:t>(?, Cold, High, ?, ?, ?) </a:t>
            </a:r>
          </a:p>
        </p:txBody>
      </p:sp>
    </p:spTree>
    <p:extLst>
      <p:ext uri="{BB962C8B-B14F-4D97-AF65-F5344CB8AC3E}">
        <p14:creationId xmlns:p14="http://schemas.microsoft.com/office/powerpoint/2010/main" val="759958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summarize…</a:t>
            </a:r>
          </a:p>
        </p:txBody>
      </p:sp>
      <p:sp>
        <p:nvSpPr>
          <p:cNvPr id="3" name="Content Placeholder 2"/>
          <p:cNvSpPr>
            <a:spLocks noGrp="1"/>
          </p:cNvSpPr>
          <p:nvPr>
            <p:ph idx="1"/>
          </p:nvPr>
        </p:nvSpPr>
        <p:spPr/>
        <p:txBody>
          <a:bodyPr/>
          <a:lstStyle/>
          <a:p>
            <a:pPr algn="just"/>
            <a:r>
              <a:rPr lang="en-US" dirty="0"/>
              <a:t>The </a:t>
            </a:r>
            <a:r>
              <a:rPr lang="en-US" dirty="0" err="1"/>
              <a:t>EnjoySport</a:t>
            </a:r>
            <a:r>
              <a:rPr lang="en-US" dirty="0"/>
              <a:t> concept learning task requires learning the set of days for which </a:t>
            </a:r>
            <a:r>
              <a:rPr lang="en-US" dirty="0" err="1"/>
              <a:t>EnjoySport</a:t>
            </a:r>
            <a:r>
              <a:rPr lang="en-US" dirty="0"/>
              <a:t> = yes, describing this set by a conjunction of constraints over the instance attributes. </a:t>
            </a:r>
          </a:p>
          <a:p>
            <a:pPr algn="just"/>
            <a:endParaRPr lang="en-US" dirty="0"/>
          </a:p>
          <a:p>
            <a:pPr algn="just"/>
            <a:r>
              <a:rPr lang="en-US" dirty="0"/>
              <a:t>In general, any concept learning task can be described by the set of instances over which the target function is defined, the target function, the set of candidate hypotheses considered by the learner, and the set of available training examples.</a:t>
            </a:r>
          </a:p>
        </p:txBody>
      </p:sp>
    </p:spTree>
    <p:extLst>
      <p:ext uri="{BB962C8B-B14F-4D97-AF65-F5344CB8AC3E}">
        <p14:creationId xmlns:p14="http://schemas.microsoft.com/office/powerpoint/2010/main" val="1443579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Concept Learning Task</a:t>
            </a:r>
          </a:p>
        </p:txBody>
      </p:sp>
      <p:pic>
        <p:nvPicPr>
          <p:cNvPr id="4" name="Picture 3"/>
          <p:cNvPicPr>
            <a:picLocks noChangeAspect="1"/>
          </p:cNvPicPr>
          <p:nvPr/>
        </p:nvPicPr>
        <p:blipFill>
          <a:blip r:embed="rId2"/>
          <a:stretch>
            <a:fillRect/>
          </a:stretch>
        </p:blipFill>
        <p:spPr>
          <a:xfrm>
            <a:off x="2820687" y="1041400"/>
            <a:ext cx="6751938" cy="5622925"/>
          </a:xfrm>
          <a:prstGeom prst="rect">
            <a:avLst/>
          </a:prstGeom>
        </p:spPr>
      </p:pic>
    </p:spTree>
    <p:extLst>
      <p:ext uri="{BB962C8B-B14F-4D97-AF65-F5344CB8AC3E}">
        <p14:creationId xmlns:p14="http://schemas.microsoft.com/office/powerpoint/2010/main" val="3037222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77942"/>
            <a:ext cx="10515600" cy="1325563"/>
          </a:xfrm>
        </p:spPr>
        <p:txBody>
          <a:bodyPr/>
          <a:lstStyle/>
          <a:p>
            <a:r>
              <a:rPr lang="en-US" dirty="0"/>
              <a:t>How to write all possible concepts and hypothesis</a:t>
            </a:r>
          </a:p>
        </p:txBody>
      </p:sp>
      <p:sp>
        <p:nvSpPr>
          <p:cNvPr id="3" name="Content Placeholder 2"/>
          <p:cNvSpPr>
            <a:spLocks noGrp="1"/>
          </p:cNvSpPr>
          <p:nvPr>
            <p:ph idx="1"/>
          </p:nvPr>
        </p:nvSpPr>
        <p:spPr>
          <a:xfrm>
            <a:off x="581191" y="1403505"/>
            <a:ext cx="11029615" cy="2511577"/>
          </a:xfrm>
        </p:spPr>
        <p:txBody>
          <a:bodyPr>
            <a:normAutofit fontScale="92500" lnSpcReduction="10000"/>
          </a:bodyPr>
          <a:lstStyle/>
          <a:p>
            <a:r>
              <a:rPr lang="en-US" dirty="0"/>
              <a:t>If we have 2 features each with only 2 possibilities</a:t>
            </a:r>
          </a:p>
          <a:p>
            <a:r>
              <a:rPr lang="en-US" dirty="0"/>
              <a:t>F1 with values X and Y   (2)</a:t>
            </a:r>
          </a:p>
          <a:p>
            <a:r>
              <a:rPr lang="en-US" dirty="0"/>
              <a:t>F2 with values A and B   (2)</a:t>
            </a:r>
          </a:p>
          <a:p>
            <a:r>
              <a:rPr lang="en-US" dirty="0"/>
              <a:t>Concept or instance space would have 4 (2 x 2)possibilities (X,A), (X,B), (Y, A), (Y, B)</a:t>
            </a:r>
          </a:p>
          <a:p>
            <a:r>
              <a:rPr lang="en-US" dirty="0"/>
              <a:t>Hypothesis space would be as following after including null and ?  (4 x 4)</a:t>
            </a:r>
          </a:p>
          <a:p>
            <a:endParaRPr lang="en-US" dirty="0"/>
          </a:p>
        </p:txBody>
      </p:sp>
      <p:pic>
        <p:nvPicPr>
          <p:cNvPr id="4" name="Picture 3"/>
          <p:cNvPicPr>
            <a:picLocks noChangeAspect="1"/>
          </p:cNvPicPr>
          <p:nvPr/>
        </p:nvPicPr>
        <p:blipFill>
          <a:blip r:embed="rId2"/>
          <a:stretch>
            <a:fillRect/>
          </a:stretch>
        </p:blipFill>
        <p:spPr>
          <a:xfrm>
            <a:off x="1023114" y="3915082"/>
            <a:ext cx="8696325" cy="1133475"/>
          </a:xfrm>
          <a:prstGeom prst="rect">
            <a:avLst/>
          </a:prstGeom>
        </p:spPr>
      </p:pic>
      <p:sp>
        <p:nvSpPr>
          <p:cNvPr id="5" name="TextBox 4"/>
          <p:cNvSpPr txBox="1"/>
          <p:nvPr/>
        </p:nvSpPr>
        <p:spPr>
          <a:xfrm>
            <a:off x="838199" y="4917479"/>
            <a:ext cx="10002675" cy="646331"/>
          </a:xfrm>
          <a:prstGeom prst="rect">
            <a:avLst/>
          </a:prstGeom>
          <a:noFill/>
        </p:spPr>
        <p:txBody>
          <a:bodyPr wrap="none" rtlCol="0">
            <a:spAutoFit/>
          </a:bodyPr>
          <a:lstStyle/>
          <a:p>
            <a:r>
              <a:rPr lang="en-US" dirty="0"/>
              <a:t>We will remove the ones with null combination leaving only (Ø. Ø), then semantically distinct hypothesis </a:t>
            </a:r>
          </a:p>
          <a:p>
            <a:r>
              <a:rPr lang="en-US" dirty="0"/>
              <a:t>would be only 10</a:t>
            </a:r>
          </a:p>
        </p:txBody>
      </p:sp>
      <p:pic>
        <p:nvPicPr>
          <p:cNvPr id="8" name="Picture 7">
            <a:extLst>
              <a:ext uri="{FF2B5EF4-FFF2-40B4-BE49-F238E27FC236}">
                <a16:creationId xmlns:a16="http://schemas.microsoft.com/office/drawing/2014/main" id="{F164BB13-98B7-6230-0364-4CB28626CB75}"/>
              </a:ext>
            </a:extLst>
          </p:cNvPr>
          <p:cNvPicPr>
            <a:picLocks noChangeAspect="1"/>
          </p:cNvPicPr>
          <p:nvPr/>
        </p:nvPicPr>
        <p:blipFill>
          <a:blip r:embed="rId3"/>
          <a:stretch>
            <a:fillRect/>
          </a:stretch>
        </p:blipFill>
        <p:spPr>
          <a:xfrm>
            <a:off x="1023114" y="5619758"/>
            <a:ext cx="9181935" cy="862392"/>
          </a:xfrm>
          <a:prstGeom prst="rect">
            <a:avLst/>
          </a:prstGeom>
        </p:spPr>
      </p:pic>
      <p:sp>
        <p:nvSpPr>
          <p:cNvPr id="9" name="TextBox 8">
            <a:extLst>
              <a:ext uri="{FF2B5EF4-FFF2-40B4-BE49-F238E27FC236}">
                <a16:creationId xmlns:a16="http://schemas.microsoft.com/office/drawing/2014/main" id="{DFC4374C-3EA3-6127-4E8A-5632803D21D9}"/>
              </a:ext>
            </a:extLst>
          </p:cNvPr>
          <p:cNvSpPr txBox="1"/>
          <p:nvPr/>
        </p:nvSpPr>
        <p:spPr>
          <a:xfrm>
            <a:off x="4430110" y="6482150"/>
            <a:ext cx="2900856" cy="369332"/>
          </a:xfrm>
          <a:prstGeom prst="rect">
            <a:avLst/>
          </a:prstGeom>
          <a:noFill/>
        </p:spPr>
        <p:txBody>
          <a:bodyPr wrap="square" rtlCol="0">
            <a:spAutoFit/>
          </a:bodyPr>
          <a:lstStyle/>
          <a:p>
            <a:r>
              <a:rPr lang="en-US" dirty="0"/>
              <a:t>3 x 3 + 1</a:t>
            </a:r>
            <a:endParaRPr lang="en-PK" dirty="0"/>
          </a:p>
        </p:txBody>
      </p:sp>
    </p:spTree>
    <p:extLst>
      <p:ext uri="{BB962C8B-B14F-4D97-AF65-F5344CB8AC3E}">
        <p14:creationId xmlns:p14="http://schemas.microsoft.com/office/powerpoint/2010/main" val="29362807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potential hypothesis?</a:t>
            </a:r>
          </a:p>
        </p:txBody>
      </p:sp>
      <p:sp>
        <p:nvSpPr>
          <p:cNvPr id="3" name="Content Placeholder 2"/>
          <p:cNvSpPr>
            <a:spLocks noGrp="1"/>
          </p:cNvSpPr>
          <p:nvPr>
            <p:ph idx="1"/>
          </p:nvPr>
        </p:nvSpPr>
        <p:spPr/>
        <p:txBody>
          <a:bodyPr/>
          <a:lstStyle/>
          <a:p>
            <a:r>
              <a:rPr lang="en-US" dirty="0"/>
              <a:t>What are the possible values for each attribute?</a:t>
            </a:r>
          </a:p>
          <a:p>
            <a:r>
              <a:rPr lang="en-US" dirty="0"/>
              <a:t>Sky </a:t>
            </a:r>
            <a:r>
              <a:rPr lang="en-US" dirty="0">
                <a:sym typeface="Wingdings" panose="05000000000000000000" pitchFamily="2" charset="2"/>
              </a:rPr>
              <a:t></a:t>
            </a:r>
            <a:r>
              <a:rPr lang="en-US" dirty="0"/>
              <a:t> 3 values</a:t>
            </a:r>
          </a:p>
          <a:p>
            <a:r>
              <a:rPr lang="en-US" dirty="0" err="1"/>
              <a:t>Airtemp</a:t>
            </a:r>
            <a:r>
              <a:rPr lang="en-US" dirty="0">
                <a:sym typeface="Wingdings" panose="05000000000000000000" pitchFamily="2" charset="2"/>
              </a:rPr>
              <a:t> 2</a:t>
            </a:r>
          </a:p>
          <a:p>
            <a:r>
              <a:rPr lang="en-US" dirty="0">
                <a:sym typeface="Wingdings" panose="05000000000000000000" pitchFamily="2" charset="2"/>
              </a:rPr>
              <a:t>Humidity  2 </a:t>
            </a:r>
          </a:p>
          <a:p>
            <a:r>
              <a:rPr lang="en-US" dirty="0">
                <a:sym typeface="Wingdings" panose="05000000000000000000" pitchFamily="2" charset="2"/>
              </a:rPr>
              <a:t>Wind  2</a:t>
            </a:r>
          </a:p>
          <a:p>
            <a:r>
              <a:rPr lang="en-US" dirty="0">
                <a:sym typeface="Wingdings" panose="05000000000000000000" pitchFamily="2" charset="2"/>
              </a:rPr>
              <a:t>Water  2</a:t>
            </a:r>
          </a:p>
          <a:p>
            <a:r>
              <a:rPr lang="en-US" dirty="0">
                <a:sym typeface="Wingdings" panose="05000000000000000000" pitchFamily="2" charset="2"/>
              </a:rPr>
              <a:t>Forecast  2</a:t>
            </a:r>
          </a:p>
          <a:p>
            <a:r>
              <a:rPr lang="en-US" dirty="0">
                <a:sym typeface="Wingdings" panose="05000000000000000000" pitchFamily="2" charset="2"/>
              </a:rPr>
              <a:t>We also have to add ? And </a:t>
            </a:r>
            <a:r>
              <a:rPr lang="en-US" dirty="0"/>
              <a:t>Ø</a:t>
            </a:r>
          </a:p>
        </p:txBody>
      </p:sp>
      <p:pic>
        <p:nvPicPr>
          <p:cNvPr id="4" name="Content Placeholder 3"/>
          <p:cNvPicPr>
            <a:picLocks noChangeAspect="1"/>
          </p:cNvPicPr>
          <p:nvPr/>
        </p:nvPicPr>
        <p:blipFill>
          <a:blip r:embed="rId2"/>
          <a:stretch>
            <a:fillRect/>
          </a:stretch>
        </p:blipFill>
        <p:spPr>
          <a:xfrm>
            <a:off x="5298010" y="2146148"/>
            <a:ext cx="6388572" cy="3341618"/>
          </a:xfrm>
          <a:prstGeom prst="rect">
            <a:avLst/>
          </a:prstGeom>
        </p:spPr>
      </p:pic>
    </p:spTree>
    <p:extLst>
      <p:ext uri="{BB962C8B-B14F-4D97-AF65-F5344CB8AC3E}">
        <p14:creationId xmlns:p14="http://schemas.microsoft.com/office/powerpoint/2010/main" val="2771481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So in our example the concept space would have 3*2*2*2*2*2 = 96 possibilities</a:t>
            </a:r>
          </a:p>
          <a:p>
            <a:r>
              <a:rPr lang="en-US" dirty="0"/>
              <a:t>Hypothesis space would have  4*3*3*3*3*3 +1 = 973</a:t>
            </a:r>
          </a:p>
          <a:p>
            <a:r>
              <a:rPr lang="en-US" dirty="0"/>
              <a:t>The task now is to search for a hypothesis that would represent the training examples. </a:t>
            </a:r>
          </a:p>
        </p:txBody>
      </p:sp>
    </p:spTree>
    <p:extLst>
      <p:ext uri="{BB962C8B-B14F-4D97-AF65-F5344CB8AC3E}">
        <p14:creationId xmlns:p14="http://schemas.microsoft.com/office/powerpoint/2010/main" val="721387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6426" y="2425249"/>
            <a:ext cx="7872500" cy="3024205"/>
          </a:xfrm>
          <a:prstGeom prst="rect">
            <a:avLst/>
          </a:prstGeom>
        </p:spPr>
      </p:pic>
    </p:spTree>
    <p:extLst>
      <p:ext uri="{BB962C8B-B14F-4D97-AF65-F5344CB8AC3E}">
        <p14:creationId xmlns:p14="http://schemas.microsoft.com/office/powerpoint/2010/main" val="1395516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325"/>
            <a:ext cx="10515600" cy="1325563"/>
          </a:xfrm>
        </p:spPr>
        <p:txBody>
          <a:bodyPr/>
          <a:lstStyle/>
          <a:p>
            <a:r>
              <a:rPr lang="en-US" dirty="0"/>
              <a:t>CONCEPT LEARNING AS SEARCH</a:t>
            </a:r>
          </a:p>
        </p:txBody>
      </p:sp>
      <p:sp>
        <p:nvSpPr>
          <p:cNvPr id="3" name="Content Placeholder 2"/>
          <p:cNvSpPr>
            <a:spLocks noGrp="1"/>
          </p:cNvSpPr>
          <p:nvPr>
            <p:ph idx="1"/>
          </p:nvPr>
        </p:nvSpPr>
        <p:spPr>
          <a:xfrm>
            <a:off x="838200" y="1385888"/>
            <a:ext cx="10515600" cy="5307012"/>
          </a:xfrm>
        </p:spPr>
        <p:txBody>
          <a:bodyPr>
            <a:normAutofit/>
          </a:bodyPr>
          <a:lstStyle/>
          <a:p>
            <a:pPr algn="just"/>
            <a:r>
              <a:rPr lang="en-US" dirty="0"/>
              <a:t>Concept learning can be viewed as the task of searching through a large space of hypotheses implicitly defined by the hypothesis representation. </a:t>
            </a:r>
          </a:p>
          <a:p>
            <a:pPr algn="just"/>
            <a:r>
              <a:rPr lang="en-US" dirty="0"/>
              <a:t>The goal of this search is to find the hypothesis that best fits the training examples. </a:t>
            </a:r>
          </a:p>
          <a:p>
            <a:pPr algn="just"/>
            <a:r>
              <a:rPr lang="en-US" dirty="0"/>
              <a:t>If we view learning as a search problem, then it is natural that our study of learning algorithms will examine different strategies for searching the hypothesis space. </a:t>
            </a:r>
          </a:p>
          <a:p>
            <a:pPr algn="just"/>
            <a:r>
              <a:rPr lang="en-US" dirty="0"/>
              <a:t>We will be particularly interested in algorithms capable of efficiently searching very large or infinite hypothesis spaces, to find the hypotheses that best fit the training data. </a:t>
            </a:r>
          </a:p>
        </p:txBody>
      </p:sp>
    </p:spTree>
    <p:extLst>
      <p:ext uri="{BB962C8B-B14F-4D97-AF65-F5344CB8AC3E}">
        <p14:creationId xmlns:p14="http://schemas.microsoft.com/office/powerpoint/2010/main" val="252103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to specific Ordering of Hypothesis</a:t>
            </a:r>
          </a:p>
        </p:txBody>
      </p:sp>
      <p:sp>
        <p:nvSpPr>
          <p:cNvPr id="3" name="Content Placeholder 2"/>
          <p:cNvSpPr>
            <a:spLocks noGrp="1"/>
          </p:cNvSpPr>
          <p:nvPr>
            <p:ph idx="1"/>
          </p:nvPr>
        </p:nvSpPr>
        <p:spPr/>
        <p:txBody>
          <a:bodyPr/>
          <a:lstStyle/>
          <a:p>
            <a:r>
              <a:rPr lang="en-US" dirty="0"/>
              <a:t>In concept learning we have to find a hypothesis that best fits the training examples.</a:t>
            </a:r>
          </a:p>
          <a:p>
            <a:r>
              <a:rPr lang="en-US" dirty="0"/>
              <a:t>In most concept learning algorithms the search is through the hypothesis space.</a:t>
            </a:r>
          </a:p>
          <a:p>
            <a:r>
              <a:rPr lang="en-US" dirty="0"/>
              <a:t>The hypothesis is ordered from the most general to the most specific</a:t>
            </a:r>
          </a:p>
        </p:txBody>
      </p:sp>
    </p:spTree>
    <p:extLst>
      <p:ext uri="{BB962C8B-B14F-4D97-AF65-F5344CB8AC3E}">
        <p14:creationId xmlns:p14="http://schemas.microsoft.com/office/powerpoint/2010/main" val="2612904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225"/>
            <a:ext cx="10515600" cy="1325563"/>
          </a:xfrm>
        </p:spPr>
        <p:txBody>
          <a:bodyPr/>
          <a:lstStyle/>
          <a:p>
            <a:r>
              <a:rPr lang="en-US" dirty="0"/>
              <a:t>General-to-Specific Ordering of Hypotheses</a:t>
            </a:r>
          </a:p>
        </p:txBody>
      </p:sp>
      <p:sp>
        <p:nvSpPr>
          <p:cNvPr id="3" name="Content Placeholder 2"/>
          <p:cNvSpPr>
            <a:spLocks noGrp="1"/>
          </p:cNvSpPr>
          <p:nvPr>
            <p:ph idx="1"/>
          </p:nvPr>
        </p:nvSpPr>
        <p:spPr>
          <a:xfrm>
            <a:off x="838200" y="1114424"/>
            <a:ext cx="10668000" cy="5629276"/>
          </a:xfrm>
        </p:spPr>
        <p:txBody>
          <a:bodyPr>
            <a:normAutofit/>
          </a:bodyPr>
          <a:lstStyle/>
          <a:p>
            <a:pPr algn="just"/>
            <a:r>
              <a:rPr lang="en-US" sz="2400" dirty="0"/>
              <a:t>Many algorithms for concept learning organize the search through the hypothesis space by relying on a very useful structure that exists for any concept learning problem: a general-to-specific ordering of hypotheses.</a:t>
            </a:r>
          </a:p>
          <a:p>
            <a:pPr algn="just"/>
            <a:r>
              <a:rPr lang="en-US" sz="2400" dirty="0"/>
              <a:t>To illustrate the general-to-specific ordering, consider the two hypotheses </a:t>
            </a:r>
          </a:p>
          <a:p>
            <a:pPr algn="just"/>
            <a:endParaRPr lang="en-US" sz="2400" dirty="0"/>
          </a:p>
          <a:p>
            <a:pPr algn="just"/>
            <a:r>
              <a:rPr lang="en-US" sz="2400" dirty="0"/>
              <a:t>h1 = (Sunny, ?, ?, Strong, ?, ?) </a:t>
            </a:r>
          </a:p>
          <a:p>
            <a:pPr algn="just"/>
            <a:r>
              <a:rPr lang="en-US" sz="2400" dirty="0"/>
              <a:t>h2 = (Sunny, ?, ?, ?, ?, ?) </a:t>
            </a:r>
          </a:p>
          <a:p>
            <a:pPr algn="just"/>
            <a:endParaRPr lang="en-US" sz="2400" dirty="0"/>
          </a:p>
          <a:p>
            <a:pPr algn="just"/>
            <a:r>
              <a:rPr lang="en-US" sz="2400" dirty="0"/>
              <a:t>Now consider the sets of instances that are classified positive by hl and by h2. </a:t>
            </a:r>
          </a:p>
          <a:p>
            <a:pPr algn="just"/>
            <a:r>
              <a:rPr lang="en-US" sz="2400" dirty="0"/>
              <a:t>Because h2 imposes fewer constraints on the instance, it classifies more instances as positive.</a:t>
            </a:r>
          </a:p>
          <a:p>
            <a:pPr algn="just"/>
            <a:r>
              <a:rPr lang="en-US" sz="2400" dirty="0"/>
              <a:t>In fact, any instance classified positive by hl will also be classified positive by h2. </a:t>
            </a:r>
          </a:p>
          <a:p>
            <a:pPr algn="just"/>
            <a:r>
              <a:rPr lang="en-US" sz="2400" dirty="0"/>
              <a:t>Therefore, we say that h2 is more general than hl. </a:t>
            </a:r>
          </a:p>
        </p:txBody>
      </p:sp>
    </p:spTree>
    <p:extLst>
      <p:ext uri="{BB962C8B-B14F-4D97-AF65-F5344CB8AC3E}">
        <p14:creationId xmlns:p14="http://schemas.microsoft.com/office/powerpoint/2010/main" val="2948966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575"/>
            <a:ext cx="10515600" cy="1325563"/>
          </a:xfrm>
        </p:spPr>
        <p:txBody>
          <a:bodyPr/>
          <a:lstStyle/>
          <a:p>
            <a:r>
              <a:rPr lang="en-US" dirty="0"/>
              <a:t>Instance, Hypothesis and More-General-Than</a:t>
            </a:r>
          </a:p>
        </p:txBody>
      </p:sp>
      <p:sp>
        <p:nvSpPr>
          <p:cNvPr id="3" name="Content Placeholder 2"/>
          <p:cNvSpPr>
            <a:spLocks noGrp="1"/>
          </p:cNvSpPr>
          <p:nvPr>
            <p:ph idx="1"/>
          </p:nvPr>
        </p:nvSpPr>
        <p:spPr>
          <a:xfrm>
            <a:off x="228600" y="962025"/>
            <a:ext cx="10515600" cy="4351338"/>
          </a:xfrm>
        </p:spPr>
        <p:txBody>
          <a:bodyPr/>
          <a:lstStyle/>
          <a:p>
            <a:r>
              <a:rPr lang="en-US" dirty="0"/>
              <a:t>Consider the three hypotheses hl, h2, and h3 </a:t>
            </a:r>
          </a:p>
          <a:p>
            <a:r>
              <a:rPr lang="en-US" dirty="0"/>
              <a:t>As noted earlier, hypothesis h2 is more general than hl because every instance that satisfies hl also satisfies h2. </a:t>
            </a:r>
          </a:p>
          <a:p>
            <a:r>
              <a:rPr lang="en-US" dirty="0"/>
              <a:t>Similarly, h2 is more </a:t>
            </a:r>
          </a:p>
          <a:p>
            <a:r>
              <a:rPr lang="en-US" dirty="0"/>
              <a:t>general than h3. </a:t>
            </a:r>
          </a:p>
          <a:p>
            <a:endParaRPr lang="en-US" dirty="0"/>
          </a:p>
        </p:txBody>
      </p:sp>
      <p:pic>
        <p:nvPicPr>
          <p:cNvPr id="4" name="Picture 3"/>
          <p:cNvPicPr>
            <a:picLocks noChangeAspect="1"/>
          </p:cNvPicPr>
          <p:nvPr/>
        </p:nvPicPr>
        <p:blipFill>
          <a:blip r:embed="rId2"/>
          <a:stretch>
            <a:fillRect/>
          </a:stretch>
        </p:blipFill>
        <p:spPr>
          <a:xfrm>
            <a:off x="4178300" y="2451101"/>
            <a:ext cx="7362880" cy="4406900"/>
          </a:xfrm>
          <a:prstGeom prst="rect">
            <a:avLst/>
          </a:prstGeom>
        </p:spPr>
      </p:pic>
    </p:spTree>
    <p:extLst>
      <p:ext uri="{BB962C8B-B14F-4D97-AF65-F5344CB8AC3E}">
        <p14:creationId xmlns:p14="http://schemas.microsoft.com/office/powerpoint/2010/main" val="3183716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Find-S Algorithm</a:t>
            </a:r>
          </a:p>
        </p:txBody>
      </p:sp>
      <p:sp>
        <p:nvSpPr>
          <p:cNvPr id="5" name="Subtitle 4"/>
          <p:cNvSpPr>
            <a:spLocks noGrp="1"/>
          </p:cNvSpPr>
          <p:nvPr>
            <p:ph type="subTitle" idx="1"/>
          </p:nvPr>
        </p:nvSpPr>
        <p:spPr/>
        <p:txBody>
          <a:bodyPr/>
          <a:lstStyle/>
          <a:p>
            <a:r>
              <a:rPr lang="en-US" dirty="0"/>
              <a:t>Searching for the hypothesis</a:t>
            </a:r>
          </a:p>
        </p:txBody>
      </p:sp>
    </p:spTree>
    <p:extLst>
      <p:ext uri="{BB962C8B-B14F-4D97-AF65-F5344CB8AC3E}">
        <p14:creationId xmlns:p14="http://schemas.microsoft.com/office/powerpoint/2010/main" val="3588932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FIND-S ALGORITHM: FINDING A MAXIMALLY SPECIFIC HYPOTHESIS</a:t>
            </a:r>
          </a:p>
        </p:txBody>
      </p:sp>
      <p:sp>
        <p:nvSpPr>
          <p:cNvPr id="3" name="Content Placeholder 2"/>
          <p:cNvSpPr>
            <a:spLocks noGrp="1"/>
          </p:cNvSpPr>
          <p:nvPr>
            <p:ph idx="1"/>
          </p:nvPr>
        </p:nvSpPr>
        <p:spPr/>
        <p:txBody>
          <a:bodyPr>
            <a:normAutofit lnSpcReduction="10000"/>
          </a:bodyPr>
          <a:lstStyle/>
          <a:p>
            <a:r>
              <a:rPr lang="en-US" dirty="0"/>
              <a:t>How can we use the more-general-than partial ordering to organize the search for a hypothesis consistent with the observed training examples? </a:t>
            </a:r>
          </a:p>
          <a:p>
            <a:endParaRPr lang="en-US" dirty="0"/>
          </a:p>
          <a:p>
            <a:r>
              <a:rPr lang="en-US" dirty="0"/>
              <a:t>One way is to begin with the most specific possible hypothesis in H, then generalize this hypothesis each time it fails to cover an observed positive training example. </a:t>
            </a:r>
          </a:p>
          <a:p>
            <a:endParaRPr lang="en-US" dirty="0"/>
          </a:p>
          <a:p>
            <a:r>
              <a:rPr lang="en-US" dirty="0"/>
              <a:t>(We say that a hypothesis "covers" a positive example if it correctly classifies the example as positive.) </a:t>
            </a:r>
          </a:p>
        </p:txBody>
      </p:sp>
    </p:spTree>
    <p:extLst>
      <p:ext uri="{BB962C8B-B14F-4D97-AF65-F5344CB8AC3E}">
        <p14:creationId xmlns:p14="http://schemas.microsoft.com/office/powerpoint/2010/main" val="90809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Find-S Algorithm</a:t>
            </a:r>
          </a:p>
        </p:txBody>
      </p:sp>
      <p:pic>
        <p:nvPicPr>
          <p:cNvPr id="4" name="Picture 3"/>
          <p:cNvPicPr>
            <a:picLocks noChangeAspect="1"/>
          </p:cNvPicPr>
          <p:nvPr/>
        </p:nvPicPr>
        <p:blipFill>
          <a:blip r:embed="rId2"/>
          <a:stretch>
            <a:fillRect/>
          </a:stretch>
        </p:blipFill>
        <p:spPr>
          <a:xfrm>
            <a:off x="595946" y="1562100"/>
            <a:ext cx="8633779" cy="4772025"/>
          </a:xfrm>
          <a:prstGeom prst="rect">
            <a:avLst/>
          </a:prstGeom>
        </p:spPr>
      </p:pic>
    </p:spTree>
    <p:extLst>
      <p:ext uri="{BB962C8B-B14F-4D97-AF65-F5344CB8AC3E}">
        <p14:creationId xmlns:p14="http://schemas.microsoft.com/office/powerpoint/2010/main" val="309134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FF6783-E202-BADA-32B7-3469BB51B0CF}"/>
              </a:ext>
            </a:extLst>
          </p:cNvPr>
          <p:cNvPicPr>
            <a:picLocks noChangeAspect="1"/>
          </p:cNvPicPr>
          <p:nvPr/>
        </p:nvPicPr>
        <p:blipFill>
          <a:blip r:embed="rId2"/>
          <a:stretch>
            <a:fillRect/>
          </a:stretch>
        </p:blipFill>
        <p:spPr>
          <a:xfrm>
            <a:off x="0" y="376472"/>
            <a:ext cx="12192000" cy="3771757"/>
          </a:xfrm>
          <a:prstGeom prst="rect">
            <a:avLst/>
          </a:prstGeom>
        </p:spPr>
      </p:pic>
      <p:pic>
        <p:nvPicPr>
          <p:cNvPr id="7" name="Picture 6">
            <a:extLst>
              <a:ext uri="{FF2B5EF4-FFF2-40B4-BE49-F238E27FC236}">
                <a16:creationId xmlns:a16="http://schemas.microsoft.com/office/drawing/2014/main" id="{A7EAFF53-0EB1-E6B6-BA5D-23619EDB0D75}"/>
              </a:ext>
            </a:extLst>
          </p:cNvPr>
          <p:cNvPicPr>
            <a:picLocks noChangeAspect="1"/>
          </p:cNvPicPr>
          <p:nvPr/>
        </p:nvPicPr>
        <p:blipFill>
          <a:blip r:embed="rId3"/>
          <a:stretch>
            <a:fillRect/>
          </a:stretch>
        </p:blipFill>
        <p:spPr>
          <a:xfrm>
            <a:off x="1804166" y="4148229"/>
            <a:ext cx="8362950" cy="1590675"/>
          </a:xfrm>
          <a:prstGeom prst="rect">
            <a:avLst/>
          </a:prstGeom>
        </p:spPr>
      </p:pic>
    </p:spTree>
    <p:extLst>
      <p:ext uri="{BB962C8B-B14F-4D97-AF65-F5344CB8AC3E}">
        <p14:creationId xmlns:p14="http://schemas.microsoft.com/office/powerpoint/2010/main" val="3775006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FIND-S ALGORITHM</a:t>
            </a:r>
          </a:p>
        </p:txBody>
      </p:sp>
      <p:sp>
        <p:nvSpPr>
          <p:cNvPr id="3" name="Content Placeholder 2"/>
          <p:cNvSpPr>
            <a:spLocks noGrp="1"/>
          </p:cNvSpPr>
          <p:nvPr>
            <p:ph idx="1"/>
          </p:nvPr>
        </p:nvSpPr>
        <p:spPr>
          <a:xfrm>
            <a:off x="838200" y="1825624"/>
            <a:ext cx="10515600" cy="4791075"/>
          </a:xfrm>
        </p:spPr>
        <p:txBody>
          <a:bodyPr>
            <a:normAutofit/>
          </a:bodyPr>
          <a:lstStyle/>
          <a:p>
            <a:r>
              <a:rPr lang="en-US" dirty="0"/>
              <a:t>The first step of FIND-S is to initialize h to the most specific hypothesis in H </a:t>
            </a:r>
          </a:p>
          <a:p>
            <a:endParaRPr lang="en-US" dirty="0"/>
          </a:p>
          <a:p>
            <a:r>
              <a:rPr lang="en-US" dirty="0"/>
              <a:t>Upon observing the first training example from Table, which happens to be a positive example, it becomes clear that our hypothesis is too specific. </a:t>
            </a:r>
          </a:p>
          <a:p>
            <a:r>
              <a:rPr lang="en-US" dirty="0"/>
              <a:t>In particular, none of the " ᴓ " constraints in h are satisfied by this example, so each is replaced by the next more general constraint that fits the example; namely, the attribute values for this training example. </a:t>
            </a:r>
          </a:p>
        </p:txBody>
      </p:sp>
      <p:pic>
        <p:nvPicPr>
          <p:cNvPr id="4" name="Picture 3"/>
          <p:cNvPicPr>
            <a:picLocks noChangeAspect="1"/>
          </p:cNvPicPr>
          <p:nvPr/>
        </p:nvPicPr>
        <p:blipFill>
          <a:blip r:embed="rId2"/>
          <a:stretch>
            <a:fillRect/>
          </a:stretch>
        </p:blipFill>
        <p:spPr>
          <a:xfrm>
            <a:off x="2514600" y="2436812"/>
            <a:ext cx="2286000" cy="588309"/>
          </a:xfrm>
          <a:prstGeom prst="rect">
            <a:avLst/>
          </a:prstGeom>
        </p:spPr>
      </p:pic>
      <p:pic>
        <p:nvPicPr>
          <p:cNvPr id="5" name="Picture 4"/>
          <p:cNvPicPr>
            <a:picLocks noChangeAspect="1"/>
          </p:cNvPicPr>
          <p:nvPr/>
        </p:nvPicPr>
        <p:blipFill>
          <a:blip r:embed="rId3"/>
          <a:stretch>
            <a:fillRect/>
          </a:stretch>
        </p:blipFill>
        <p:spPr>
          <a:xfrm>
            <a:off x="2887662" y="6134099"/>
            <a:ext cx="6982619" cy="482600"/>
          </a:xfrm>
          <a:prstGeom prst="rect">
            <a:avLst/>
          </a:prstGeom>
        </p:spPr>
      </p:pic>
    </p:spTree>
    <p:extLst>
      <p:ext uri="{BB962C8B-B14F-4D97-AF65-F5344CB8AC3E}">
        <p14:creationId xmlns:p14="http://schemas.microsoft.com/office/powerpoint/2010/main" val="4198665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95EF25-A6FB-7029-B4CA-67B82535B883}"/>
              </a:ext>
            </a:extLst>
          </p:cNvPr>
          <p:cNvPicPr>
            <a:picLocks noGrp="1" noChangeAspect="1"/>
          </p:cNvPicPr>
          <p:nvPr>
            <p:ph idx="1"/>
          </p:nvPr>
        </p:nvPicPr>
        <p:blipFill>
          <a:blip r:embed="rId2"/>
          <a:stretch>
            <a:fillRect/>
          </a:stretch>
        </p:blipFill>
        <p:spPr>
          <a:xfrm>
            <a:off x="643467" y="1016254"/>
            <a:ext cx="10905066" cy="4825490"/>
          </a:xfrm>
          <a:prstGeom prst="rect">
            <a:avLst/>
          </a:prstGeom>
        </p:spPr>
      </p:pic>
    </p:spTree>
    <p:extLst>
      <p:ext uri="{BB962C8B-B14F-4D97-AF65-F5344CB8AC3E}">
        <p14:creationId xmlns:p14="http://schemas.microsoft.com/office/powerpoint/2010/main" val="16166280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FIND-S ALGORITHM</a:t>
            </a:r>
          </a:p>
        </p:txBody>
      </p:sp>
      <p:sp>
        <p:nvSpPr>
          <p:cNvPr id="3" name="Content Placeholder 2"/>
          <p:cNvSpPr>
            <a:spLocks noGrp="1"/>
          </p:cNvSpPr>
          <p:nvPr>
            <p:ph idx="1"/>
          </p:nvPr>
        </p:nvSpPr>
        <p:spPr/>
        <p:txBody>
          <a:bodyPr/>
          <a:lstStyle/>
          <a:p>
            <a:pPr algn="just"/>
            <a:r>
              <a:rPr lang="en-US" dirty="0"/>
              <a:t>This h is still very specific; it asserts that all instances are negative except for the single positive training example we have observed. </a:t>
            </a:r>
          </a:p>
          <a:p>
            <a:pPr algn="just"/>
            <a:endParaRPr lang="en-US" dirty="0"/>
          </a:p>
          <a:p>
            <a:pPr algn="just"/>
            <a:r>
              <a:rPr lang="en-US" dirty="0"/>
              <a:t>Next, the second training example (also positive in this case) forces the algorithm to further generalize h, this time substituting a "?' in place of any attribute value in h that is not satisfied by the new example. </a:t>
            </a:r>
          </a:p>
          <a:p>
            <a:pPr algn="just"/>
            <a:endParaRPr lang="en-US" dirty="0"/>
          </a:p>
          <a:p>
            <a:pPr algn="just"/>
            <a:r>
              <a:rPr lang="en-US" dirty="0"/>
              <a:t>The refined hypothesis in this case is</a:t>
            </a:r>
          </a:p>
        </p:txBody>
      </p:sp>
      <p:pic>
        <p:nvPicPr>
          <p:cNvPr id="4" name="Picture 3"/>
          <p:cNvPicPr>
            <a:picLocks noChangeAspect="1"/>
          </p:cNvPicPr>
          <p:nvPr/>
        </p:nvPicPr>
        <p:blipFill>
          <a:blip r:embed="rId2"/>
          <a:stretch>
            <a:fillRect/>
          </a:stretch>
        </p:blipFill>
        <p:spPr>
          <a:xfrm>
            <a:off x="3103562" y="6015037"/>
            <a:ext cx="7274653" cy="601663"/>
          </a:xfrm>
          <a:prstGeom prst="rect">
            <a:avLst/>
          </a:prstGeom>
        </p:spPr>
      </p:pic>
    </p:spTree>
    <p:extLst>
      <p:ext uri="{BB962C8B-B14F-4D97-AF65-F5344CB8AC3E}">
        <p14:creationId xmlns:p14="http://schemas.microsoft.com/office/powerpoint/2010/main" val="18893064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8484C8-F4FE-7A9D-18DE-158F80A5431B}"/>
              </a:ext>
            </a:extLst>
          </p:cNvPr>
          <p:cNvPicPr>
            <a:picLocks noGrp="1" noChangeAspect="1"/>
          </p:cNvPicPr>
          <p:nvPr>
            <p:ph idx="1"/>
          </p:nvPr>
        </p:nvPicPr>
        <p:blipFill>
          <a:blip r:embed="rId2"/>
          <a:stretch>
            <a:fillRect/>
          </a:stretch>
        </p:blipFill>
        <p:spPr>
          <a:xfrm>
            <a:off x="1187571" y="643466"/>
            <a:ext cx="9816857" cy="5571067"/>
          </a:xfrm>
          <a:prstGeom prst="rect">
            <a:avLst/>
          </a:prstGeom>
        </p:spPr>
      </p:pic>
    </p:spTree>
    <p:extLst>
      <p:ext uri="{BB962C8B-B14F-4D97-AF65-F5344CB8AC3E}">
        <p14:creationId xmlns:p14="http://schemas.microsoft.com/office/powerpoint/2010/main" val="1778394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FIND-S ALGORITHM</a:t>
            </a:r>
          </a:p>
        </p:txBody>
      </p:sp>
      <p:sp>
        <p:nvSpPr>
          <p:cNvPr id="3" name="Content Placeholder 2"/>
          <p:cNvSpPr>
            <a:spLocks noGrp="1"/>
          </p:cNvSpPr>
          <p:nvPr>
            <p:ph idx="1"/>
          </p:nvPr>
        </p:nvSpPr>
        <p:spPr/>
        <p:txBody>
          <a:bodyPr>
            <a:normAutofit lnSpcReduction="10000"/>
          </a:bodyPr>
          <a:lstStyle/>
          <a:p>
            <a:r>
              <a:rPr lang="en-US" dirty="0"/>
              <a:t>Upon encountering the third training example-in this case a negative example-the algorithm makes no change to h. </a:t>
            </a:r>
          </a:p>
          <a:p>
            <a:endParaRPr lang="en-US" dirty="0"/>
          </a:p>
          <a:p>
            <a:r>
              <a:rPr lang="en-US" dirty="0"/>
              <a:t>In fact, the FIND-S algorithm simply ignores every negative example! </a:t>
            </a:r>
          </a:p>
          <a:p>
            <a:endParaRPr lang="en-US" dirty="0"/>
          </a:p>
          <a:p>
            <a:pPr algn="just"/>
            <a:r>
              <a:rPr lang="en-US" dirty="0"/>
              <a:t>No revision to ‘h’ will be required in response to any negative example.</a:t>
            </a:r>
          </a:p>
          <a:p>
            <a:pPr algn="just"/>
            <a:endParaRPr lang="en-US" dirty="0"/>
          </a:p>
          <a:p>
            <a:pPr algn="just"/>
            <a:r>
              <a:rPr lang="en-US" dirty="0"/>
              <a:t> To complete FIND-S, the fourth (positive) example leads to a further generalization of h</a:t>
            </a:r>
          </a:p>
          <a:p>
            <a:endParaRPr lang="en-US" dirty="0"/>
          </a:p>
          <a:p>
            <a:endParaRPr lang="en-US" dirty="0"/>
          </a:p>
        </p:txBody>
      </p:sp>
      <p:pic>
        <p:nvPicPr>
          <p:cNvPr id="5" name="Picture 4"/>
          <p:cNvPicPr>
            <a:picLocks noChangeAspect="1"/>
          </p:cNvPicPr>
          <p:nvPr/>
        </p:nvPicPr>
        <p:blipFill>
          <a:blip r:embed="rId2"/>
          <a:stretch>
            <a:fillRect/>
          </a:stretch>
        </p:blipFill>
        <p:spPr>
          <a:xfrm>
            <a:off x="3832224" y="6315075"/>
            <a:ext cx="5231823" cy="542925"/>
          </a:xfrm>
          <a:prstGeom prst="rect">
            <a:avLst/>
          </a:prstGeom>
        </p:spPr>
      </p:pic>
    </p:spTree>
    <p:extLst>
      <p:ext uri="{BB962C8B-B14F-4D97-AF65-F5344CB8AC3E}">
        <p14:creationId xmlns:p14="http://schemas.microsoft.com/office/powerpoint/2010/main" val="3415999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EEEE6C-37BE-4A8D-213C-4B2B573E7040}"/>
              </a:ext>
            </a:extLst>
          </p:cNvPr>
          <p:cNvPicPr>
            <a:picLocks noGrp="1" noChangeAspect="1"/>
          </p:cNvPicPr>
          <p:nvPr>
            <p:ph idx="1"/>
          </p:nvPr>
        </p:nvPicPr>
        <p:blipFill>
          <a:blip r:embed="rId2"/>
          <a:stretch>
            <a:fillRect/>
          </a:stretch>
        </p:blipFill>
        <p:spPr>
          <a:xfrm>
            <a:off x="1099526" y="643466"/>
            <a:ext cx="9992948" cy="5571067"/>
          </a:xfrm>
          <a:prstGeom prst="rect">
            <a:avLst/>
          </a:prstGeom>
        </p:spPr>
      </p:pic>
    </p:spTree>
    <p:extLst>
      <p:ext uri="{BB962C8B-B14F-4D97-AF65-F5344CB8AC3E}">
        <p14:creationId xmlns:p14="http://schemas.microsoft.com/office/powerpoint/2010/main" val="664584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8000" y="174624"/>
            <a:ext cx="11201400" cy="6480175"/>
          </a:xfrm>
        </p:spPr>
        <p:txBody>
          <a:bodyPr/>
          <a:lstStyle/>
          <a:p>
            <a:r>
              <a:rPr lang="en-US" dirty="0"/>
              <a:t>The FIND-S algorithm illustrates one way in which the more-general-than partial ordering can be used to organize the search for an acceptable hypothesis.</a:t>
            </a:r>
          </a:p>
          <a:p>
            <a:r>
              <a:rPr lang="en-US" dirty="0"/>
              <a:t>The search moves from hypothesis to hypothesis, searching from the most specific to progressively more general hypotheses along one chain of the partial ordering. </a:t>
            </a:r>
          </a:p>
          <a:p>
            <a:r>
              <a:rPr lang="en-US" dirty="0"/>
              <a:t>Figure (next slide) illustrates this search in terms of the instance and hypothesis spaces. </a:t>
            </a:r>
          </a:p>
          <a:p>
            <a:r>
              <a:rPr lang="en-US" dirty="0"/>
              <a:t>At each step, the hypothesis is generalized only as far as necessary to cover the new positive example. </a:t>
            </a:r>
          </a:p>
          <a:p>
            <a:r>
              <a:rPr lang="en-US" dirty="0"/>
              <a:t>Therefore, at each stage the hypothesis is the most specific hypothesis consistent with the training examples observed up to this point (hence the name FIND-S)</a:t>
            </a:r>
          </a:p>
        </p:txBody>
      </p:sp>
    </p:spTree>
    <p:extLst>
      <p:ext uri="{BB962C8B-B14F-4D97-AF65-F5344CB8AC3E}">
        <p14:creationId xmlns:p14="http://schemas.microsoft.com/office/powerpoint/2010/main" val="37919933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68437" y="0"/>
            <a:ext cx="8237220" cy="5257800"/>
          </a:xfrm>
          <a:prstGeom prst="rect">
            <a:avLst/>
          </a:prstGeom>
        </p:spPr>
      </p:pic>
      <p:pic>
        <p:nvPicPr>
          <p:cNvPr id="5" name="Picture 4"/>
          <p:cNvPicPr>
            <a:picLocks noChangeAspect="1"/>
          </p:cNvPicPr>
          <p:nvPr/>
        </p:nvPicPr>
        <p:blipFill>
          <a:blip r:embed="rId3"/>
          <a:stretch>
            <a:fillRect/>
          </a:stretch>
        </p:blipFill>
        <p:spPr>
          <a:xfrm>
            <a:off x="719605" y="5346700"/>
            <a:ext cx="10534650" cy="1511300"/>
          </a:xfrm>
          <a:prstGeom prst="rect">
            <a:avLst/>
          </a:prstGeom>
        </p:spPr>
      </p:pic>
    </p:spTree>
    <p:extLst>
      <p:ext uri="{BB962C8B-B14F-4D97-AF65-F5344CB8AC3E}">
        <p14:creationId xmlns:p14="http://schemas.microsoft.com/office/powerpoint/2010/main" val="10034767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12A719-488C-3885-89FB-75BF5B12A5F4}"/>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Limitations of Find-S Algorithm</a:t>
            </a:r>
          </a:p>
        </p:txBody>
      </p:sp>
      <p:pic>
        <p:nvPicPr>
          <p:cNvPr id="5" name="Picture 4">
            <a:extLst>
              <a:ext uri="{FF2B5EF4-FFF2-40B4-BE49-F238E27FC236}">
                <a16:creationId xmlns:a16="http://schemas.microsoft.com/office/drawing/2014/main" id="{2424ADCB-8EC2-6EF4-12FF-84A3202964BB}"/>
              </a:ext>
            </a:extLst>
          </p:cNvPr>
          <p:cNvPicPr>
            <a:picLocks noChangeAspect="1"/>
          </p:cNvPicPr>
          <p:nvPr/>
        </p:nvPicPr>
        <p:blipFill>
          <a:blip r:embed="rId2"/>
          <a:stretch>
            <a:fillRect/>
          </a:stretch>
        </p:blipFill>
        <p:spPr>
          <a:xfrm>
            <a:off x="838200" y="2007490"/>
            <a:ext cx="10512547" cy="4126175"/>
          </a:xfrm>
          <a:prstGeom prst="rect">
            <a:avLst/>
          </a:prstGeom>
        </p:spPr>
      </p:pic>
    </p:spTree>
    <p:extLst>
      <p:ext uri="{BB962C8B-B14F-4D97-AF65-F5344CB8AC3E}">
        <p14:creationId xmlns:p14="http://schemas.microsoft.com/office/powerpoint/2010/main" val="631759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3BA44C-0DBE-B29C-1955-8DAF364ED09A}"/>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220B5C-3C03-953D-3DA0-6D92D76E51B9}"/>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Limitations of Find-S Algorithm</a:t>
            </a:r>
          </a:p>
        </p:txBody>
      </p:sp>
      <p:pic>
        <p:nvPicPr>
          <p:cNvPr id="4" name="Picture 3">
            <a:extLst>
              <a:ext uri="{FF2B5EF4-FFF2-40B4-BE49-F238E27FC236}">
                <a16:creationId xmlns:a16="http://schemas.microsoft.com/office/drawing/2014/main" id="{8EBB2386-16B6-AF3B-0A29-24723278D815}"/>
              </a:ext>
            </a:extLst>
          </p:cNvPr>
          <p:cNvPicPr>
            <a:picLocks noChangeAspect="1"/>
          </p:cNvPicPr>
          <p:nvPr/>
        </p:nvPicPr>
        <p:blipFill>
          <a:blip r:embed="rId2"/>
          <a:stretch>
            <a:fillRect/>
          </a:stretch>
        </p:blipFill>
        <p:spPr>
          <a:xfrm>
            <a:off x="838200" y="2874775"/>
            <a:ext cx="10512547" cy="2391604"/>
          </a:xfrm>
          <a:prstGeom prst="rect">
            <a:avLst/>
          </a:prstGeom>
        </p:spPr>
      </p:pic>
    </p:spTree>
    <p:extLst>
      <p:ext uri="{BB962C8B-B14F-4D97-AF65-F5344CB8AC3E}">
        <p14:creationId xmlns:p14="http://schemas.microsoft.com/office/powerpoint/2010/main" val="18911610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VERSION SPACES AND THE CANDIDATE-ELIMINATION ALGORITHM </a:t>
            </a:r>
          </a:p>
        </p:txBody>
      </p:sp>
      <p:sp>
        <p:nvSpPr>
          <p:cNvPr id="3" name="Content Placeholder 2"/>
          <p:cNvSpPr>
            <a:spLocks noGrp="1"/>
          </p:cNvSpPr>
          <p:nvPr>
            <p:ph idx="1"/>
          </p:nvPr>
        </p:nvSpPr>
        <p:spPr/>
        <p:txBody>
          <a:bodyPr/>
          <a:lstStyle/>
          <a:p>
            <a:pPr algn="just"/>
            <a:r>
              <a:rPr lang="en-US" sz="2400" dirty="0"/>
              <a:t>FIND-S outputs a hypothesis from H, that is consistent with the training examples, this is just one of many hypotheses from H that might fit the training data equally well. </a:t>
            </a:r>
          </a:p>
          <a:p>
            <a:pPr algn="just"/>
            <a:endParaRPr lang="en-US" sz="2400" dirty="0"/>
          </a:p>
          <a:p>
            <a:pPr algn="just"/>
            <a:endParaRPr lang="en-US" sz="2400" dirty="0"/>
          </a:p>
          <a:p>
            <a:pPr algn="just"/>
            <a:endParaRPr lang="en-US" sz="2400" dirty="0"/>
          </a:p>
          <a:p>
            <a:pPr algn="just"/>
            <a:r>
              <a:rPr lang="en-US" sz="2400" dirty="0"/>
              <a:t>Version Space</a:t>
            </a:r>
          </a:p>
          <a:p>
            <a:pPr algn="just"/>
            <a:endParaRPr lang="en-US" sz="2400" dirty="0"/>
          </a:p>
          <a:p>
            <a:pPr algn="just"/>
            <a:endParaRPr lang="en-US" sz="2400" dirty="0"/>
          </a:p>
          <a:p>
            <a:pPr algn="just"/>
            <a:endParaRPr lang="en-US" sz="2400" dirty="0"/>
          </a:p>
          <a:p>
            <a:pPr algn="just"/>
            <a:endParaRPr lang="en-US" sz="2400" dirty="0"/>
          </a:p>
          <a:p>
            <a:pPr algn="just"/>
            <a:endParaRPr lang="en-US" dirty="0"/>
          </a:p>
        </p:txBody>
      </p:sp>
      <p:pic>
        <p:nvPicPr>
          <p:cNvPr id="4" name="Picture 3"/>
          <p:cNvPicPr>
            <a:picLocks noChangeAspect="1"/>
          </p:cNvPicPr>
          <p:nvPr/>
        </p:nvPicPr>
        <p:blipFill>
          <a:blip r:embed="rId2"/>
          <a:stretch>
            <a:fillRect/>
          </a:stretch>
        </p:blipFill>
        <p:spPr>
          <a:xfrm>
            <a:off x="2020887" y="2874873"/>
            <a:ext cx="8558213" cy="1126421"/>
          </a:xfrm>
          <a:prstGeom prst="rect">
            <a:avLst/>
          </a:prstGeom>
        </p:spPr>
      </p:pic>
      <p:pic>
        <p:nvPicPr>
          <p:cNvPr id="5" name="Picture 4"/>
          <p:cNvPicPr>
            <a:picLocks noChangeAspect="1"/>
          </p:cNvPicPr>
          <p:nvPr/>
        </p:nvPicPr>
        <p:blipFill>
          <a:blip r:embed="rId3"/>
          <a:stretch>
            <a:fillRect/>
          </a:stretch>
        </p:blipFill>
        <p:spPr>
          <a:xfrm>
            <a:off x="2020887" y="5144953"/>
            <a:ext cx="8569373" cy="1345496"/>
          </a:xfrm>
          <a:prstGeom prst="rect">
            <a:avLst/>
          </a:prstGeom>
        </p:spPr>
      </p:pic>
    </p:spTree>
    <p:extLst>
      <p:ext uri="{BB962C8B-B14F-4D97-AF65-F5344CB8AC3E}">
        <p14:creationId xmlns:p14="http://schemas.microsoft.com/office/powerpoint/2010/main" val="3195325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The LIST-THEN-ELIMINATE Algorithm </a:t>
            </a:r>
          </a:p>
        </p:txBody>
      </p:sp>
      <p:sp>
        <p:nvSpPr>
          <p:cNvPr id="3" name="Content Placeholder 2"/>
          <p:cNvSpPr>
            <a:spLocks noGrp="1"/>
          </p:cNvSpPr>
          <p:nvPr>
            <p:ph idx="1"/>
          </p:nvPr>
        </p:nvSpPr>
        <p:spPr>
          <a:xfrm>
            <a:off x="838200" y="1485900"/>
            <a:ext cx="10515600" cy="5156199"/>
          </a:xfrm>
        </p:spPr>
        <p:txBody>
          <a:bodyPr>
            <a:normAutofit/>
          </a:bodyPr>
          <a:lstStyle/>
          <a:p>
            <a:pPr algn="just"/>
            <a:r>
              <a:rPr lang="en-US" dirty="0"/>
              <a:t>This algorithm is used to obtain the version space.</a:t>
            </a:r>
          </a:p>
          <a:p>
            <a:pPr algn="just"/>
            <a:r>
              <a:rPr lang="en-US" dirty="0"/>
              <a:t>The LIST-THEN-ELIMINATE algorithm first initializes the version space to contain all hypotheses in H, then eliminates any hypothesis found inconsistent with any training example. </a:t>
            </a:r>
          </a:p>
          <a:p>
            <a:pPr algn="just"/>
            <a:r>
              <a:rPr lang="en-US" dirty="0"/>
              <a:t>The version space of candidate hypotheses thus shrinks as more examples are observed, until ideally just one hypothesis remains that is consistent with all the observed examples. </a:t>
            </a:r>
          </a:p>
          <a:p>
            <a:pPr algn="just"/>
            <a:r>
              <a:rPr lang="en-US" dirty="0"/>
              <a:t>This, presumably, is the desired target concept. If insufficient data is available to narrow the version space to a single hypothesis, then the algorithm can output the entire set of hypotheses consistent with the observed data. </a:t>
            </a:r>
          </a:p>
        </p:txBody>
      </p:sp>
    </p:spTree>
    <p:extLst>
      <p:ext uri="{BB962C8B-B14F-4D97-AF65-F5344CB8AC3E}">
        <p14:creationId xmlns:p14="http://schemas.microsoft.com/office/powerpoint/2010/main" val="3822465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LIST-THEN-ELIMINATE Algorithm </a:t>
            </a:r>
          </a:p>
        </p:txBody>
      </p:sp>
      <p:pic>
        <p:nvPicPr>
          <p:cNvPr id="4" name="Picture 3"/>
          <p:cNvPicPr>
            <a:picLocks noChangeAspect="1"/>
          </p:cNvPicPr>
          <p:nvPr/>
        </p:nvPicPr>
        <p:blipFill>
          <a:blip r:embed="rId2"/>
          <a:stretch>
            <a:fillRect/>
          </a:stretch>
        </p:blipFill>
        <p:spPr>
          <a:xfrm>
            <a:off x="1840620" y="1485900"/>
            <a:ext cx="8184189" cy="5194300"/>
          </a:xfrm>
          <a:prstGeom prst="rect">
            <a:avLst/>
          </a:prstGeom>
        </p:spPr>
      </p:pic>
    </p:spTree>
    <p:extLst>
      <p:ext uri="{BB962C8B-B14F-4D97-AF65-F5344CB8AC3E}">
        <p14:creationId xmlns:p14="http://schemas.microsoft.com/office/powerpoint/2010/main" val="94021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D91F23-2755-A444-A1D6-0A76CD7CD0BB}"/>
              </a:ext>
            </a:extLst>
          </p:cNvPr>
          <p:cNvPicPr>
            <a:picLocks noGrp="1" noChangeAspect="1"/>
          </p:cNvPicPr>
          <p:nvPr>
            <p:ph idx="1"/>
          </p:nvPr>
        </p:nvPicPr>
        <p:blipFill>
          <a:blip r:embed="rId2"/>
          <a:stretch>
            <a:fillRect/>
          </a:stretch>
        </p:blipFill>
        <p:spPr>
          <a:xfrm>
            <a:off x="643467" y="1520613"/>
            <a:ext cx="10905066" cy="3816772"/>
          </a:xfrm>
          <a:prstGeom prst="rect">
            <a:avLst/>
          </a:prstGeom>
        </p:spPr>
      </p:pic>
    </p:spTree>
    <p:extLst>
      <p:ext uri="{BB962C8B-B14F-4D97-AF65-F5344CB8AC3E}">
        <p14:creationId xmlns:p14="http://schemas.microsoft.com/office/powerpoint/2010/main" val="41445716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Candidate Elimination Algorithm</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34687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Candidate Elimination Algorithm</a:t>
            </a:r>
          </a:p>
        </p:txBody>
      </p:sp>
      <p:sp>
        <p:nvSpPr>
          <p:cNvPr id="3" name="Content Placeholder 2"/>
          <p:cNvSpPr>
            <a:spLocks noGrp="1"/>
          </p:cNvSpPr>
          <p:nvPr>
            <p:ph idx="1"/>
          </p:nvPr>
        </p:nvSpPr>
        <p:spPr/>
        <p:txBody>
          <a:bodyPr/>
          <a:lstStyle/>
          <a:p>
            <a:r>
              <a:rPr lang="en-US" b="1" dirty="0"/>
              <a:t>Candidate Elimination</a:t>
            </a:r>
            <a:r>
              <a:rPr lang="en-US" dirty="0"/>
              <a:t> maintains the entire </a:t>
            </a:r>
            <a:r>
              <a:rPr lang="en-US" b="1" dirty="0"/>
              <a:t>version space</a:t>
            </a:r>
            <a:r>
              <a:rPr lang="en-US" dirty="0"/>
              <a:t> — the set of all hypotheses consistent with the training examples.</a:t>
            </a:r>
          </a:p>
          <a:p>
            <a:r>
              <a:rPr lang="en-US" dirty="0"/>
              <a:t>It does this by keeping track of:</a:t>
            </a:r>
          </a:p>
          <a:p>
            <a:r>
              <a:rPr lang="en-US" b="1" dirty="0"/>
              <a:t>S (Specific boundary):</a:t>
            </a:r>
            <a:r>
              <a:rPr lang="en-US" dirty="0"/>
              <a:t> Most specific hypotheses consistent with data.</a:t>
            </a:r>
          </a:p>
          <a:p>
            <a:r>
              <a:rPr lang="en-US" b="1" dirty="0"/>
              <a:t>G (General boundary):</a:t>
            </a:r>
            <a:r>
              <a:rPr lang="en-US" dirty="0"/>
              <a:t> Most general hypotheses consistent with data.</a:t>
            </a:r>
          </a:p>
          <a:p>
            <a:endParaRPr lang="en-US" dirty="0"/>
          </a:p>
        </p:txBody>
      </p:sp>
    </p:spTree>
    <p:extLst>
      <p:ext uri="{BB962C8B-B14F-4D97-AF65-F5344CB8AC3E}">
        <p14:creationId xmlns:p14="http://schemas.microsoft.com/office/powerpoint/2010/main" val="27441656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125"/>
            <a:ext cx="10515600" cy="1325563"/>
          </a:xfrm>
        </p:spPr>
        <p:txBody>
          <a:bodyPr/>
          <a:lstStyle/>
          <a:p>
            <a:r>
              <a:rPr lang="en-US" dirty="0"/>
              <a:t>Candidate Elimination Algorithm</a:t>
            </a:r>
          </a:p>
        </p:txBody>
      </p:sp>
      <p:sp>
        <p:nvSpPr>
          <p:cNvPr id="3" name="Content Placeholder 2"/>
          <p:cNvSpPr>
            <a:spLocks noGrp="1"/>
          </p:cNvSpPr>
          <p:nvPr>
            <p:ph idx="1"/>
          </p:nvPr>
        </p:nvSpPr>
        <p:spPr>
          <a:xfrm>
            <a:off x="838200" y="1343025"/>
            <a:ext cx="10515600" cy="4351338"/>
          </a:xfrm>
        </p:spPr>
        <p:txBody>
          <a:bodyPr>
            <a:normAutofit lnSpcReduction="10000"/>
          </a:bodyPr>
          <a:lstStyle/>
          <a:p>
            <a:pPr algn="just"/>
            <a:r>
              <a:rPr lang="en-US" dirty="0"/>
              <a:t>The CANDIDATE-ELIMINATION algorithm computes the version space containing all hypotheses from H that are consistent with an observed sequence of training examples. </a:t>
            </a:r>
          </a:p>
          <a:p>
            <a:pPr algn="just"/>
            <a:endParaRPr lang="en-US" dirty="0"/>
          </a:p>
          <a:p>
            <a:pPr algn="just"/>
            <a:r>
              <a:rPr lang="en-US" dirty="0"/>
              <a:t>It begins by initializing the version space to the set of all hypotheses in H; that is, by initializing the G boundary set to contain the most general hypothesis in H </a:t>
            </a:r>
          </a:p>
          <a:p>
            <a:pPr algn="just"/>
            <a:endParaRPr lang="en-US" dirty="0"/>
          </a:p>
          <a:p>
            <a:pPr algn="just"/>
            <a:r>
              <a:rPr lang="en-US" dirty="0"/>
              <a:t>and initializing the S boundary set to contain the most specific (least general) hypothesis </a:t>
            </a:r>
          </a:p>
        </p:txBody>
      </p:sp>
      <p:pic>
        <p:nvPicPr>
          <p:cNvPr id="4" name="Picture 3"/>
          <p:cNvPicPr>
            <a:picLocks noChangeAspect="1"/>
          </p:cNvPicPr>
          <p:nvPr/>
        </p:nvPicPr>
        <p:blipFill>
          <a:blip r:embed="rId2"/>
          <a:stretch>
            <a:fillRect/>
          </a:stretch>
        </p:blipFill>
        <p:spPr>
          <a:xfrm>
            <a:off x="4660900" y="4060824"/>
            <a:ext cx="3333750" cy="533400"/>
          </a:xfrm>
          <a:prstGeom prst="rect">
            <a:avLst/>
          </a:prstGeom>
        </p:spPr>
      </p:pic>
      <p:pic>
        <p:nvPicPr>
          <p:cNvPr id="5" name="Picture 4"/>
          <p:cNvPicPr>
            <a:picLocks noChangeAspect="1"/>
          </p:cNvPicPr>
          <p:nvPr/>
        </p:nvPicPr>
        <p:blipFill>
          <a:blip r:embed="rId3"/>
          <a:stretch>
            <a:fillRect/>
          </a:stretch>
        </p:blipFill>
        <p:spPr>
          <a:xfrm>
            <a:off x="4660900" y="5210174"/>
            <a:ext cx="3453253" cy="606425"/>
          </a:xfrm>
          <a:prstGeom prst="rect">
            <a:avLst/>
          </a:prstGeom>
        </p:spPr>
      </p:pic>
    </p:spTree>
    <p:extLst>
      <p:ext uri="{BB962C8B-B14F-4D97-AF65-F5344CB8AC3E}">
        <p14:creationId xmlns:p14="http://schemas.microsoft.com/office/powerpoint/2010/main" val="2631211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a:t>
            </a:r>
          </a:p>
        </p:txBody>
      </p:sp>
      <p:sp>
        <p:nvSpPr>
          <p:cNvPr id="5" name="Rectangle 4"/>
          <p:cNvSpPr/>
          <p:nvPr/>
        </p:nvSpPr>
        <p:spPr>
          <a:xfrm>
            <a:off x="461819" y="3026719"/>
            <a:ext cx="6096000" cy="1200329"/>
          </a:xfrm>
          <a:prstGeom prst="rect">
            <a:avLst/>
          </a:prstGeom>
        </p:spPr>
        <p:txBody>
          <a:bodyPr>
            <a:spAutoFit/>
          </a:bodyPr>
          <a:lstStyle/>
          <a:p>
            <a:r>
              <a:rPr lang="en-US" dirty="0"/>
              <a:t>1. Initialize:</a:t>
            </a:r>
          </a:p>
          <a:p>
            <a:r>
              <a:rPr lang="en-US" dirty="0"/>
              <a:t>   S ← { most specific hypothesis }  = ⟨Ø, Ø, Ø, ..., Ø⟩</a:t>
            </a:r>
          </a:p>
          <a:p>
            <a:r>
              <a:rPr lang="en-US" dirty="0"/>
              <a:t>   G ← { most general hypothesis }  = ⟨?, ?, ?, ..., ?⟩</a:t>
            </a:r>
          </a:p>
          <a:p>
            <a:endParaRPr lang="en-US" dirty="0"/>
          </a:p>
        </p:txBody>
      </p:sp>
      <p:sp>
        <p:nvSpPr>
          <p:cNvPr id="8" name="Right Arrow 7"/>
          <p:cNvSpPr/>
          <p:nvPr/>
        </p:nvSpPr>
        <p:spPr>
          <a:xfrm>
            <a:off x="5837382" y="3260436"/>
            <a:ext cx="803563" cy="6557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361382" y="2466109"/>
            <a:ext cx="2735044" cy="369332"/>
          </a:xfrm>
          <a:prstGeom prst="rect">
            <a:avLst/>
          </a:prstGeom>
          <a:noFill/>
        </p:spPr>
        <p:txBody>
          <a:bodyPr wrap="none" rtlCol="0">
            <a:spAutoFit/>
          </a:bodyPr>
          <a:lstStyle/>
          <a:p>
            <a:r>
              <a:rPr lang="en-US" b="1" dirty="0"/>
              <a:t>S₀</a:t>
            </a:r>
            <a:r>
              <a:rPr lang="en-US" dirty="0"/>
              <a:t> = { ⟨Ø, Ø, Ø, Ø, Ø, Ø⟩ }</a:t>
            </a:r>
          </a:p>
        </p:txBody>
      </p:sp>
      <p:sp>
        <p:nvSpPr>
          <p:cNvPr id="10" name="Rectangle 9"/>
          <p:cNvSpPr/>
          <p:nvPr/>
        </p:nvSpPr>
        <p:spPr>
          <a:xfrm>
            <a:off x="7361382" y="4158734"/>
            <a:ext cx="2100255" cy="369332"/>
          </a:xfrm>
          <a:prstGeom prst="rect">
            <a:avLst/>
          </a:prstGeom>
        </p:spPr>
        <p:txBody>
          <a:bodyPr wrap="none">
            <a:spAutoFit/>
          </a:bodyPr>
          <a:lstStyle/>
          <a:p>
            <a:r>
              <a:rPr lang="en-US" b="1" dirty="0"/>
              <a:t>G₀</a:t>
            </a:r>
            <a:r>
              <a:rPr lang="en-US" dirty="0"/>
              <a:t> = { ⟨?, ?, ?, ?, ?, ?⟩ }</a:t>
            </a:r>
          </a:p>
        </p:txBody>
      </p:sp>
    </p:spTree>
    <p:extLst>
      <p:ext uri="{BB962C8B-B14F-4D97-AF65-F5344CB8AC3E}">
        <p14:creationId xmlns:p14="http://schemas.microsoft.com/office/powerpoint/2010/main" val="34718928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Candidate Elimination Algorithm</a:t>
            </a:r>
          </a:p>
        </p:txBody>
      </p:sp>
      <p:sp>
        <p:nvSpPr>
          <p:cNvPr id="3" name="Content Placeholder 2"/>
          <p:cNvSpPr>
            <a:spLocks noGrp="1"/>
          </p:cNvSpPr>
          <p:nvPr>
            <p:ph idx="1"/>
          </p:nvPr>
        </p:nvSpPr>
        <p:spPr>
          <a:xfrm>
            <a:off x="838200" y="1325564"/>
            <a:ext cx="10515600" cy="5303836"/>
          </a:xfrm>
        </p:spPr>
        <p:txBody>
          <a:bodyPr>
            <a:normAutofit fontScale="92500" lnSpcReduction="20000"/>
          </a:bodyPr>
          <a:lstStyle/>
          <a:p>
            <a:pPr algn="just"/>
            <a:r>
              <a:rPr lang="en-US" dirty="0"/>
              <a:t>These two boundary sets delimit the entire hypothesis space, because every other hypothesis in H is both more general than S and more specific than G. </a:t>
            </a:r>
          </a:p>
          <a:p>
            <a:pPr algn="just"/>
            <a:endParaRPr lang="en-US" dirty="0"/>
          </a:p>
          <a:p>
            <a:pPr algn="just"/>
            <a:r>
              <a:rPr lang="en-US" dirty="0"/>
              <a:t>As each training example is considered, the S and G boundary sets are generalized and specialized, respectively, to eliminate from the version space any hypotheses found inconsistent with the new training example. </a:t>
            </a:r>
          </a:p>
          <a:p>
            <a:pPr algn="just"/>
            <a:endParaRPr lang="en-US" dirty="0"/>
          </a:p>
          <a:p>
            <a:pPr algn="just"/>
            <a:r>
              <a:rPr lang="en-US" dirty="0"/>
              <a:t>After all examples have been processed, the computed version space contains all the hypotheses consistent with these examples and only these hypotheses.</a:t>
            </a:r>
          </a:p>
          <a:p>
            <a:pPr algn="just"/>
            <a:endParaRPr lang="en-US" dirty="0"/>
          </a:p>
          <a:p>
            <a:pPr algn="just"/>
            <a:r>
              <a:rPr lang="en-US" dirty="0"/>
              <a:t>For positive examples, move from specific to general</a:t>
            </a:r>
          </a:p>
          <a:p>
            <a:pPr algn="just"/>
            <a:endParaRPr lang="en-US" dirty="0"/>
          </a:p>
          <a:p>
            <a:pPr algn="just"/>
            <a:r>
              <a:rPr lang="en-US" dirty="0"/>
              <a:t>For negative examples, move from general to specific</a:t>
            </a:r>
          </a:p>
          <a:p>
            <a:pPr algn="just"/>
            <a:endParaRPr lang="en-US" dirty="0"/>
          </a:p>
        </p:txBody>
      </p:sp>
    </p:spTree>
    <p:extLst>
      <p:ext uri="{BB962C8B-B14F-4D97-AF65-F5344CB8AC3E}">
        <p14:creationId xmlns:p14="http://schemas.microsoft.com/office/powerpoint/2010/main" val="5560414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 seeing first example</a:t>
            </a:r>
          </a:p>
        </p:txBody>
      </p:sp>
      <p:sp>
        <p:nvSpPr>
          <p:cNvPr id="3" name="Content Placeholder 2"/>
          <p:cNvSpPr>
            <a:spLocks noGrp="1"/>
          </p:cNvSpPr>
          <p:nvPr>
            <p:ph idx="1"/>
          </p:nvPr>
        </p:nvSpPr>
        <p:spPr/>
        <p:txBody>
          <a:bodyPr/>
          <a:lstStyle/>
          <a:p>
            <a:r>
              <a:rPr lang="en-US" sz="1600" b="1" dirty="0"/>
              <a:t>x₁:</a:t>
            </a:r>
            <a:r>
              <a:rPr lang="en-US" sz="1600" dirty="0"/>
              <a:t> ⟨Sunny, Warm, Normal, Strong, Warm, Same⟩ → </a:t>
            </a:r>
            <a:r>
              <a:rPr lang="en-US" sz="1600" b="1" dirty="0"/>
              <a:t>Yes</a:t>
            </a:r>
            <a:endParaRPr lang="en-US" sz="1600" dirty="0"/>
          </a:p>
          <a:p>
            <a:r>
              <a:rPr lang="en-US" sz="1600" dirty="0"/>
              <a:t>Update S: replace Ø with the example’s values</a:t>
            </a:r>
          </a:p>
          <a:p>
            <a:r>
              <a:rPr lang="en-US" sz="1600" b="1" dirty="0"/>
              <a:t>S₁</a:t>
            </a:r>
            <a:r>
              <a:rPr lang="en-US" sz="1600" dirty="0"/>
              <a:t> = { ⟨Sunny, Warm, Normal, Strong, Warm, Same⟩ }</a:t>
            </a:r>
          </a:p>
          <a:p>
            <a:r>
              <a:rPr lang="en-US" sz="1600" b="1" dirty="0"/>
              <a:t>G₁</a:t>
            </a:r>
            <a:r>
              <a:rPr lang="en-US" sz="1600" dirty="0"/>
              <a:t> = { ⟨?, ?, ?, ?, ?, ?⟩ } (unchanged; still consistent)</a:t>
            </a:r>
          </a:p>
          <a:p>
            <a:endParaRPr lang="en-US" dirty="0"/>
          </a:p>
        </p:txBody>
      </p:sp>
      <p:sp>
        <p:nvSpPr>
          <p:cNvPr id="4" name="TextBox 3"/>
          <p:cNvSpPr txBox="1"/>
          <p:nvPr/>
        </p:nvSpPr>
        <p:spPr>
          <a:xfrm>
            <a:off x="7361382" y="2429164"/>
            <a:ext cx="2735044" cy="369332"/>
          </a:xfrm>
          <a:prstGeom prst="rect">
            <a:avLst/>
          </a:prstGeom>
          <a:noFill/>
        </p:spPr>
        <p:txBody>
          <a:bodyPr wrap="none" rtlCol="0">
            <a:spAutoFit/>
          </a:bodyPr>
          <a:lstStyle/>
          <a:p>
            <a:r>
              <a:rPr lang="en-US" b="1" dirty="0"/>
              <a:t>S₀</a:t>
            </a:r>
            <a:r>
              <a:rPr lang="en-US" dirty="0"/>
              <a:t> = { ⟨Ø, Ø, Ø, Ø, Ø, Ø⟩ }</a:t>
            </a:r>
          </a:p>
        </p:txBody>
      </p:sp>
      <p:sp>
        <p:nvSpPr>
          <p:cNvPr id="5" name="Rectangle 4"/>
          <p:cNvSpPr/>
          <p:nvPr/>
        </p:nvSpPr>
        <p:spPr>
          <a:xfrm>
            <a:off x="7678776" y="4980770"/>
            <a:ext cx="2478564" cy="369332"/>
          </a:xfrm>
          <a:prstGeom prst="rect">
            <a:avLst/>
          </a:prstGeom>
        </p:spPr>
        <p:txBody>
          <a:bodyPr wrap="none">
            <a:spAutoFit/>
          </a:bodyPr>
          <a:lstStyle/>
          <a:p>
            <a:r>
              <a:rPr lang="en-US" b="1" dirty="0"/>
              <a:t>G1 G₀</a:t>
            </a:r>
            <a:r>
              <a:rPr lang="en-US" dirty="0"/>
              <a:t> = { ⟨?, ?, ?, ?, ?, ?⟩ }</a:t>
            </a:r>
          </a:p>
        </p:txBody>
      </p:sp>
      <p:sp>
        <p:nvSpPr>
          <p:cNvPr id="6" name="Rectangle 5"/>
          <p:cNvSpPr/>
          <p:nvPr/>
        </p:nvSpPr>
        <p:spPr>
          <a:xfrm>
            <a:off x="6535828" y="2899443"/>
            <a:ext cx="5074979" cy="369332"/>
          </a:xfrm>
          <a:prstGeom prst="rect">
            <a:avLst/>
          </a:prstGeom>
        </p:spPr>
        <p:txBody>
          <a:bodyPr wrap="none">
            <a:spAutoFit/>
          </a:bodyPr>
          <a:lstStyle/>
          <a:p>
            <a:r>
              <a:rPr lang="en-US" b="1" dirty="0"/>
              <a:t>S₁</a:t>
            </a:r>
            <a:r>
              <a:rPr lang="en-US" dirty="0"/>
              <a:t> = { ⟨Sunny, Warm, Normal, Strong, Warm, Same⟩ }</a:t>
            </a:r>
          </a:p>
        </p:txBody>
      </p:sp>
    </p:spTree>
    <p:extLst>
      <p:ext uri="{BB962C8B-B14F-4D97-AF65-F5344CB8AC3E}">
        <p14:creationId xmlns:p14="http://schemas.microsoft.com/office/powerpoint/2010/main" val="27048515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After Example 2 (Positive)</a:t>
            </a:r>
          </a:p>
        </p:txBody>
      </p:sp>
      <p:sp>
        <p:nvSpPr>
          <p:cNvPr id="3" name="Content Placeholder 2"/>
          <p:cNvSpPr>
            <a:spLocks noGrp="1"/>
          </p:cNvSpPr>
          <p:nvPr>
            <p:ph idx="1"/>
          </p:nvPr>
        </p:nvSpPr>
        <p:spPr>
          <a:xfrm>
            <a:off x="581192" y="2180496"/>
            <a:ext cx="4969863" cy="3678303"/>
          </a:xfrm>
        </p:spPr>
        <p:txBody>
          <a:bodyPr/>
          <a:lstStyle/>
          <a:p>
            <a:r>
              <a:rPr lang="en-US" b="1" dirty="0"/>
              <a:t>x₂:</a:t>
            </a:r>
            <a:r>
              <a:rPr lang="en-US" dirty="0"/>
              <a:t> ⟨Sunny, Warm, High, Strong, Warm, Same⟩ → </a:t>
            </a:r>
            <a:r>
              <a:rPr lang="en-US" b="1" dirty="0"/>
              <a:t>Yes</a:t>
            </a:r>
            <a:endParaRPr lang="en-US" dirty="0"/>
          </a:p>
          <a:p>
            <a:r>
              <a:rPr lang="en-US" dirty="0"/>
              <a:t>Generalize S minimally where it conflicts with x₂ (Humidity)</a:t>
            </a:r>
          </a:p>
          <a:p>
            <a:r>
              <a:rPr lang="en-US" b="1" dirty="0"/>
              <a:t>S₂</a:t>
            </a:r>
            <a:r>
              <a:rPr lang="en-US" dirty="0"/>
              <a:t> = { ⟨Sunny, Warm, ?, Strong, Warm, Same⟩ }</a:t>
            </a:r>
          </a:p>
          <a:p>
            <a:r>
              <a:rPr lang="en-US" b="1" dirty="0"/>
              <a:t>G₂</a:t>
            </a:r>
            <a:r>
              <a:rPr lang="en-US" dirty="0"/>
              <a:t> = { ⟨?, ?, ?, ?, ?, ?⟩ }</a:t>
            </a:r>
          </a:p>
          <a:p>
            <a:endParaRPr lang="en-US" dirty="0"/>
          </a:p>
        </p:txBody>
      </p:sp>
      <p:sp>
        <p:nvSpPr>
          <p:cNvPr id="4" name="TextBox 3"/>
          <p:cNvSpPr txBox="1"/>
          <p:nvPr/>
        </p:nvSpPr>
        <p:spPr>
          <a:xfrm>
            <a:off x="7361382" y="2429164"/>
            <a:ext cx="2735044" cy="369332"/>
          </a:xfrm>
          <a:prstGeom prst="rect">
            <a:avLst/>
          </a:prstGeom>
          <a:noFill/>
        </p:spPr>
        <p:txBody>
          <a:bodyPr wrap="none" rtlCol="0">
            <a:spAutoFit/>
          </a:bodyPr>
          <a:lstStyle/>
          <a:p>
            <a:r>
              <a:rPr lang="en-US" b="1" dirty="0"/>
              <a:t>S₀</a:t>
            </a:r>
            <a:r>
              <a:rPr lang="en-US" dirty="0"/>
              <a:t> = { ⟨Ø, Ø, Ø, Ø, Ø, Ø⟩ }</a:t>
            </a:r>
          </a:p>
        </p:txBody>
      </p:sp>
      <p:sp>
        <p:nvSpPr>
          <p:cNvPr id="5" name="Rectangle 4"/>
          <p:cNvSpPr/>
          <p:nvPr/>
        </p:nvSpPr>
        <p:spPr>
          <a:xfrm>
            <a:off x="7678776" y="4980770"/>
            <a:ext cx="2856872" cy="369332"/>
          </a:xfrm>
          <a:prstGeom prst="rect">
            <a:avLst/>
          </a:prstGeom>
        </p:spPr>
        <p:txBody>
          <a:bodyPr wrap="none">
            <a:spAutoFit/>
          </a:bodyPr>
          <a:lstStyle/>
          <a:p>
            <a:r>
              <a:rPr lang="en-US" b="1" dirty="0"/>
              <a:t>G2 G1 G₀</a:t>
            </a:r>
            <a:r>
              <a:rPr lang="en-US" dirty="0"/>
              <a:t> = { ⟨?, ?, ?, ?, ?, ?⟩ }</a:t>
            </a:r>
          </a:p>
        </p:txBody>
      </p:sp>
      <p:sp>
        <p:nvSpPr>
          <p:cNvPr id="6" name="Rectangle 5"/>
          <p:cNvSpPr/>
          <p:nvPr/>
        </p:nvSpPr>
        <p:spPr>
          <a:xfrm>
            <a:off x="6535828" y="2899443"/>
            <a:ext cx="5074979" cy="369332"/>
          </a:xfrm>
          <a:prstGeom prst="rect">
            <a:avLst/>
          </a:prstGeom>
        </p:spPr>
        <p:txBody>
          <a:bodyPr wrap="none">
            <a:spAutoFit/>
          </a:bodyPr>
          <a:lstStyle/>
          <a:p>
            <a:r>
              <a:rPr lang="en-US" b="1" dirty="0"/>
              <a:t>S₁</a:t>
            </a:r>
            <a:r>
              <a:rPr lang="en-US" dirty="0"/>
              <a:t> = { ⟨Sunny, Warm, Normal, Strong, Warm, Same⟩ }</a:t>
            </a:r>
          </a:p>
        </p:txBody>
      </p:sp>
      <p:sp>
        <p:nvSpPr>
          <p:cNvPr id="7" name="Rectangle 6"/>
          <p:cNvSpPr/>
          <p:nvPr/>
        </p:nvSpPr>
        <p:spPr>
          <a:xfrm>
            <a:off x="6704375" y="3387297"/>
            <a:ext cx="4427366" cy="369332"/>
          </a:xfrm>
          <a:prstGeom prst="rect">
            <a:avLst/>
          </a:prstGeom>
        </p:spPr>
        <p:txBody>
          <a:bodyPr wrap="none">
            <a:spAutoFit/>
          </a:bodyPr>
          <a:lstStyle/>
          <a:p>
            <a:r>
              <a:rPr lang="en-US" b="1" dirty="0"/>
              <a:t>S₂</a:t>
            </a:r>
            <a:r>
              <a:rPr lang="en-US" dirty="0"/>
              <a:t> = { ⟨Sunny, Warm, ?, Strong, Warm, Same⟩ }</a:t>
            </a:r>
          </a:p>
        </p:txBody>
      </p:sp>
    </p:spTree>
    <p:extLst>
      <p:ext uri="{BB962C8B-B14F-4D97-AF65-F5344CB8AC3E}">
        <p14:creationId xmlns:p14="http://schemas.microsoft.com/office/powerpoint/2010/main" val="31430289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Candidate Elimination Algorithm</a:t>
            </a:r>
          </a:p>
        </p:txBody>
      </p:sp>
      <p:sp>
        <p:nvSpPr>
          <p:cNvPr id="3" name="Content Placeholder 2"/>
          <p:cNvSpPr>
            <a:spLocks noGrp="1"/>
          </p:cNvSpPr>
          <p:nvPr>
            <p:ph idx="1"/>
          </p:nvPr>
        </p:nvSpPr>
        <p:spPr>
          <a:xfrm>
            <a:off x="0" y="1054100"/>
            <a:ext cx="7378700" cy="5803900"/>
          </a:xfrm>
        </p:spPr>
        <p:txBody>
          <a:bodyPr>
            <a:normAutofit/>
          </a:bodyPr>
          <a:lstStyle/>
          <a:p>
            <a:pPr algn="just"/>
            <a:r>
              <a:rPr lang="en-US" sz="2400" dirty="0"/>
              <a:t>When the first training example is presented (a positive example in this case), the CANDIDATE-ELIMINATION algorithm checks the S boundary and finds that it is overly specific-it fails to cover the positive example.</a:t>
            </a:r>
          </a:p>
          <a:p>
            <a:pPr algn="just"/>
            <a:endParaRPr lang="en-US" sz="2400" dirty="0"/>
          </a:p>
          <a:p>
            <a:pPr algn="just"/>
            <a:r>
              <a:rPr lang="en-US" sz="2400" dirty="0"/>
              <a:t>The boundary is therefore revised by moving it to the least more general hypothesis that covers this new example. </a:t>
            </a:r>
          </a:p>
          <a:p>
            <a:pPr algn="just"/>
            <a:endParaRPr lang="en-US" sz="2400" dirty="0"/>
          </a:p>
          <a:p>
            <a:pPr algn="just"/>
            <a:r>
              <a:rPr lang="en-US" sz="2400" dirty="0"/>
              <a:t>This revised boundary is shown as S1. </a:t>
            </a:r>
          </a:p>
          <a:p>
            <a:pPr algn="just"/>
            <a:endParaRPr lang="en-US" sz="2400" dirty="0"/>
          </a:p>
          <a:p>
            <a:pPr algn="just"/>
            <a:r>
              <a:rPr lang="en-US" sz="2400" dirty="0"/>
              <a:t>When the second training example (also positive) is observed, it has a similar effect of generalizing S further to S2, leaving G again unchanged (i.e., G2 = GI = GO)</a:t>
            </a:r>
          </a:p>
        </p:txBody>
      </p:sp>
      <p:pic>
        <p:nvPicPr>
          <p:cNvPr id="4" name="Picture 3"/>
          <p:cNvPicPr>
            <a:picLocks noChangeAspect="1"/>
          </p:cNvPicPr>
          <p:nvPr/>
        </p:nvPicPr>
        <p:blipFill>
          <a:blip r:embed="rId2"/>
          <a:stretch>
            <a:fillRect/>
          </a:stretch>
        </p:blipFill>
        <p:spPr>
          <a:xfrm>
            <a:off x="7378700" y="1625600"/>
            <a:ext cx="4800600" cy="3810000"/>
          </a:xfrm>
          <a:prstGeom prst="rect">
            <a:avLst/>
          </a:prstGeom>
        </p:spPr>
      </p:pic>
      <p:pic>
        <p:nvPicPr>
          <p:cNvPr id="5" name="Picture 4"/>
          <p:cNvPicPr>
            <a:picLocks noChangeAspect="1"/>
          </p:cNvPicPr>
          <p:nvPr/>
        </p:nvPicPr>
        <p:blipFill>
          <a:blip r:embed="rId3"/>
          <a:stretch>
            <a:fillRect/>
          </a:stretch>
        </p:blipFill>
        <p:spPr>
          <a:xfrm>
            <a:off x="7378700" y="5435600"/>
            <a:ext cx="4800600" cy="1076325"/>
          </a:xfrm>
          <a:prstGeom prst="rect">
            <a:avLst/>
          </a:prstGeom>
        </p:spPr>
      </p:pic>
    </p:spTree>
    <p:extLst>
      <p:ext uri="{BB962C8B-B14F-4D97-AF65-F5344CB8AC3E}">
        <p14:creationId xmlns:p14="http://schemas.microsoft.com/office/powerpoint/2010/main" val="8291158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4925"/>
            <a:ext cx="10515600" cy="1325563"/>
          </a:xfrm>
        </p:spPr>
        <p:txBody>
          <a:bodyPr/>
          <a:lstStyle/>
          <a:p>
            <a:r>
              <a:rPr lang="en-US" dirty="0"/>
              <a:t>Candidate Elimination Algorithm</a:t>
            </a:r>
          </a:p>
        </p:txBody>
      </p:sp>
      <p:sp>
        <p:nvSpPr>
          <p:cNvPr id="3" name="Content Placeholder 2"/>
          <p:cNvSpPr>
            <a:spLocks noGrp="1"/>
          </p:cNvSpPr>
          <p:nvPr>
            <p:ph idx="1"/>
          </p:nvPr>
        </p:nvSpPr>
        <p:spPr>
          <a:xfrm>
            <a:off x="431800" y="1460500"/>
            <a:ext cx="11442700" cy="5397500"/>
          </a:xfrm>
        </p:spPr>
        <p:txBody>
          <a:bodyPr>
            <a:normAutofit/>
          </a:bodyPr>
          <a:lstStyle/>
          <a:p>
            <a:r>
              <a:rPr lang="en-US" dirty="0"/>
              <a:t>Positive training examples may force the S boundary of the version space to become increasingly general. Negative training examples play the complimentary role of forcing the G boundary to become increasingly specific</a:t>
            </a:r>
          </a:p>
          <a:p>
            <a:r>
              <a:rPr lang="en-US" dirty="0"/>
              <a:t>Consider the third training example. This negative example reveals that the G boundary of the version space is overly general.</a:t>
            </a:r>
          </a:p>
          <a:p>
            <a:r>
              <a:rPr lang="en-US" dirty="0"/>
              <a:t>The hypothesis in the G boundary must therefore be specialized until it correctly classifies this new negative example.</a:t>
            </a:r>
          </a:p>
          <a:p>
            <a:r>
              <a:rPr lang="en-US" dirty="0"/>
              <a:t>There are several alternative minimally more specific hypotheses. All of these become members of the new G3 boundary set. </a:t>
            </a:r>
          </a:p>
        </p:txBody>
      </p:sp>
    </p:spTree>
    <p:extLst>
      <p:ext uri="{BB962C8B-B14F-4D97-AF65-F5344CB8AC3E}">
        <p14:creationId xmlns:p14="http://schemas.microsoft.com/office/powerpoint/2010/main" val="12135522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687"/>
            <a:ext cx="10515600" cy="1325563"/>
          </a:xfrm>
        </p:spPr>
        <p:txBody>
          <a:bodyPr/>
          <a:lstStyle/>
          <a:p>
            <a:r>
              <a:rPr lang="en-US" dirty="0"/>
              <a:t>Candidate Elimination Algorithm</a:t>
            </a:r>
          </a:p>
        </p:txBody>
      </p:sp>
      <p:sp>
        <p:nvSpPr>
          <p:cNvPr id="3" name="Content Placeholder 2"/>
          <p:cNvSpPr>
            <a:spLocks noGrp="1"/>
          </p:cNvSpPr>
          <p:nvPr>
            <p:ph idx="1"/>
          </p:nvPr>
        </p:nvSpPr>
        <p:spPr>
          <a:xfrm>
            <a:off x="0" y="1422400"/>
            <a:ext cx="5092700" cy="5345906"/>
          </a:xfrm>
        </p:spPr>
        <p:txBody>
          <a:bodyPr>
            <a:normAutofit fontScale="92500" lnSpcReduction="20000"/>
          </a:bodyPr>
          <a:lstStyle/>
          <a:p>
            <a:r>
              <a:rPr lang="en-US" dirty="0"/>
              <a:t>Given that there are six attributes that could be specified to specialize G2, why are there only three new hypotheses in G3?</a:t>
            </a:r>
          </a:p>
          <a:p>
            <a:endParaRPr lang="en-US" dirty="0"/>
          </a:p>
          <a:p>
            <a:r>
              <a:rPr lang="en-US" dirty="0"/>
              <a:t>The reason other hypothesis is excluded is that it is inconsistent with the previously encountered positive examples. The algorithm determines this simply by noting that h is not more general than the current specific boundary, S2.</a:t>
            </a:r>
          </a:p>
          <a:p>
            <a:endParaRPr lang="en-US" dirty="0"/>
          </a:p>
          <a:p>
            <a:r>
              <a:rPr lang="en-US" dirty="0"/>
              <a:t>Common feature values of S2 and S3 are generalized (?)</a:t>
            </a:r>
          </a:p>
          <a:p>
            <a:endParaRPr lang="en-US" dirty="0"/>
          </a:p>
        </p:txBody>
      </p:sp>
      <p:pic>
        <p:nvPicPr>
          <p:cNvPr id="4" name="Picture 3"/>
          <p:cNvPicPr>
            <a:picLocks noChangeAspect="1"/>
          </p:cNvPicPr>
          <p:nvPr/>
        </p:nvPicPr>
        <p:blipFill>
          <a:blip r:embed="rId2"/>
          <a:stretch>
            <a:fillRect/>
          </a:stretch>
        </p:blipFill>
        <p:spPr>
          <a:xfrm>
            <a:off x="4972050" y="1422400"/>
            <a:ext cx="7219950" cy="5345906"/>
          </a:xfrm>
          <a:prstGeom prst="rect">
            <a:avLst/>
          </a:prstGeom>
        </p:spPr>
      </p:pic>
    </p:spTree>
    <p:extLst>
      <p:ext uri="{BB962C8B-B14F-4D97-AF65-F5344CB8AC3E}">
        <p14:creationId xmlns:p14="http://schemas.microsoft.com/office/powerpoint/2010/main" val="2419341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Candidate Elimination Algorithm</a:t>
            </a:r>
          </a:p>
        </p:txBody>
      </p:sp>
      <p:sp>
        <p:nvSpPr>
          <p:cNvPr id="3" name="Content Placeholder 2"/>
          <p:cNvSpPr>
            <a:spLocks noGrp="1"/>
          </p:cNvSpPr>
          <p:nvPr>
            <p:ph idx="1"/>
          </p:nvPr>
        </p:nvSpPr>
        <p:spPr>
          <a:xfrm>
            <a:off x="101600" y="1325563"/>
            <a:ext cx="5689600" cy="5367337"/>
          </a:xfrm>
        </p:spPr>
        <p:txBody>
          <a:bodyPr/>
          <a:lstStyle/>
          <a:p>
            <a:r>
              <a:rPr lang="en-US" dirty="0"/>
              <a:t>The fourth training example further generalizes the S boundary of the version space. </a:t>
            </a:r>
          </a:p>
          <a:p>
            <a:r>
              <a:rPr lang="en-US" dirty="0"/>
              <a:t>It also results in removing one member of the G boundary, because this member fails to cover the new positive example.</a:t>
            </a:r>
          </a:p>
        </p:txBody>
      </p:sp>
      <p:pic>
        <p:nvPicPr>
          <p:cNvPr id="5" name="Picture 4"/>
          <p:cNvPicPr>
            <a:picLocks noChangeAspect="1"/>
          </p:cNvPicPr>
          <p:nvPr/>
        </p:nvPicPr>
        <p:blipFill>
          <a:blip r:embed="rId2"/>
          <a:stretch>
            <a:fillRect/>
          </a:stretch>
        </p:blipFill>
        <p:spPr>
          <a:xfrm>
            <a:off x="5791200" y="1146175"/>
            <a:ext cx="6400800" cy="5200650"/>
          </a:xfrm>
          <a:prstGeom prst="rect">
            <a:avLst/>
          </a:prstGeom>
        </p:spPr>
      </p:pic>
    </p:spTree>
    <p:extLst>
      <p:ext uri="{BB962C8B-B14F-4D97-AF65-F5344CB8AC3E}">
        <p14:creationId xmlns:p14="http://schemas.microsoft.com/office/powerpoint/2010/main" val="315750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842EB5B25AA94681E01C533BC4E547" ma:contentTypeVersion="3" ma:contentTypeDescription="Create a new document." ma:contentTypeScope="" ma:versionID="5e8853d87939594dd11300b895153a60">
  <xsd:schema xmlns:xsd="http://www.w3.org/2001/XMLSchema" xmlns:xs="http://www.w3.org/2001/XMLSchema" xmlns:p="http://schemas.microsoft.com/office/2006/metadata/properties" xmlns:ns2="b1cd9ac4-537d-4700-ace9-c3dc8aafaf16" targetNamespace="http://schemas.microsoft.com/office/2006/metadata/properties" ma:root="true" ma:fieldsID="cc6f7d3b10a75145a31d85fa157930a3" ns2:_="">
    <xsd:import namespace="b1cd9ac4-537d-4700-ace9-c3dc8aafaf1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cd9ac4-537d-4700-ace9-c3dc8aafaf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D16BDF-E08A-4302-946A-601CF0DAF9B2}"/>
</file>

<file path=customXml/itemProps2.xml><?xml version="1.0" encoding="utf-8"?>
<ds:datastoreItem xmlns:ds="http://schemas.openxmlformats.org/officeDocument/2006/customXml" ds:itemID="{2736A807-6E4A-4F30-BC9F-49A63B427AC2}"/>
</file>

<file path=customXml/itemProps3.xml><?xml version="1.0" encoding="utf-8"?>
<ds:datastoreItem xmlns:ds="http://schemas.openxmlformats.org/officeDocument/2006/customXml" ds:itemID="{CB3683B9-BC87-46C8-AA2E-50B855735CE4}"/>
</file>

<file path=docProps/app.xml><?xml version="1.0" encoding="utf-8"?>
<Properties xmlns="http://schemas.openxmlformats.org/officeDocument/2006/extended-properties" xmlns:vt="http://schemas.openxmlformats.org/officeDocument/2006/docPropsVTypes">
  <TotalTime>698</TotalTime>
  <Words>2976</Words>
  <Application>Microsoft Office PowerPoint</Application>
  <PresentationFormat>Widescreen</PresentationFormat>
  <Paragraphs>256</Paragraphs>
  <Slides>54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Aptos</vt:lpstr>
      <vt:lpstr>Arial</vt:lpstr>
      <vt:lpstr>Calibri</vt:lpstr>
      <vt:lpstr>Calibri Light</vt:lpstr>
      <vt:lpstr>system-ui</vt:lpstr>
      <vt:lpstr>Wingdings</vt:lpstr>
      <vt:lpstr>Office Theme</vt:lpstr>
      <vt:lpstr>CONCEPT LEARNING AND THE GENERAL-TO-SPECIFIC 0RDERING</vt:lpstr>
      <vt:lpstr>Concept Learning</vt:lpstr>
      <vt:lpstr>How do we Learn?</vt:lpstr>
      <vt:lpstr>Concept Learning</vt:lpstr>
      <vt:lpstr>Concept Learning – Formally defined…</vt:lpstr>
      <vt:lpstr>Definition of Concept Learning</vt:lpstr>
      <vt:lpstr>Example Dataset</vt:lpstr>
      <vt:lpstr>Representing Hypothesis</vt:lpstr>
      <vt:lpstr>Concept Learning task</vt:lpstr>
      <vt:lpstr>Representing Hypothesis</vt:lpstr>
      <vt:lpstr>Hypothesis Representation</vt:lpstr>
      <vt:lpstr>Hypothesis representation</vt:lpstr>
      <vt:lpstr>Representing Hypothesis</vt:lpstr>
      <vt:lpstr>Representing Hypothesis</vt:lpstr>
      <vt:lpstr>Representing Hypothesis</vt:lpstr>
      <vt:lpstr>To summarize…</vt:lpstr>
      <vt:lpstr>Concept Learning Task</vt:lpstr>
      <vt:lpstr>How to write all possible concepts and hypothesis</vt:lpstr>
      <vt:lpstr>How many potential hypothesis?</vt:lpstr>
      <vt:lpstr>PowerPoint Presentation</vt:lpstr>
      <vt:lpstr>PowerPoint Presentation</vt:lpstr>
      <vt:lpstr>CONCEPT LEARNING AS SEARCH</vt:lpstr>
      <vt:lpstr>General to specific Ordering of Hypothesis</vt:lpstr>
      <vt:lpstr>General-to-Specific Ordering of Hypotheses</vt:lpstr>
      <vt:lpstr>Instance, Hypothesis and More-General-Than</vt:lpstr>
      <vt:lpstr>Find-S Algorithm</vt:lpstr>
      <vt:lpstr>FIND-S ALGORITHM: FINDING A MAXIMALLY SPECIFIC HYPOTHESIS</vt:lpstr>
      <vt:lpstr>Find-S Algorithm</vt:lpstr>
      <vt:lpstr>PowerPoint Presentation</vt:lpstr>
      <vt:lpstr>FIND-S ALGORITHM</vt:lpstr>
      <vt:lpstr>PowerPoint Presentation</vt:lpstr>
      <vt:lpstr>FIND-S ALGORITHM</vt:lpstr>
      <vt:lpstr>PowerPoint Presentation</vt:lpstr>
      <vt:lpstr>FIND-S ALGORITHM</vt:lpstr>
      <vt:lpstr>PowerPoint Presentation</vt:lpstr>
      <vt:lpstr>PowerPoint Presentation</vt:lpstr>
      <vt:lpstr>PowerPoint Presentation</vt:lpstr>
      <vt:lpstr>Limitations of Find-S Algorithm</vt:lpstr>
      <vt:lpstr>Limitations of Find-S Algorithm</vt:lpstr>
      <vt:lpstr>VERSION SPACES AND THE CANDIDATE-ELIMINATION ALGORITHM </vt:lpstr>
      <vt:lpstr>The LIST-THEN-ELIMINATE Algorithm </vt:lpstr>
      <vt:lpstr>The LIST-THEN-ELIMINATE Algorithm </vt:lpstr>
      <vt:lpstr>PowerPoint Presentation</vt:lpstr>
      <vt:lpstr>Candidate Elimination Algorithm</vt:lpstr>
      <vt:lpstr>Candidate Elimination Algorithm</vt:lpstr>
      <vt:lpstr>Candidate Elimination Algorithm</vt:lpstr>
      <vt:lpstr>Step 1</vt:lpstr>
      <vt:lpstr>Candidate Elimination Algorithm</vt:lpstr>
      <vt:lpstr>After seeing first example</vt:lpstr>
      <vt:lpstr>After Example 2 (Positive)</vt:lpstr>
      <vt:lpstr>Candidate Elimination Algorithm</vt:lpstr>
      <vt:lpstr>Candidate Elimination Algorithm</vt:lpstr>
      <vt:lpstr>Candidate Elimination Algorithm</vt:lpstr>
      <vt:lpstr>Candidate Elimination Algorithm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LEARNING AND THE GENERAL-TO-SPECIFIC 0RDERING</dc:title>
  <dc:creator>admin</dc:creator>
  <cp:lastModifiedBy>Usman Yaseen</cp:lastModifiedBy>
  <cp:revision>67</cp:revision>
  <dcterms:created xsi:type="dcterms:W3CDTF">2022-08-24T05:47:28Z</dcterms:created>
  <dcterms:modified xsi:type="dcterms:W3CDTF">2026-02-04T10:49:34Z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0x010100BC842EB5B25AA94681E01C533BC4E547</vt:lpwstr>
  </property>
  <property fmtid="{D5CDD505-2E9C-101B-9397-08002B2CF9AE}" pid="3" name="Order">
    <vt:r8>700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