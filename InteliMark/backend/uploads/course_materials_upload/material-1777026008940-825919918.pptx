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3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256" r:id="rId2"/>
    <p:sldId id="333" r:id="rId3"/>
    <p:sldId id="334" r:id="rId4"/>
    <p:sldId id="335" r:id="rId5"/>
    <p:sldId id="336" r:id="rId6"/>
    <p:sldId id="337" r:id="rId7"/>
    <p:sldId id="338" r:id="rId8"/>
    <p:sldId id="339" r:id="rId9"/>
    <p:sldId id="340" r:id="rId10"/>
    <p:sldId id="341" r:id="rId11"/>
    <p:sldId id="342" r:id="rId12"/>
    <p:sldId id="343" r:id="rId13"/>
    <p:sldId id="344" r:id="rId14"/>
    <p:sldId id="345" r:id="rId15"/>
    <p:sldId id="346" r:id="rId16"/>
    <p:sldId id="347" r:id="rId17"/>
    <p:sldId id="322" r:id="rId18"/>
    <p:sldId id="323" r:id="rId19"/>
    <p:sldId id="324" r:id="rId20"/>
    <p:sldId id="325" r:id="rId21"/>
    <p:sldId id="332" r:id="rId22"/>
    <p:sldId id="326" r:id="rId23"/>
    <p:sldId id="327" r:id="rId24"/>
    <p:sldId id="328" r:id="rId25"/>
    <p:sldId id="329" r:id="rId26"/>
    <p:sldId id="330" r:id="rId27"/>
    <p:sldId id="348" r:id="rId28"/>
    <p:sldId id="349" r:id="rId29"/>
    <p:sldId id="350" r:id="rId30"/>
    <p:sldId id="351" r:id="rId31"/>
    <p:sldId id="352" r:id="rId32"/>
    <p:sldId id="353" r:id="rId33"/>
    <p:sldId id="354" r:id="rId34"/>
    <p:sldId id="355" r:id="rId35"/>
    <p:sldId id="356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CE099-6194-4B7A-821D-7132067FF6FC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FFFEFE-4EB5-44AE-A396-3645D359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596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5170887-C74F-464B-8B9C-3F82AB6A78FB}" type="slidenum">
              <a:rPr lang="en-US" altLang="en-US" smtClean="0">
                <a:latin typeface="Times New Roman" panose="02020603050405020304" pitchFamily="18" charset="0"/>
              </a:rPr>
              <a:pPr/>
              <a:t>32</a:t>
            </a:fld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679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1A15EB9-6EA4-49A0-8486-2DD19E4BA845}" type="slidenum">
              <a:rPr lang="en-US" altLang="en-US" smtClean="0">
                <a:latin typeface="Times New Roman" panose="02020603050405020304" pitchFamily="18" charset="0"/>
              </a:rPr>
              <a:pPr/>
              <a:t>33</a:t>
            </a:fld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391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4A62005-9374-4432-9A12-73B0799FB3CB}" type="slidenum">
              <a:rPr lang="en-US" altLang="en-US" smtClean="0">
                <a:latin typeface="Times New Roman" panose="02020603050405020304" pitchFamily="18" charset="0"/>
              </a:rPr>
              <a:pPr/>
              <a:t>34</a:t>
            </a:fld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734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C1C9502-2EFC-4D28-8513-E6543E776A54}" type="slidenum">
              <a:rPr lang="en-US" altLang="en-US" smtClean="0">
                <a:latin typeface="Times New Roman" panose="02020603050405020304" pitchFamily="18" charset="0"/>
              </a:rPr>
              <a:pPr/>
              <a:t>35</a:t>
            </a:fld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469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1/12/2023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1/12/2023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1/12/2023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1/12/2023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1/12/2023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1.wmf"/><Relationship Id="rId4" Type="http://schemas.openxmlformats.org/officeDocument/2006/relationships/oleObject" Target="../embeddings/oleObject1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62200" y="1981200"/>
            <a:ext cx="6096000" cy="1894362"/>
          </a:xfrm>
        </p:spPr>
        <p:txBody>
          <a:bodyPr/>
          <a:lstStyle/>
          <a:p>
            <a:r>
              <a:rPr lang="en-US" dirty="0"/>
              <a:t>Gradient Descent and Cost Function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31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Slope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263" y="1932083"/>
            <a:ext cx="5423474" cy="3752034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2133600" y="92076"/>
            <a:ext cx="7467600" cy="57943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Recap of basic concepts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253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Case of a linear line</a:t>
            </a:r>
          </a:p>
          <a:p>
            <a:endParaRPr lang="en-US" dirty="0" smtClean="0"/>
          </a:p>
          <a:p>
            <a:r>
              <a:rPr lang="en-US" dirty="0" smtClean="0"/>
              <a:t>Delta y = 3 (9-6) {change in y}</a:t>
            </a:r>
          </a:p>
          <a:p>
            <a:r>
              <a:rPr lang="en-US" dirty="0" smtClean="0"/>
              <a:t>Delta x = 1 (3-2) {change in x}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211" y="2167672"/>
            <a:ext cx="4072139" cy="3535724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2133600" y="92076"/>
            <a:ext cx="7467600" cy="57943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Recap of basic concepts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424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Slope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Case of a non-linear</a:t>
            </a:r>
          </a:p>
          <a:p>
            <a:r>
              <a:rPr lang="en-US" dirty="0" smtClean="0"/>
              <a:t>Slope is not constant</a:t>
            </a:r>
          </a:p>
          <a:p>
            <a:r>
              <a:rPr lang="en-US" dirty="0" smtClean="0"/>
              <a:t>Based on the point under observation, </a:t>
            </a:r>
          </a:p>
          <a:p>
            <a:pPr marL="0" indent="0">
              <a:buNone/>
            </a:pPr>
            <a:r>
              <a:rPr lang="en-US" dirty="0" smtClean="0"/>
              <a:t>the slope may vary </a:t>
            </a:r>
          </a:p>
          <a:p>
            <a:r>
              <a:rPr lang="en-US" dirty="0" smtClean="0"/>
              <a:t>How to find the slope ?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727" y="2226469"/>
            <a:ext cx="3400454" cy="2905243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2133600" y="92076"/>
            <a:ext cx="7467600" cy="57943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Recap of basic concepts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369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Slope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Zoom on the point, and it will look like a straight line</a:t>
            </a:r>
          </a:p>
          <a:p>
            <a:r>
              <a:rPr lang="en-US" dirty="0" smtClean="0"/>
              <a:t>We can then use Delta y and Delta x, to calculate the slope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280" y="3039011"/>
            <a:ext cx="4898295" cy="2667134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2133600" y="92076"/>
            <a:ext cx="7467600" cy="57943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Recap of basic concepts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906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Slope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803" y="1961061"/>
            <a:ext cx="6257597" cy="3774281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2133600" y="92076"/>
            <a:ext cx="7467600" cy="57943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Recap of basic concepts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38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Slope and Derivative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61" y="1966122"/>
            <a:ext cx="6927878" cy="4032008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2133600" y="92076"/>
            <a:ext cx="7467600" cy="57943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Recap of basic concepts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682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Derivative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6419" y="977842"/>
            <a:ext cx="5162919" cy="5022908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2133600" y="92076"/>
            <a:ext cx="7467600" cy="57943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Recap of basic concepts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248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Derivative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611" y="2125266"/>
            <a:ext cx="6518021" cy="2949967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2133600" y="92076"/>
            <a:ext cx="7467600" cy="57943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Recap of basic concepts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970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Slope and Derivative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401" y="2270555"/>
            <a:ext cx="7290380" cy="3730195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2133600" y="92076"/>
            <a:ext cx="7467600" cy="57943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Recap of basic concepts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372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Derivative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994" y="986207"/>
            <a:ext cx="6272364" cy="4902425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2133600" y="92076"/>
            <a:ext cx="7467600" cy="57943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Recap of basic concepts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065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Slope and Derivative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Geometrically, </a:t>
            </a:r>
            <a:r>
              <a:rPr lang="en-US" b="1" dirty="0"/>
              <a:t>the derivative of a function can be interpreted as the slope of the graph of the function or, more precisely, as the slope of the tangent line at a point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Its </a:t>
            </a:r>
            <a:r>
              <a:rPr lang="en-US" dirty="0"/>
              <a:t>calculation, in fact, derives from the slope formula for a straight line, except that a limiting process must be used for curves.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133600" y="92076"/>
            <a:ext cx="7467600" cy="57943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Recap of basic concepts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760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Slope and Derivative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208" y="2020600"/>
            <a:ext cx="7422356" cy="3579019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2133600" y="92076"/>
            <a:ext cx="7467600" cy="57943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Recap of basic concepts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459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Partial Derivative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743" y="2226469"/>
            <a:ext cx="4430534" cy="3473182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2133600" y="92076"/>
            <a:ext cx="7467600" cy="57943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Recap of basic concepts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156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03165"/>
            <a:ext cx="7886700" cy="99417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Partial Derivative and Gradient Descent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62829"/>
            <a:ext cx="7886700" cy="3263504"/>
          </a:xfrm>
        </p:spPr>
        <p:txBody>
          <a:bodyPr/>
          <a:lstStyle/>
          <a:p>
            <a:r>
              <a:rPr lang="en-US" dirty="0" smtClean="0"/>
              <a:t>Partial derivative tells us that how much will be the effect of each weight change on the cost function.</a:t>
            </a:r>
          </a:p>
          <a:p>
            <a:r>
              <a:rPr lang="en-US" dirty="0" smtClean="0"/>
              <a:t>E.g. how much price is changing, given number of bedrooms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23340"/>
            <a:ext cx="6915150" cy="2805985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2133600" y="92076"/>
            <a:ext cx="7467600" cy="57943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Recap of basic concepts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181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133600" y="92076"/>
            <a:ext cx="7467600" cy="57943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Recap of basic concepts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47725"/>
            <a:ext cx="7305675" cy="601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8641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Number Placeholder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28815CA-2DCD-4C3F-8F34-2E506A115163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pic>
        <p:nvPicPr>
          <p:cNvPr id="79875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388" y="1291220"/>
            <a:ext cx="7301224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Possible linear regression lines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103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Number Placeholder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60B1F10-5A13-4834-8C51-B6EC1F3ED31C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pic>
        <p:nvPicPr>
          <p:cNvPr id="80899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12850"/>
            <a:ext cx="7950306" cy="526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Mean square error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89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Number Placeholder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2168C7C-D1F6-4DD9-8A06-20D4462E4183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pic>
        <p:nvPicPr>
          <p:cNvPr id="8192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371600"/>
            <a:ext cx="8153400" cy="492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Mean square error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1093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Number Placeholder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6F91AED-CF19-45CC-B4DE-C357F7CD9262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pic>
        <p:nvPicPr>
          <p:cNvPr id="82947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46200"/>
            <a:ext cx="7721706" cy="490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Mean square error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3582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There can be multiple regression lines that we can create with different values of </a:t>
            </a:r>
            <a:r>
              <a:rPr lang="en-US" dirty="0"/>
              <a:t>slope and intercept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But we cannot try every permutation and combination of slope and intercept.</a:t>
            </a:r>
          </a:p>
          <a:p>
            <a:endParaRPr lang="en-US" dirty="0"/>
          </a:p>
          <a:p>
            <a:r>
              <a:rPr lang="en-US" dirty="0" smtClean="0"/>
              <a:t>The efficient approach will be to select the optimal line in minimum number of iterations.</a:t>
            </a:r>
          </a:p>
          <a:p>
            <a:endParaRPr lang="en-US" dirty="0"/>
          </a:p>
          <a:p>
            <a:r>
              <a:rPr lang="en-US" dirty="0" smtClean="0"/>
              <a:t>Gradient descent is the algorithm that helps to find best fit line for given training dataset in minimum iterations.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Gradient descent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6330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Number Placeholder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8764CFF-9C47-42EB-A0E6-1CABBFC38F08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pic>
        <p:nvPicPr>
          <p:cNvPr id="83971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3297" y="611380"/>
            <a:ext cx="4388595" cy="3693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457200" y="38743"/>
            <a:ext cx="7467600" cy="1143000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Gradient descent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914400"/>
            <a:ext cx="3916097" cy="5715000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Slope and intercept are plotted against MSE.</a:t>
            </a:r>
          </a:p>
          <a:p>
            <a:endParaRPr lang="en-US" dirty="0" smtClean="0"/>
          </a:p>
          <a:p>
            <a:r>
              <a:rPr lang="en-US" dirty="0" smtClean="0"/>
              <a:t>Different values of m and b will create a plane.</a:t>
            </a:r>
          </a:p>
          <a:p>
            <a:endParaRPr lang="en-US" dirty="0"/>
          </a:p>
          <a:p>
            <a:r>
              <a:rPr lang="en-US" dirty="0" smtClean="0"/>
              <a:t>We start from any value of m and b, usually 0.</a:t>
            </a:r>
          </a:p>
          <a:p>
            <a:endParaRPr lang="en-US" dirty="0"/>
          </a:p>
          <a:p>
            <a:r>
              <a:rPr lang="en-US" dirty="0" smtClean="0"/>
              <a:t>Then from that point cost is calculated and it is reduced with every mini-step.</a:t>
            </a:r>
          </a:p>
          <a:p>
            <a:endParaRPr lang="en-US" dirty="0"/>
          </a:p>
          <a:p>
            <a:r>
              <a:rPr lang="en-US" dirty="0" smtClean="0"/>
              <a:t>We keep on taking small steps until we reach the minimum point.</a:t>
            </a:r>
          </a:p>
          <a:p>
            <a:endParaRPr lang="en-US" dirty="0"/>
          </a:p>
          <a:p>
            <a:r>
              <a:rPr lang="en-US" dirty="0" smtClean="0"/>
              <a:t>At minima, the error is minimum.</a:t>
            </a:r>
          </a:p>
        </p:txBody>
      </p:sp>
    </p:spTree>
    <p:extLst>
      <p:ext uri="{BB962C8B-B14F-4D97-AF65-F5344CB8AC3E}">
        <p14:creationId xmlns:p14="http://schemas.microsoft.com/office/powerpoint/2010/main" val="2748422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Number Placeholder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DC91AD9-203D-42DB-BB21-7442232E862D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pic>
        <p:nvPicPr>
          <p:cNvPr id="84995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32" y="1417638"/>
            <a:ext cx="6425336" cy="5337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Gradient descent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69710" y="833227"/>
            <a:ext cx="8153400" cy="503238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Two views from m and b.</a:t>
            </a:r>
          </a:p>
        </p:txBody>
      </p:sp>
    </p:spTree>
    <p:extLst>
      <p:ext uri="{BB962C8B-B14F-4D97-AF65-F5344CB8AC3E}">
        <p14:creationId xmlns:p14="http://schemas.microsoft.com/office/powerpoint/2010/main" val="15750752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Number Placeholder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EF62D09-5FBC-46CC-A76C-A5706B6058E1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pic>
        <p:nvPicPr>
          <p:cNvPr id="86019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319920"/>
            <a:ext cx="8458200" cy="4538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Gradient descent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914400"/>
            <a:ext cx="7950306" cy="5715000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If we take fixed size steps, we can miss global minima. </a:t>
            </a:r>
          </a:p>
          <a:p>
            <a:r>
              <a:rPr lang="en-US" dirty="0" smtClean="0"/>
              <a:t>The gradient descent will never converge.</a:t>
            </a:r>
          </a:p>
        </p:txBody>
      </p:sp>
    </p:spTree>
    <p:extLst>
      <p:ext uri="{BB962C8B-B14F-4D97-AF65-F5344CB8AC3E}">
        <p14:creationId xmlns:p14="http://schemas.microsoft.com/office/powerpoint/2010/main" val="28059591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Number Placeholder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4FCE5A9-F5C1-4B3E-97B0-F5570FE8AE53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pic>
        <p:nvPicPr>
          <p:cNvPr id="8704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00200"/>
            <a:ext cx="82296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Gradient descent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69710" y="833227"/>
            <a:ext cx="8153400" cy="503238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Varying step sizes can help to achieve global minima.</a:t>
            </a:r>
          </a:p>
        </p:txBody>
      </p:sp>
    </p:spTree>
    <p:extLst>
      <p:ext uri="{BB962C8B-B14F-4D97-AF65-F5344CB8AC3E}">
        <p14:creationId xmlns:p14="http://schemas.microsoft.com/office/powerpoint/2010/main" val="37131661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Number Placeholder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0E2CC31-5B14-44B7-AA82-5A21763C7CFD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200" smtClean="0">
              <a:latin typeface="Arial Black" panose="020B0A04020102020204" pitchFamily="34" charset="0"/>
            </a:endParaRPr>
          </a:p>
        </p:txBody>
      </p:sp>
      <p:pic>
        <p:nvPicPr>
          <p:cNvPr id="88067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209800"/>
            <a:ext cx="7453073" cy="4652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Gradient descent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69710" y="833226"/>
            <a:ext cx="8153400" cy="130037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Varying step sizes can be achieved by calculating slope at each point.</a:t>
            </a:r>
          </a:p>
          <a:p>
            <a:r>
              <a:rPr lang="en-US" dirty="0" smtClean="0"/>
              <a:t>Partial derivative/Slope will tell in which direction we need to go.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018159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Gradient descent</a:t>
            </a:r>
            <a:endParaRPr lang="en-US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69710" y="833226"/>
            <a:ext cx="8153400" cy="1300373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Learning rate decides the step size.</a:t>
            </a:r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26652"/>
            <a:ext cx="4495799" cy="13967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1" y="2971800"/>
            <a:ext cx="57912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387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Gradient descent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ctr" defTabSz="685800" rtl="0" eaLnBrk="1" latinLnBrk="0" hangingPunct="1">
              <a:defRPr kumimoji="0" sz="105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86F6A00A-05BE-40EF-A049-5A3E2955A93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pic>
        <p:nvPicPr>
          <p:cNvPr id="6554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4400550"/>
            <a:ext cx="510063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675" y="3357563"/>
            <a:ext cx="2625725" cy="87153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54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700" y="1943100"/>
            <a:ext cx="5207000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99712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Gradient descent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428750" y="3829050"/>
            <a:ext cx="5600700" cy="1085850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dirty="0"/>
              <a:t>For simplicity, assume we have to minimize a function of one variable only J(</a:t>
            </a:r>
            <a:r>
              <a:rPr lang="el-GR" i="1" dirty="0"/>
              <a:t>θ</a:t>
            </a:r>
            <a:r>
              <a:rPr lang="fr-FR" i="1" baseline="-25000" dirty="0"/>
              <a:t>1</a:t>
            </a:r>
            <a:r>
              <a:rPr lang="fr-FR" i="1" dirty="0"/>
              <a:t>)</a:t>
            </a:r>
          </a:p>
          <a:p>
            <a:pPr>
              <a:defRPr/>
            </a:pPr>
            <a:endParaRPr lang="fr-FR" i="1" baseline="-25000" dirty="0"/>
          </a:p>
          <a:p>
            <a:pPr>
              <a:defRPr/>
            </a:pPr>
            <a:endParaRPr lang="fr-FR" i="1" baseline="-25000" dirty="0"/>
          </a:p>
          <a:p>
            <a:pPr>
              <a:defRPr/>
            </a:pPr>
            <a:endParaRPr lang="fr-FR" i="1" baseline="-25000" dirty="0"/>
          </a:p>
          <a:p>
            <a:pPr>
              <a:defRPr/>
            </a:pPr>
            <a:endParaRPr lang="fr-FR" i="1" baseline="-25000" dirty="0"/>
          </a:p>
          <a:p>
            <a:pPr>
              <a:buFont typeface="Wingdings" panose="05000000000000000000" pitchFamily="2" charset="2"/>
              <a:buNone/>
              <a:defRPr/>
            </a:pPr>
            <a:endParaRPr lang="fr-FR" i="1" baseline="-25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ctr" defTabSz="685800" rtl="0" eaLnBrk="1" latinLnBrk="0" hangingPunct="1">
              <a:defRPr kumimoji="0" sz="105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0C16AED3-F1D8-4770-A110-938BDEA6B6AD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pic>
        <p:nvPicPr>
          <p:cNvPr id="6656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050" y="2000250"/>
            <a:ext cx="5486400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Oval 5"/>
          <p:cNvSpPr/>
          <p:nvPr/>
        </p:nvSpPr>
        <p:spPr>
          <a:xfrm>
            <a:off x="2957513" y="2608263"/>
            <a:ext cx="228600" cy="228600"/>
          </a:xfrm>
          <a:prstGeom prst="ellipse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143250" y="2343150"/>
            <a:ext cx="1257300" cy="800100"/>
          </a:xfrm>
          <a:prstGeom prst="ellipse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6568" name="TextBox 7"/>
          <p:cNvSpPr txBox="1">
            <a:spLocks noChangeArrowheads="1"/>
          </p:cNvSpPr>
          <p:nvPr/>
        </p:nvSpPr>
        <p:spPr bwMode="auto">
          <a:xfrm>
            <a:off x="2089150" y="3257550"/>
            <a:ext cx="11334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Step size</a:t>
            </a:r>
          </a:p>
        </p:txBody>
      </p:sp>
      <p:sp>
        <p:nvSpPr>
          <p:cNvPr id="66569" name="TextBox 8"/>
          <p:cNvSpPr txBox="1">
            <a:spLocks noChangeArrowheads="1"/>
          </p:cNvSpPr>
          <p:nvPr/>
        </p:nvSpPr>
        <p:spPr bwMode="auto">
          <a:xfrm>
            <a:off x="3403600" y="3257550"/>
            <a:ext cx="17843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Derivative Term</a:t>
            </a:r>
          </a:p>
        </p:txBody>
      </p:sp>
      <p:cxnSp>
        <p:nvCxnSpPr>
          <p:cNvPr id="11" name="Straight Arrow Connector 10"/>
          <p:cNvCxnSpPr>
            <a:stCxn id="6" idx="3"/>
          </p:cNvCxnSpPr>
          <p:nvPr/>
        </p:nvCxnSpPr>
        <p:spPr>
          <a:xfrm flipH="1">
            <a:off x="2800350" y="2803525"/>
            <a:ext cx="190500" cy="5111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7" idx="4"/>
          </p:cNvCxnSpPr>
          <p:nvPr/>
        </p:nvCxnSpPr>
        <p:spPr>
          <a:xfrm>
            <a:off x="3771900" y="3143250"/>
            <a:ext cx="57150" cy="1714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4272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Gradient descent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ctr" defTabSz="685800" rtl="0" eaLnBrk="1" latinLnBrk="0" hangingPunct="1">
              <a:defRPr kumimoji="0" sz="105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EA8EAA8-7970-42DF-9E57-B9463FA354AD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pic>
        <p:nvPicPr>
          <p:cNvPr id="6758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00" y="2343150"/>
            <a:ext cx="2351088" cy="190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9" name="Rectangle 5"/>
          <p:cNvSpPr>
            <a:spLocks noChangeArrowheads="1"/>
          </p:cNvSpPr>
          <p:nvPr/>
        </p:nvSpPr>
        <p:spPr bwMode="auto">
          <a:xfrm>
            <a:off x="4057650" y="2419350"/>
            <a:ext cx="2763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J(</a:t>
            </a:r>
            <a:r>
              <a:rPr lang="el-GR" altLang="en-US" sz="1800" i="1"/>
              <a:t>θ</a:t>
            </a:r>
            <a:r>
              <a:rPr lang="fr-FR" altLang="en-US" sz="1800" i="1" baseline="-25000"/>
              <a:t>1</a:t>
            </a:r>
            <a:r>
              <a:rPr lang="fr-FR" altLang="en-US" sz="1800" i="1"/>
              <a:t>) ; </a:t>
            </a:r>
            <a:r>
              <a:rPr lang="el-GR" altLang="en-US" sz="1800" i="1"/>
              <a:t>θ</a:t>
            </a:r>
            <a:r>
              <a:rPr lang="fr-FR" altLang="en-US" sz="1800" i="1" baseline="-25000"/>
              <a:t>1 </a:t>
            </a:r>
            <a:r>
              <a:rPr lang="fr-FR" altLang="en-US" sz="1800" i="1"/>
              <a:t>is a real number</a:t>
            </a:r>
            <a:endParaRPr lang="en-US" altLang="en-US" sz="1800"/>
          </a:p>
        </p:txBody>
      </p:sp>
      <p:sp>
        <p:nvSpPr>
          <p:cNvPr id="67590" name="Rectangle 6"/>
          <p:cNvSpPr>
            <a:spLocks noChangeArrowheads="1"/>
          </p:cNvSpPr>
          <p:nvPr/>
        </p:nvSpPr>
        <p:spPr bwMode="auto">
          <a:xfrm>
            <a:off x="4057650" y="2419350"/>
            <a:ext cx="1085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J(</a:t>
            </a:r>
            <a:r>
              <a:rPr lang="el-GR" altLang="en-US" sz="1800" i="1"/>
              <a:t>θ</a:t>
            </a:r>
            <a:r>
              <a:rPr lang="fr-FR" altLang="en-US" sz="1800" i="1" baseline="-25000"/>
              <a:t>1</a:t>
            </a:r>
            <a:r>
              <a:rPr lang="fr-FR" altLang="en-US" sz="1800" i="1"/>
              <a:t>)</a:t>
            </a:r>
            <a:endParaRPr lang="en-US" altLang="en-US" sz="1800"/>
          </a:p>
        </p:txBody>
      </p:sp>
      <p:sp>
        <p:nvSpPr>
          <p:cNvPr id="67591" name="Rectangle 8"/>
          <p:cNvSpPr>
            <a:spLocks noChangeArrowheads="1"/>
          </p:cNvSpPr>
          <p:nvPr/>
        </p:nvSpPr>
        <p:spPr bwMode="auto">
          <a:xfrm>
            <a:off x="3648075" y="4000500"/>
            <a:ext cx="393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l-GR" altLang="en-US" sz="1800" i="1"/>
              <a:t>θ</a:t>
            </a:r>
            <a:r>
              <a:rPr lang="fr-FR" altLang="en-US" sz="1800" i="1" baseline="-25000"/>
              <a:t>1</a:t>
            </a:r>
            <a:endParaRPr lang="en-US" altLang="en-US" sz="1800"/>
          </a:p>
        </p:txBody>
      </p:sp>
      <p:cxnSp>
        <p:nvCxnSpPr>
          <p:cNvPr id="13" name="Straight Connector 12"/>
          <p:cNvCxnSpPr/>
          <p:nvPr/>
        </p:nvCxnSpPr>
        <p:spPr>
          <a:xfrm>
            <a:off x="3771900" y="3932238"/>
            <a:ext cx="0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593" name="Rectangle 13"/>
          <p:cNvSpPr>
            <a:spLocks noChangeArrowheads="1"/>
          </p:cNvSpPr>
          <p:nvPr/>
        </p:nvSpPr>
        <p:spPr bwMode="auto">
          <a:xfrm>
            <a:off x="2343150" y="4238625"/>
            <a:ext cx="12922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Initialize </a:t>
            </a:r>
            <a:r>
              <a:rPr lang="el-GR" altLang="en-US" sz="1800" i="1"/>
              <a:t>θ</a:t>
            </a:r>
            <a:r>
              <a:rPr lang="fr-FR" altLang="en-US" sz="1800" i="1" baseline="-25000"/>
              <a:t>1</a:t>
            </a:r>
            <a:endParaRPr lang="en-US" altLang="en-US" sz="1800"/>
          </a:p>
        </p:txBody>
      </p:sp>
      <p:cxnSp>
        <p:nvCxnSpPr>
          <p:cNvPr id="16" name="Straight Arrow Connector 15"/>
          <p:cNvCxnSpPr>
            <a:endCxn id="67591" idx="1"/>
          </p:cNvCxnSpPr>
          <p:nvPr/>
        </p:nvCxnSpPr>
        <p:spPr>
          <a:xfrm flipV="1">
            <a:off x="3086100" y="4184650"/>
            <a:ext cx="561975" cy="444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714750" y="3382963"/>
            <a:ext cx="57150" cy="57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67596" name="Object 17"/>
          <p:cNvGraphicFramePr>
            <a:graphicFrameLocks noChangeAspect="1"/>
          </p:cNvGraphicFramePr>
          <p:nvPr/>
        </p:nvGraphicFramePr>
        <p:xfrm>
          <a:off x="4700588" y="2914650"/>
          <a:ext cx="2157412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4" imgW="1269449" imgH="431613" progId="Equation.3">
                  <p:embed/>
                </p:oleObj>
              </mc:Choice>
              <mc:Fallback>
                <p:oleObj name="Equation" r:id="rId4" imgW="1269449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0588" y="2914650"/>
                        <a:ext cx="2157412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Straight Connector 19"/>
          <p:cNvCxnSpPr/>
          <p:nvPr/>
        </p:nvCxnSpPr>
        <p:spPr>
          <a:xfrm flipH="1">
            <a:off x="3543300" y="3157538"/>
            <a:ext cx="514350" cy="51435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761038" y="2857500"/>
            <a:ext cx="1257300" cy="857250"/>
          </a:xfrm>
          <a:prstGeom prst="ellipse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7599" name="Rectangle 21"/>
          <p:cNvSpPr>
            <a:spLocks noChangeArrowheads="1"/>
          </p:cNvSpPr>
          <p:nvPr/>
        </p:nvSpPr>
        <p:spPr bwMode="auto">
          <a:xfrm>
            <a:off x="5257800" y="3744913"/>
            <a:ext cx="2286000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Slope of the line tangent to the function at point </a:t>
            </a:r>
            <a:r>
              <a:rPr lang="el-GR" altLang="en-US" sz="1800" i="1"/>
              <a:t>θ</a:t>
            </a:r>
            <a:r>
              <a:rPr lang="fr-FR" altLang="en-US" sz="1800" i="1" baseline="-25000"/>
              <a:t>1</a:t>
            </a:r>
            <a:endParaRPr lang="en-US" altLang="en-US" sz="1800"/>
          </a:p>
        </p:txBody>
      </p:sp>
      <p:sp>
        <p:nvSpPr>
          <p:cNvPr id="67600" name="Rectangle 22"/>
          <p:cNvSpPr>
            <a:spLocks noChangeArrowheads="1"/>
          </p:cNvSpPr>
          <p:nvPr/>
        </p:nvSpPr>
        <p:spPr bwMode="auto">
          <a:xfrm>
            <a:off x="2628900" y="4857750"/>
            <a:ext cx="3657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Line has a positive slope, derivative is positive, so </a:t>
            </a:r>
            <a:r>
              <a:rPr lang="el-GR" altLang="en-US" sz="1800" i="1"/>
              <a:t>θ</a:t>
            </a:r>
            <a:r>
              <a:rPr lang="fr-FR" altLang="en-US" sz="1800" i="1" baseline="-25000"/>
              <a:t>1</a:t>
            </a:r>
            <a:r>
              <a:rPr lang="fr-FR" altLang="en-US" sz="1800" i="1"/>
              <a:t> moves towards the left</a:t>
            </a: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  </a:t>
            </a: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6981615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Gradient descent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ctr" defTabSz="685800" rtl="0" eaLnBrk="1" latinLnBrk="0" hangingPunct="1">
              <a:defRPr kumimoji="0" sz="105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EAEC44A-0B77-4D06-A6A4-DE5C9179A00A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pic>
        <p:nvPicPr>
          <p:cNvPr id="686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00" y="2343150"/>
            <a:ext cx="2351088" cy="190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3" name="Rectangle 5"/>
          <p:cNvSpPr>
            <a:spLocks noChangeArrowheads="1"/>
          </p:cNvSpPr>
          <p:nvPr/>
        </p:nvSpPr>
        <p:spPr bwMode="auto">
          <a:xfrm>
            <a:off x="4057650" y="2419350"/>
            <a:ext cx="2763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J(</a:t>
            </a:r>
            <a:r>
              <a:rPr lang="el-GR" altLang="en-US" sz="1800" i="1"/>
              <a:t>θ</a:t>
            </a:r>
            <a:r>
              <a:rPr lang="fr-FR" altLang="en-US" sz="1800" i="1" baseline="-25000"/>
              <a:t>1</a:t>
            </a:r>
            <a:r>
              <a:rPr lang="fr-FR" altLang="en-US" sz="1800" i="1"/>
              <a:t>) ; </a:t>
            </a:r>
            <a:r>
              <a:rPr lang="el-GR" altLang="en-US" sz="1800" i="1"/>
              <a:t>θ</a:t>
            </a:r>
            <a:r>
              <a:rPr lang="fr-FR" altLang="en-US" sz="1800" i="1" baseline="-25000"/>
              <a:t>1 </a:t>
            </a:r>
            <a:r>
              <a:rPr lang="fr-FR" altLang="en-US" sz="1800" i="1"/>
              <a:t>is a real number</a:t>
            </a:r>
            <a:endParaRPr lang="en-US" altLang="en-US" sz="1800"/>
          </a:p>
        </p:txBody>
      </p:sp>
      <p:sp>
        <p:nvSpPr>
          <p:cNvPr id="68614" name="Rectangle 6"/>
          <p:cNvSpPr>
            <a:spLocks noChangeArrowheads="1"/>
          </p:cNvSpPr>
          <p:nvPr/>
        </p:nvSpPr>
        <p:spPr bwMode="auto">
          <a:xfrm>
            <a:off x="4057650" y="2419350"/>
            <a:ext cx="1085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J(</a:t>
            </a:r>
            <a:r>
              <a:rPr lang="el-GR" altLang="en-US" sz="1800" i="1"/>
              <a:t>θ</a:t>
            </a:r>
            <a:r>
              <a:rPr lang="fr-FR" altLang="en-US" sz="1800" i="1" baseline="-25000"/>
              <a:t>1</a:t>
            </a:r>
            <a:r>
              <a:rPr lang="fr-FR" altLang="en-US" sz="1800" i="1"/>
              <a:t>)</a:t>
            </a:r>
            <a:endParaRPr lang="en-US" altLang="en-US" sz="1800"/>
          </a:p>
        </p:txBody>
      </p:sp>
      <p:sp>
        <p:nvSpPr>
          <p:cNvPr id="68615" name="Rectangle 8"/>
          <p:cNvSpPr>
            <a:spLocks noChangeArrowheads="1"/>
          </p:cNvSpPr>
          <p:nvPr/>
        </p:nvSpPr>
        <p:spPr bwMode="auto">
          <a:xfrm>
            <a:off x="3648075" y="4000500"/>
            <a:ext cx="393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l-GR" altLang="en-US" sz="1800" i="1"/>
              <a:t>θ</a:t>
            </a:r>
            <a:r>
              <a:rPr lang="fr-FR" altLang="en-US" sz="1800" i="1" baseline="-25000"/>
              <a:t>1</a:t>
            </a:r>
            <a:endParaRPr lang="en-US" altLang="en-US" sz="1800"/>
          </a:p>
        </p:txBody>
      </p:sp>
      <p:cxnSp>
        <p:nvCxnSpPr>
          <p:cNvPr id="13" name="Straight Connector 12"/>
          <p:cNvCxnSpPr/>
          <p:nvPr/>
        </p:nvCxnSpPr>
        <p:spPr>
          <a:xfrm>
            <a:off x="3771900" y="3932238"/>
            <a:ext cx="0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714750" y="3382963"/>
            <a:ext cx="57150" cy="57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68618" name="Object 17"/>
          <p:cNvGraphicFramePr>
            <a:graphicFrameLocks noChangeAspect="1"/>
          </p:cNvGraphicFramePr>
          <p:nvPr/>
        </p:nvGraphicFramePr>
        <p:xfrm>
          <a:off x="4700588" y="2914650"/>
          <a:ext cx="2157412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4" imgW="1269449" imgH="431613" progId="Equation.3">
                  <p:embed/>
                </p:oleObj>
              </mc:Choice>
              <mc:Fallback>
                <p:oleObj name="Equation" r:id="rId4" imgW="1269449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0588" y="2914650"/>
                        <a:ext cx="2157412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Straight Connector 19"/>
          <p:cNvCxnSpPr/>
          <p:nvPr/>
        </p:nvCxnSpPr>
        <p:spPr>
          <a:xfrm flipH="1">
            <a:off x="3543300" y="3157538"/>
            <a:ext cx="514350" cy="51435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761038" y="2857500"/>
            <a:ext cx="1257300" cy="857250"/>
          </a:xfrm>
          <a:prstGeom prst="ellipse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8621" name="Rectangle 21"/>
          <p:cNvSpPr>
            <a:spLocks noChangeArrowheads="1"/>
          </p:cNvSpPr>
          <p:nvPr/>
        </p:nvSpPr>
        <p:spPr bwMode="auto">
          <a:xfrm>
            <a:off x="5257800" y="3744913"/>
            <a:ext cx="2286000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Slope of the line tangent to the function at point </a:t>
            </a:r>
            <a:r>
              <a:rPr lang="el-GR" altLang="en-US" sz="1800" i="1"/>
              <a:t>θ</a:t>
            </a:r>
            <a:r>
              <a:rPr lang="fr-FR" altLang="en-US" sz="1800" i="1" baseline="-25000"/>
              <a:t>1</a:t>
            </a:r>
            <a:endParaRPr lang="en-US" altLang="en-US" sz="1800"/>
          </a:p>
        </p:txBody>
      </p:sp>
      <p:sp>
        <p:nvSpPr>
          <p:cNvPr id="68622" name="Rectangle 22"/>
          <p:cNvSpPr>
            <a:spLocks noChangeArrowheads="1"/>
          </p:cNvSpPr>
          <p:nvPr/>
        </p:nvSpPr>
        <p:spPr bwMode="auto">
          <a:xfrm>
            <a:off x="2628900" y="4857750"/>
            <a:ext cx="3657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Line has a positive slope, derivative is positive, so </a:t>
            </a:r>
            <a:r>
              <a:rPr lang="el-GR" altLang="en-US" sz="1800" i="1"/>
              <a:t>θ</a:t>
            </a:r>
            <a:r>
              <a:rPr lang="fr-FR" altLang="en-US" sz="1800" i="1" baseline="-25000"/>
              <a:t>1</a:t>
            </a:r>
            <a:r>
              <a:rPr lang="fr-FR" altLang="en-US" sz="1800" i="1"/>
              <a:t> moves towards the left</a:t>
            </a: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  </a:t>
            </a:r>
            <a:endParaRPr lang="en-US" altLang="en-US" sz="1800"/>
          </a:p>
        </p:txBody>
      </p:sp>
      <p:cxnSp>
        <p:nvCxnSpPr>
          <p:cNvPr id="26" name="Straight Arrow Connector 25"/>
          <p:cNvCxnSpPr/>
          <p:nvPr/>
        </p:nvCxnSpPr>
        <p:spPr>
          <a:xfrm flipH="1">
            <a:off x="3303588" y="4157663"/>
            <a:ext cx="342900" cy="0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810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Gradient descent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ctr" defTabSz="685800" rtl="0" eaLnBrk="1" latinLnBrk="0" hangingPunct="1">
              <a:defRPr kumimoji="0" sz="105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C57A43CC-1192-4900-A0BE-1672E7B30772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pic>
        <p:nvPicPr>
          <p:cNvPr id="6963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00" y="2343150"/>
            <a:ext cx="2351088" cy="190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7" name="Rectangle 5"/>
          <p:cNvSpPr>
            <a:spLocks noChangeArrowheads="1"/>
          </p:cNvSpPr>
          <p:nvPr/>
        </p:nvSpPr>
        <p:spPr bwMode="auto">
          <a:xfrm>
            <a:off x="4057650" y="2419350"/>
            <a:ext cx="2763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J(</a:t>
            </a:r>
            <a:r>
              <a:rPr lang="el-GR" altLang="en-US" sz="1800" i="1"/>
              <a:t>θ</a:t>
            </a:r>
            <a:r>
              <a:rPr lang="fr-FR" altLang="en-US" sz="1800" i="1" baseline="-25000"/>
              <a:t>1</a:t>
            </a:r>
            <a:r>
              <a:rPr lang="fr-FR" altLang="en-US" sz="1800" i="1"/>
              <a:t>) ; </a:t>
            </a:r>
            <a:r>
              <a:rPr lang="el-GR" altLang="en-US" sz="1800" i="1"/>
              <a:t>θ</a:t>
            </a:r>
            <a:r>
              <a:rPr lang="fr-FR" altLang="en-US" sz="1800" i="1" baseline="-25000"/>
              <a:t>1 </a:t>
            </a:r>
            <a:r>
              <a:rPr lang="fr-FR" altLang="en-US" sz="1800" i="1"/>
              <a:t>is a real number</a:t>
            </a:r>
            <a:endParaRPr lang="en-US" altLang="en-US" sz="1800"/>
          </a:p>
        </p:txBody>
      </p:sp>
      <p:sp>
        <p:nvSpPr>
          <p:cNvPr id="69638" name="Rectangle 6"/>
          <p:cNvSpPr>
            <a:spLocks noChangeArrowheads="1"/>
          </p:cNvSpPr>
          <p:nvPr/>
        </p:nvSpPr>
        <p:spPr bwMode="auto">
          <a:xfrm>
            <a:off x="4057650" y="2419350"/>
            <a:ext cx="1085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J(</a:t>
            </a:r>
            <a:r>
              <a:rPr lang="el-GR" altLang="en-US" sz="1800" i="1"/>
              <a:t>θ</a:t>
            </a:r>
            <a:r>
              <a:rPr lang="fr-FR" altLang="en-US" sz="1800" i="1" baseline="-25000"/>
              <a:t>1</a:t>
            </a:r>
            <a:r>
              <a:rPr lang="fr-FR" altLang="en-US" sz="1800" i="1"/>
              <a:t>)</a:t>
            </a:r>
            <a:endParaRPr lang="en-US" altLang="en-US" sz="1800"/>
          </a:p>
        </p:txBody>
      </p:sp>
      <p:sp>
        <p:nvSpPr>
          <p:cNvPr id="69639" name="Rectangle 8"/>
          <p:cNvSpPr>
            <a:spLocks noChangeArrowheads="1"/>
          </p:cNvSpPr>
          <p:nvPr/>
        </p:nvSpPr>
        <p:spPr bwMode="auto">
          <a:xfrm>
            <a:off x="2286000" y="4124325"/>
            <a:ext cx="3952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l-GR" altLang="en-US" sz="1800" i="1"/>
              <a:t>θ</a:t>
            </a:r>
            <a:r>
              <a:rPr lang="fr-FR" altLang="en-US" sz="1800" i="1" baseline="-25000"/>
              <a:t>1</a:t>
            </a:r>
            <a:endParaRPr lang="en-US" altLang="en-US" sz="1800"/>
          </a:p>
        </p:txBody>
      </p:sp>
      <p:cxnSp>
        <p:nvCxnSpPr>
          <p:cNvPr id="13" name="Straight Connector 12"/>
          <p:cNvCxnSpPr/>
          <p:nvPr/>
        </p:nvCxnSpPr>
        <p:spPr>
          <a:xfrm>
            <a:off x="2400300" y="3932238"/>
            <a:ext cx="0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379663" y="3106738"/>
            <a:ext cx="57150" cy="57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69642" name="Object 17"/>
          <p:cNvGraphicFramePr>
            <a:graphicFrameLocks noChangeAspect="1"/>
          </p:cNvGraphicFramePr>
          <p:nvPr/>
        </p:nvGraphicFramePr>
        <p:xfrm>
          <a:off x="4700588" y="2914650"/>
          <a:ext cx="2157412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5" imgW="1269449" imgH="431613" progId="Equation.3">
                  <p:embed/>
                </p:oleObj>
              </mc:Choice>
              <mc:Fallback>
                <p:oleObj name="Equation" r:id="rId5" imgW="1269449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0588" y="2914650"/>
                        <a:ext cx="2157412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3" name="Rectangle 22"/>
          <p:cNvSpPr>
            <a:spLocks noChangeArrowheads="1"/>
          </p:cNvSpPr>
          <p:nvPr/>
        </p:nvSpPr>
        <p:spPr bwMode="auto">
          <a:xfrm>
            <a:off x="2628900" y="4857750"/>
            <a:ext cx="36576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Line has a negative slope, derivative is negative, </a:t>
            </a:r>
            <a:r>
              <a:rPr lang="el-GR" altLang="en-US" sz="1800" i="1"/>
              <a:t>θ</a:t>
            </a:r>
            <a:r>
              <a:rPr lang="fr-FR" altLang="en-US" sz="1800" i="1" baseline="-25000"/>
              <a:t>1</a:t>
            </a:r>
            <a:r>
              <a:rPr lang="fr-FR" altLang="en-US" sz="1800" i="1"/>
              <a:t> </a:t>
            </a:r>
            <a:r>
              <a:rPr lang="en-US" altLang="en-US" sz="1800" i="1"/>
              <a:t>minus a negative number adds something to </a:t>
            </a:r>
            <a:r>
              <a:rPr lang="el-GR" altLang="en-US" sz="1800" i="1"/>
              <a:t>θ</a:t>
            </a:r>
            <a:r>
              <a:rPr lang="fr-FR" altLang="en-US" sz="1800" i="1" baseline="-25000"/>
              <a:t>1 </a:t>
            </a:r>
            <a:r>
              <a:rPr lang="fr-FR" altLang="en-US" sz="1800" i="1"/>
              <a:t>and moves it towards the right	 </a:t>
            </a:r>
            <a:r>
              <a:rPr lang="en-US" altLang="en-US" sz="1800" i="1"/>
              <a:t> </a:t>
            </a: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  </a:t>
            </a:r>
            <a:endParaRPr lang="en-US" altLang="en-US" sz="1800"/>
          </a:p>
        </p:txBody>
      </p:sp>
      <p:cxnSp>
        <p:nvCxnSpPr>
          <p:cNvPr id="19" name="Straight Connector 18"/>
          <p:cNvCxnSpPr/>
          <p:nvPr/>
        </p:nvCxnSpPr>
        <p:spPr>
          <a:xfrm>
            <a:off x="2192338" y="2846388"/>
            <a:ext cx="400050" cy="68580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2571750" y="4286250"/>
            <a:ext cx="342900" cy="0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9662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Gradient descent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ctr" defTabSz="685800" rtl="0" eaLnBrk="1" latinLnBrk="0" hangingPunct="1">
              <a:defRPr kumimoji="0" sz="105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3142E2D5-CE8B-4ECB-A7FF-87161E941278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pic>
        <p:nvPicPr>
          <p:cNvPr id="7168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00" y="2343150"/>
            <a:ext cx="2351088" cy="190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5" name="Rectangle 5"/>
          <p:cNvSpPr>
            <a:spLocks noChangeArrowheads="1"/>
          </p:cNvSpPr>
          <p:nvPr/>
        </p:nvSpPr>
        <p:spPr bwMode="auto">
          <a:xfrm>
            <a:off x="4057650" y="2419350"/>
            <a:ext cx="2763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J(</a:t>
            </a:r>
            <a:r>
              <a:rPr lang="el-GR" altLang="en-US" sz="1800" i="1"/>
              <a:t>θ</a:t>
            </a:r>
            <a:r>
              <a:rPr lang="fr-FR" altLang="en-US" sz="1800" i="1" baseline="-25000"/>
              <a:t>1</a:t>
            </a:r>
            <a:r>
              <a:rPr lang="fr-FR" altLang="en-US" sz="1800" i="1"/>
              <a:t>) ; </a:t>
            </a:r>
            <a:r>
              <a:rPr lang="el-GR" altLang="en-US" sz="1800" i="1"/>
              <a:t>θ</a:t>
            </a:r>
            <a:r>
              <a:rPr lang="fr-FR" altLang="en-US" sz="1800" i="1" baseline="-25000"/>
              <a:t>1 </a:t>
            </a:r>
            <a:r>
              <a:rPr lang="fr-FR" altLang="en-US" sz="1800" i="1"/>
              <a:t>is a real number</a:t>
            </a:r>
            <a:endParaRPr lang="en-US" altLang="en-US" sz="1800"/>
          </a:p>
        </p:txBody>
      </p:sp>
      <p:sp>
        <p:nvSpPr>
          <p:cNvPr id="71686" name="Rectangle 6"/>
          <p:cNvSpPr>
            <a:spLocks noChangeArrowheads="1"/>
          </p:cNvSpPr>
          <p:nvPr/>
        </p:nvSpPr>
        <p:spPr bwMode="auto">
          <a:xfrm>
            <a:off x="4057650" y="2419350"/>
            <a:ext cx="1085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J(</a:t>
            </a:r>
            <a:r>
              <a:rPr lang="el-GR" altLang="en-US" sz="1800" i="1"/>
              <a:t>θ</a:t>
            </a:r>
            <a:r>
              <a:rPr lang="fr-FR" altLang="en-US" sz="1800" i="1" baseline="-25000"/>
              <a:t>1</a:t>
            </a:r>
            <a:r>
              <a:rPr lang="fr-FR" altLang="en-US" sz="1800" i="1"/>
              <a:t>)</a:t>
            </a:r>
            <a:endParaRPr lang="en-US" altLang="en-US" sz="1800"/>
          </a:p>
        </p:txBody>
      </p:sp>
      <p:sp>
        <p:nvSpPr>
          <p:cNvPr id="71687" name="Rectangle 8"/>
          <p:cNvSpPr>
            <a:spLocks noChangeArrowheads="1"/>
          </p:cNvSpPr>
          <p:nvPr/>
        </p:nvSpPr>
        <p:spPr bwMode="auto">
          <a:xfrm>
            <a:off x="2286000" y="4124325"/>
            <a:ext cx="3952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l-GR" altLang="en-US" sz="1800" i="1"/>
              <a:t>θ</a:t>
            </a:r>
            <a:r>
              <a:rPr lang="fr-FR" altLang="en-US" sz="1800" i="1" baseline="-25000"/>
              <a:t>1</a:t>
            </a:r>
            <a:endParaRPr lang="en-US" altLang="en-US" sz="1800"/>
          </a:p>
        </p:txBody>
      </p:sp>
      <p:cxnSp>
        <p:nvCxnSpPr>
          <p:cNvPr id="13" name="Straight Connector 12"/>
          <p:cNvCxnSpPr/>
          <p:nvPr/>
        </p:nvCxnSpPr>
        <p:spPr>
          <a:xfrm>
            <a:off x="2400300" y="3932238"/>
            <a:ext cx="0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379663" y="3106738"/>
            <a:ext cx="57150" cy="57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71690" name="Object 17"/>
          <p:cNvGraphicFramePr>
            <a:graphicFrameLocks noChangeAspect="1"/>
          </p:cNvGraphicFramePr>
          <p:nvPr/>
        </p:nvGraphicFramePr>
        <p:xfrm>
          <a:off x="4700588" y="2914650"/>
          <a:ext cx="2157412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5" imgW="1269449" imgH="431613" progId="Equation.3">
                  <p:embed/>
                </p:oleObj>
              </mc:Choice>
              <mc:Fallback>
                <p:oleObj name="Equation" r:id="rId5" imgW="1269449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0588" y="2914650"/>
                        <a:ext cx="2157412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91" name="Rectangle 22"/>
          <p:cNvSpPr>
            <a:spLocks noChangeArrowheads="1"/>
          </p:cNvSpPr>
          <p:nvPr/>
        </p:nvSpPr>
        <p:spPr bwMode="auto">
          <a:xfrm>
            <a:off x="2228850" y="4743450"/>
            <a:ext cx="4114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IF alpha is too small, gradient descent will take small steps, hence a long time to converge</a:t>
            </a:r>
            <a:r>
              <a:rPr lang="fr-FR" altLang="en-US" sz="1800" i="1"/>
              <a:t>	 </a:t>
            </a:r>
            <a:r>
              <a:rPr lang="en-US" altLang="en-US" sz="1800" i="1"/>
              <a:t> </a:t>
            </a: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  </a:t>
            </a:r>
            <a:endParaRPr lang="en-US" altLang="en-US" sz="1800"/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2571750" y="4286250"/>
            <a:ext cx="342900" cy="0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457450" y="3221038"/>
            <a:ext cx="57150" cy="57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2546350" y="3351213"/>
            <a:ext cx="57150" cy="57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297113" y="2971800"/>
            <a:ext cx="57150" cy="57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2608263" y="3460750"/>
            <a:ext cx="57150" cy="57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706688" y="3563938"/>
            <a:ext cx="57150" cy="57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5033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Gradient descent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ctr" defTabSz="685800" rtl="0" eaLnBrk="1" latinLnBrk="0" hangingPunct="1">
              <a:defRPr kumimoji="0" sz="105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39C68DA-BAE1-4E72-BEE5-4FE02277312A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pic>
        <p:nvPicPr>
          <p:cNvPr id="7373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00" y="2343150"/>
            <a:ext cx="2351088" cy="190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3" name="Rectangle 5"/>
          <p:cNvSpPr>
            <a:spLocks noChangeArrowheads="1"/>
          </p:cNvSpPr>
          <p:nvPr/>
        </p:nvSpPr>
        <p:spPr bwMode="auto">
          <a:xfrm>
            <a:off x="4057650" y="2419350"/>
            <a:ext cx="2763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J(</a:t>
            </a:r>
            <a:r>
              <a:rPr lang="el-GR" altLang="en-US" sz="1800" i="1"/>
              <a:t>θ</a:t>
            </a:r>
            <a:r>
              <a:rPr lang="fr-FR" altLang="en-US" sz="1800" i="1" baseline="-25000"/>
              <a:t>1</a:t>
            </a:r>
            <a:r>
              <a:rPr lang="fr-FR" altLang="en-US" sz="1800" i="1"/>
              <a:t>) ; </a:t>
            </a:r>
            <a:r>
              <a:rPr lang="el-GR" altLang="en-US" sz="1800" i="1"/>
              <a:t>θ</a:t>
            </a:r>
            <a:r>
              <a:rPr lang="fr-FR" altLang="en-US" sz="1800" i="1" baseline="-25000"/>
              <a:t>1 </a:t>
            </a:r>
            <a:r>
              <a:rPr lang="fr-FR" altLang="en-US" sz="1800" i="1"/>
              <a:t>is a real number</a:t>
            </a:r>
            <a:endParaRPr lang="en-US" altLang="en-US" sz="1800"/>
          </a:p>
        </p:txBody>
      </p:sp>
      <p:sp>
        <p:nvSpPr>
          <p:cNvPr id="73734" name="Rectangle 6"/>
          <p:cNvSpPr>
            <a:spLocks noChangeArrowheads="1"/>
          </p:cNvSpPr>
          <p:nvPr/>
        </p:nvSpPr>
        <p:spPr bwMode="auto">
          <a:xfrm>
            <a:off x="4057650" y="2419350"/>
            <a:ext cx="1085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J(</a:t>
            </a:r>
            <a:r>
              <a:rPr lang="el-GR" altLang="en-US" sz="1800" i="1"/>
              <a:t>θ</a:t>
            </a:r>
            <a:r>
              <a:rPr lang="fr-FR" altLang="en-US" sz="1800" i="1" baseline="-25000"/>
              <a:t>1</a:t>
            </a:r>
            <a:r>
              <a:rPr lang="fr-FR" altLang="en-US" sz="1800" i="1"/>
              <a:t>)</a:t>
            </a:r>
            <a:endParaRPr lang="en-US" altLang="en-US" sz="1800"/>
          </a:p>
        </p:txBody>
      </p:sp>
      <p:sp>
        <p:nvSpPr>
          <p:cNvPr id="73735" name="Rectangle 8"/>
          <p:cNvSpPr>
            <a:spLocks noChangeArrowheads="1"/>
          </p:cNvSpPr>
          <p:nvPr/>
        </p:nvSpPr>
        <p:spPr bwMode="auto">
          <a:xfrm>
            <a:off x="2505075" y="4124325"/>
            <a:ext cx="3937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l-GR" altLang="en-US" sz="1800" i="1"/>
              <a:t>θ</a:t>
            </a:r>
            <a:r>
              <a:rPr lang="fr-FR" altLang="en-US" sz="1800" i="1" baseline="-25000"/>
              <a:t>1</a:t>
            </a:r>
            <a:endParaRPr lang="en-US" altLang="en-US" sz="1800"/>
          </a:p>
        </p:txBody>
      </p:sp>
      <p:cxnSp>
        <p:nvCxnSpPr>
          <p:cNvPr id="13" name="Straight Connector 12"/>
          <p:cNvCxnSpPr/>
          <p:nvPr/>
        </p:nvCxnSpPr>
        <p:spPr>
          <a:xfrm>
            <a:off x="2628900" y="3932238"/>
            <a:ext cx="0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3737" name="Object 17"/>
          <p:cNvGraphicFramePr>
            <a:graphicFrameLocks noChangeAspect="1"/>
          </p:cNvGraphicFramePr>
          <p:nvPr/>
        </p:nvGraphicFramePr>
        <p:xfrm>
          <a:off x="4700588" y="2914650"/>
          <a:ext cx="2157412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5" imgW="1269449" imgH="431613" progId="Equation.3">
                  <p:embed/>
                </p:oleObj>
              </mc:Choice>
              <mc:Fallback>
                <p:oleObj name="Equation" r:id="rId5" imgW="1269449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0588" y="2914650"/>
                        <a:ext cx="2157412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8" name="Rectangle 22"/>
          <p:cNvSpPr>
            <a:spLocks noChangeArrowheads="1"/>
          </p:cNvSpPr>
          <p:nvPr/>
        </p:nvSpPr>
        <p:spPr bwMode="auto">
          <a:xfrm>
            <a:off x="2228850" y="4743450"/>
            <a:ext cx="4114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IF alpha is too large, gradient descent can overshoot the minimum and may fail to converge</a:t>
            </a:r>
            <a:r>
              <a:rPr lang="fr-FR" altLang="en-US" sz="1800" i="1"/>
              <a:t>	 </a:t>
            </a:r>
            <a:r>
              <a:rPr lang="en-US" altLang="en-US" sz="1800" i="1"/>
              <a:t> </a:t>
            </a: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  </a:t>
            </a:r>
            <a:endParaRPr lang="en-US" altLang="en-US" sz="1800"/>
          </a:p>
        </p:txBody>
      </p:sp>
      <p:sp>
        <p:nvSpPr>
          <p:cNvPr id="21" name="Oval 20"/>
          <p:cNvSpPr/>
          <p:nvPr/>
        </p:nvSpPr>
        <p:spPr>
          <a:xfrm>
            <a:off x="3417888" y="3636963"/>
            <a:ext cx="57150" cy="57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2617788" y="3490913"/>
            <a:ext cx="57150" cy="57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7" name="Straight Arrow Connector 26"/>
          <p:cNvCxnSpPr>
            <a:stCxn id="19" idx="7"/>
            <a:endCxn id="21" idx="1"/>
          </p:cNvCxnSpPr>
          <p:nvPr/>
        </p:nvCxnSpPr>
        <p:spPr>
          <a:xfrm>
            <a:off x="2667000" y="3498850"/>
            <a:ext cx="760413" cy="14605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1" idx="6"/>
          </p:cNvCxnSpPr>
          <p:nvPr/>
        </p:nvCxnSpPr>
        <p:spPr>
          <a:xfrm flipH="1" flipV="1">
            <a:off x="2457450" y="3200400"/>
            <a:ext cx="1017588" cy="465138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2436813" y="3179763"/>
            <a:ext cx="57150" cy="57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3751263" y="3314700"/>
            <a:ext cx="57150" cy="57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34" name="Straight Arrow Connector 33"/>
          <p:cNvCxnSpPr>
            <a:stCxn id="30" idx="1"/>
            <a:endCxn id="31" idx="2"/>
          </p:cNvCxnSpPr>
          <p:nvPr/>
        </p:nvCxnSpPr>
        <p:spPr>
          <a:xfrm>
            <a:off x="2444750" y="3187700"/>
            <a:ext cx="1306513" cy="155575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8071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Gradient descent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ctr" defTabSz="685800" rtl="0" eaLnBrk="1" latinLnBrk="0" hangingPunct="1">
              <a:defRPr kumimoji="0" sz="105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05FC7B9-B9B4-47FF-B2A5-F529C4CDD0C6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pic>
        <p:nvPicPr>
          <p:cNvPr id="7578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00" y="2343150"/>
            <a:ext cx="2351088" cy="190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1" name="Rectangle 5"/>
          <p:cNvSpPr>
            <a:spLocks noChangeArrowheads="1"/>
          </p:cNvSpPr>
          <p:nvPr/>
        </p:nvSpPr>
        <p:spPr bwMode="auto">
          <a:xfrm>
            <a:off x="4057650" y="2419350"/>
            <a:ext cx="2763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J(</a:t>
            </a:r>
            <a:r>
              <a:rPr lang="el-GR" altLang="en-US" sz="1800" i="1"/>
              <a:t>θ</a:t>
            </a:r>
            <a:r>
              <a:rPr lang="fr-FR" altLang="en-US" sz="1800" i="1" baseline="-25000"/>
              <a:t>1</a:t>
            </a:r>
            <a:r>
              <a:rPr lang="fr-FR" altLang="en-US" sz="1800" i="1"/>
              <a:t>) ; </a:t>
            </a:r>
            <a:r>
              <a:rPr lang="el-GR" altLang="en-US" sz="1800" i="1"/>
              <a:t>θ</a:t>
            </a:r>
            <a:r>
              <a:rPr lang="fr-FR" altLang="en-US" sz="1800" i="1" baseline="-25000"/>
              <a:t>1 </a:t>
            </a:r>
            <a:r>
              <a:rPr lang="fr-FR" altLang="en-US" sz="1800" i="1"/>
              <a:t>is a real number</a:t>
            </a:r>
            <a:endParaRPr lang="en-US" altLang="en-US" sz="1800"/>
          </a:p>
        </p:txBody>
      </p:sp>
      <p:sp>
        <p:nvSpPr>
          <p:cNvPr id="75782" name="Rectangle 6"/>
          <p:cNvSpPr>
            <a:spLocks noChangeArrowheads="1"/>
          </p:cNvSpPr>
          <p:nvPr/>
        </p:nvSpPr>
        <p:spPr bwMode="auto">
          <a:xfrm>
            <a:off x="4057650" y="2419350"/>
            <a:ext cx="1085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J(</a:t>
            </a:r>
            <a:r>
              <a:rPr lang="el-GR" altLang="en-US" sz="1800" i="1"/>
              <a:t>θ</a:t>
            </a:r>
            <a:r>
              <a:rPr lang="fr-FR" altLang="en-US" sz="1800" i="1" baseline="-25000"/>
              <a:t>1</a:t>
            </a:r>
            <a:r>
              <a:rPr lang="fr-FR" altLang="en-US" sz="1800" i="1"/>
              <a:t>)</a:t>
            </a:r>
            <a:endParaRPr lang="en-US" altLang="en-US" sz="1800"/>
          </a:p>
        </p:txBody>
      </p:sp>
      <p:sp>
        <p:nvSpPr>
          <p:cNvPr id="75783" name="Rectangle 8"/>
          <p:cNvSpPr>
            <a:spLocks noChangeArrowheads="1"/>
          </p:cNvSpPr>
          <p:nvPr/>
        </p:nvSpPr>
        <p:spPr bwMode="auto">
          <a:xfrm>
            <a:off x="2962275" y="4124325"/>
            <a:ext cx="3937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l-GR" altLang="en-US" sz="1800" i="1"/>
              <a:t>θ</a:t>
            </a:r>
            <a:r>
              <a:rPr lang="fr-FR" altLang="en-US" sz="1800" i="1" baseline="-25000"/>
              <a:t>1</a:t>
            </a:r>
            <a:endParaRPr lang="en-US" altLang="en-US" sz="1800"/>
          </a:p>
        </p:txBody>
      </p:sp>
      <p:cxnSp>
        <p:nvCxnSpPr>
          <p:cNvPr id="13" name="Straight Connector 12"/>
          <p:cNvCxnSpPr/>
          <p:nvPr/>
        </p:nvCxnSpPr>
        <p:spPr>
          <a:xfrm>
            <a:off x="3086100" y="3932238"/>
            <a:ext cx="0" cy="1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5785" name="Object 17"/>
          <p:cNvGraphicFramePr>
            <a:graphicFrameLocks noChangeAspect="1"/>
          </p:cNvGraphicFramePr>
          <p:nvPr/>
        </p:nvGraphicFramePr>
        <p:xfrm>
          <a:off x="4700588" y="2914650"/>
          <a:ext cx="2157412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Equation" r:id="rId5" imgW="1269449" imgH="431613" progId="Equation.3">
                  <p:embed/>
                </p:oleObj>
              </mc:Choice>
              <mc:Fallback>
                <p:oleObj name="Equation" r:id="rId5" imgW="1269449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0588" y="2914650"/>
                        <a:ext cx="2157412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6" name="Rectangle 22"/>
          <p:cNvSpPr>
            <a:spLocks noChangeArrowheads="1"/>
          </p:cNvSpPr>
          <p:nvPr/>
        </p:nvSpPr>
        <p:spPr bwMode="auto">
          <a:xfrm>
            <a:off x="2228850" y="4743450"/>
            <a:ext cx="41148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If is </a:t>
            </a:r>
            <a:r>
              <a:rPr lang="el-GR" altLang="en-US" sz="1800" i="1"/>
              <a:t>θ</a:t>
            </a:r>
            <a:r>
              <a:rPr lang="fr-FR" altLang="en-US" sz="1800" i="1" baseline="-25000"/>
              <a:t>1 </a:t>
            </a:r>
            <a:r>
              <a:rPr lang="en-US" altLang="en-US" sz="1800" i="1"/>
              <a:t>already at minimum, the derivative term will be zero and the algorithm will converge in the first iteration </a:t>
            </a:r>
            <a:r>
              <a:rPr lang="fr-FR" altLang="en-US" sz="1800" i="1"/>
              <a:t>	 </a:t>
            </a:r>
            <a:r>
              <a:rPr lang="en-US" altLang="en-US" sz="1800" i="1"/>
              <a:t> </a:t>
            </a: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  </a:t>
            </a:r>
            <a:endParaRPr lang="en-US" altLang="en-US" sz="1800"/>
          </a:p>
        </p:txBody>
      </p:sp>
      <p:sp>
        <p:nvSpPr>
          <p:cNvPr id="19" name="Oval 18"/>
          <p:cNvSpPr/>
          <p:nvPr/>
        </p:nvSpPr>
        <p:spPr>
          <a:xfrm>
            <a:off x="3048000" y="3757613"/>
            <a:ext cx="57150" cy="57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Straight Connector 21"/>
          <p:cNvCxnSpPr/>
          <p:nvPr/>
        </p:nvCxnSpPr>
        <p:spPr>
          <a:xfrm>
            <a:off x="2500313" y="3817938"/>
            <a:ext cx="1200150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9683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842EB5B25AA94681E01C533BC4E547" ma:contentTypeVersion="3" ma:contentTypeDescription="Create a new document." ma:contentTypeScope="" ma:versionID="5e8853d87939594dd11300b895153a60">
  <xsd:schema xmlns:xsd="http://www.w3.org/2001/XMLSchema" xmlns:xs="http://www.w3.org/2001/XMLSchema" xmlns:p="http://schemas.microsoft.com/office/2006/metadata/properties" xmlns:ns2="b1cd9ac4-537d-4700-ace9-c3dc8aafaf16" targetNamespace="http://schemas.microsoft.com/office/2006/metadata/properties" ma:root="true" ma:fieldsID="cc6f7d3b10a75145a31d85fa157930a3" ns2:_="">
    <xsd:import namespace="b1cd9ac4-537d-4700-ace9-c3dc8aafaf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cd9ac4-537d-4700-ace9-c3dc8aafaf1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81979F5-597D-49E5-9274-2CC91C56D1A0}"/>
</file>

<file path=customXml/itemProps2.xml><?xml version="1.0" encoding="utf-8"?>
<ds:datastoreItem xmlns:ds="http://schemas.openxmlformats.org/officeDocument/2006/customXml" ds:itemID="{245B8600-A1C5-4929-90F7-463FD2C6FB41}"/>
</file>

<file path=customXml/itemProps3.xml><?xml version="1.0" encoding="utf-8"?>
<ds:datastoreItem xmlns:ds="http://schemas.openxmlformats.org/officeDocument/2006/customXml" ds:itemID="{58D80AC4-0FAC-4D22-8C19-25D5E7389467}"/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2047</TotalTime>
  <Words>747</Words>
  <Application>Microsoft Office PowerPoint</Application>
  <PresentationFormat>On-screen Show (4:3)</PresentationFormat>
  <Paragraphs>149</Paragraphs>
  <Slides>35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Arial</vt:lpstr>
      <vt:lpstr>Arial Black</vt:lpstr>
      <vt:lpstr>Calibri</vt:lpstr>
      <vt:lpstr>Century Schoolbook</vt:lpstr>
      <vt:lpstr>Times New Roman</vt:lpstr>
      <vt:lpstr>Wingdings</vt:lpstr>
      <vt:lpstr>Wingdings 2</vt:lpstr>
      <vt:lpstr>Oriel</vt:lpstr>
      <vt:lpstr>Equation</vt:lpstr>
      <vt:lpstr>Gradient Descent and Cost Function</vt:lpstr>
      <vt:lpstr>Slope</vt:lpstr>
      <vt:lpstr>PowerPoint Presentation</vt:lpstr>
      <vt:lpstr>Slope</vt:lpstr>
      <vt:lpstr>Slope</vt:lpstr>
      <vt:lpstr>Slope</vt:lpstr>
      <vt:lpstr>Slope and Derivative</vt:lpstr>
      <vt:lpstr>Derivative</vt:lpstr>
      <vt:lpstr>Derivative</vt:lpstr>
      <vt:lpstr>Slope and Derivative</vt:lpstr>
      <vt:lpstr>Derivative</vt:lpstr>
      <vt:lpstr>Slope and Derivative</vt:lpstr>
      <vt:lpstr>Slope and Derivative</vt:lpstr>
      <vt:lpstr>Partial Derivative</vt:lpstr>
      <vt:lpstr>Partial Derivative and Gradient Descent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Gradient descent</vt:lpstr>
      <vt:lpstr>Gradient descent</vt:lpstr>
      <vt:lpstr>Gradient descent</vt:lpstr>
      <vt:lpstr>Gradient descent</vt:lpstr>
      <vt:lpstr>Gradient descent</vt:lpstr>
      <vt:lpstr>Gradient descent</vt:lpstr>
      <vt:lpstr>Gradient descent</vt:lpstr>
      <vt:lpstr>Gradient descent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Regression</dc:title>
  <dc:creator>Muhammad Yasin</dc:creator>
  <cp:lastModifiedBy>admin</cp:lastModifiedBy>
  <cp:revision>103</cp:revision>
  <dcterms:created xsi:type="dcterms:W3CDTF">2006-08-16T00:00:00Z</dcterms:created>
  <dcterms:modified xsi:type="dcterms:W3CDTF">2023-01-12T05:22:04Z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0x010100BC842EB5B25AA94681E01C533BC4E547</vt:lpwstr>
  </property>
</Properties>
</file>