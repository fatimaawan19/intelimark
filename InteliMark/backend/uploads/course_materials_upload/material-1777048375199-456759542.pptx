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25"/>
  </p:notesMasterIdLst>
  <p:sldIdLst>
    <p:sldId id="256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57" r:id="rId13"/>
    <p:sldId id="259" r:id="rId14"/>
    <p:sldId id="269" r:id="rId15"/>
    <p:sldId id="270" r:id="rId16"/>
    <p:sldId id="260" r:id="rId17"/>
    <p:sldId id="271" r:id="rId18"/>
    <p:sldId id="273" r:id="rId19"/>
    <p:sldId id="274" r:id="rId20"/>
    <p:sldId id="276" r:id="rId21"/>
    <p:sldId id="277" r:id="rId22"/>
    <p:sldId id="275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A1629F-441C-2C0C-950A-612B45DECDB9}" v="4" dt="2024-03-11T18:57:26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271" autoAdjust="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FA23-BDS-024) MUHAMMAD ALI ARSHAD" userId="S::fa23-bds-024@isbstudent.comsats.edu.pk::6d06d01e-0f6d-4926-a708-0ddff21ee8a6" providerId="AD" clId="Web-{D2A1629F-441C-2C0C-950A-612B45DECDB9}"/>
    <pc:docChg chg="modSld">
      <pc:chgData name="(FA23-BDS-024) MUHAMMAD ALI ARSHAD" userId="S::fa23-bds-024@isbstudent.comsats.edu.pk::6d06d01e-0f6d-4926-a708-0ddff21ee8a6" providerId="AD" clId="Web-{D2A1629F-441C-2C0C-950A-612B45DECDB9}" dt="2024-03-11T18:57:26.068" v="3" actId="1076"/>
      <pc:docMkLst>
        <pc:docMk/>
      </pc:docMkLst>
      <pc:sldChg chg="modSp">
        <pc:chgData name="(FA23-BDS-024) MUHAMMAD ALI ARSHAD" userId="S::fa23-bds-024@isbstudent.comsats.edu.pk::6d06d01e-0f6d-4926-a708-0ddff21ee8a6" providerId="AD" clId="Web-{D2A1629F-441C-2C0C-950A-612B45DECDB9}" dt="2024-03-11T18:49:10.025" v="2" actId="1076"/>
        <pc:sldMkLst>
          <pc:docMk/>
          <pc:sldMk cId="2485280995" sldId="260"/>
        </pc:sldMkLst>
        <pc:picChg chg="mod">
          <ac:chgData name="(FA23-BDS-024) MUHAMMAD ALI ARSHAD" userId="S::fa23-bds-024@isbstudent.comsats.edu.pk::6d06d01e-0f6d-4926-a708-0ddff21ee8a6" providerId="AD" clId="Web-{D2A1629F-441C-2C0C-950A-612B45DECDB9}" dt="2024-03-11T18:49:10.025" v="2" actId="1076"/>
          <ac:picMkLst>
            <pc:docMk/>
            <pc:sldMk cId="2485280995" sldId="260"/>
            <ac:picMk id="5" creationId="{6C6F2A02-9E4A-C444-61AB-321DD1A5E931}"/>
          </ac:picMkLst>
        </pc:picChg>
      </pc:sldChg>
      <pc:sldChg chg="modSp">
        <pc:chgData name="(FA23-BDS-024) MUHAMMAD ALI ARSHAD" userId="S::fa23-bds-024@isbstudent.comsats.edu.pk::6d06d01e-0f6d-4926-a708-0ddff21ee8a6" providerId="AD" clId="Web-{D2A1629F-441C-2C0C-950A-612B45DECDB9}" dt="2024-03-11T18:57:26.068" v="3" actId="1076"/>
        <pc:sldMkLst>
          <pc:docMk/>
          <pc:sldMk cId="2232633128" sldId="278"/>
        </pc:sldMkLst>
        <pc:spChg chg="mod">
          <ac:chgData name="(FA23-BDS-024) MUHAMMAD ALI ARSHAD" userId="S::fa23-bds-024@isbstudent.comsats.edu.pk::6d06d01e-0f6d-4926-a708-0ddff21ee8a6" providerId="AD" clId="Web-{D2A1629F-441C-2C0C-950A-612B45DECDB9}" dt="2024-03-11T18:57:26.068" v="3" actId="1076"/>
          <ac:spMkLst>
            <pc:docMk/>
            <pc:sldMk cId="2232633128" sldId="278"/>
            <ac:spMk id="3" creationId="{9E37EE29-60D7-C645-4D71-DE198E355A2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AE84EF-203C-413F-AEE8-2E5817EABCAA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296C5-386F-456A-B330-2DA420528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7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296C5-386F-456A-B330-2DA4205284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81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296C5-386F-456A-B330-2DA4205284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60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704BF6-C3F4-D22F-6513-7BB1CC73B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3D20AD8-5727-1D46-EE7C-B0AE3D125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308956-1508-F22F-D144-1D23B182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BE75D3A-FD70-CC55-0EA5-49EAE12F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AF19DCF-E10F-0E47-219E-32C9EA33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FA2D4F-B5C9-0067-DA7B-DD66864C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0B8356-AC7A-5660-D2AC-5433FB476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069F1E-4016-6767-64EF-EB732B2A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36C174-E916-8D92-EBB9-D4C2C3C6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75793E-371C-5CBC-D996-25ABAE1B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2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9878AD-F838-9B78-AADB-75616F61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49A0E31-E2E5-589E-A1A9-AD2192451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6B9413-9E6B-4268-3A21-47ADD811F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BE9DE51-A3F9-EAFE-1464-028D2BD2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4C9F552-B048-57F9-5546-BFBCA37A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1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F9AF38-43D4-903D-31A6-31648B7C4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26F44C-09EE-F1CC-4E62-8B21403E7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57A9C28-D0F6-C0F5-A607-64780B9C5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E08C495-8F97-E3C4-C64F-88D2808AB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48869C0-5BA4-1F4C-3403-77F7475A6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E49BAEA-0BC7-5A74-7B14-9C7CA010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1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DED8B4-110B-1BE5-2793-2503768BE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A79253B-0C76-3FA3-6C23-D9C26D6AA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92CFB5E-54AE-6430-0FCD-70C8C83A1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23ECF23-2B61-EA21-D598-01D1E033EA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FA95BD8-3E8A-CA40-9B41-C71DE1DFA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9D5477E-123A-71D7-8F33-E6AD3845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8C62F98-F906-0C7D-95F5-17969C97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BCEEA57-220F-5178-6E0B-B87EB2C2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49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B7231C-1B90-D7FB-2C40-71634B1D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8A82E71-1B2A-1C27-C873-EBBD92EE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1FDCC7-7811-6740-7EAB-D0E5E0FB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210530C-C0BE-6CD3-FE5F-2817473C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97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420E7A1-02BB-8113-379D-4BAE6C68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7648E6A-D108-85BB-B16E-7996F2B3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F7C500A-5A1C-C508-5F2D-AD1AC29E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61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0D6B45-9AC3-164E-52F9-898D0CFDE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E65059-E8D9-9955-CA39-75AFA69F1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7B60A2F-7C01-1DAF-A3E8-21808D321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15927B5-A20D-372A-C159-525FB7E35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B088DB1-CA47-62C5-F432-E4AB5835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A6D36BC-BBCD-5C3E-A064-758D636D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6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7A1ED8-FC1D-C9A6-46EC-5695D925A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AA1E526-0F2A-9691-AB92-7774DD381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4020741-3B56-079F-C5B6-CCED5D8C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3D230D1-922F-7BF0-85E2-51031CE3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6262058-5FDB-BF3E-3409-B2F35A31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4E2BBAB-833B-53B7-CCC7-C0B5D20F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48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736482-DB66-2C64-A953-C6671A28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75D517A-D7D4-1B70-367C-478A5E35B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9765B2B-840F-BF89-CEE7-A75102B4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27C9BC-CF6E-ADDB-A7B0-29BB6F67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67249CB-EC50-2C65-F76A-C6F97622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8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8B36D5D-4BA4-B497-F365-085E4C00DB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36D7432-B870-0FCA-E75F-E35E1529D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EBDA671-25B9-9B40-E6C7-2A7A7EAD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9431F0-7270-0928-77BF-AE18B6E08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8C4BA6-1055-659C-543A-CD5698F2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6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25EEAA3-EE73-3CBF-2361-395E9CD0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428E5CA-EBA6-B11F-0C37-98A54F6AB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2254F1-B56C-E7A4-E52C-D5C24C4B5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DE650-D48E-45E1-ACB0-564394FB7115}" type="datetimeFigureOut">
              <a:rPr lang="en-US" smtClean="0"/>
              <a:t>21-Apr-24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311752-6B69-0AFA-654C-418A941DB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7F5911-3604-86D3-7B5B-25B5574C6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9FCBC-5DF1-4067-9560-92F5F4DFA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59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EA21AF-66AF-5775-8D3D-435C69E6A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Science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4DBDA1E-5C23-CB5C-CE78-1DBDEDE76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CREDIT HOURS 3(2,1)</a:t>
            </a:r>
          </a:p>
          <a:p>
            <a:r>
              <a:rPr lang="en-US" sz="3600" dirty="0"/>
              <a:t>INSTRUCTOR: JUNAID ALI KHAN</a:t>
            </a:r>
          </a:p>
        </p:txBody>
      </p:sp>
    </p:spTree>
    <p:extLst>
      <p:ext uri="{BB962C8B-B14F-4D97-AF65-F5344CB8AC3E}">
        <p14:creationId xmlns:p14="http://schemas.microsoft.com/office/powerpoint/2010/main" val="2139957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BAC33F-D78A-7499-992B-760D24D9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B2806C-3818-B077-061E-E8C31EF82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4 Quizzes (15T)</a:t>
            </a:r>
          </a:p>
          <a:p>
            <a:r>
              <a:rPr lang="en-GB" sz="2800" dirty="0"/>
              <a:t>4 Assignments (10T)</a:t>
            </a:r>
          </a:p>
          <a:p>
            <a:r>
              <a:rPr lang="en-GB" sz="2800" dirty="0"/>
              <a:t>Mid-term (25T)</a:t>
            </a:r>
          </a:p>
          <a:p>
            <a:r>
              <a:rPr lang="en-GB" sz="2800" dirty="0"/>
              <a:t>Lab Tasks/Lab Assignments (25L)</a:t>
            </a:r>
          </a:p>
          <a:p>
            <a:r>
              <a:rPr lang="en-GB" sz="2800" dirty="0"/>
              <a:t>Lab Mid-term (25L)</a:t>
            </a:r>
          </a:p>
          <a:p>
            <a:r>
              <a:rPr lang="en-GB" sz="2800" dirty="0"/>
              <a:t>1 Lab Project (50L)</a:t>
            </a:r>
          </a:p>
          <a:p>
            <a:r>
              <a:rPr lang="en-GB" sz="2800" dirty="0"/>
              <a:t>Terminal Exam (50T)</a:t>
            </a:r>
          </a:p>
          <a:p>
            <a:r>
              <a:rPr lang="en-GB" sz="2800" dirty="0">
                <a:solidFill>
                  <a:srgbClr val="FF0000"/>
                </a:solidFill>
              </a:rPr>
              <a:t>Attendance (80%)</a:t>
            </a:r>
            <a:endParaRPr lang="x-none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293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C8F8FE-8BE2-7899-11BE-ADD4CDEE9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4E7474-F3BF-A389-AAAC-55DDD1C69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Syllabus, CDF and CLO’s.</a:t>
            </a:r>
          </a:p>
        </p:txBody>
      </p:sp>
    </p:spTree>
    <p:extLst>
      <p:ext uri="{BB962C8B-B14F-4D97-AF65-F5344CB8AC3E}">
        <p14:creationId xmlns:p14="http://schemas.microsoft.com/office/powerpoint/2010/main" val="403688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DCA753-7E7C-4A45-E9CF-E9872FDFB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584681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498FA9-DF2A-D4DE-D71A-EB43127F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A1B4DA-5A60-0B29-BE9E-011511F27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of extracting </a:t>
            </a:r>
            <a:r>
              <a:rPr lang="en-US" u="sng" dirty="0"/>
              <a:t>knowledge and insights</a:t>
            </a:r>
            <a:r>
              <a:rPr lang="en-US" dirty="0"/>
              <a:t> from the complex and large set of data by using processes like </a:t>
            </a:r>
            <a:r>
              <a:rPr lang="en-US" dirty="0">
                <a:solidFill>
                  <a:srgbClr val="FF0000"/>
                </a:solidFill>
              </a:rPr>
              <a:t>data cleaning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data visualization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Example?</a:t>
            </a:r>
          </a:p>
          <a:p>
            <a:r>
              <a:rPr lang="en-US" dirty="0"/>
              <a:t>Google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56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CF932D-B3D7-DB1F-CF70-8AED5351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Required Data Science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6DE00A-61F9-F161-14D0-C38786CCE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02956" y="1918615"/>
            <a:ext cx="7470183" cy="4351338"/>
          </a:xfrm>
        </p:spPr>
        <p:txBody>
          <a:bodyPr>
            <a:normAutofit/>
          </a:bodyPr>
          <a:lstStyle/>
          <a:p>
            <a:pPr lvl="2"/>
            <a:r>
              <a:rPr lang="en-US" sz="2800" dirty="0"/>
              <a:t>Deep learning – 11%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800" dirty="0"/>
              <a:t>Clustering – 11%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800" dirty="0"/>
              <a:t>Predictive modeling – 8%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800" dirty="0"/>
              <a:t>Neural networks – 5%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800" dirty="0"/>
              <a:t>Natural language processing (NLP) – 5%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800" dirty="0"/>
              <a:t>Scikit-learn – 4%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800" dirty="0"/>
              <a:t>Decision trees – 3%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800" dirty="0"/>
              <a:t>A/B testing – 2%</a:t>
            </a:r>
          </a:p>
        </p:txBody>
      </p:sp>
      <p:pic>
        <p:nvPicPr>
          <p:cNvPr id="8" name="Picture 7" descr="A graph of a graph with a graph pointing up&#10;&#10;Description automatically generated with medium confidence">
            <a:extLst>
              <a:ext uri="{FF2B5EF4-FFF2-40B4-BE49-F238E27FC236}">
                <a16:creationId xmlns:a16="http://schemas.microsoft.com/office/drawing/2014/main" xmlns="" id="{60E19B71-42CD-3077-C68A-9F4199CF2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207" y="1690689"/>
            <a:ext cx="4938793" cy="404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910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0E3CD2-ABE2-2D7B-15E7-E9450B4B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pic>
        <p:nvPicPr>
          <p:cNvPr id="5" name="Content Placeholder 4" descr="sA group of icons of computer devices">
            <a:extLst>
              <a:ext uri="{FF2B5EF4-FFF2-40B4-BE49-F238E27FC236}">
                <a16:creationId xmlns:a16="http://schemas.microsoft.com/office/drawing/2014/main" xmlns="" id="{758D89AB-9920-F19F-50E1-E5491C984C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440" y="2154266"/>
            <a:ext cx="7809779" cy="39114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0B4EB4B-C93A-ED3D-5799-17116E2B9CE1}"/>
              </a:ext>
            </a:extLst>
          </p:cNvPr>
          <p:cNvSpPr txBox="1"/>
          <p:nvPr/>
        </p:nvSpPr>
        <p:spPr>
          <a:xfrm>
            <a:off x="4742480" y="1491807"/>
            <a:ext cx="3688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Evolution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781381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C8D106D-C280-D671-9681-EB7701F5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F1B730-4E2F-E8B1-3F1E-B2A42B84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CAC1D6A-33EE-7223-2CCF-F0AE6A409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5440" y="2154266"/>
            <a:ext cx="7809779" cy="39114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6CA5604-6004-0151-44DE-7C71E3F3B88C}"/>
              </a:ext>
            </a:extLst>
          </p:cNvPr>
          <p:cNvSpPr txBox="1"/>
          <p:nvPr/>
        </p:nvSpPr>
        <p:spPr>
          <a:xfrm>
            <a:off x="5470901" y="1459855"/>
            <a:ext cx="3688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IoT Data</a:t>
            </a:r>
          </a:p>
        </p:txBody>
      </p:sp>
    </p:spTree>
    <p:extLst>
      <p:ext uri="{BB962C8B-B14F-4D97-AF65-F5344CB8AC3E}">
        <p14:creationId xmlns:p14="http://schemas.microsoft.com/office/powerpoint/2010/main" val="2625259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16C2805-5677-7544-C69D-30EEF3C90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02FDEA-5BD9-F9DD-8D80-F6B9B7D05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8807C79-FF86-2788-7FDA-00BE3F0A5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5440" y="2154266"/>
            <a:ext cx="7809779" cy="39114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FAF25D8-5860-85B3-CC1D-1F87D2012E22}"/>
              </a:ext>
            </a:extLst>
          </p:cNvPr>
          <p:cNvSpPr txBox="1"/>
          <p:nvPr/>
        </p:nvSpPr>
        <p:spPr>
          <a:xfrm>
            <a:off x="5470901" y="1459855"/>
            <a:ext cx="3688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Social Media</a:t>
            </a:r>
          </a:p>
        </p:txBody>
      </p:sp>
    </p:spTree>
    <p:extLst>
      <p:ext uri="{BB962C8B-B14F-4D97-AF65-F5344CB8AC3E}">
        <p14:creationId xmlns:p14="http://schemas.microsoft.com/office/powerpoint/2010/main" val="1832459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665DC8-1B5C-3B6F-340A-B85565A8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Buzz Words Related to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0F5712-1242-971A-5791-A1AE028A0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Engineering / Data Engineer</a:t>
            </a:r>
          </a:p>
          <a:p>
            <a:r>
              <a:rPr lang="en-US" dirty="0"/>
              <a:t>Data Science / Data Scientist</a:t>
            </a:r>
          </a:p>
          <a:p>
            <a:r>
              <a:rPr lang="en-US" dirty="0"/>
              <a:t>Data Analyst</a:t>
            </a:r>
          </a:p>
        </p:txBody>
      </p:sp>
    </p:spTree>
    <p:extLst>
      <p:ext uri="{BB962C8B-B14F-4D97-AF65-F5344CB8AC3E}">
        <p14:creationId xmlns:p14="http://schemas.microsoft.com/office/powerpoint/2010/main" val="18527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C414F-C4C5-AEB4-7EA1-06466B710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Analyst vs Data Scientist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CDCDB73D-9A50-DB54-22CB-D9F2EA238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400111"/>
              </p:ext>
            </p:extLst>
          </p:nvPr>
        </p:nvGraphicFramePr>
        <p:xfrm>
          <a:off x="838200" y="1825625"/>
          <a:ext cx="10515600" cy="3791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25254518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xmlns="" val="3317964986"/>
                    </a:ext>
                  </a:extLst>
                </a:gridCol>
              </a:tblGrid>
              <a:tr h="540423">
                <a:tc>
                  <a:txBody>
                    <a:bodyPr/>
                    <a:lstStyle/>
                    <a:p>
                      <a:r>
                        <a:rPr lang="en-US" dirty="0"/>
                        <a:t>Data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Science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1593252"/>
                  </a:ext>
                </a:extLst>
              </a:tr>
              <a:tr h="540423">
                <a:tc>
                  <a:txBody>
                    <a:bodyPr/>
                    <a:lstStyle/>
                    <a:p>
                      <a:r>
                        <a:rPr lang="en-US" dirty="0"/>
                        <a:t>Works with structured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Works with structured and unstructured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83346295"/>
                  </a:ext>
                </a:extLst>
              </a:tr>
              <a:tr h="932785">
                <a:tc>
                  <a:txBody>
                    <a:bodyPr/>
                    <a:lstStyle/>
                    <a:p>
                      <a:r>
                        <a:rPr lang="en-US" dirty="0"/>
                        <a:t>Analyzing the existing data  and extracting information (no prediction)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Prediction and forecasting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45072341"/>
                  </a:ext>
                </a:extLst>
              </a:tr>
              <a:tr h="932785">
                <a:tc>
                  <a:txBody>
                    <a:bodyPr/>
                    <a:lstStyle/>
                    <a:p>
                      <a:r>
                        <a:rPr lang="en-US" dirty="0"/>
                        <a:t>Business Intelligence tools like PowerBI and Tableau.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 models (need skills like ML &amp; DL)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8659470"/>
                  </a:ext>
                </a:extLst>
              </a:tr>
              <a:tr h="745356">
                <a:tc>
                  <a:txBody>
                    <a:bodyPr/>
                    <a:lstStyle/>
                    <a:p>
                      <a:r>
                        <a:rPr lang="en-US" dirty="0"/>
                        <a:t>Excel &amp; Creating Dashboards.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Frameworks like Sklearn, Pytorch, keras and Tensorflow.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7452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69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19AE36-4DED-2479-B300-E39E3ABF0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Use Case 1 (Walmart)</a:t>
            </a:r>
          </a:p>
        </p:txBody>
      </p:sp>
      <p:pic>
        <p:nvPicPr>
          <p:cNvPr id="7" name="Content Placeholder 6" descr="A palm trees and a couple of gears&#10;&#10;Description automatically generated">
            <a:extLst>
              <a:ext uri="{FF2B5EF4-FFF2-40B4-BE49-F238E27FC236}">
                <a16:creationId xmlns:a16="http://schemas.microsoft.com/office/drawing/2014/main" xmlns="" id="{FA85023D-6DB2-B987-F6B2-23E939B74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99" y="1968286"/>
            <a:ext cx="10438477" cy="3688596"/>
          </a:xfrm>
        </p:spPr>
      </p:pic>
    </p:spTree>
    <p:extLst>
      <p:ext uri="{BB962C8B-B14F-4D97-AF65-F5344CB8AC3E}">
        <p14:creationId xmlns:p14="http://schemas.microsoft.com/office/powerpoint/2010/main" val="1569137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F174FF-8258-0A71-963D-17757BF9E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Use Case 2</a:t>
            </a:r>
          </a:p>
        </p:txBody>
      </p:sp>
      <p:pic>
        <p:nvPicPr>
          <p:cNvPr id="5" name="Content Placeholder 4" descr="A group of gears with icons&#10;&#10;Description automatically generated">
            <a:extLst>
              <a:ext uri="{FF2B5EF4-FFF2-40B4-BE49-F238E27FC236}">
                <a16:creationId xmlns:a16="http://schemas.microsoft.com/office/drawing/2014/main" xmlns="" id="{AEFBFDBB-2DB2-D6B3-753F-DB7C294D5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43" y="2247254"/>
            <a:ext cx="9187113" cy="3766088"/>
          </a:xfrm>
        </p:spPr>
      </p:pic>
    </p:spTree>
    <p:extLst>
      <p:ext uri="{BB962C8B-B14F-4D97-AF65-F5344CB8AC3E}">
        <p14:creationId xmlns:p14="http://schemas.microsoft.com/office/powerpoint/2010/main" val="863812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3317B7-8B6F-7A66-C6C2-732C4CBF4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Life Cycle</a:t>
            </a:r>
          </a:p>
        </p:txBody>
      </p:sp>
      <p:pic>
        <p:nvPicPr>
          <p:cNvPr id="5" name="Content Placeholder 4" descr="A diagram of data science&#10;&#10;Description automatically generated">
            <a:extLst>
              <a:ext uri="{FF2B5EF4-FFF2-40B4-BE49-F238E27FC236}">
                <a16:creationId xmlns:a16="http://schemas.microsoft.com/office/drawing/2014/main" xmlns="" id="{6C6F2A02-9E4A-C444-61AB-321DD1A5E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887" y="728028"/>
            <a:ext cx="5579389" cy="5411728"/>
          </a:xfrm>
        </p:spPr>
      </p:pic>
    </p:spTree>
    <p:extLst>
      <p:ext uri="{BB962C8B-B14F-4D97-AF65-F5344CB8AC3E}">
        <p14:creationId xmlns:p14="http://schemas.microsoft.com/office/powerpoint/2010/main" val="2485280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C7AE6A-A1F6-C76D-D6E2-F6785C13B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(Statistics)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39D861-4236-BA2E-1038-159786F6C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refers to facts and statistics collected together for analysis.</a:t>
            </a:r>
          </a:p>
          <a:p>
            <a:r>
              <a:rPr lang="en-US" dirty="0"/>
              <a:t>Data can be….</a:t>
            </a:r>
          </a:p>
          <a:p>
            <a:pPr lvl="1"/>
            <a:r>
              <a:rPr lang="en-US" dirty="0"/>
              <a:t>Collected/stored</a:t>
            </a:r>
          </a:p>
          <a:p>
            <a:pPr lvl="1"/>
            <a:r>
              <a:rPr lang="en-US" dirty="0"/>
              <a:t>Measured</a:t>
            </a:r>
          </a:p>
          <a:p>
            <a:pPr lvl="1"/>
            <a:r>
              <a:rPr lang="en-US" dirty="0"/>
              <a:t>Analyzed</a:t>
            </a:r>
          </a:p>
          <a:p>
            <a:pPr lvl="1"/>
            <a:r>
              <a:rPr lang="en-US" dirty="0"/>
              <a:t>Visualized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73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FC293A-F38F-9D0D-A5D2-4169492E1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Categories of Data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1. Qualitative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2ED349-3A6A-E583-ACE3-C0F6408C7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507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Type of data, which deals with the characteristics that can’t be easily measured but can be observed subjectively.</a:t>
            </a:r>
          </a:p>
          <a:p>
            <a:pPr marL="0" indent="0">
              <a:buNone/>
            </a:pP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Nominal Data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Ordinal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655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BB2386-FC43-09C7-18A6-49CF84F1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Nominal vs Ordinal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F608084E-B17A-F4D1-0F3F-71866F0E7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583620"/>
              </p:ext>
            </p:extLst>
          </p:nvPr>
        </p:nvGraphicFramePr>
        <p:xfrm>
          <a:off x="838200" y="1825625"/>
          <a:ext cx="105156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30406482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xmlns="" val="2484735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Data with no order or ranking such as gender, race or mode of transportation is known as Nominal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Data with an ordered series, like order ids (below shown table) is known as Ordinal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979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For Example:</a:t>
                      </a:r>
                      <a:r>
                        <a:rPr lang="en-US" sz="2000" dirty="0"/>
                        <a:t>  (Gender)</a:t>
                      </a:r>
                    </a:p>
                    <a:p>
                      <a:r>
                        <a:rPr lang="en-US" sz="20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For example:</a:t>
                      </a:r>
                      <a:r>
                        <a:rPr lang="en-US" sz="2000" dirty="0"/>
                        <a:t> (Id , Rating)</a:t>
                      </a:r>
                    </a:p>
                    <a:p>
                      <a:r>
                        <a:rPr lang="en-US" sz="2000" dirty="0"/>
                        <a:t>001       |      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88384761"/>
                  </a:ext>
                </a:extLst>
              </a:tr>
              <a:tr h="308492">
                <a:tc>
                  <a:txBody>
                    <a:bodyPr/>
                    <a:lstStyle/>
                    <a:p>
                      <a:r>
                        <a:rPr lang="en-US" sz="2000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002       |       Bad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93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003       |       Average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50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385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2EDF5C-D043-8026-6371-F8EFAB5CC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58E18F-A816-C198-62DF-2B4DB1D9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Categories of Data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2. Quantitative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2D8E8F-E99B-1314-94C4-4F042A0A0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507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Type of data, which deals with numbers and things, you can measure objectively.</a:t>
            </a:r>
          </a:p>
          <a:p>
            <a:pPr marL="0" indent="0">
              <a:buNone/>
            </a:pP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Discrete Data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Continuous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004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37C4B06-227E-445F-BD87-1A8D6DE3E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0B466E-042F-7CEA-9E71-2EBB585C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vs Continuous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DEDC1095-C717-EAD2-F58A-7E9A49B05B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1612273"/>
              </p:ext>
            </p:extLst>
          </p:nvPr>
        </p:nvGraphicFramePr>
        <p:xfrm>
          <a:off x="838200" y="1825625"/>
          <a:ext cx="105156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30406482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xmlns="" val="2484735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Also called as Categorical Data. It can hold finite number of possible values.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Data that can hold finite number of possible values.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979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For Example:</a:t>
                      </a:r>
                      <a:r>
                        <a:rPr lang="en-US" sz="2000" dirty="0"/>
                        <a:t> </a:t>
                      </a:r>
                    </a:p>
                    <a:p>
                      <a:r>
                        <a:rPr lang="en-US" sz="2000" dirty="0"/>
                        <a:t>Number of students in a class.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For example: </a:t>
                      </a:r>
                    </a:p>
                    <a:p>
                      <a:r>
                        <a:rPr lang="en-US" sz="2000" b="0" dirty="0"/>
                        <a:t>Weight of a person or temperature.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88384761"/>
                  </a:ext>
                </a:extLst>
              </a:tr>
              <a:tr h="30849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93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50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034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716667-B147-D70E-6459-CB742022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48AC2F-ADA8-BA12-DC41-522BBA95B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Area of applied mathematics concerned with the data collection, analysis, interpretation and presentation.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example; Business sales report</a:t>
            </a:r>
          </a:p>
        </p:txBody>
      </p:sp>
    </p:spTree>
    <p:extLst>
      <p:ext uri="{BB962C8B-B14F-4D97-AF65-F5344CB8AC3E}">
        <p14:creationId xmlns:p14="http://schemas.microsoft.com/office/powerpoint/2010/main" val="3356258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2DA92F-6F62-5E7C-3EA3-A8F91108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terminologies in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37EE29-60D7-C645-4D71-DE198E355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1254"/>
            <a:ext cx="10515600" cy="4351338"/>
          </a:xfrm>
        </p:spPr>
        <p:txBody>
          <a:bodyPr/>
          <a:lstStyle/>
          <a:p>
            <a:r>
              <a:rPr lang="en-US" dirty="0"/>
              <a:t>Population </a:t>
            </a:r>
            <a:r>
              <a:rPr lang="en-US" dirty="0">
                <a:sym typeface="Wingdings" panose="05000000000000000000" pitchFamily="2" charset="2"/>
              </a:rPr>
              <a:t> A collection or set of individuals, whose properties are to analyzed.</a:t>
            </a:r>
          </a:p>
          <a:p>
            <a:r>
              <a:rPr lang="en-US" dirty="0">
                <a:sym typeface="Wingdings" panose="05000000000000000000" pitchFamily="2" charset="2"/>
              </a:rPr>
              <a:t>Sample  A subset of population is called as “Sample”. A well-chosen sample will contain most of the information about a particular population.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33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87C7CE6E067244A59DA8F64D817370" ma:contentTypeVersion="4" ma:contentTypeDescription="Create a new document." ma:contentTypeScope="" ma:versionID="d7a041c15327aa6b1ec053607a1e878d">
  <xsd:schema xmlns:xsd="http://www.w3.org/2001/XMLSchema" xmlns:xs="http://www.w3.org/2001/XMLSchema" xmlns:p="http://schemas.microsoft.com/office/2006/metadata/properties" xmlns:ns2="9f5857bd-5164-4e37-a4d0-5fd8e2da11bd" targetNamespace="http://schemas.microsoft.com/office/2006/metadata/properties" ma:root="true" ma:fieldsID="7ddcc74f19d0728d0662108ddbcd2518" ns2:_="">
    <xsd:import namespace="9f5857bd-5164-4e37-a4d0-5fd8e2da11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5857bd-5164-4e37-a4d0-5fd8e2da1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8C2AE4-A325-4408-9FFB-DCDE9D6285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5857bd-5164-4e37-a4d0-5fd8e2da11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00A3E4E-8B0C-434B-A9E5-9989B246C1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517</Words>
  <Application>Microsoft Office PowerPoint</Application>
  <PresentationFormat>Widescreen</PresentationFormat>
  <Paragraphs>96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 Theme</vt:lpstr>
      <vt:lpstr>Data Science Fundamentals</vt:lpstr>
      <vt:lpstr>Course Evaluation</vt:lpstr>
      <vt:lpstr>Course Description</vt:lpstr>
      <vt:lpstr>Lecture 1</vt:lpstr>
      <vt:lpstr>Data Science?</vt:lpstr>
      <vt:lpstr>Required Data Science Techniques</vt:lpstr>
      <vt:lpstr>Data Sources</vt:lpstr>
      <vt:lpstr>Data Sources</vt:lpstr>
      <vt:lpstr>Data Sources</vt:lpstr>
      <vt:lpstr>Buzz Words Related to Data</vt:lpstr>
      <vt:lpstr>Data Analyst vs Data Scientist</vt:lpstr>
      <vt:lpstr>Data Use Case 1 (Walmart)</vt:lpstr>
      <vt:lpstr>Data Use Case 2</vt:lpstr>
      <vt:lpstr>Data Life Cycle</vt:lpstr>
      <vt:lpstr>What is Data (Statistics)</vt:lpstr>
      <vt:lpstr>Categories of Data  1. Qualitative Data</vt:lpstr>
      <vt:lpstr>Nominal vs Ordinal Data</vt:lpstr>
      <vt:lpstr>Categories of Data  2. Quantitative Data</vt:lpstr>
      <vt:lpstr>Discrete vs Continuous Data</vt:lpstr>
      <vt:lpstr>Statistics</vt:lpstr>
      <vt:lpstr>Basic terminologies in statistics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Fundamentals</dc:title>
  <dc:creator>Junaid Khan</dc:creator>
  <cp:lastModifiedBy>HP</cp:lastModifiedBy>
  <cp:revision>38</cp:revision>
  <dcterms:created xsi:type="dcterms:W3CDTF">2024-02-12T11:10:29Z</dcterms:created>
  <dcterms:modified xsi:type="dcterms:W3CDTF">2024-04-21T14:05:36Z</dcterms:modified>
</cp:coreProperties>
</file>