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xml" ContentType="application/vnd.openxmlformats-officedocument.presentationml.slide+xml"/>
  <Override PartName="/ppt/slides/slide18.xml" ContentType="application/vnd.openxmlformats-officedocument.presentationml.slide+xml"/>
  <Override PartName="/ppt/slides/slide17.xml" ContentType="application/vnd.openxmlformats-officedocument.presentationml.slide+xml"/>
  <Override PartName="/ppt/slides/slide16.xml" ContentType="application/vnd.openxmlformats-officedocument.presentationml.slide+xml"/>
  <Override PartName="/ppt/slides/slide15.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5.xml" ContentType="application/vnd.openxmlformats-officedocument.presentationml.slide+xml"/>
  <Override PartName="/ppt/slides/slide30.xml" ContentType="application/vnd.openxmlformats-officedocument.presentationml.slide+xml"/>
  <Override PartName="/ppt/slides/slide23.xml" ContentType="application/vnd.openxmlformats-officedocument.presentationml.slide+xml"/>
  <Override PartName="/ppt/slides/slide22.xml" ContentType="application/vnd.openxmlformats-officedocument.presentationml.slide+xml"/>
  <Override PartName="/ppt/slides/slide14.xml" ContentType="application/vnd.openxmlformats-officedocument.presentationml.slide+xml"/>
  <Override PartName="/ppt/slides/slide13.xml" ContentType="application/vnd.openxmlformats-officedocument.presentationml.slide+xml"/>
  <Override PartName="/ppt/slides/slide12.xml" ContentType="application/vnd.openxmlformats-officedocument.presentationml.slide+xml"/>
  <Override PartName="/ppt/slides/slide5.xml" ContentType="application/vnd.openxmlformats-officedocument.presentationml.slide+xml"/>
  <Override PartName="/ppt/slides/slide4.xml" ContentType="application/vnd.openxmlformats-officedocument.presentationml.slide+xml"/>
  <Override PartName="/ppt/slides/slide3.xml" ContentType="application/vnd.openxmlformats-officedocument.presentationml.slide+xml"/>
  <Override PartName="/ppt/slides/slide2.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6.xml" ContentType="application/vnd.openxmlformats-officedocument.presentationml.slide+xml"/>
  <Override PartName="/ppt/slides/slide24.xml" ContentType="application/vnd.openxmlformats-officedocument.presentationml.slide+xml"/>
  <Override PartName="/ppt/slides/slide28.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27.xml" ContentType="application/vnd.openxmlformats-officedocument.presentationml.slide+xml"/>
  <Override PartName="/ppt/slides/slide36.xml" ContentType="application/vnd.openxmlformats-officedocument.presentationml.slide+xml"/>
  <Override PartName="/ppt/slides/slide35.xml" ContentType="application/vnd.openxmlformats-officedocument.presentationml.slide+xml"/>
  <Override PartName="/ppt/slides/slide34.xml" ContentType="application/vnd.openxmlformats-officedocument.presentationml.slide+xml"/>
  <Override PartName="/ppt/slides/slide33.xml" ContentType="application/vnd.openxmlformats-officedocument.presentationml.slide+xml"/>
  <Override PartName="/ppt/slides/slide32.xml" ContentType="application/vnd.openxmlformats-officedocument.presentationml.slide+xml"/>
  <Override PartName="/ppt/slides/slide31.xml" ContentType="application/vnd.openxmlformats-officedocument.presentationml.slide+xml"/>
  <Override PartName="/ppt/slides/slide41.xml" ContentType="application/vnd.openxmlformats-officedocument.presentationml.slide+xml"/>
  <Override PartName="/ppt/slides/slide40.xml" ContentType="application/vnd.openxmlformats-officedocument.presentationml.slide+xml"/>
  <Override PartName="/ppt/slides/slide43.xml" ContentType="application/vnd.openxmlformats-officedocument.presentationml.slide+xml"/>
  <Override PartName="/ppt/slides/slide50.xml" ContentType="application/vnd.openxmlformats-officedocument.presentationml.slide+xml"/>
  <Override PartName="/ppt/slides/slide42.xml" ContentType="application/vnd.openxmlformats-officedocument.presentationml.slide+xml"/>
  <Override PartName="/ppt/slides/slide52.xml" ContentType="application/vnd.openxmlformats-officedocument.presentationml.slide+xml"/>
  <Override PartName="/ppt/slides/slide29.xml" ContentType="application/vnd.openxmlformats-officedocument.presentationml.slide+xml"/>
  <Override PartName="/ppt/slides/slide49.xml" ContentType="application/vnd.openxmlformats-officedocument.presentationml.slide+xml"/>
  <Override PartName="/ppt/slides/slide51.xml" ContentType="application/vnd.openxmlformats-officedocument.presentationml.slide+xml"/>
  <Override PartName="/ppt/slides/slide47.xml" ContentType="application/vnd.openxmlformats-officedocument.presentationml.slide+xml"/>
  <Override PartName="/ppt/slides/slide44.xml" ContentType="application/vnd.openxmlformats-officedocument.presentationml.slide+xml"/>
  <Override PartName="/ppt/slides/slide48.xml" ContentType="application/vnd.openxmlformats-officedocument.presentationml.slide+xml"/>
  <Override PartName="/ppt/slides/slide46.xml" ContentType="application/vnd.openxmlformats-officedocument.presentationml.slide+xml"/>
  <Override PartName="/ppt/slides/slide45.xml" ContentType="application/vnd.openxmlformats-officedocument.presentationml.slide+xml"/>
  <Override PartName="/ppt/slideMasters/slideMaster1.xml" ContentType="application/vnd.openxmlformats-officedocument.presentationml.slideMaster+xml"/>
  <Override PartName="/ppt/notesSlides/notesSlide8.xml" ContentType="application/vnd.openxmlformats-officedocument.presentationml.notesSlide+xml"/>
  <Override PartName="/ppt/notesSlides/notesSlide21.xml" ContentType="application/vnd.openxmlformats-officedocument.presentationml.notesSlide+xml"/>
  <Override PartName="/ppt/slideLayouts/slideLayout11.xml" ContentType="application/vnd.openxmlformats-officedocument.presentationml.slideLayout+xml"/>
  <Override PartName="/ppt/notesSlides/notesSlide20.xml" ContentType="application/vnd.openxmlformats-officedocument.presentationml.notesSlide+xml"/>
  <Override PartName="/ppt/notesSlides/notesSlide19.xml" ContentType="application/vnd.openxmlformats-officedocument.presentationml.notesSlide+xml"/>
  <Override PartName="/ppt/slideLayouts/slideLayout10.xml" ContentType="application/vnd.openxmlformats-officedocument.presentationml.slideLayout+xml"/>
  <Override PartName="/ppt/notesSlides/notesSlide22.xml" ContentType="application/vnd.openxmlformats-officedocument.presentationml.notesSlide+xml"/>
  <Override PartName="/ppt/slideLayouts/slideLayout9.xml" ContentType="application/vnd.openxmlformats-officedocument.presentationml.slideLayout+xml"/>
  <Override PartName="/ppt/notesSlides/notesSlide7.xml" ContentType="application/vnd.openxmlformats-officedocument.presentationml.notesSlide+xml"/>
  <Override PartName="/ppt/slideLayouts/slideLayout7.xml" ContentType="application/vnd.openxmlformats-officedocument.presentationml.slideLayout+xml"/>
  <Override PartName="/ppt/notesSlides/notesSlide24.xml" ContentType="application/vnd.openxmlformats-officedocument.presentationml.notesSlide+xml"/>
  <Override PartName="/ppt/slideLayouts/slideLayout8.xml" ContentType="application/vnd.openxmlformats-officedocument.presentationml.slideLayout+xml"/>
  <Override PartName="/ppt/notesSlides/notesSlide23.xml" ContentType="application/vnd.openxmlformats-officedocument.presentationml.notesSlide+xml"/>
  <Override PartName="/ppt/notesSlides/notesSlide18.xml" ContentType="application/vnd.openxmlformats-officedocument.presentationml.notesSlide+xml"/>
  <Override PartName="/ppt/notesSlides/notesSlide17.xml" ContentType="application/vnd.openxmlformats-officedocument.presentationml.notesSlide+xml"/>
  <Override PartName="/ppt/notesSlides/notesSlide16.xml" ContentType="application/vnd.openxmlformats-officedocument.presentationml.notesSlide+xml"/>
  <Override PartName="/ppt/notesSlides/notesSlide11.xml" ContentType="application/vnd.openxmlformats-officedocument.presentationml.notesSlide+xml"/>
  <Override PartName="/ppt/notesSlides/notesSlide10.xml" ContentType="application/vnd.openxmlformats-officedocument.presentationml.notesSlide+xml"/>
  <Override PartName="/ppt/notesSlides/notesSlide5.xml" ContentType="application/vnd.openxmlformats-officedocument.presentationml.notesSlide+xml"/>
  <Override PartName="/ppt/notesSlides/notesSlide9.xml" ContentType="application/vnd.openxmlformats-officedocument.presentationml.notesSlide+xml"/>
  <Override PartName="/ppt/notesSlides/notesSlide6.xml" ContentType="application/vnd.openxmlformats-officedocument.presentationml.notesSlide+xml"/>
  <Override PartName="/ppt/notesSlides/notesSlide4.xml" ContentType="application/vnd.openxmlformats-officedocument.presentationml.notesSlide+xml"/>
  <Override PartName="/ppt/notesSlides/notesSlide12.xml" ContentType="application/vnd.openxmlformats-officedocument.presentationml.notesSlide+xml"/>
  <Override PartName="/ppt/notesSlides/notesSlide3.xml" ContentType="application/vnd.openxmlformats-officedocument.presentationml.notesSlide+xml"/>
  <Override PartName="/ppt/notesSlides/notesSlide1.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14.xml" ContentType="application/vnd.openxmlformats-officedocument.presentationml.notesSlide+xml"/>
  <Override PartName="/ppt/notesSlides/notesSlide13.xml" ContentType="application/vnd.openxmlformats-officedocument.presentationml.notesSlide+xml"/>
  <Override PartName="/ppt/notesSlides/notesSlide26.xml" ContentType="application/vnd.openxmlformats-officedocument.presentationml.notesSlide+xml"/>
  <Override PartName="/ppt/notesSlides/notesSlide25.xml" ContentType="application/vnd.openxmlformats-officedocument.presentationml.notesSlide+xml"/>
  <Override PartName="/ppt/notesSlides/notesSlide28.xml" ContentType="application/vnd.openxmlformats-officedocument.presentationml.notesSlide+xml"/>
  <Override PartName="/ppt/notesSlides/notesSlide46.xml" ContentType="application/vnd.openxmlformats-officedocument.presentationml.notesSlide+xml"/>
  <Override PartName="/ppt/notesSlides/notesSlide45.xml" ContentType="application/vnd.openxmlformats-officedocument.presentationml.notesSlide+xml"/>
  <Override PartName="/ppt/slideLayouts/slideLayout5.xml" ContentType="application/vnd.openxmlformats-officedocument.presentationml.slideLayout+xml"/>
  <Override PartName="/ppt/notesSlides/notesSlide44.xml" ContentType="application/vnd.openxmlformats-officedocument.presentationml.notesSlide+xml"/>
  <Override PartName="/ppt/notesSlides/notesSlide27.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50.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1.xml" ContentType="application/vnd.openxmlformats-officedocument.presentationml.notesSlide+xml"/>
  <Override PartName="/ppt/notesSlides/notesSlide33.xml" ContentType="application/vnd.openxmlformats-officedocument.presentationml.notesSlide+xml"/>
  <Override PartName="/ppt/notesSlides/notesSlide31.xml" ContentType="application/vnd.openxmlformats-officedocument.presentationml.notesSlide+xml"/>
  <Override PartName="/ppt/notesSlides/notesSlide30.xml" ContentType="application/vnd.openxmlformats-officedocument.presentationml.notesSlide+xml"/>
  <Override PartName="/ppt/slideLayouts/slideLayout6.xml" ContentType="application/vnd.openxmlformats-officedocument.presentationml.slideLayout+xml"/>
  <Override PartName="/ppt/notesSlides/notesSlide29.xml" ContentType="application/vnd.openxmlformats-officedocument.presentationml.notesSlide+xml"/>
  <Override PartName="/ppt/notesSlides/notesSlide34.xml" ContentType="application/vnd.openxmlformats-officedocument.presentationml.notesSlide+xml"/>
  <Override PartName="/ppt/notesSlides/notesSlide32.xml" ContentType="application/vnd.openxmlformats-officedocument.presentationml.notesSlide+xml"/>
  <Override PartName="/ppt/notesSlides/notesSlide36.xml" ContentType="application/vnd.openxmlformats-officedocument.presentationml.notesSlide+xml"/>
  <Override PartName="/ppt/notesSlides/notesSlide40.xml" ContentType="application/vnd.openxmlformats-officedocument.presentationml.notesSlide+xml"/>
  <Override PartName="/ppt/notesSlides/notesSlide35.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37.xml" ContentType="application/vnd.openxmlformats-officedocument.presentationml.notesSlide+xml"/>
  <Override PartName="/ppt/notesMasters/notesMaster1.xml" ContentType="application/vnd.openxmlformats-officedocument.presentationml.notesMaster+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Override PartName="/ppt/presProps.xml" ContentType="application/vnd.openxmlformats-officedocument.presentationml.presProps+xml"/>
  <Override PartName="/ppt/tableStyles.xml" ContentType="application/vnd.openxmlformats-officedocument.presentationml.tableStyle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5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307" r:id="rId20"/>
    <p:sldId id="274" r:id="rId21"/>
    <p:sldId id="275" r:id="rId22"/>
    <p:sldId id="276" r:id="rId23"/>
    <p:sldId id="277" r:id="rId24"/>
    <p:sldId id="278" r:id="rId25"/>
    <p:sldId id="279" r:id="rId26"/>
    <p:sldId id="280" r:id="rId27"/>
    <p:sldId id="281" r:id="rId28"/>
    <p:sldId id="282" r:id="rId29"/>
    <p:sldId id="283" r:id="rId30"/>
    <p:sldId id="284" r:id="rId31"/>
    <p:sldId id="285" r:id="rId32"/>
    <p:sldId id="286" r:id="rId33"/>
    <p:sldId id="287" r:id="rId34"/>
    <p:sldId id="288" r:id="rId35"/>
    <p:sldId id="289" r:id="rId36"/>
    <p:sldId id="290" r:id="rId37"/>
    <p:sldId id="291" r:id="rId38"/>
    <p:sldId id="292" r:id="rId39"/>
    <p:sldId id="293" r:id="rId40"/>
    <p:sldId id="294" r:id="rId41"/>
    <p:sldId id="295" r:id="rId42"/>
    <p:sldId id="296" r:id="rId43"/>
    <p:sldId id="297" r:id="rId44"/>
    <p:sldId id="298" r:id="rId45"/>
    <p:sldId id="299" r:id="rId46"/>
    <p:sldId id="308" r:id="rId47"/>
    <p:sldId id="301" r:id="rId48"/>
    <p:sldId id="302" r:id="rId49"/>
    <p:sldId id="303" r:id="rId50"/>
    <p:sldId id="304" r:id="rId51"/>
    <p:sldId id="305" r:id="rId52"/>
    <p:sldId id="306" r:id="rId53"/>
  </p:sldIdLst>
  <p:sldSz cx="9144000" cy="6858000" type="screen4x3"/>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56" roundtripDataSignature="AMtx7mhT/vE3m1Hhk6MG8xNerNBX0V4W1w=="/>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0" d="100"/>
          <a:sy n="70" d="100"/>
        </p:scale>
        <p:origin x="1386"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63" Type="http://schemas.openxmlformats.org/officeDocument/2006/relationships/customXml" Target="../customXml/item3.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viewProps" Target="viewProps.xml"/><Relationship Id="rId5" Type="http://schemas.openxmlformats.org/officeDocument/2006/relationships/slide" Target="slides/slide4.xml"/><Relationship Id="rId61" Type="http://schemas.openxmlformats.org/officeDocument/2006/relationships/customXml" Target="../customXml/item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customschemas.google.com/relationships/presentationmetadata" Target="metadata"/><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notesMaster" Target="notesMasters/notesMaster1.xml"/><Relationship Id="rId62" Type="http://schemas.openxmlformats.org/officeDocument/2006/relationships/customXml" Target="../customXml/item2.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presProps" Target="pres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extLst>
      <p:ext uri="{BB962C8B-B14F-4D97-AF65-F5344CB8AC3E}">
        <p14:creationId xmlns:p14="http://schemas.microsoft.com/office/powerpoint/2010/main" val="3157557102"/>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2" name="Google Shape;82;p1: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5818640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
        <p:cNvGrpSpPr/>
        <p:nvPr/>
      </p:nvGrpSpPr>
      <p:grpSpPr>
        <a:xfrm>
          <a:off x="0" y="0"/>
          <a:ext cx="0" cy="0"/>
          <a:chOff x="0" y="0"/>
          <a:chExt cx="0" cy="0"/>
        </a:xfrm>
      </p:grpSpPr>
      <p:sp>
        <p:nvSpPr>
          <p:cNvPr id="87" name="Google Shape;87;g3096f5665a1_0_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8" name="Google Shape;88;g3096f5665a1_0_0: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9" name="Google Shape;89;g3096f5665a1_0_0: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a:t>
            </a:fld>
            <a:endParaRPr/>
          </a:p>
        </p:txBody>
      </p:sp>
    </p:spTree>
    <p:extLst>
      <p:ext uri="{BB962C8B-B14F-4D97-AF65-F5344CB8AC3E}">
        <p14:creationId xmlns:p14="http://schemas.microsoft.com/office/powerpoint/2010/main" val="299358103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
        <p:cNvGrpSpPr/>
        <p:nvPr/>
      </p:nvGrpSpPr>
      <p:grpSpPr>
        <a:xfrm>
          <a:off x="0" y="0"/>
          <a:ext cx="0" cy="0"/>
          <a:chOff x="0" y="0"/>
          <a:chExt cx="0" cy="0"/>
        </a:xfrm>
      </p:grpSpPr>
      <p:sp>
        <p:nvSpPr>
          <p:cNvPr id="94" name="Google Shape;94;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5" name="Google Shape;95;p2: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26346206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
        <p:cNvGrpSpPr/>
        <p:nvPr/>
      </p:nvGrpSpPr>
      <p:grpSpPr>
        <a:xfrm>
          <a:off x="0" y="0"/>
          <a:ext cx="0" cy="0"/>
          <a:chOff x="0" y="0"/>
          <a:chExt cx="0" cy="0"/>
        </a:xfrm>
      </p:grpSpPr>
      <p:sp>
        <p:nvSpPr>
          <p:cNvPr id="100" name="Google Shape;100;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1" name="Google Shape;101;p3: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57795959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
        <p:cNvGrpSpPr/>
        <p:nvPr/>
      </p:nvGrpSpPr>
      <p:grpSpPr>
        <a:xfrm>
          <a:off x="0" y="0"/>
          <a:ext cx="0" cy="0"/>
          <a:chOff x="0" y="0"/>
          <a:chExt cx="0" cy="0"/>
        </a:xfrm>
      </p:grpSpPr>
      <p:sp>
        <p:nvSpPr>
          <p:cNvPr id="106" name="Google Shape;106;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7" name="Google Shape;107;p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69929156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
        <p:cNvGrpSpPr/>
        <p:nvPr/>
      </p:nvGrpSpPr>
      <p:grpSpPr>
        <a:xfrm>
          <a:off x="0" y="0"/>
          <a:ext cx="0" cy="0"/>
          <a:chOff x="0" y="0"/>
          <a:chExt cx="0" cy="0"/>
        </a:xfrm>
      </p:grpSpPr>
      <p:sp>
        <p:nvSpPr>
          <p:cNvPr id="112" name="Google Shape;112;g3094bd1d618_0_0: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3" name="Google Shape;113;g3094bd1d618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09041803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8"/>
        <p:cNvGrpSpPr/>
        <p:nvPr/>
      </p:nvGrpSpPr>
      <p:grpSpPr>
        <a:xfrm>
          <a:off x="0" y="0"/>
          <a:ext cx="0" cy="0"/>
          <a:chOff x="0" y="0"/>
          <a:chExt cx="0" cy="0"/>
        </a:xfrm>
      </p:grpSpPr>
      <p:sp>
        <p:nvSpPr>
          <p:cNvPr id="119" name="Google Shape;119;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20" name="Google Shape;120;p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70913444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4"/>
        <p:cNvGrpSpPr/>
        <p:nvPr/>
      </p:nvGrpSpPr>
      <p:grpSpPr>
        <a:xfrm>
          <a:off x="0" y="0"/>
          <a:ext cx="0" cy="0"/>
          <a:chOff x="0" y="0"/>
          <a:chExt cx="0" cy="0"/>
        </a:xfrm>
      </p:grpSpPr>
      <p:sp>
        <p:nvSpPr>
          <p:cNvPr id="125" name="Google Shape;125;p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26" name="Google Shape;126;p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63437391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2"/>
        <p:cNvGrpSpPr/>
        <p:nvPr/>
      </p:nvGrpSpPr>
      <p:grpSpPr>
        <a:xfrm>
          <a:off x="0" y="0"/>
          <a:ext cx="0" cy="0"/>
          <a:chOff x="0" y="0"/>
          <a:chExt cx="0" cy="0"/>
        </a:xfrm>
      </p:grpSpPr>
      <p:sp>
        <p:nvSpPr>
          <p:cNvPr id="133" name="Google Shape;133;g3094bd1d618_0_7: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4" name="Google Shape;134;g3094bd1d618_0_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5841848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9"/>
        <p:cNvGrpSpPr/>
        <p:nvPr/>
      </p:nvGrpSpPr>
      <p:grpSpPr>
        <a:xfrm>
          <a:off x="0" y="0"/>
          <a:ext cx="0" cy="0"/>
          <a:chOff x="0" y="0"/>
          <a:chExt cx="0" cy="0"/>
        </a:xfrm>
      </p:grpSpPr>
      <p:sp>
        <p:nvSpPr>
          <p:cNvPr id="140" name="Google Shape;140;g3094bd1d618_0_15: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1" name="Google Shape;141;g3094bd1d618_0_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54884062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p:cNvGrpSpPr/>
        <p:nvPr/>
      </p:nvGrpSpPr>
      <p:grpSpPr>
        <a:xfrm>
          <a:off x="0" y="0"/>
          <a:ext cx="0" cy="0"/>
          <a:chOff x="0" y="0"/>
          <a:chExt cx="0" cy="0"/>
        </a:xfrm>
      </p:grpSpPr>
      <p:sp>
        <p:nvSpPr>
          <p:cNvPr id="147" name="Google Shape;147;g3094bd1d618_0_21: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8" name="Google Shape;148;g3094bd1d618_0_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95572552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3"/>
        <p:cNvGrpSpPr/>
        <p:nvPr/>
      </p:nvGrpSpPr>
      <p:grpSpPr>
        <a:xfrm>
          <a:off x="0" y="0"/>
          <a:ext cx="0" cy="0"/>
          <a:chOff x="0" y="0"/>
          <a:chExt cx="0" cy="0"/>
        </a:xfrm>
      </p:grpSpPr>
      <p:sp>
        <p:nvSpPr>
          <p:cNvPr id="154" name="Google Shape;154;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55" name="Google Shape;155;p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0401381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0"/>
        <p:cNvGrpSpPr/>
        <p:nvPr/>
      </p:nvGrpSpPr>
      <p:grpSpPr>
        <a:xfrm>
          <a:off x="0" y="0"/>
          <a:ext cx="0" cy="0"/>
          <a:chOff x="0" y="0"/>
          <a:chExt cx="0" cy="0"/>
        </a:xfrm>
      </p:grpSpPr>
      <p:sp>
        <p:nvSpPr>
          <p:cNvPr id="161" name="Google Shape;161;p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62" name="Google Shape;162;p8: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81634049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6"/>
        <p:cNvGrpSpPr/>
        <p:nvPr/>
      </p:nvGrpSpPr>
      <p:grpSpPr>
        <a:xfrm>
          <a:off x="0" y="0"/>
          <a:ext cx="0" cy="0"/>
          <a:chOff x="0" y="0"/>
          <a:chExt cx="0" cy="0"/>
        </a:xfrm>
      </p:grpSpPr>
      <p:sp>
        <p:nvSpPr>
          <p:cNvPr id="167" name="Google Shape;167;g3094bd1d618_0_3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8" name="Google Shape;168;g3094bd1d618_0_3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42195631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3"/>
        <p:cNvGrpSpPr/>
        <p:nvPr/>
      </p:nvGrpSpPr>
      <p:grpSpPr>
        <a:xfrm>
          <a:off x="0" y="0"/>
          <a:ext cx="0" cy="0"/>
          <a:chOff x="0" y="0"/>
          <a:chExt cx="0" cy="0"/>
        </a:xfrm>
      </p:grpSpPr>
      <p:sp>
        <p:nvSpPr>
          <p:cNvPr id="174" name="Google Shape;174;g3094bd1d618_0_40: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5" name="Google Shape;175;g3094bd1d618_0_4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72871942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0"/>
        <p:cNvGrpSpPr/>
        <p:nvPr/>
      </p:nvGrpSpPr>
      <p:grpSpPr>
        <a:xfrm>
          <a:off x="0" y="0"/>
          <a:ext cx="0" cy="0"/>
          <a:chOff x="0" y="0"/>
          <a:chExt cx="0" cy="0"/>
        </a:xfrm>
      </p:grpSpPr>
      <p:sp>
        <p:nvSpPr>
          <p:cNvPr id="181" name="Google Shape;181;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82" name="Google Shape;182;p9: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499928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6"/>
        <p:cNvGrpSpPr/>
        <p:nvPr/>
      </p:nvGrpSpPr>
      <p:grpSpPr>
        <a:xfrm>
          <a:off x="0" y="0"/>
          <a:ext cx="0" cy="0"/>
          <a:chOff x="0" y="0"/>
          <a:chExt cx="0" cy="0"/>
        </a:xfrm>
      </p:grpSpPr>
      <p:sp>
        <p:nvSpPr>
          <p:cNvPr id="187" name="Google Shape;187;g3094bd1d618_0_5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8" name="Google Shape;188;g3094bd1d618_0_5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0044710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3"/>
        <p:cNvGrpSpPr/>
        <p:nvPr/>
      </p:nvGrpSpPr>
      <p:grpSpPr>
        <a:xfrm>
          <a:off x="0" y="0"/>
          <a:ext cx="0" cy="0"/>
          <a:chOff x="0" y="0"/>
          <a:chExt cx="0" cy="0"/>
        </a:xfrm>
      </p:grpSpPr>
      <p:sp>
        <p:nvSpPr>
          <p:cNvPr id="194" name="Google Shape;194;g3096f5665a1_0_261: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5" name="Google Shape;195;g3096f5665a1_0_26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64492814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0"/>
        <p:cNvGrpSpPr/>
        <p:nvPr/>
      </p:nvGrpSpPr>
      <p:grpSpPr>
        <a:xfrm>
          <a:off x="0" y="0"/>
          <a:ext cx="0" cy="0"/>
          <a:chOff x="0" y="0"/>
          <a:chExt cx="0" cy="0"/>
        </a:xfrm>
      </p:grpSpPr>
      <p:sp>
        <p:nvSpPr>
          <p:cNvPr id="201" name="Google Shape;201;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02" name="Google Shape;202;p10: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23545531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6"/>
        <p:cNvGrpSpPr/>
        <p:nvPr/>
      </p:nvGrpSpPr>
      <p:grpSpPr>
        <a:xfrm>
          <a:off x="0" y="0"/>
          <a:ext cx="0" cy="0"/>
          <a:chOff x="0" y="0"/>
          <a:chExt cx="0" cy="0"/>
        </a:xfrm>
      </p:grpSpPr>
      <p:sp>
        <p:nvSpPr>
          <p:cNvPr id="207" name="Google Shape;207;g3096f5665a1_0_26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8" name="Google Shape;208;g3096f5665a1_0_26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17129615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3"/>
        <p:cNvGrpSpPr/>
        <p:nvPr/>
      </p:nvGrpSpPr>
      <p:grpSpPr>
        <a:xfrm>
          <a:off x="0" y="0"/>
          <a:ext cx="0" cy="0"/>
          <a:chOff x="0" y="0"/>
          <a:chExt cx="0" cy="0"/>
        </a:xfrm>
      </p:grpSpPr>
      <p:sp>
        <p:nvSpPr>
          <p:cNvPr id="214" name="Google Shape;214;p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15" name="Google Shape;215;p1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62158822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0"/>
        <p:cNvGrpSpPr/>
        <p:nvPr/>
      </p:nvGrpSpPr>
      <p:grpSpPr>
        <a:xfrm>
          <a:off x="0" y="0"/>
          <a:ext cx="0" cy="0"/>
          <a:chOff x="0" y="0"/>
          <a:chExt cx="0" cy="0"/>
        </a:xfrm>
      </p:grpSpPr>
      <p:sp>
        <p:nvSpPr>
          <p:cNvPr id="221" name="Google Shape;221;g3096f5665a1_0_273: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2" name="Google Shape;222;g3096f5665a1_0_27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66140154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7"/>
        <p:cNvGrpSpPr/>
        <p:nvPr/>
      </p:nvGrpSpPr>
      <p:grpSpPr>
        <a:xfrm>
          <a:off x="0" y="0"/>
          <a:ext cx="0" cy="0"/>
          <a:chOff x="0" y="0"/>
          <a:chExt cx="0" cy="0"/>
        </a:xfrm>
      </p:grpSpPr>
      <p:sp>
        <p:nvSpPr>
          <p:cNvPr id="228" name="Google Shape;228;g3096f5665a1_0_285: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9" name="Google Shape;229;g3096f5665a1_0_28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53063440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4"/>
        <p:cNvGrpSpPr/>
        <p:nvPr/>
      </p:nvGrpSpPr>
      <p:grpSpPr>
        <a:xfrm>
          <a:off x="0" y="0"/>
          <a:ext cx="0" cy="0"/>
          <a:chOff x="0" y="0"/>
          <a:chExt cx="0" cy="0"/>
        </a:xfrm>
      </p:grpSpPr>
      <p:sp>
        <p:nvSpPr>
          <p:cNvPr id="235" name="Google Shape;235;g2d412bb40c8_0_1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6" name="Google Shape;236;g2d412bb40c8_0_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65032340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1"/>
        <p:cNvGrpSpPr/>
        <p:nvPr/>
      </p:nvGrpSpPr>
      <p:grpSpPr>
        <a:xfrm>
          <a:off x="0" y="0"/>
          <a:ext cx="0" cy="0"/>
          <a:chOff x="0" y="0"/>
          <a:chExt cx="0" cy="0"/>
        </a:xfrm>
      </p:grpSpPr>
      <p:sp>
        <p:nvSpPr>
          <p:cNvPr id="242" name="Google Shape;242;p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43" name="Google Shape;243;p12: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54102758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7"/>
        <p:cNvGrpSpPr/>
        <p:nvPr/>
      </p:nvGrpSpPr>
      <p:grpSpPr>
        <a:xfrm>
          <a:off x="0" y="0"/>
          <a:ext cx="0" cy="0"/>
          <a:chOff x="0" y="0"/>
          <a:chExt cx="0" cy="0"/>
        </a:xfrm>
      </p:grpSpPr>
      <p:sp>
        <p:nvSpPr>
          <p:cNvPr id="248" name="Google Shape;248;p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49" name="Google Shape;249;p1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76104377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3"/>
        <p:cNvGrpSpPr/>
        <p:nvPr/>
      </p:nvGrpSpPr>
      <p:grpSpPr>
        <a:xfrm>
          <a:off x="0" y="0"/>
          <a:ext cx="0" cy="0"/>
          <a:chOff x="0" y="0"/>
          <a:chExt cx="0" cy="0"/>
        </a:xfrm>
      </p:grpSpPr>
      <p:sp>
        <p:nvSpPr>
          <p:cNvPr id="254" name="Google Shape;254;g2d412bb40c8_0_9: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5" name="Google Shape;255;g2d412bb40c8_0_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541538608"/>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9"/>
        <p:cNvGrpSpPr/>
        <p:nvPr/>
      </p:nvGrpSpPr>
      <p:grpSpPr>
        <a:xfrm>
          <a:off x="0" y="0"/>
          <a:ext cx="0" cy="0"/>
          <a:chOff x="0" y="0"/>
          <a:chExt cx="0" cy="0"/>
        </a:xfrm>
      </p:grpSpPr>
      <p:sp>
        <p:nvSpPr>
          <p:cNvPr id="260" name="Google Shape;260;p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61" name="Google Shape;261;p14: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20234863"/>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5"/>
        <p:cNvGrpSpPr/>
        <p:nvPr/>
      </p:nvGrpSpPr>
      <p:grpSpPr>
        <a:xfrm>
          <a:off x="0" y="0"/>
          <a:ext cx="0" cy="0"/>
          <a:chOff x="0" y="0"/>
          <a:chExt cx="0" cy="0"/>
        </a:xfrm>
      </p:grpSpPr>
      <p:sp>
        <p:nvSpPr>
          <p:cNvPr id="266" name="Google Shape;266;p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67" name="Google Shape;267;p15: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74498490"/>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p:cNvGrpSpPr/>
        <p:nvPr/>
      </p:nvGrpSpPr>
      <p:grpSpPr>
        <a:xfrm>
          <a:off x="0" y="0"/>
          <a:ext cx="0" cy="0"/>
          <a:chOff x="0" y="0"/>
          <a:chExt cx="0" cy="0"/>
        </a:xfrm>
      </p:grpSpPr>
      <p:sp>
        <p:nvSpPr>
          <p:cNvPr id="272" name="Google Shape;272;g2d412bb40c8_0_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3" name="Google Shape;273;g2d412bb40c8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614141846"/>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7"/>
        <p:cNvGrpSpPr/>
        <p:nvPr/>
      </p:nvGrpSpPr>
      <p:grpSpPr>
        <a:xfrm>
          <a:off x="0" y="0"/>
          <a:ext cx="0" cy="0"/>
          <a:chOff x="0" y="0"/>
          <a:chExt cx="0" cy="0"/>
        </a:xfrm>
      </p:grpSpPr>
      <p:sp>
        <p:nvSpPr>
          <p:cNvPr id="278" name="Google Shape;278;p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9" name="Google Shape;279;p1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393574210"/>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3"/>
        <p:cNvGrpSpPr/>
        <p:nvPr/>
      </p:nvGrpSpPr>
      <p:grpSpPr>
        <a:xfrm>
          <a:off x="0" y="0"/>
          <a:ext cx="0" cy="0"/>
          <a:chOff x="0" y="0"/>
          <a:chExt cx="0" cy="0"/>
        </a:xfrm>
      </p:grpSpPr>
      <p:sp>
        <p:nvSpPr>
          <p:cNvPr id="284" name="Google Shape;284;g30ac0273d84_0_3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5" name="Google Shape;285;g30ac0273d84_0_3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66804986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9"/>
        <p:cNvGrpSpPr/>
        <p:nvPr/>
      </p:nvGrpSpPr>
      <p:grpSpPr>
        <a:xfrm>
          <a:off x="0" y="0"/>
          <a:ext cx="0" cy="0"/>
          <a:chOff x="0" y="0"/>
          <a:chExt cx="0" cy="0"/>
        </a:xfrm>
      </p:grpSpPr>
      <p:sp>
        <p:nvSpPr>
          <p:cNvPr id="290" name="Google Shape;290;p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91" name="Google Shape;291;p17: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539102357"/>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5"/>
        <p:cNvGrpSpPr/>
        <p:nvPr/>
      </p:nvGrpSpPr>
      <p:grpSpPr>
        <a:xfrm>
          <a:off x="0" y="0"/>
          <a:ext cx="0" cy="0"/>
          <a:chOff x="0" y="0"/>
          <a:chExt cx="0" cy="0"/>
        </a:xfrm>
      </p:grpSpPr>
      <p:sp>
        <p:nvSpPr>
          <p:cNvPr id="296" name="Google Shape;296;g30ac0273d84_0_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7" name="Google Shape;297;g30ac0273d84_0_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684363636"/>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1"/>
        <p:cNvGrpSpPr/>
        <p:nvPr/>
      </p:nvGrpSpPr>
      <p:grpSpPr>
        <a:xfrm>
          <a:off x="0" y="0"/>
          <a:ext cx="0" cy="0"/>
          <a:chOff x="0" y="0"/>
          <a:chExt cx="0" cy="0"/>
        </a:xfrm>
      </p:grpSpPr>
      <p:sp>
        <p:nvSpPr>
          <p:cNvPr id="302" name="Google Shape;302;g30ac0273d84_0_27: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3" name="Google Shape;303;g30ac0273d84_0_2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09462373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7"/>
        <p:cNvGrpSpPr/>
        <p:nvPr/>
      </p:nvGrpSpPr>
      <p:grpSpPr>
        <a:xfrm>
          <a:off x="0" y="0"/>
          <a:ext cx="0" cy="0"/>
          <a:chOff x="0" y="0"/>
          <a:chExt cx="0" cy="0"/>
        </a:xfrm>
      </p:grpSpPr>
      <p:sp>
        <p:nvSpPr>
          <p:cNvPr id="308" name="Google Shape;308;g30ac0273d84_0_1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9" name="Google Shape;309;g30ac0273d84_0_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07521748"/>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3"/>
        <p:cNvGrpSpPr/>
        <p:nvPr/>
      </p:nvGrpSpPr>
      <p:grpSpPr>
        <a:xfrm>
          <a:off x="0" y="0"/>
          <a:ext cx="0" cy="0"/>
          <a:chOff x="0" y="0"/>
          <a:chExt cx="0" cy="0"/>
        </a:xfrm>
      </p:grpSpPr>
      <p:sp>
        <p:nvSpPr>
          <p:cNvPr id="314" name="Google Shape;314;g30bb7912dba_0_3: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5" name="Google Shape;315;g30bb7912dba_0_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713883030"/>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9"/>
        <p:cNvGrpSpPr/>
        <p:nvPr/>
      </p:nvGrpSpPr>
      <p:grpSpPr>
        <a:xfrm>
          <a:off x="0" y="0"/>
          <a:ext cx="0" cy="0"/>
          <a:chOff x="0" y="0"/>
          <a:chExt cx="0" cy="0"/>
        </a:xfrm>
      </p:grpSpPr>
      <p:sp>
        <p:nvSpPr>
          <p:cNvPr id="320" name="Google Shape;320;g30ac0273d84_0_42: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1" name="Google Shape;321;g30ac0273d84_0_4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61974313"/>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5"/>
        <p:cNvGrpSpPr/>
        <p:nvPr/>
      </p:nvGrpSpPr>
      <p:grpSpPr>
        <a:xfrm>
          <a:off x="0" y="0"/>
          <a:ext cx="0" cy="0"/>
          <a:chOff x="0" y="0"/>
          <a:chExt cx="0" cy="0"/>
        </a:xfrm>
      </p:grpSpPr>
      <p:sp>
        <p:nvSpPr>
          <p:cNvPr id="326" name="Google Shape;326;g30ccc58a6f1_0_0: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7" name="Google Shape;327;g30ccc58a6f1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951650510"/>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1"/>
        <p:cNvGrpSpPr/>
        <p:nvPr/>
      </p:nvGrpSpPr>
      <p:grpSpPr>
        <a:xfrm>
          <a:off x="0" y="0"/>
          <a:ext cx="0" cy="0"/>
          <a:chOff x="0" y="0"/>
          <a:chExt cx="0" cy="0"/>
        </a:xfrm>
      </p:grpSpPr>
      <p:sp>
        <p:nvSpPr>
          <p:cNvPr id="332" name="Google Shape;332;g30cda042f99_0_14: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3" name="Google Shape;333;g30cda042f99_0_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558494402"/>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7"/>
        <p:cNvGrpSpPr/>
        <p:nvPr/>
      </p:nvGrpSpPr>
      <p:grpSpPr>
        <a:xfrm>
          <a:off x="0" y="0"/>
          <a:ext cx="0" cy="0"/>
          <a:chOff x="0" y="0"/>
          <a:chExt cx="0" cy="0"/>
        </a:xfrm>
      </p:grpSpPr>
      <p:sp>
        <p:nvSpPr>
          <p:cNvPr id="338" name="Google Shape;338;g30dd930e3ce_0_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9" name="Google Shape;339;g30dd930e3ce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461583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3"/>
        <p:cNvGrpSpPr/>
        <p:nvPr/>
      </p:nvGrpSpPr>
      <p:grpSpPr>
        <a:xfrm>
          <a:off x="0" y="0"/>
          <a:ext cx="0" cy="0"/>
          <a:chOff x="0" y="0"/>
          <a:chExt cx="0" cy="0"/>
        </a:xfrm>
      </p:grpSpPr>
      <p:sp>
        <p:nvSpPr>
          <p:cNvPr id="344" name="Google Shape;344;g30cda042f99_0_1: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45" name="Google Shape;345;g30cda042f99_0_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576072776"/>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9"/>
        <p:cNvGrpSpPr/>
        <p:nvPr/>
      </p:nvGrpSpPr>
      <p:grpSpPr>
        <a:xfrm>
          <a:off x="0" y="0"/>
          <a:ext cx="0" cy="0"/>
          <a:chOff x="0" y="0"/>
          <a:chExt cx="0" cy="0"/>
        </a:xfrm>
      </p:grpSpPr>
      <p:sp>
        <p:nvSpPr>
          <p:cNvPr id="350" name="Google Shape;350;g30cda042f99_0_2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51" name="Google Shape;351;g30cda042f99_0_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041869868"/>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5"/>
        <p:cNvGrpSpPr/>
        <p:nvPr/>
      </p:nvGrpSpPr>
      <p:grpSpPr>
        <a:xfrm>
          <a:off x="0" y="0"/>
          <a:ext cx="0" cy="0"/>
          <a:chOff x="0" y="0"/>
          <a:chExt cx="0" cy="0"/>
        </a:xfrm>
      </p:grpSpPr>
      <p:sp>
        <p:nvSpPr>
          <p:cNvPr id="356" name="Google Shape;356;g30cda042f99_0_3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57" name="Google Shape;357;g30cda042f99_0_3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929888286"/>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7"/>
        <p:cNvGrpSpPr/>
        <p:nvPr/>
      </p:nvGrpSpPr>
      <p:grpSpPr>
        <a:xfrm>
          <a:off x="0" y="0"/>
          <a:ext cx="0" cy="0"/>
          <a:chOff x="0" y="0"/>
          <a:chExt cx="0" cy="0"/>
        </a:xfrm>
      </p:grpSpPr>
      <p:sp>
        <p:nvSpPr>
          <p:cNvPr id="368" name="Google Shape;368;p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69" name="Google Shape;369;p19: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261144949"/>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3"/>
        <p:cNvGrpSpPr/>
        <p:nvPr/>
      </p:nvGrpSpPr>
      <p:grpSpPr>
        <a:xfrm>
          <a:off x="0" y="0"/>
          <a:ext cx="0" cy="0"/>
          <a:chOff x="0" y="0"/>
          <a:chExt cx="0" cy="0"/>
        </a:xfrm>
      </p:grpSpPr>
      <p:sp>
        <p:nvSpPr>
          <p:cNvPr id="374" name="Google Shape;374;g30cda042f99_0_2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75" name="Google Shape;375;g30cda042f99_0_2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400799242"/>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9"/>
        <p:cNvGrpSpPr/>
        <p:nvPr/>
      </p:nvGrpSpPr>
      <p:grpSpPr>
        <a:xfrm>
          <a:off x="0" y="0"/>
          <a:ext cx="0" cy="0"/>
          <a:chOff x="0" y="0"/>
          <a:chExt cx="0" cy="0"/>
        </a:xfrm>
      </p:grpSpPr>
      <p:sp>
        <p:nvSpPr>
          <p:cNvPr id="380" name="Google Shape;380;g30cda042f99_0_34: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81" name="Google Shape;381;g30cda042f99_0_3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639065926"/>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5"/>
        <p:cNvGrpSpPr/>
        <p:nvPr/>
      </p:nvGrpSpPr>
      <p:grpSpPr>
        <a:xfrm>
          <a:off x="0" y="0"/>
          <a:ext cx="0" cy="0"/>
          <a:chOff x="0" y="0"/>
          <a:chExt cx="0" cy="0"/>
        </a:xfrm>
      </p:grpSpPr>
      <p:sp>
        <p:nvSpPr>
          <p:cNvPr id="386" name="Google Shape;386;g30dd930e3ce_0_1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87" name="Google Shape;387;g30dd930e3ce_0_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725440783"/>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1"/>
        <p:cNvGrpSpPr/>
        <p:nvPr/>
      </p:nvGrpSpPr>
      <p:grpSpPr>
        <a:xfrm>
          <a:off x="0" y="0"/>
          <a:ext cx="0" cy="0"/>
          <a:chOff x="0" y="0"/>
          <a:chExt cx="0" cy="0"/>
        </a:xfrm>
      </p:grpSpPr>
      <p:sp>
        <p:nvSpPr>
          <p:cNvPr id="392" name="Google Shape;392;g30dd930e3ce_0_2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93" name="Google Shape;393;g30dd930e3ce_0_25: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94" name="Google Shape;394;g30dd930e3ce_0_25: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51</a:t>
            </a:fld>
            <a:endParaRPr/>
          </a:p>
        </p:txBody>
      </p:sp>
    </p:spTree>
    <p:extLst>
      <p:ext uri="{BB962C8B-B14F-4D97-AF65-F5344CB8AC3E}">
        <p14:creationId xmlns:p14="http://schemas.microsoft.com/office/powerpoint/2010/main" val="1025230844"/>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8"/>
        <p:cNvGrpSpPr/>
        <p:nvPr/>
      </p:nvGrpSpPr>
      <p:grpSpPr>
        <a:xfrm>
          <a:off x="0" y="0"/>
          <a:ext cx="0" cy="0"/>
          <a:chOff x="0" y="0"/>
          <a:chExt cx="0" cy="0"/>
        </a:xfrm>
      </p:grpSpPr>
      <p:sp>
        <p:nvSpPr>
          <p:cNvPr id="399" name="Google Shape;399;p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00" name="Google Shape;400;p2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88523013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1"/>
        <p:cNvGrpSpPr/>
        <p:nvPr/>
      </p:nvGrpSpPr>
      <p:grpSpPr>
        <a:xfrm>
          <a:off x="0" y="0"/>
          <a:ext cx="0" cy="0"/>
          <a:chOff x="0" y="0"/>
          <a:chExt cx="0" cy="0"/>
        </a:xfrm>
      </p:grpSpPr>
      <p:sp>
        <p:nvSpPr>
          <p:cNvPr id="12" name="Google Shape;12;p22"/>
          <p:cNvSpPr txBox="1">
            <a:spLocks noGrp="1"/>
          </p:cNvSpPr>
          <p:nvPr>
            <p:ph type="ctrTitle"/>
          </p:nvPr>
        </p:nvSpPr>
        <p:spPr>
          <a:xfrm>
            <a:off x="685800" y="1122363"/>
            <a:ext cx="77724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3" name="Google Shape;13;p22"/>
          <p:cNvSpPr txBox="1">
            <a:spLocks noGrp="1"/>
          </p:cNvSpPr>
          <p:nvPr>
            <p:ph type="subTitle" idx="1"/>
          </p:nvPr>
        </p:nvSpPr>
        <p:spPr>
          <a:xfrm>
            <a:off x="1143000" y="3602038"/>
            <a:ext cx="6858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4" name="Google Shape;14;p22"/>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5" name="Google Shape;15;p22"/>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6" name="Google Shape;16;p22"/>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7"/>
        <p:cNvGrpSpPr/>
        <p:nvPr/>
      </p:nvGrpSpPr>
      <p:grpSpPr>
        <a:xfrm>
          <a:off x="0" y="0"/>
          <a:ext cx="0" cy="0"/>
          <a:chOff x="0" y="0"/>
          <a:chExt cx="0" cy="0"/>
        </a:xfrm>
      </p:grpSpPr>
      <p:sp>
        <p:nvSpPr>
          <p:cNvPr id="18" name="Google Shape;18;p23"/>
          <p:cNvSpPr txBox="1">
            <a:spLocks noGrp="1"/>
          </p:cNvSpPr>
          <p:nvPr>
            <p:ph type="title"/>
          </p:nvPr>
        </p:nvSpPr>
        <p:spPr>
          <a:xfrm>
            <a:off x="628650" y="365126"/>
            <a:ext cx="78867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23"/>
          <p:cNvSpPr txBox="1">
            <a:spLocks noGrp="1"/>
          </p:cNvSpPr>
          <p:nvPr>
            <p:ph type="body" idx="1"/>
          </p:nvPr>
        </p:nvSpPr>
        <p:spPr>
          <a:xfrm>
            <a:off x="628650" y="1825625"/>
            <a:ext cx="78867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 name="Google Shape;20;p23"/>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23"/>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23"/>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3"/>
        <p:cNvGrpSpPr/>
        <p:nvPr/>
      </p:nvGrpSpPr>
      <p:grpSpPr>
        <a:xfrm>
          <a:off x="0" y="0"/>
          <a:ext cx="0" cy="0"/>
          <a:chOff x="0" y="0"/>
          <a:chExt cx="0" cy="0"/>
        </a:xfrm>
      </p:grpSpPr>
      <p:sp>
        <p:nvSpPr>
          <p:cNvPr id="24" name="Google Shape;24;p24"/>
          <p:cNvSpPr txBox="1">
            <a:spLocks noGrp="1"/>
          </p:cNvSpPr>
          <p:nvPr>
            <p:ph type="title"/>
          </p:nvPr>
        </p:nvSpPr>
        <p:spPr>
          <a:xfrm>
            <a:off x="623888" y="1709739"/>
            <a:ext cx="78867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24"/>
          <p:cNvSpPr txBox="1">
            <a:spLocks noGrp="1"/>
          </p:cNvSpPr>
          <p:nvPr>
            <p:ph type="body" idx="1"/>
          </p:nvPr>
        </p:nvSpPr>
        <p:spPr>
          <a:xfrm>
            <a:off x="623888" y="4589464"/>
            <a:ext cx="78867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2400"/>
              <a:buNone/>
              <a:defRPr sz="2400">
                <a:solidFill>
                  <a:schemeClr val="dk1"/>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26" name="Google Shape;26;p24"/>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24"/>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24"/>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9"/>
        <p:cNvGrpSpPr/>
        <p:nvPr/>
      </p:nvGrpSpPr>
      <p:grpSpPr>
        <a:xfrm>
          <a:off x="0" y="0"/>
          <a:ext cx="0" cy="0"/>
          <a:chOff x="0" y="0"/>
          <a:chExt cx="0" cy="0"/>
        </a:xfrm>
      </p:grpSpPr>
      <p:sp>
        <p:nvSpPr>
          <p:cNvPr id="30" name="Google Shape;30;p25"/>
          <p:cNvSpPr txBox="1">
            <a:spLocks noGrp="1"/>
          </p:cNvSpPr>
          <p:nvPr>
            <p:ph type="title"/>
          </p:nvPr>
        </p:nvSpPr>
        <p:spPr>
          <a:xfrm>
            <a:off x="628650" y="365126"/>
            <a:ext cx="78867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 name="Google Shape;31;p25"/>
          <p:cNvSpPr txBox="1">
            <a:spLocks noGrp="1"/>
          </p:cNvSpPr>
          <p:nvPr>
            <p:ph type="body" idx="1"/>
          </p:nvPr>
        </p:nvSpPr>
        <p:spPr>
          <a:xfrm>
            <a:off x="628650" y="1825625"/>
            <a:ext cx="38862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2" name="Google Shape;32;p25"/>
          <p:cNvSpPr txBox="1">
            <a:spLocks noGrp="1"/>
          </p:cNvSpPr>
          <p:nvPr>
            <p:ph type="body" idx="2"/>
          </p:nvPr>
        </p:nvSpPr>
        <p:spPr>
          <a:xfrm>
            <a:off x="4629150" y="1825625"/>
            <a:ext cx="38862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 name="Google Shape;33;p25"/>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25"/>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25"/>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6"/>
        <p:cNvGrpSpPr/>
        <p:nvPr/>
      </p:nvGrpSpPr>
      <p:grpSpPr>
        <a:xfrm>
          <a:off x="0" y="0"/>
          <a:ext cx="0" cy="0"/>
          <a:chOff x="0" y="0"/>
          <a:chExt cx="0" cy="0"/>
        </a:xfrm>
      </p:grpSpPr>
      <p:sp>
        <p:nvSpPr>
          <p:cNvPr id="37" name="Google Shape;37;p26"/>
          <p:cNvSpPr txBox="1">
            <a:spLocks noGrp="1"/>
          </p:cNvSpPr>
          <p:nvPr>
            <p:ph type="title"/>
          </p:nvPr>
        </p:nvSpPr>
        <p:spPr>
          <a:xfrm>
            <a:off x="629841" y="365126"/>
            <a:ext cx="78867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26"/>
          <p:cNvSpPr txBox="1">
            <a:spLocks noGrp="1"/>
          </p:cNvSpPr>
          <p:nvPr>
            <p:ph type="body" idx="1"/>
          </p:nvPr>
        </p:nvSpPr>
        <p:spPr>
          <a:xfrm>
            <a:off x="629842" y="1681163"/>
            <a:ext cx="3868340"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9" name="Google Shape;39;p26"/>
          <p:cNvSpPr txBox="1">
            <a:spLocks noGrp="1"/>
          </p:cNvSpPr>
          <p:nvPr>
            <p:ph type="body" idx="2"/>
          </p:nvPr>
        </p:nvSpPr>
        <p:spPr>
          <a:xfrm>
            <a:off x="629842" y="2505075"/>
            <a:ext cx="3868340"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 name="Google Shape;40;p26"/>
          <p:cNvSpPr txBox="1">
            <a:spLocks noGrp="1"/>
          </p:cNvSpPr>
          <p:nvPr>
            <p:ph type="body" idx="3"/>
          </p:nvPr>
        </p:nvSpPr>
        <p:spPr>
          <a:xfrm>
            <a:off x="4629150" y="1681163"/>
            <a:ext cx="3887391"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1" name="Google Shape;41;p26"/>
          <p:cNvSpPr txBox="1">
            <a:spLocks noGrp="1"/>
          </p:cNvSpPr>
          <p:nvPr>
            <p:ph type="body" idx="4"/>
          </p:nvPr>
        </p:nvSpPr>
        <p:spPr>
          <a:xfrm>
            <a:off x="4629150" y="2505075"/>
            <a:ext cx="3887391"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2" name="Google Shape;42;p26"/>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26"/>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26"/>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5"/>
        <p:cNvGrpSpPr/>
        <p:nvPr/>
      </p:nvGrpSpPr>
      <p:grpSpPr>
        <a:xfrm>
          <a:off x="0" y="0"/>
          <a:ext cx="0" cy="0"/>
          <a:chOff x="0" y="0"/>
          <a:chExt cx="0" cy="0"/>
        </a:xfrm>
      </p:grpSpPr>
      <p:sp>
        <p:nvSpPr>
          <p:cNvPr id="46" name="Google Shape;46;p27"/>
          <p:cNvSpPr txBox="1">
            <a:spLocks noGrp="1"/>
          </p:cNvSpPr>
          <p:nvPr>
            <p:ph type="title"/>
          </p:nvPr>
        </p:nvSpPr>
        <p:spPr>
          <a:xfrm>
            <a:off x="628650" y="365126"/>
            <a:ext cx="78867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27"/>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27"/>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27"/>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0"/>
        <p:cNvGrpSpPr/>
        <p:nvPr/>
      </p:nvGrpSpPr>
      <p:grpSpPr>
        <a:xfrm>
          <a:off x="0" y="0"/>
          <a:ext cx="0" cy="0"/>
          <a:chOff x="0" y="0"/>
          <a:chExt cx="0" cy="0"/>
        </a:xfrm>
      </p:grpSpPr>
      <p:sp>
        <p:nvSpPr>
          <p:cNvPr id="51" name="Google Shape;51;p28"/>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28"/>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28"/>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29"/>
          <p:cNvSpPr txBox="1">
            <a:spLocks noGrp="1"/>
          </p:cNvSpPr>
          <p:nvPr>
            <p:ph type="title"/>
          </p:nvPr>
        </p:nvSpPr>
        <p:spPr>
          <a:xfrm>
            <a:off x="629841" y="457200"/>
            <a:ext cx="2949178"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29"/>
          <p:cNvSpPr txBox="1">
            <a:spLocks noGrp="1"/>
          </p:cNvSpPr>
          <p:nvPr>
            <p:ph type="body" idx="1"/>
          </p:nvPr>
        </p:nvSpPr>
        <p:spPr>
          <a:xfrm>
            <a:off x="3887391" y="987426"/>
            <a:ext cx="462915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7" name="Google Shape;57;p29"/>
          <p:cNvSpPr txBox="1">
            <a:spLocks noGrp="1"/>
          </p:cNvSpPr>
          <p:nvPr>
            <p:ph type="body" idx="2"/>
          </p:nvPr>
        </p:nvSpPr>
        <p:spPr>
          <a:xfrm>
            <a:off x="629841" y="2057400"/>
            <a:ext cx="2949178"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8" name="Google Shape;58;p29"/>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29"/>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29"/>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30"/>
          <p:cNvSpPr txBox="1">
            <a:spLocks noGrp="1"/>
          </p:cNvSpPr>
          <p:nvPr>
            <p:ph type="title"/>
          </p:nvPr>
        </p:nvSpPr>
        <p:spPr>
          <a:xfrm>
            <a:off x="629841" y="457200"/>
            <a:ext cx="2949178"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30"/>
          <p:cNvSpPr>
            <a:spLocks noGrp="1"/>
          </p:cNvSpPr>
          <p:nvPr>
            <p:ph type="pic" idx="2"/>
          </p:nvPr>
        </p:nvSpPr>
        <p:spPr>
          <a:xfrm>
            <a:off x="3887391" y="987426"/>
            <a:ext cx="4629150" cy="4873625"/>
          </a:xfrm>
          <a:prstGeom prst="rect">
            <a:avLst/>
          </a:prstGeom>
          <a:noFill/>
          <a:ln>
            <a:noFill/>
          </a:ln>
        </p:spPr>
      </p:sp>
      <p:sp>
        <p:nvSpPr>
          <p:cNvPr id="64" name="Google Shape;64;p30"/>
          <p:cNvSpPr txBox="1">
            <a:spLocks noGrp="1"/>
          </p:cNvSpPr>
          <p:nvPr>
            <p:ph type="body" idx="1"/>
          </p:nvPr>
        </p:nvSpPr>
        <p:spPr>
          <a:xfrm>
            <a:off x="629841" y="2057400"/>
            <a:ext cx="2949178"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5" name="Google Shape;65;p30"/>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30"/>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30"/>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31"/>
          <p:cNvSpPr txBox="1">
            <a:spLocks noGrp="1"/>
          </p:cNvSpPr>
          <p:nvPr>
            <p:ph type="title"/>
          </p:nvPr>
        </p:nvSpPr>
        <p:spPr>
          <a:xfrm>
            <a:off x="628650" y="365126"/>
            <a:ext cx="78867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31"/>
          <p:cNvSpPr txBox="1">
            <a:spLocks noGrp="1"/>
          </p:cNvSpPr>
          <p:nvPr>
            <p:ph type="body" idx="1"/>
          </p:nvPr>
        </p:nvSpPr>
        <p:spPr>
          <a:xfrm rot="5400000">
            <a:off x="2396331" y="57944"/>
            <a:ext cx="4351338" cy="78867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31"/>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31"/>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31"/>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32"/>
          <p:cNvSpPr txBox="1">
            <a:spLocks noGrp="1"/>
          </p:cNvSpPr>
          <p:nvPr>
            <p:ph type="title"/>
          </p:nvPr>
        </p:nvSpPr>
        <p:spPr>
          <a:xfrm rot="5400000">
            <a:off x="4623594" y="2285207"/>
            <a:ext cx="5811838" cy="1971675"/>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32"/>
          <p:cNvSpPr txBox="1">
            <a:spLocks noGrp="1"/>
          </p:cNvSpPr>
          <p:nvPr>
            <p:ph type="body" idx="1"/>
          </p:nvPr>
        </p:nvSpPr>
        <p:spPr>
          <a:xfrm rot="5400000">
            <a:off x="623094" y="370681"/>
            <a:ext cx="5811838" cy="5800725"/>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32"/>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32"/>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32"/>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21"/>
          <p:cNvSpPr txBox="1">
            <a:spLocks noGrp="1"/>
          </p:cNvSpPr>
          <p:nvPr>
            <p:ph type="title"/>
          </p:nvPr>
        </p:nvSpPr>
        <p:spPr>
          <a:xfrm>
            <a:off x="628650" y="365126"/>
            <a:ext cx="78867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21"/>
          <p:cNvSpPr txBox="1">
            <a:spLocks noGrp="1"/>
          </p:cNvSpPr>
          <p:nvPr>
            <p:ph type="body" idx="1"/>
          </p:nvPr>
        </p:nvSpPr>
        <p:spPr>
          <a:xfrm>
            <a:off x="628650" y="1825625"/>
            <a:ext cx="78867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21"/>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21"/>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21"/>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hyperlink" Target="https://scikit-learn.org/stable/modules/generated/sklearn.preprocessing.OrdinalEncoder.html" TargetMode="External"/><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hyperlink" Target="https://scikit-learn.org/dev/modules/generated/sklearn.preprocessing.LabelEncoder.html" TargetMode="External"/><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hyperlink" Target="https://pypi.org/project/pandas-profiling/" TargetMode="External"/><Relationship Id="rId7" Type="http://schemas.openxmlformats.org/officeDocument/2006/relationships/hyperlink" Target="https://scikit-learn.org/1.5/modules/generated/sklearn.pipeline.Pipeline.html" TargetMode="External"/><Relationship Id="rId2" Type="http://schemas.openxmlformats.org/officeDocument/2006/relationships/notesSlide" Target="../notesSlides/notesSlide50.xml"/><Relationship Id="rId1" Type="http://schemas.openxmlformats.org/officeDocument/2006/relationships/slideLayout" Target="../slideLayouts/slideLayout2.xml"/><Relationship Id="rId6" Type="http://schemas.openxmlformats.org/officeDocument/2006/relationships/hyperlink" Target="https://scikit-learn.org/dev/modules/generated/sklearn.preprocessing.FunctionTransformer.html" TargetMode="External"/><Relationship Id="rId5" Type="http://schemas.openxmlformats.org/officeDocument/2006/relationships/hyperlink" Target="https://scikit-learn.org/1.5/modules/generated/sklearn.compose.ColumnTransformer.html" TargetMode="External"/><Relationship Id="rId4" Type="http://schemas.openxmlformats.org/officeDocument/2006/relationships/hyperlink" Target="https://scikit-learn.org/stable/modules/generated/sklearn.pipeline.Pipeline.html#:~:text=Pipeline%20allows%20you%20to%20sequentially,implement%20fit%20and%20transform%20methods"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sp>
        <p:nvSpPr>
          <p:cNvPr id="84" name="Google Shape;84;p1"/>
          <p:cNvSpPr txBox="1">
            <a:spLocks noGrp="1"/>
          </p:cNvSpPr>
          <p:nvPr>
            <p:ph type="ctrTitle"/>
          </p:nvPr>
        </p:nvSpPr>
        <p:spPr>
          <a:xfrm>
            <a:off x="685800" y="1122363"/>
            <a:ext cx="7772400" cy="2387600"/>
          </a:xfrm>
          <a:prstGeom prst="rect">
            <a:avLst/>
          </a:prstGeom>
          <a:noFill/>
          <a:ln>
            <a:noFill/>
          </a:ln>
        </p:spPr>
        <p:txBody>
          <a:bodyPr spcFirstLastPara="1" wrap="square" lIns="91425" tIns="45700" rIns="91425" bIns="45700" anchor="b" anchorCtr="0">
            <a:normAutofit/>
          </a:bodyPr>
          <a:lstStyle/>
          <a:p>
            <a:pPr marL="0" lvl="0" indent="0" algn="ctr" rtl="0">
              <a:lnSpc>
                <a:spcPct val="90000"/>
              </a:lnSpc>
              <a:spcBef>
                <a:spcPts val="0"/>
              </a:spcBef>
              <a:spcAft>
                <a:spcPts val="0"/>
              </a:spcAft>
              <a:buClr>
                <a:schemeClr val="dk1"/>
              </a:buClr>
              <a:buSzPts val="4400"/>
              <a:buFont typeface="Calibri"/>
              <a:buNone/>
            </a:pPr>
            <a:r>
              <a:rPr lang="en-US" sz="4400"/>
              <a:t>Programming for AI</a:t>
            </a:r>
            <a:endParaRPr/>
          </a:p>
        </p:txBody>
      </p:sp>
      <p:sp>
        <p:nvSpPr>
          <p:cNvPr id="85" name="Google Shape;85;p1"/>
          <p:cNvSpPr txBox="1">
            <a:spLocks noGrp="1"/>
          </p:cNvSpPr>
          <p:nvPr>
            <p:ph type="subTitle" idx="1"/>
          </p:nvPr>
        </p:nvSpPr>
        <p:spPr>
          <a:xfrm>
            <a:off x="1143000" y="3602038"/>
            <a:ext cx="6858000" cy="1655762"/>
          </a:xfrm>
          <a:prstGeom prst="rect">
            <a:avLst/>
          </a:prstGeom>
          <a:noFill/>
          <a:ln>
            <a:noFill/>
          </a:ln>
        </p:spPr>
        <p:txBody>
          <a:bodyPr spcFirstLastPara="1" wrap="square" lIns="91425" tIns="45700" rIns="91425" bIns="45700" anchor="t" anchorCtr="0">
            <a:normAutofit/>
          </a:bodyPr>
          <a:lstStyle/>
          <a:p>
            <a:pPr marL="0" lvl="0" indent="0" algn="ctr" rtl="0">
              <a:lnSpc>
                <a:spcPct val="90000"/>
              </a:lnSpc>
              <a:spcBef>
                <a:spcPts val="0"/>
              </a:spcBef>
              <a:spcAft>
                <a:spcPts val="0"/>
              </a:spcAft>
              <a:buClr>
                <a:schemeClr val="dk1"/>
              </a:buClr>
              <a:buSzPts val="2400"/>
              <a:buNone/>
            </a:pPr>
            <a:r>
              <a:rPr lang="en-US"/>
              <a:t>Exploratory Data Analysis</a:t>
            </a: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1" name="Google Shape;91;g3096f5665a1_0_0"/>
          <p:cNvSpPr txBox="1">
            <a:spLocks noGrp="1"/>
          </p:cNvSpPr>
          <p:nvPr>
            <p:ph type="title"/>
          </p:nvPr>
        </p:nvSpPr>
        <p:spPr>
          <a:xfrm>
            <a:off x="457200" y="76200"/>
            <a:ext cx="8229600" cy="7332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000"/>
              <a:buFont typeface="Calibri"/>
              <a:buNone/>
            </a:pPr>
            <a:r>
              <a:rPr lang="en-US" sz="4000"/>
              <a:t>Today’s Lecture</a:t>
            </a:r>
            <a:endParaRPr/>
          </a:p>
        </p:txBody>
      </p:sp>
      <p:sp>
        <p:nvSpPr>
          <p:cNvPr id="92" name="Google Shape;92;g3096f5665a1_0_0"/>
          <p:cNvSpPr txBox="1">
            <a:spLocks noGrp="1"/>
          </p:cNvSpPr>
          <p:nvPr>
            <p:ph type="body" idx="1"/>
          </p:nvPr>
        </p:nvSpPr>
        <p:spPr>
          <a:xfrm>
            <a:off x="457200" y="894525"/>
            <a:ext cx="8229600" cy="5856900"/>
          </a:xfrm>
          <a:prstGeom prst="rect">
            <a:avLst/>
          </a:prstGeom>
          <a:noFill/>
          <a:ln>
            <a:noFill/>
          </a:ln>
        </p:spPr>
        <p:txBody>
          <a:bodyPr spcFirstLastPara="1" wrap="square" lIns="91425" tIns="45700" rIns="91425" bIns="45700" anchor="t" anchorCtr="0">
            <a:normAutofit fontScale="92500" lnSpcReduction="10000"/>
          </a:bodyPr>
          <a:lstStyle/>
          <a:p>
            <a:pPr marL="342900" lvl="0" indent="-342900" algn="l" rtl="0">
              <a:spcBef>
                <a:spcPts val="0"/>
              </a:spcBef>
              <a:spcAft>
                <a:spcPts val="0"/>
              </a:spcAft>
              <a:buClr>
                <a:schemeClr val="dk1"/>
              </a:buClr>
              <a:buSzPct val="100000"/>
              <a:buChar char="•"/>
            </a:pPr>
            <a:r>
              <a:rPr lang="en-US"/>
              <a:t>Exploratory Data Analysis (EDA)</a:t>
            </a:r>
            <a:endParaRPr/>
          </a:p>
          <a:p>
            <a:pPr marL="342900" marR="0" lvl="0" indent="-342900" algn="l" rtl="0">
              <a:lnSpc>
                <a:spcPct val="90000"/>
              </a:lnSpc>
              <a:spcBef>
                <a:spcPts val="0"/>
              </a:spcBef>
              <a:spcAft>
                <a:spcPts val="0"/>
              </a:spcAft>
              <a:buSzPct val="100000"/>
              <a:buChar char="•"/>
            </a:pPr>
            <a:r>
              <a:rPr lang="en-US"/>
              <a:t>EDA and Machine Learning Pipeline</a:t>
            </a:r>
            <a:endParaRPr/>
          </a:p>
          <a:p>
            <a:pPr marL="342900" marR="0" lvl="0" indent="-342900" algn="l" rtl="0">
              <a:lnSpc>
                <a:spcPct val="90000"/>
              </a:lnSpc>
              <a:spcBef>
                <a:spcPts val="0"/>
              </a:spcBef>
              <a:spcAft>
                <a:spcPts val="0"/>
              </a:spcAft>
              <a:buSzPct val="100000"/>
              <a:buChar char="•"/>
            </a:pPr>
            <a:r>
              <a:rPr lang="en-US"/>
              <a:t>EDA Steps</a:t>
            </a:r>
            <a:endParaRPr/>
          </a:p>
          <a:p>
            <a:pPr marL="742950" lvl="1" indent="-279876" algn="l" rtl="0">
              <a:spcBef>
                <a:spcPts val="518"/>
              </a:spcBef>
              <a:spcAft>
                <a:spcPts val="0"/>
              </a:spcAft>
              <a:buClr>
                <a:schemeClr val="dk1"/>
              </a:buClr>
              <a:buSzPct val="112500"/>
              <a:buChar char="•"/>
            </a:pPr>
            <a:r>
              <a:rPr lang="en-US"/>
              <a:t>Data Analysis</a:t>
            </a:r>
            <a:endParaRPr/>
          </a:p>
          <a:p>
            <a:pPr marL="1143000" lvl="2" indent="-255269" algn="l" rtl="0">
              <a:spcBef>
                <a:spcPts val="500"/>
              </a:spcBef>
              <a:spcAft>
                <a:spcPts val="0"/>
              </a:spcAft>
              <a:buSzPct val="120000"/>
              <a:buChar char="•"/>
            </a:pPr>
            <a:r>
              <a:rPr lang="en-US"/>
              <a:t>Data Understanding</a:t>
            </a:r>
            <a:endParaRPr/>
          </a:p>
          <a:p>
            <a:pPr marL="1143000" lvl="2" indent="-255269" algn="l" rtl="0">
              <a:spcBef>
                <a:spcPts val="500"/>
              </a:spcBef>
              <a:spcAft>
                <a:spcPts val="0"/>
              </a:spcAft>
              <a:buSzPct val="120000"/>
              <a:buChar char="•"/>
            </a:pPr>
            <a:r>
              <a:rPr lang="en-US"/>
              <a:t>Univariate Analysis</a:t>
            </a:r>
            <a:endParaRPr/>
          </a:p>
          <a:p>
            <a:pPr marL="1143000" lvl="2" indent="-255269" algn="l" rtl="0">
              <a:spcBef>
                <a:spcPts val="500"/>
              </a:spcBef>
              <a:spcAft>
                <a:spcPts val="0"/>
              </a:spcAft>
              <a:buSzPct val="120000"/>
              <a:buChar char="•"/>
            </a:pPr>
            <a:r>
              <a:rPr lang="en-US"/>
              <a:t>Bivariate Analysis</a:t>
            </a:r>
            <a:endParaRPr/>
          </a:p>
          <a:p>
            <a:pPr marL="1143000" lvl="2" indent="-255269" algn="l" rtl="0">
              <a:spcBef>
                <a:spcPts val="500"/>
              </a:spcBef>
              <a:spcAft>
                <a:spcPts val="0"/>
              </a:spcAft>
              <a:buSzPct val="120000"/>
              <a:buChar char="•"/>
            </a:pPr>
            <a:r>
              <a:rPr lang="en-US"/>
              <a:t>Multivariate Analysis</a:t>
            </a:r>
            <a:endParaRPr/>
          </a:p>
          <a:p>
            <a:pPr marL="1143000" lvl="2" indent="-255269" algn="l" rtl="0">
              <a:spcBef>
                <a:spcPts val="500"/>
              </a:spcBef>
              <a:spcAft>
                <a:spcPts val="0"/>
              </a:spcAft>
              <a:buSzPct val="120000"/>
              <a:buChar char="•"/>
            </a:pPr>
            <a:r>
              <a:rPr lang="en-US"/>
              <a:t>Pandas Profiler (ydata-Profiling)</a:t>
            </a:r>
            <a:endParaRPr/>
          </a:p>
          <a:p>
            <a:pPr marL="742950" lvl="1" indent="-279876" algn="l" rtl="0">
              <a:spcBef>
                <a:spcPts val="518"/>
              </a:spcBef>
              <a:spcAft>
                <a:spcPts val="0"/>
              </a:spcAft>
              <a:buClr>
                <a:schemeClr val="dk1"/>
              </a:buClr>
              <a:buSzPct val="112500"/>
              <a:buChar char="•"/>
            </a:pPr>
            <a:r>
              <a:rPr lang="en-US"/>
              <a:t>Data Preparation</a:t>
            </a:r>
            <a:endParaRPr/>
          </a:p>
          <a:p>
            <a:pPr marL="1143000" lvl="2" indent="-255269" algn="l" rtl="0">
              <a:spcBef>
                <a:spcPts val="500"/>
              </a:spcBef>
              <a:spcAft>
                <a:spcPts val="0"/>
              </a:spcAft>
              <a:buSzPct val="120000"/>
              <a:buChar char="•"/>
            </a:pPr>
            <a:r>
              <a:rPr lang="en-US"/>
              <a:t>Data Imputation</a:t>
            </a:r>
            <a:endParaRPr/>
          </a:p>
          <a:p>
            <a:pPr marL="1143000" lvl="2" indent="-255269" algn="l" rtl="0">
              <a:spcBef>
                <a:spcPts val="500"/>
              </a:spcBef>
              <a:spcAft>
                <a:spcPts val="0"/>
              </a:spcAft>
              <a:buSzPct val="120000"/>
              <a:buChar char="•"/>
            </a:pPr>
            <a:r>
              <a:rPr lang="en-US" sz="2000"/>
              <a:t>Feature Transformation</a:t>
            </a:r>
            <a:endParaRPr sz="2000"/>
          </a:p>
          <a:p>
            <a:pPr marL="1600200" lvl="3" indent="-220027" algn="l" rtl="0">
              <a:spcBef>
                <a:spcPts val="500"/>
              </a:spcBef>
              <a:spcAft>
                <a:spcPts val="0"/>
              </a:spcAft>
              <a:buSzPct val="100000"/>
              <a:buChar char="•"/>
            </a:pPr>
            <a:r>
              <a:rPr lang="en-US"/>
              <a:t>Feature Encoding</a:t>
            </a:r>
            <a:endParaRPr/>
          </a:p>
          <a:p>
            <a:pPr marL="1600200" lvl="3" indent="-220027" algn="l" rtl="0">
              <a:spcBef>
                <a:spcPts val="500"/>
              </a:spcBef>
              <a:spcAft>
                <a:spcPts val="0"/>
              </a:spcAft>
              <a:buSzPct val="100000"/>
              <a:buChar char="•"/>
            </a:pPr>
            <a:r>
              <a:rPr lang="en-US"/>
              <a:t>Feature Scaling</a:t>
            </a:r>
            <a:endParaRPr/>
          </a:p>
          <a:p>
            <a:pPr marL="1143000" lvl="2" indent="-255269" algn="l" rtl="0">
              <a:spcBef>
                <a:spcPts val="500"/>
              </a:spcBef>
              <a:spcAft>
                <a:spcPts val="0"/>
              </a:spcAft>
              <a:buSzPct val="120000"/>
              <a:buChar char="•"/>
            </a:pPr>
            <a:r>
              <a:rPr lang="en-US" sz="2000"/>
              <a:t>Feature Creation</a:t>
            </a:r>
            <a:endParaRPr sz="2000"/>
          </a:p>
          <a:p>
            <a:pPr marL="1143000" lvl="2" indent="-255269" algn="l" rtl="0">
              <a:spcBef>
                <a:spcPts val="500"/>
              </a:spcBef>
              <a:spcAft>
                <a:spcPts val="0"/>
              </a:spcAft>
              <a:buSzPct val="120000"/>
              <a:buChar char="•"/>
            </a:pPr>
            <a:r>
              <a:rPr lang="en-US" sz="2000"/>
              <a:t>Feature Selection</a:t>
            </a:r>
            <a:endParaRPr/>
          </a:p>
          <a:p>
            <a:pPr marL="342900" marR="0" lvl="0" indent="-342900" algn="l" rtl="0">
              <a:lnSpc>
                <a:spcPct val="90000"/>
              </a:lnSpc>
              <a:spcBef>
                <a:spcPts val="0"/>
              </a:spcBef>
              <a:spcAft>
                <a:spcPts val="0"/>
              </a:spcAft>
              <a:buSzPct val="100000"/>
              <a:buChar char="•"/>
            </a:pPr>
            <a:r>
              <a:rPr lang="en-US"/>
              <a:t>Column</a:t>
            </a:r>
            <a:r>
              <a:rPr lang="en-US" sz="2800"/>
              <a:t> Transformer</a:t>
            </a:r>
            <a:endParaRPr/>
          </a:p>
          <a:p>
            <a:pPr marL="342900" marR="0" lvl="0" indent="-342900" algn="l" rtl="0">
              <a:lnSpc>
                <a:spcPct val="90000"/>
              </a:lnSpc>
              <a:spcBef>
                <a:spcPts val="0"/>
              </a:spcBef>
              <a:spcAft>
                <a:spcPts val="0"/>
              </a:spcAft>
              <a:buSzPct val="100000"/>
              <a:buChar char="•"/>
            </a:pPr>
            <a:r>
              <a:rPr lang="en-US" sz="2800"/>
              <a:t>Function Transformer</a:t>
            </a:r>
            <a:endParaRPr/>
          </a:p>
          <a:p>
            <a:pPr marL="342900" marR="0" lvl="0" indent="-342900" algn="l" rtl="0">
              <a:lnSpc>
                <a:spcPct val="90000"/>
              </a:lnSpc>
              <a:spcBef>
                <a:spcPts val="0"/>
              </a:spcBef>
              <a:spcAft>
                <a:spcPts val="0"/>
              </a:spcAft>
              <a:buSzPct val="100000"/>
              <a:buChar char="•"/>
            </a:pPr>
            <a:r>
              <a:rPr lang="en-US" sz="2800"/>
              <a:t>Sklearn Pipeline</a:t>
            </a:r>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6"/>
        <p:cNvGrpSpPr/>
        <p:nvPr/>
      </p:nvGrpSpPr>
      <p:grpSpPr>
        <a:xfrm>
          <a:off x="0" y="0"/>
          <a:ext cx="0" cy="0"/>
          <a:chOff x="0" y="0"/>
          <a:chExt cx="0" cy="0"/>
        </a:xfrm>
      </p:grpSpPr>
      <p:sp>
        <p:nvSpPr>
          <p:cNvPr id="97" name="Google Shape;97;p2"/>
          <p:cNvSpPr txBox="1">
            <a:spLocks noGrp="1"/>
          </p:cNvSpPr>
          <p:nvPr>
            <p:ph type="title"/>
          </p:nvPr>
        </p:nvSpPr>
        <p:spPr>
          <a:xfrm>
            <a:off x="628650" y="365126"/>
            <a:ext cx="78867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a:t>Exploratory Data Analysis (EDA)</a:t>
            </a:r>
            <a:endParaRPr/>
          </a:p>
        </p:txBody>
      </p:sp>
      <p:sp>
        <p:nvSpPr>
          <p:cNvPr id="98" name="Google Shape;98;p2"/>
          <p:cNvSpPr txBox="1">
            <a:spLocks noGrp="1"/>
          </p:cNvSpPr>
          <p:nvPr>
            <p:ph type="body" idx="1"/>
          </p:nvPr>
        </p:nvSpPr>
        <p:spPr>
          <a:xfrm>
            <a:off x="628650" y="1825625"/>
            <a:ext cx="7886700" cy="5032500"/>
          </a:xfrm>
          <a:prstGeom prst="rect">
            <a:avLst/>
          </a:prstGeom>
          <a:noFill/>
          <a:ln>
            <a:noFill/>
          </a:ln>
        </p:spPr>
        <p:txBody>
          <a:bodyPr spcFirstLastPara="1" wrap="square" lIns="91425" tIns="45700" rIns="91425" bIns="45700" anchor="t" anchorCtr="0">
            <a:normAutofit lnSpcReduction="10000"/>
          </a:bodyPr>
          <a:lstStyle/>
          <a:p>
            <a:pPr marL="228600" lvl="0" indent="-241934" algn="l" rtl="0">
              <a:lnSpc>
                <a:spcPct val="90000"/>
              </a:lnSpc>
              <a:spcBef>
                <a:spcPts val="0"/>
              </a:spcBef>
              <a:spcAft>
                <a:spcPts val="0"/>
              </a:spcAft>
              <a:buClr>
                <a:schemeClr val="dk1"/>
              </a:buClr>
              <a:buSzPts val="2800"/>
              <a:buChar char="•"/>
            </a:pPr>
            <a:r>
              <a:rPr lang="en-US"/>
              <a:t>Exploratory Data Analysis (EDA) is a crucial initial step in any data science project. </a:t>
            </a:r>
            <a:endParaRPr/>
          </a:p>
          <a:p>
            <a:pPr marL="228600" lvl="0" indent="-241934" algn="l" rtl="0">
              <a:lnSpc>
                <a:spcPct val="90000"/>
              </a:lnSpc>
              <a:spcBef>
                <a:spcPts val="1000"/>
              </a:spcBef>
              <a:spcAft>
                <a:spcPts val="0"/>
              </a:spcAft>
              <a:buClr>
                <a:schemeClr val="dk1"/>
              </a:buClr>
              <a:buSzPts val="2800"/>
              <a:buChar char="•"/>
            </a:pPr>
            <a:r>
              <a:rPr lang="en-US"/>
              <a:t>It involves </a:t>
            </a:r>
            <a:r>
              <a:rPr lang="en-US" b="1">
                <a:solidFill>
                  <a:srgbClr val="FF0000"/>
                </a:solidFill>
              </a:rPr>
              <a:t>investigating</a:t>
            </a:r>
            <a:r>
              <a:rPr lang="en-US"/>
              <a:t>,</a:t>
            </a:r>
            <a:r>
              <a:rPr lang="en-US" b="1"/>
              <a:t> </a:t>
            </a:r>
            <a:r>
              <a:rPr lang="en-US" b="1">
                <a:solidFill>
                  <a:srgbClr val="FF0000"/>
                </a:solidFill>
              </a:rPr>
              <a:t>summarizing</a:t>
            </a:r>
            <a:r>
              <a:rPr lang="en-US"/>
              <a:t>,</a:t>
            </a:r>
            <a:r>
              <a:rPr lang="en-US" b="1"/>
              <a:t> </a:t>
            </a:r>
            <a:r>
              <a:rPr lang="en-US"/>
              <a:t>and</a:t>
            </a:r>
            <a:r>
              <a:rPr lang="en-US" b="1"/>
              <a:t> </a:t>
            </a:r>
            <a:r>
              <a:rPr lang="en-US" b="1">
                <a:solidFill>
                  <a:srgbClr val="FF0000"/>
                </a:solidFill>
              </a:rPr>
              <a:t>visualizing</a:t>
            </a:r>
            <a:r>
              <a:rPr lang="en-US"/>
              <a:t> a dataset to gain insights into its characteristics, patterns, and potential relationships between variables. </a:t>
            </a:r>
            <a:endParaRPr/>
          </a:p>
          <a:p>
            <a:pPr marL="228600" lvl="0" indent="-241934" algn="l" rtl="0">
              <a:lnSpc>
                <a:spcPct val="90000"/>
              </a:lnSpc>
              <a:spcBef>
                <a:spcPts val="1000"/>
              </a:spcBef>
              <a:spcAft>
                <a:spcPts val="0"/>
              </a:spcAft>
              <a:buClr>
                <a:schemeClr val="dk1"/>
              </a:buClr>
              <a:buSzPts val="2800"/>
              <a:buChar char="•"/>
            </a:pPr>
            <a:r>
              <a:rPr lang="en-US"/>
              <a:t>Overall, EDA is an </a:t>
            </a:r>
            <a:r>
              <a:rPr lang="en-US">
                <a:solidFill>
                  <a:srgbClr val="FF0000"/>
                </a:solidFill>
              </a:rPr>
              <a:t>iterative process </a:t>
            </a:r>
            <a:r>
              <a:rPr lang="en-US"/>
              <a:t>where you continuously explore and refine your understanding of the data. </a:t>
            </a:r>
            <a:endParaRPr/>
          </a:p>
          <a:p>
            <a:pPr marL="228600" lvl="0" indent="-241934" algn="l" rtl="0">
              <a:lnSpc>
                <a:spcPct val="90000"/>
              </a:lnSpc>
              <a:spcBef>
                <a:spcPts val="1000"/>
              </a:spcBef>
              <a:spcAft>
                <a:spcPts val="0"/>
              </a:spcAft>
              <a:buClr>
                <a:schemeClr val="dk1"/>
              </a:buClr>
              <a:buSzPts val="2800"/>
              <a:buChar char="•"/>
            </a:pPr>
            <a:r>
              <a:rPr lang="en-US"/>
              <a:t>It sets the stage for more sophisticated analysis by helping you ask the right questions and choose the most appropriate techniques for your data.</a:t>
            </a:r>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2"/>
        <p:cNvGrpSpPr/>
        <p:nvPr/>
      </p:nvGrpSpPr>
      <p:grpSpPr>
        <a:xfrm>
          <a:off x="0" y="0"/>
          <a:ext cx="0" cy="0"/>
          <a:chOff x="0" y="0"/>
          <a:chExt cx="0" cy="0"/>
        </a:xfrm>
      </p:grpSpPr>
      <p:sp>
        <p:nvSpPr>
          <p:cNvPr id="103" name="Google Shape;103;p3"/>
          <p:cNvSpPr txBox="1">
            <a:spLocks noGrp="1"/>
          </p:cNvSpPr>
          <p:nvPr>
            <p:ph type="title"/>
          </p:nvPr>
        </p:nvSpPr>
        <p:spPr>
          <a:xfrm>
            <a:off x="628650" y="365126"/>
            <a:ext cx="78867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a:t>EDA and Machine Learning Pipeline</a:t>
            </a:r>
            <a:endParaRPr/>
          </a:p>
        </p:txBody>
      </p:sp>
      <p:pic>
        <p:nvPicPr>
          <p:cNvPr id="104" name="Google Shape;104;p3"/>
          <p:cNvPicPr preferRelativeResize="0">
            <a:picLocks noGrp="1"/>
          </p:cNvPicPr>
          <p:nvPr>
            <p:ph type="body" idx="1"/>
          </p:nvPr>
        </p:nvPicPr>
        <p:blipFill rotWithShape="1">
          <a:blip r:embed="rId3">
            <a:alphaModFix/>
          </a:blip>
          <a:srcRect/>
          <a:stretch/>
        </p:blipFill>
        <p:spPr>
          <a:xfrm>
            <a:off x="628650" y="2408135"/>
            <a:ext cx="7886700" cy="3186317"/>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08"/>
        <p:cNvGrpSpPr/>
        <p:nvPr/>
      </p:nvGrpSpPr>
      <p:grpSpPr>
        <a:xfrm>
          <a:off x="0" y="0"/>
          <a:ext cx="0" cy="0"/>
          <a:chOff x="0" y="0"/>
          <a:chExt cx="0" cy="0"/>
        </a:xfrm>
      </p:grpSpPr>
      <p:sp>
        <p:nvSpPr>
          <p:cNvPr id="109" name="Google Shape;109;p4"/>
          <p:cNvSpPr txBox="1">
            <a:spLocks noGrp="1"/>
          </p:cNvSpPr>
          <p:nvPr>
            <p:ph type="title"/>
          </p:nvPr>
        </p:nvSpPr>
        <p:spPr>
          <a:xfrm>
            <a:off x="628650" y="365126"/>
            <a:ext cx="78867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a:t>EDA Steps</a:t>
            </a:r>
            <a:endParaRPr/>
          </a:p>
        </p:txBody>
      </p:sp>
      <p:sp>
        <p:nvSpPr>
          <p:cNvPr id="110" name="Google Shape;110;p4"/>
          <p:cNvSpPr txBox="1">
            <a:spLocks noGrp="1"/>
          </p:cNvSpPr>
          <p:nvPr>
            <p:ph type="body" idx="1"/>
          </p:nvPr>
        </p:nvSpPr>
        <p:spPr>
          <a:xfrm>
            <a:off x="628650" y="1512175"/>
            <a:ext cx="7886700" cy="5186700"/>
          </a:xfrm>
          <a:prstGeom prst="rect">
            <a:avLst/>
          </a:prstGeom>
          <a:noFill/>
          <a:ln>
            <a:noFill/>
          </a:ln>
        </p:spPr>
        <p:txBody>
          <a:bodyPr spcFirstLastPara="1" wrap="square" lIns="91425" tIns="45700" rIns="91425" bIns="45700" anchor="t" anchorCtr="0">
            <a:normAutofit/>
          </a:bodyPr>
          <a:lstStyle/>
          <a:p>
            <a:pPr marL="228600" lvl="0" indent="-292100" algn="l" rtl="0">
              <a:spcBef>
                <a:spcPts val="518"/>
              </a:spcBef>
              <a:spcAft>
                <a:spcPts val="0"/>
              </a:spcAft>
              <a:buSzPts val="2800"/>
              <a:buChar char="•"/>
            </a:pPr>
            <a:r>
              <a:rPr lang="en-US" sz="2400"/>
              <a:t>Data Analysis</a:t>
            </a:r>
            <a:endParaRPr sz="2400"/>
          </a:p>
          <a:p>
            <a:pPr marL="685800" lvl="1" indent="-266700" algn="l" rtl="0">
              <a:spcBef>
                <a:spcPts val="500"/>
              </a:spcBef>
              <a:spcAft>
                <a:spcPts val="0"/>
              </a:spcAft>
              <a:buSzPts val="2400"/>
              <a:buChar char="•"/>
            </a:pPr>
            <a:r>
              <a:rPr lang="en-US" sz="2000"/>
              <a:t>Data Understanding</a:t>
            </a:r>
            <a:endParaRPr sz="2000"/>
          </a:p>
          <a:p>
            <a:pPr marL="685800" lvl="1" indent="-266700" algn="l" rtl="0">
              <a:spcBef>
                <a:spcPts val="500"/>
              </a:spcBef>
              <a:spcAft>
                <a:spcPts val="0"/>
              </a:spcAft>
              <a:buSzPts val="2400"/>
              <a:buChar char="•"/>
            </a:pPr>
            <a:r>
              <a:rPr lang="en-US" sz="2000"/>
              <a:t>Univariate Analysis</a:t>
            </a:r>
            <a:endParaRPr sz="2000"/>
          </a:p>
          <a:p>
            <a:pPr marL="685800" lvl="1" indent="-266700" algn="l" rtl="0">
              <a:spcBef>
                <a:spcPts val="500"/>
              </a:spcBef>
              <a:spcAft>
                <a:spcPts val="0"/>
              </a:spcAft>
              <a:buSzPts val="2400"/>
              <a:buChar char="•"/>
            </a:pPr>
            <a:r>
              <a:rPr lang="en-US" sz="2000"/>
              <a:t>Bivariate Analysis</a:t>
            </a:r>
            <a:endParaRPr sz="2000"/>
          </a:p>
          <a:p>
            <a:pPr marL="685800" lvl="1" indent="-266700" algn="l" rtl="0">
              <a:spcBef>
                <a:spcPts val="500"/>
              </a:spcBef>
              <a:spcAft>
                <a:spcPts val="0"/>
              </a:spcAft>
              <a:buSzPts val="2400"/>
              <a:buChar char="•"/>
            </a:pPr>
            <a:r>
              <a:rPr lang="en-US" sz="2000"/>
              <a:t>Multivariate Analysis</a:t>
            </a:r>
            <a:endParaRPr sz="2000"/>
          </a:p>
          <a:p>
            <a:pPr marL="685800" lvl="1" indent="-266700" algn="l" rtl="0">
              <a:spcBef>
                <a:spcPts val="500"/>
              </a:spcBef>
              <a:spcAft>
                <a:spcPts val="0"/>
              </a:spcAft>
              <a:buSzPts val="2400"/>
              <a:buChar char="•"/>
            </a:pPr>
            <a:r>
              <a:rPr lang="en-US" sz="2000"/>
              <a:t>Pandas Profiler (ydata-Profiling)</a:t>
            </a:r>
            <a:endParaRPr sz="2000"/>
          </a:p>
          <a:p>
            <a:pPr marL="228600" lvl="0" indent="-292100" algn="l" rtl="0">
              <a:spcBef>
                <a:spcPts val="518"/>
              </a:spcBef>
              <a:spcAft>
                <a:spcPts val="0"/>
              </a:spcAft>
              <a:buSzPts val="2800"/>
              <a:buChar char="•"/>
            </a:pPr>
            <a:r>
              <a:rPr lang="en-US" sz="2400"/>
              <a:t>Data Preparation</a:t>
            </a:r>
            <a:endParaRPr sz="2400"/>
          </a:p>
          <a:p>
            <a:pPr marL="685800" lvl="1" indent="-266700" algn="l" rtl="0">
              <a:spcBef>
                <a:spcPts val="500"/>
              </a:spcBef>
              <a:spcAft>
                <a:spcPts val="0"/>
              </a:spcAft>
              <a:buSzPts val="2400"/>
              <a:buChar char="•"/>
            </a:pPr>
            <a:r>
              <a:rPr lang="en-US" sz="2000"/>
              <a:t>Data Imputation</a:t>
            </a:r>
            <a:endParaRPr sz="2000"/>
          </a:p>
          <a:p>
            <a:pPr marL="685800" lvl="1" indent="-266700" algn="l" rtl="0">
              <a:spcBef>
                <a:spcPts val="500"/>
              </a:spcBef>
              <a:spcAft>
                <a:spcPts val="0"/>
              </a:spcAft>
              <a:buSzPts val="2400"/>
              <a:buChar char="•"/>
            </a:pPr>
            <a:r>
              <a:rPr lang="en-US" sz="2000"/>
              <a:t>Feature Transformation</a:t>
            </a:r>
            <a:endParaRPr sz="2000"/>
          </a:p>
          <a:p>
            <a:pPr marL="1143000" lvl="2" indent="-228600" algn="l" rtl="0">
              <a:spcBef>
                <a:spcPts val="500"/>
              </a:spcBef>
              <a:spcAft>
                <a:spcPts val="0"/>
              </a:spcAft>
              <a:buSzPts val="1800"/>
              <a:buChar char="•"/>
            </a:pPr>
            <a:r>
              <a:rPr lang="en-US" sz="1800"/>
              <a:t>Feature Encoding</a:t>
            </a:r>
            <a:endParaRPr sz="1800"/>
          </a:p>
          <a:p>
            <a:pPr marL="1143000" lvl="2" indent="-228600" algn="l" rtl="0">
              <a:spcBef>
                <a:spcPts val="500"/>
              </a:spcBef>
              <a:spcAft>
                <a:spcPts val="0"/>
              </a:spcAft>
              <a:buSzPts val="1800"/>
              <a:buChar char="•"/>
            </a:pPr>
            <a:r>
              <a:rPr lang="en-US" sz="1800"/>
              <a:t>Feature Scaling</a:t>
            </a:r>
            <a:endParaRPr sz="1800"/>
          </a:p>
          <a:p>
            <a:pPr marL="685800" lvl="1" indent="-266700" algn="l" rtl="0">
              <a:spcBef>
                <a:spcPts val="500"/>
              </a:spcBef>
              <a:spcAft>
                <a:spcPts val="0"/>
              </a:spcAft>
              <a:buSzPts val="2400"/>
              <a:buChar char="•"/>
            </a:pPr>
            <a:r>
              <a:rPr lang="en-US" sz="2000"/>
              <a:t>Feature Creation</a:t>
            </a:r>
            <a:endParaRPr sz="2000"/>
          </a:p>
          <a:p>
            <a:pPr marL="685800" lvl="1" indent="-266700" algn="l" rtl="0">
              <a:spcBef>
                <a:spcPts val="500"/>
              </a:spcBef>
              <a:spcAft>
                <a:spcPts val="0"/>
              </a:spcAft>
              <a:buSzPts val="2400"/>
              <a:buChar char="•"/>
            </a:pPr>
            <a:r>
              <a:rPr lang="en-US" sz="2000"/>
              <a:t>Feature Selection</a:t>
            </a:r>
            <a:endParaRPr sz="2000"/>
          </a:p>
          <a:p>
            <a:pPr marL="228600" lvl="0" indent="-292100" algn="l" rtl="0">
              <a:spcBef>
                <a:spcPts val="518"/>
              </a:spcBef>
              <a:spcAft>
                <a:spcPts val="0"/>
              </a:spcAft>
              <a:buSzPts val="2800"/>
              <a:buChar char="•"/>
            </a:pPr>
            <a:r>
              <a:rPr lang="en-US" sz="2400"/>
              <a:t>Sklearn Pipeline</a:t>
            </a:r>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14"/>
        <p:cNvGrpSpPr/>
        <p:nvPr/>
      </p:nvGrpSpPr>
      <p:grpSpPr>
        <a:xfrm>
          <a:off x="0" y="0"/>
          <a:ext cx="0" cy="0"/>
          <a:chOff x="0" y="0"/>
          <a:chExt cx="0" cy="0"/>
        </a:xfrm>
      </p:grpSpPr>
      <p:sp>
        <p:nvSpPr>
          <p:cNvPr id="115" name="Google Shape;115;g3094bd1d618_0_0"/>
          <p:cNvSpPr txBox="1">
            <a:spLocks noGrp="1"/>
          </p:cNvSpPr>
          <p:nvPr>
            <p:ph type="title"/>
          </p:nvPr>
        </p:nvSpPr>
        <p:spPr>
          <a:xfrm>
            <a:off x="628650" y="365126"/>
            <a:ext cx="7886700" cy="1325700"/>
          </a:xfrm>
          <a:prstGeom prst="rect">
            <a:avLst/>
          </a:prstGeom>
        </p:spPr>
        <p:txBody>
          <a:bodyPr spcFirstLastPara="1" wrap="square" lIns="91425" tIns="45700" rIns="91425" bIns="45700" anchor="ctr" anchorCtr="0">
            <a:normAutofit/>
          </a:bodyPr>
          <a:lstStyle/>
          <a:p>
            <a:pPr marL="0" lvl="0" indent="0" algn="l" rtl="0">
              <a:spcBef>
                <a:spcPts val="0"/>
              </a:spcBef>
              <a:spcAft>
                <a:spcPts val="0"/>
              </a:spcAft>
              <a:buNone/>
            </a:pPr>
            <a:r>
              <a:rPr lang="en-US"/>
              <a:t>Data Reading</a:t>
            </a:r>
            <a:endParaRPr/>
          </a:p>
        </p:txBody>
      </p:sp>
      <p:sp>
        <p:nvSpPr>
          <p:cNvPr id="116" name="Google Shape;116;g3094bd1d618_0_0"/>
          <p:cNvSpPr txBox="1">
            <a:spLocks noGrp="1"/>
          </p:cNvSpPr>
          <p:nvPr>
            <p:ph type="body" idx="1"/>
          </p:nvPr>
        </p:nvSpPr>
        <p:spPr>
          <a:xfrm>
            <a:off x="628650" y="1825625"/>
            <a:ext cx="7886700" cy="4351200"/>
          </a:xfrm>
          <a:prstGeom prst="rect">
            <a:avLst/>
          </a:prstGeom>
        </p:spPr>
        <p:txBody>
          <a:bodyPr spcFirstLastPara="1" wrap="square" lIns="91425" tIns="45700" rIns="91425" bIns="45700" anchor="t" anchorCtr="0">
            <a:normAutofit/>
          </a:bodyPr>
          <a:lstStyle/>
          <a:p>
            <a:pPr marL="457200" lvl="0" indent="-377825" algn="l" rtl="0">
              <a:spcBef>
                <a:spcPts val="1000"/>
              </a:spcBef>
              <a:spcAft>
                <a:spcPts val="0"/>
              </a:spcAft>
              <a:buSzPts val="2350"/>
              <a:buChar char="•"/>
            </a:pPr>
            <a:r>
              <a:rPr lang="en-US"/>
              <a:t>df.read_csv(“file.csv”)</a:t>
            </a:r>
            <a:endParaRPr/>
          </a:p>
        </p:txBody>
      </p:sp>
      <p:pic>
        <p:nvPicPr>
          <p:cNvPr id="117" name="Google Shape;117;g3094bd1d618_0_0"/>
          <p:cNvPicPr preferRelativeResize="0"/>
          <p:nvPr/>
        </p:nvPicPr>
        <p:blipFill rotWithShape="1">
          <a:blip r:embed="rId3">
            <a:alphaModFix/>
          </a:blip>
          <a:srcRect l="8016" t="30275" r="4463" b="14558"/>
          <a:stretch/>
        </p:blipFill>
        <p:spPr>
          <a:xfrm>
            <a:off x="105963" y="2720575"/>
            <a:ext cx="8932075" cy="3166876"/>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21"/>
        <p:cNvGrpSpPr/>
        <p:nvPr/>
      </p:nvGrpSpPr>
      <p:grpSpPr>
        <a:xfrm>
          <a:off x="0" y="0"/>
          <a:ext cx="0" cy="0"/>
          <a:chOff x="0" y="0"/>
          <a:chExt cx="0" cy="0"/>
        </a:xfrm>
      </p:grpSpPr>
      <p:sp>
        <p:nvSpPr>
          <p:cNvPr id="122" name="Google Shape;122;p5"/>
          <p:cNvSpPr txBox="1">
            <a:spLocks noGrp="1"/>
          </p:cNvSpPr>
          <p:nvPr>
            <p:ph type="title"/>
          </p:nvPr>
        </p:nvSpPr>
        <p:spPr>
          <a:xfrm>
            <a:off x="628650" y="365126"/>
            <a:ext cx="78867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a:t>Data Understanding</a:t>
            </a:r>
            <a:endParaRPr/>
          </a:p>
        </p:txBody>
      </p:sp>
      <p:sp>
        <p:nvSpPr>
          <p:cNvPr id="123" name="Google Shape;123;p5"/>
          <p:cNvSpPr txBox="1">
            <a:spLocks noGrp="1"/>
          </p:cNvSpPr>
          <p:nvPr>
            <p:ph type="body" idx="1"/>
          </p:nvPr>
        </p:nvSpPr>
        <p:spPr>
          <a:xfrm>
            <a:off x="628650" y="1575250"/>
            <a:ext cx="7886700" cy="4969200"/>
          </a:xfrm>
          <a:prstGeom prst="rect">
            <a:avLst/>
          </a:prstGeom>
          <a:noFill/>
          <a:ln>
            <a:noFill/>
          </a:ln>
        </p:spPr>
        <p:txBody>
          <a:bodyPr spcFirstLastPara="1" wrap="square" lIns="91425" tIns="45700" rIns="91425" bIns="45700" anchor="t" anchorCtr="0">
            <a:normAutofit fontScale="92500"/>
          </a:bodyPr>
          <a:lstStyle/>
          <a:p>
            <a:pPr marL="228600" lvl="0" indent="-255270" algn="l" rtl="0">
              <a:lnSpc>
                <a:spcPct val="90000"/>
              </a:lnSpc>
              <a:spcBef>
                <a:spcPts val="0"/>
              </a:spcBef>
              <a:spcAft>
                <a:spcPts val="0"/>
              </a:spcAft>
              <a:buClr>
                <a:schemeClr val="dk1"/>
              </a:buClr>
              <a:buSzPts val="2800"/>
              <a:buChar char="•"/>
            </a:pPr>
            <a:r>
              <a:rPr lang="en-US"/>
              <a:t>Data Understanding is a crucial step in Exploratory Data Analysis (EDA) where the main objective is to </a:t>
            </a:r>
            <a:r>
              <a:rPr lang="en-US">
                <a:solidFill>
                  <a:srgbClr val="FF0000"/>
                </a:solidFill>
              </a:rPr>
              <a:t>gain insights into the dataset</a:t>
            </a:r>
            <a:r>
              <a:rPr lang="en-US"/>
              <a:t> and </a:t>
            </a:r>
            <a:r>
              <a:rPr lang="en-US">
                <a:solidFill>
                  <a:srgbClr val="FF0000"/>
                </a:solidFill>
              </a:rPr>
              <a:t>understand its structure, content, and characteristics</a:t>
            </a:r>
            <a:r>
              <a:rPr lang="en-US"/>
              <a:t>. </a:t>
            </a:r>
            <a:endParaRPr/>
          </a:p>
          <a:p>
            <a:pPr marL="228600" lvl="0" indent="-255270" algn="l" rtl="0">
              <a:lnSpc>
                <a:spcPct val="90000"/>
              </a:lnSpc>
              <a:spcBef>
                <a:spcPts val="1000"/>
              </a:spcBef>
              <a:spcAft>
                <a:spcPts val="0"/>
              </a:spcAft>
              <a:buClr>
                <a:schemeClr val="dk1"/>
              </a:buClr>
              <a:buSzPts val="2800"/>
              <a:buChar char="•"/>
            </a:pPr>
            <a:r>
              <a:rPr lang="en-US"/>
              <a:t>This step involves examining and familiarizing oneself with the data to form a solid foundation for subsequent analysis. </a:t>
            </a:r>
            <a:endParaRPr/>
          </a:p>
          <a:p>
            <a:pPr marL="228600" lvl="0" indent="-255270" algn="l" rtl="0">
              <a:lnSpc>
                <a:spcPct val="90000"/>
              </a:lnSpc>
              <a:spcBef>
                <a:spcPts val="1000"/>
              </a:spcBef>
              <a:spcAft>
                <a:spcPts val="0"/>
              </a:spcAft>
              <a:buClr>
                <a:schemeClr val="dk1"/>
              </a:buClr>
              <a:buSzPts val="2800"/>
              <a:buChar char="•"/>
            </a:pPr>
            <a:r>
              <a:rPr lang="en-US"/>
              <a:t>The main steps questions we ask in data understanding are:</a:t>
            </a:r>
            <a:endParaRPr/>
          </a:p>
          <a:p>
            <a:pPr marL="685800" lvl="1" indent="-251459" algn="l" rtl="0">
              <a:lnSpc>
                <a:spcPct val="90000"/>
              </a:lnSpc>
              <a:spcBef>
                <a:spcPts val="500"/>
              </a:spcBef>
              <a:spcAft>
                <a:spcPts val="0"/>
              </a:spcAft>
              <a:buClr>
                <a:srgbClr val="FF0000"/>
              </a:buClr>
              <a:buSzPts val="2400"/>
              <a:buChar char="•"/>
            </a:pPr>
            <a:r>
              <a:rPr lang="en-US">
                <a:solidFill>
                  <a:srgbClr val="FF0000"/>
                </a:solidFill>
              </a:rPr>
              <a:t>How big is the data?</a:t>
            </a:r>
            <a:endParaRPr/>
          </a:p>
          <a:p>
            <a:pPr marL="685800" lvl="1" indent="-251459" algn="l" rtl="0">
              <a:lnSpc>
                <a:spcPct val="90000"/>
              </a:lnSpc>
              <a:spcBef>
                <a:spcPts val="500"/>
              </a:spcBef>
              <a:spcAft>
                <a:spcPts val="0"/>
              </a:spcAft>
              <a:buClr>
                <a:srgbClr val="FF0000"/>
              </a:buClr>
              <a:buSzPts val="2400"/>
              <a:buChar char="•"/>
            </a:pPr>
            <a:r>
              <a:rPr lang="en-US">
                <a:solidFill>
                  <a:srgbClr val="FF0000"/>
                </a:solidFill>
              </a:rPr>
              <a:t>What are features and their values in the data?</a:t>
            </a:r>
            <a:endParaRPr/>
          </a:p>
          <a:p>
            <a:pPr marL="685800" lvl="1" indent="-251459" algn="l" rtl="0">
              <a:lnSpc>
                <a:spcPct val="90000"/>
              </a:lnSpc>
              <a:spcBef>
                <a:spcPts val="500"/>
              </a:spcBef>
              <a:spcAft>
                <a:spcPts val="0"/>
              </a:spcAft>
              <a:buClr>
                <a:srgbClr val="FF0000"/>
              </a:buClr>
              <a:buSzPts val="2400"/>
              <a:buChar char="•"/>
            </a:pPr>
            <a:r>
              <a:rPr lang="en-US">
                <a:solidFill>
                  <a:srgbClr val="FF0000"/>
                </a:solidFill>
              </a:rPr>
              <a:t>What is the data type of the features?</a:t>
            </a:r>
            <a:endParaRPr/>
          </a:p>
          <a:p>
            <a:pPr marL="685800" lvl="1" indent="-251459" algn="l" rtl="0">
              <a:lnSpc>
                <a:spcPct val="90000"/>
              </a:lnSpc>
              <a:spcBef>
                <a:spcPts val="500"/>
              </a:spcBef>
              <a:spcAft>
                <a:spcPts val="0"/>
              </a:spcAft>
              <a:buClr>
                <a:srgbClr val="FF0000"/>
              </a:buClr>
              <a:buSzPts val="2400"/>
              <a:buChar char="•"/>
            </a:pPr>
            <a:r>
              <a:rPr lang="en-US">
                <a:solidFill>
                  <a:srgbClr val="FF0000"/>
                </a:solidFill>
              </a:rPr>
              <a:t>Are there any missing values?</a:t>
            </a:r>
            <a:endParaRPr/>
          </a:p>
          <a:p>
            <a:pPr marL="685800" lvl="1" indent="-251459" algn="l" rtl="0">
              <a:lnSpc>
                <a:spcPct val="90000"/>
              </a:lnSpc>
              <a:spcBef>
                <a:spcPts val="500"/>
              </a:spcBef>
              <a:spcAft>
                <a:spcPts val="0"/>
              </a:spcAft>
              <a:buClr>
                <a:srgbClr val="FF0000"/>
              </a:buClr>
              <a:buSzPts val="2400"/>
              <a:buChar char="•"/>
            </a:pPr>
            <a:r>
              <a:rPr lang="en-US">
                <a:solidFill>
                  <a:srgbClr val="FF0000"/>
                </a:solidFill>
              </a:rPr>
              <a:t>How does the data look like mathematically?</a:t>
            </a:r>
            <a:endParaRPr/>
          </a:p>
          <a:p>
            <a:pPr marL="685800" lvl="1" indent="-251459" algn="l" rtl="0">
              <a:lnSpc>
                <a:spcPct val="90000"/>
              </a:lnSpc>
              <a:spcBef>
                <a:spcPts val="500"/>
              </a:spcBef>
              <a:spcAft>
                <a:spcPts val="0"/>
              </a:spcAft>
              <a:buClr>
                <a:srgbClr val="FF0000"/>
              </a:buClr>
              <a:buSzPts val="2400"/>
              <a:buChar char="•"/>
            </a:pPr>
            <a:r>
              <a:rPr lang="en-US">
                <a:solidFill>
                  <a:srgbClr val="FF0000"/>
                </a:solidFill>
              </a:rPr>
              <a:t>Are there any duplicate values?</a:t>
            </a:r>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27"/>
        <p:cNvGrpSpPr/>
        <p:nvPr/>
      </p:nvGrpSpPr>
      <p:grpSpPr>
        <a:xfrm>
          <a:off x="0" y="0"/>
          <a:ext cx="0" cy="0"/>
          <a:chOff x="0" y="0"/>
          <a:chExt cx="0" cy="0"/>
        </a:xfrm>
      </p:grpSpPr>
      <p:sp>
        <p:nvSpPr>
          <p:cNvPr id="128" name="Google Shape;128;p6"/>
          <p:cNvSpPr txBox="1">
            <a:spLocks noGrp="1"/>
          </p:cNvSpPr>
          <p:nvPr>
            <p:ph type="title"/>
          </p:nvPr>
        </p:nvSpPr>
        <p:spPr>
          <a:xfrm>
            <a:off x="628650" y="365125"/>
            <a:ext cx="7886700" cy="10872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a:t>Data Understanding</a:t>
            </a:r>
            <a:endParaRPr/>
          </a:p>
        </p:txBody>
      </p:sp>
      <p:sp>
        <p:nvSpPr>
          <p:cNvPr id="129" name="Google Shape;129;p6"/>
          <p:cNvSpPr txBox="1">
            <a:spLocks noGrp="1"/>
          </p:cNvSpPr>
          <p:nvPr>
            <p:ph type="body" idx="1"/>
          </p:nvPr>
        </p:nvSpPr>
        <p:spPr>
          <a:xfrm>
            <a:off x="628650" y="1558226"/>
            <a:ext cx="7886700" cy="4618800"/>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800"/>
              <a:buChar char="•"/>
            </a:pPr>
            <a:r>
              <a:rPr lang="en-US"/>
              <a:t>How big is the data?</a:t>
            </a:r>
            <a:endParaRPr/>
          </a:p>
          <a:p>
            <a:pPr marL="685800" lvl="1" indent="-228600" algn="l" rtl="0">
              <a:lnSpc>
                <a:spcPct val="90000"/>
              </a:lnSpc>
              <a:spcBef>
                <a:spcPts val="500"/>
              </a:spcBef>
              <a:spcAft>
                <a:spcPts val="0"/>
              </a:spcAft>
              <a:buClr>
                <a:srgbClr val="FF0000"/>
              </a:buClr>
              <a:buSzPts val="2400"/>
              <a:buChar char="•"/>
            </a:pPr>
            <a:r>
              <a:rPr lang="en-US">
                <a:solidFill>
                  <a:srgbClr val="FF0000"/>
                </a:solidFill>
              </a:rPr>
              <a:t>df. shape</a:t>
            </a:r>
            <a:endParaRPr>
              <a:solidFill>
                <a:srgbClr val="FF0000"/>
              </a:solidFill>
            </a:endParaRPr>
          </a:p>
          <a:p>
            <a:pPr marL="0" lvl="0" indent="0" algn="l" rtl="0">
              <a:lnSpc>
                <a:spcPct val="90000"/>
              </a:lnSpc>
              <a:spcBef>
                <a:spcPts val="500"/>
              </a:spcBef>
              <a:spcAft>
                <a:spcPts val="0"/>
              </a:spcAft>
              <a:buNone/>
            </a:pPr>
            <a:endParaRPr>
              <a:solidFill>
                <a:srgbClr val="FF0000"/>
              </a:solidFill>
            </a:endParaRPr>
          </a:p>
          <a:p>
            <a:pPr marL="0" lvl="0" indent="0" algn="l" rtl="0">
              <a:lnSpc>
                <a:spcPct val="90000"/>
              </a:lnSpc>
              <a:spcBef>
                <a:spcPts val="500"/>
              </a:spcBef>
              <a:spcAft>
                <a:spcPts val="0"/>
              </a:spcAft>
              <a:buNone/>
            </a:pPr>
            <a:endParaRPr>
              <a:solidFill>
                <a:srgbClr val="FF0000"/>
              </a:solidFill>
            </a:endParaRPr>
          </a:p>
          <a:p>
            <a:pPr marL="0" lvl="0" indent="0" algn="l" rtl="0">
              <a:lnSpc>
                <a:spcPct val="90000"/>
              </a:lnSpc>
              <a:spcBef>
                <a:spcPts val="500"/>
              </a:spcBef>
              <a:spcAft>
                <a:spcPts val="0"/>
              </a:spcAft>
              <a:buNone/>
            </a:pPr>
            <a:endParaRPr>
              <a:solidFill>
                <a:srgbClr val="FF0000"/>
              </a:solidFill>
            </a:endParaRPr>
          </a:p>
          <a:p>
            <a:pPr marL="228600" lvl="0" indent="0" algn="l" rtl="0">
              <a:spcBef>
                <a:spcPts val="1000"/>
              </a:spcBef>
              <a:spcAft>
                <a:spcPts val="0"/>
              </a:spcAft>
              <a:buNone/>
            </a:pPr>
            <a:endParaRPr/>
          </a:p>
          <a:p>
            <a:pPr marL="228600" lvl="0" indent="-292100" algn="l" rtl="0">
              <a:spcBef>
                <a:spcPts val="1000"/>
              </a:spcBef>
              <a:spcAft>
                <a:spcPts val="0"/>
              </a:spcAft>
              <a:buSzPts val="2800"/>
              <a:buChar char="•"/>
            </a:pPr>
            <a:r>
              <a:rPr lang="en-US"/>
              <a:t>What are features and their values in the data?</a:t>
            </a:r>
            <a:endParaRPr/>
          </a:p>
          <a:p>
            <a:pPr marL="685800" lvl="1" indent="-266700" algn="l" rtl="0">
              <a:spcBef>
                <a:spcPts val="500"/>
              </a:spcBef>
              <a:spcAft>
                <a:spcPts val="0"/>
              </a:spcAft>
              <a:buClr>
                <a:srgbClr val="FF0000"/>
              </a:buClr>
              <a:buSzPts val="2400"/>
              <a:buChar char="•"/>
            </a:pPr>
            <a:r>
              <a:rPr lang="en-US">
                <a:solidFill>
                  <a:srgbClr val="FF0000"/>
                </a:solidFill>
              </a:rPr>
              <a:t>df.head() and df.tail()</a:t>
            </a:r>
            <a:endParaRPr>
              <a:solidFill>
                <a:srgbClr val="FF0000"/>
              </a:solidFill>
            </a:endParaRPr>
          </a:p>
          <a:p>
            <a:pPr marL="228600" lvl="0" indent="-228600" algn="l" rtl="0">
              <a:lnSpc>
                <a:spcPct val="90000"/>
              </a:lnSpc>
              <a:spcBef>
                <a:spcPts val="1000"/>
              </a:spcBef>
              <a:spcAft>
                <a:spcPts val="0"/>
              </a:spcAft>
              <a:buClr>
                <a:schemeClr val="dk1"/>
              </a:buClr>
              <a:buSzPts val="2800"/>
              <a:buChar char="•"/>
            </a:pPr>
            <a:endParaRPr/>
          </a:p>
          <a:p>
            <a:pPr marL="685800" lvl="2" indent="-76200" algn="l" rtl="0">
              <a:lnSpc>
                <a:spcPct val="90000"/>
              </a:lnSpc>
              <a:spcBef>
                <a:spcPts val="1000"/>
              </a:spcBef>
              <a:spcAft>
                <a:spcPts val="0"/>
              </a:spcAft>
              <a:buClr>
                <a:schemeClr val="dk1"/>
              </a:buClr>
              <a:buSzPts val="2400"/>
              <a:buNone/>
            </a:pPr>
            <a:endParaRPr sz="2400"/>
          </a:p>
          <a:p>
            <a:pPr marL="228600" lvl="0" indent="-50800" algn="l" rtl="0">
              <a:lnSpc>
                <a:spcPct val="90000"/>
              </a:lnSpc>
              <a:spcBef>
                <a:spcPts val="1000"/>
              </a:spcBef>
              <a:spcAft>
                <a:spcPts val="0"/>
              </a:spcAft>
              <a:buClr>
                <a:schemeClr val="dk1"/>
              </a:buClr>
              <a:buSzPts val="2800"/>
              <a:buNone/>
            </a:pPr>
            <a:endParaRPr/>
          </a:p>
        </p:txBody>
      </p:sp>
      <p:pic>
        <p:nvPicPr>
          <p:cNvPr id="130" name="Google Shape;130;p6"/>
          <p:cNvPicPr preferRelativeResize="0"/>
          <p:nvPr/>
        </p:nvPicPr>
        <p:blipFill rotWithShape="1">
          <a:blip r:embed="rId3">
            <a:alphaModFix/>
          </a:blip>
          <a:srcRect l="7868" t="55976" r="79848" b="30457"/>
          <a:stretch/>
        </p:blipFill>
        <p:spPr>
          <a:xfrm>
            <a:off x="770700" y="2320475"/>
            <a:ext cx="1922976" cy="1194599"/>
          </a:xfrm>
          <a:prstGeom prst="rect">
            <a:avLst/>
          </a:prstGeom>
          <a:noFill/>
          <a:ln>
            <a:noFill/>
          </a:ln>
        </p:spPr>
      </p:pic>
      <p:pic>
        <p:nvPicPr>
          <p:cNvPr id="131" name="Google Shape;131;p6"/>
          <p:cNvPicPr preferRelativeResize="0"/>
          <p:nvPr/>
        </p:nvPicPr>
        <p:blipFill rotWithShape="1">
          <a:blip r:embed="rId4">
            <a:alphaModFix/>
          </a:blip>
          <a:srcRect l="7866" t="46539" r="12107" b="20199"/>
          <a:stretch/>
        </p:blipFill>
        <p:spPr>
          <a:xfrm>
            <a:off x="277525" y="4655400"/>
            <a:ext cx="8588952" cy="2008049"/>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35"/>
        <p:cNvGrpSpPr/>
        <p:nvPr/>
      </p:nvGrpSpPr>
      <p:grpSpPr>
        <a:xfrm>
          <a:off x="0" y="0"/>
          <a:ext cx="0" cy="0"/>
          <a:chOff x="0" y="0"/>
          <a:chExt cx="0" cy="0"/>
        </a:xfrm>
      </p:grpSpPr>
      <p:sp>
        <p:nvSpPr>
          <p:cNvPr id="136" name="Google Shape;136;g3094bd1d618_0_7"/>
          <p:cNvSpPr txBox="1">
            <a:spLocks noGrp="1"/>
          </p:cNvSpPr>
          <p:nvPr>
            <p:ph type="title"/>
          </p:nvPr>
        </p:nvSpPr>
        <p:spPr>
          <a:xfrm>
            <a:off x="628650" y="365126"/>
            <a:ext cx="7886700" cy="1325700"/>
          </a:xfrm>
          <a:prstGeom prst="rect">
            <a:avLst/>
          </a:prstGeom>
        </p:spPr>
        <p:txBody>
          <a:bodyPr spcFirstLastPara="1" wrap="square" lIns="91425" tIns="45700" rIns="91425" bIns="45700" anchor="ctr" anchorCtr="0">
            <a:normAutofit/>
          </a:bodyPr>
          <a:lstStyle/>
          <a:p>
            <a:pPr marL="0" lvl="0" indent="0" algn="l" rtl="0">
              <a:spcBef>
                <a:spcPts val="0"/>
              </a:spcBef>
              <a:spcAft>
                <a:spcPts val="0"/>
              </a:spcAft>
              <a:buNone/>
            </a:pPr>
            <a:r>
              <a:rPr lang="en-US"/>
              <a:t>Data Understanding</a:t>
            </a:r>
            <a:endParaRPr/>
          </a:p>
        </p:txBody>
      </p:sp>
      <p:sp>
        <p:nvSpPr>
          <p:cNvPr id="137" name="Google Shape;137;g3094bd1d618_0_7"/>
          <p:cNvSpPr txBox="1">
            <a:spLocks noGrp="1"/>
          </p:cNvSpPr>
          <p:nvPr>
            <p:ph type="body" idx="1"/>
          </p:nvPr>
        </p:nvSpPr>
        <p:spPr>
          <a:xfrm>
            <a:off x="628650" y="1825625"/>
            <a:ext cx="7886700" cy="4599600"/>
          </a:xfrm>
          <a:prstGeom prst="rect">
            <a:avLst/>
          </a:prstGeom>
        </p:spPr>
        <p:txBody>
          <a:bodyPr spcFirstLastPara="1" wrap="square" lIns="91425" tIns="45700" rIns="91425" bIns="45700" anchor="t" anchorCtr="0">
            <a:normAutofit/>
          </a:bodyPr>
          <a:lstStyle/>
          <a:p>
            <a:pPr marL="228600" lvl="1" indent="-228600" algn="l" rtl="0">
              <a:spcBef>
                <a:spcPts val="1000"/>
              </a:spcBef>
              <a:spcAft>
                <a:spcPts val="0"/>
              </a:spcAft>
              <a:buSzPts val="2800"/>
              <a:buChar char="•"/>
            </a:pPr>
            <a:r>
              <a:rPr lang="en-US" sz="2800" dirty="0"/>
              <a:t>What is the data type of the features?</a:t>
            </a:r>
            <a:endParaRPr dirty="0"/>
          </a:p>
          <a:p>
            <a:pPr marL="685800" lvl="2" indent="-228600" algn="l" rtl="0">
              <a:spcBef>
                <a:spcPts val="1000"/>
              </a:spcBef>
              <a:spcAft>
                <a:spcPts val="0"/>
              </a:spcAft>
              <a:buClr>
                <a:srgbClr val="FF0000"/>
              </a:buClr>
              <a:buSzPts val="2400"/>
              <a:buChar char="•"/>
            </a:pPr>
            <a:r>
              <a:rPr lang="en-US" sz="2400" dirty="0">
                <a:solidFill>
                  <a:srgbClr val="FF0000"/>
                </a:solidFill>
              </a:rPr>
              <a:t>df.info()</a:t>
            </a:r>
            <a:endParaRPr sz="2400" dirty="0">
              <a:solidFill>
                <a:srgbClr val="FF0000"/>
              </a:solidFill>
            </a:endParaRPr>
          </a:p>
          <a:p>
            <a:pPr marL="0" lvl="0" indent="0" algn="l" rtl="0">
              <a:spcBef>
                <a:spcPts val="1000"/>
              </a:spcBef>
              <a:spcAft>
                <a:spcPts val="0"/>
              </a:spcAft>
              <a:buNone/>
            </a:pPr>
            <a:endParaRPr sz="2400" dirty="0">
              <a:solidFill>
                <a:srgbClr val="FF0000"/>
              </a:solidFill>
            </a:endParaRPr>
          </a:p>
          <a:p>
            <a:pPr marL="0" lvl="0" indent="0" algn="l" rtl="0">
              <a:spcBef>
                <a:spcPts val="1000"/>
              </a:spcBef>
              <a:spcAft>
                <a:spcPts val="0"/>
              </a:spcAft>
              <a:buNone/>
            </a:pPr>
            <a:endParaRPr sz="2400" dirty="0">
              <a:solidFill>
                <a:srgbClr val="FF0000"/>
              </a:solidFill>
            </a:endParaRPr>
          </a:p>
          <a:p>
            <a:pPr marL="685800" lvl="0" indent="0" algn="l" rtl="0">
              <a:spcBef>
                <a:spcPts val="1000"/>
              </a:spcBef>
              <a:spcAft>
                <a:spcPts val="0"/>
              </a:spcAft>
              <a:buNone/>
            </a:pPr>
            <a:endParaRPr sz="2800" dirty="0"/>
          </a:p>
          <a:p>
            <a:pPr marL="685800" lvl="0" indent="0" algn="l" rtl="0">
              <a:spcBef>
                <a:spcPts val="1000"/>
              </a:spcBef>
              <a:spcAft>
                <a:spcPts val="0"/>
              </a:spcAft>
              <a:buNone/>
            </a:pPr>
            <a:endParaRPr sz="2800" dirty="0"/>
          </a:p>
          <a:p>
            <a:pPr marL="685800" lvl="0" indent="0" algn="l" rtl="0">
              <a:spcBef>
                <a:spcPts val="1000"/>
              </a:spcBef>
              <a:spcAft>
                <a:spcPts val="0"/>
              </a:spcAft>
              <a:buNone/>
            </a:pPr>
            <a:endParaRPr sz="2800" dirty="0"/>
          </a:p>
          <a:p>
            <a:pPr marL="228600" lvl="1" indent="-228600" algn="l" rtl="0">
              <a:spcBef>
                <a:spcPts val="1000"/>
              </a:spcBef>
              <a:spcAft>
                <a:spcPts val="0"/>
              </a:spcAft>
              <a:buSzPts val="2800"/>
              <a:buChar char="•"/>
            </a:pPr>
            <a:endParaRPr sz="2800" dirty="0"/>
          </a:p>
          <a:p>
            <a:pPr marL="228600" lvl="1" indent="-228600" algn="l" rtl="0">
              <a:spcBef>
                <a:spcPts val="1000"/>
              </a:spcBef>
              <a:spcAft>
                <a:spcPts val="0"/>
              </a:spcAft>
              <a:buSzPts val="2800"/>
              <a:buChar char="•"/>
            </a:pPr>
            <a:endParaRPr dirty="0"/>
          </a:p>
        </p:txBody>
      </p:sp>
      <p:pic>
        <p:nvPicPr>
          <p:cNvPr id="138" name="Google Shape;138;g3094bd1d618_0_7"/>
          <p:cNvPicPr preferRelativeResize="0"/>
          <p:nvPr/>
        </p:nvPicPr>
        <p:blipFill rotWithShape="1">
          <a:blip r:embed="rId3">
            <a:alphaModFix/>
          </a:blip>
          <a:srcRect l="7868" t="32487" b="12260"/>
          <a:stretch/>
        </p:blipFill>
        <p:spPr>
          <a:xfrm>
            <a:off x="124050" y="3044825"/>
            <a:ext cx="8882050" cy="2996301"/>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42"/>
        <p:cNvGrpSpPr/>
        <p:nvPr/>
      </p:nvGrpSpPr>
      <p:grpSpPr>
        <a:xfrm>
          <a:off x="0" y="0"/>
          <a:ext cx="0" cy="0"/>
          <a:chOff x="0" y="0"/>
          <a:chExt cx="0" cy="0"/>
        </a:xfrm>
      </p:grpSpPr>
      <p:sp>
        <p:nvSpPr>
          <p:cNvPr id="143" name="Google Shape;143;g3094bd1d618_0_15"/>
          <p:cNvSpPr txBox="1">
            <a:spLocks noGrp="1"/>
          </p:cNvSpPr>
          <p:nvPr>
            <p:ph type="title"/>
          </p:nvPr>
        </p:nvSpPr>
        <p:spPr>
          <a:xfrm>
            <a:off x="628650" y="365126"/>
            <a:ext cx="7886700" cy="1325700"/>
          </a:xfrm>
          <a:prstGeom prst="rect">
            <a:avLst/>
          </a:prstGeom>
        </p:spPr>
        <p:txBody>
          <a:bodyPr spcFirstLastPara="1" wrap="square" lIns="91425" tIns="45700" rIns="91425" bIns="45700" anchor="ctr" anchorCtr="0">
            <a:normAutofit/>
          </a:bodyPr>
          <a:lstStyle/>
          <a:p>
            <a:pPr marL="0" lvl="0" indent="0" algn="l" rtl="0">
              <a:spcBef>
                <a:spcPts val="0"/>
              </a:spcBef>
              <a:spcAft>
                <a:spcPts val="0"/>
              </a:spcAft>
              <a:buNone/>
            </a:pPr>
            <a:r>
              <a:rPr lang="en-US"/>
              <a:t>Data Understanding</a:t>
            </a:r>
            <a:endParaRPr/>
          </a:p>
        </p:txBody>
      </p:sp>
      <p:sp>
        <p:nvSpPr>
          <p:cNvPr id="144" name="Google Shape;144;g3094bd1d618_0_15"/>
          <p:cNvSpPr txBox="1">
            <a:spLocks noGrp="1"/>
          </p:cNvSpPr>
          <p:nvPr>
            <p:ph type="body" idx="1"/>
          </p:nvPr>
        </p:nvSpPr>
        <p:spPr>
          <a:xfrm>
            <a:off x="628650" y="1825625"/>
            <a:ext cx="7886700" cy="4599600"/>
          </a:xfrm>
          <a:prstGeom prst="rect">
            <a:avLst/>
          </a:prstGeom>
        </p:spPr>
        <p:txBody>
          <a:bodyPr spcFirstLastPara="1" wrap="square" lIns="91425" tIns="45700" rIns="91425" bIns="45700" anchor="t" anchorCtr="0">
            <a:normAutofit/>
          </a:bodyPr>
          <a:lstStyle/>
          <a:p>
            <a:pPr marL="685800" lvl="1" indent="-292100" algn="l" rtl="0">
              <a:spcBef>
                <a:spcPts val="1000"/>
              </a:spcBef>
              <a:spcAft>
                <a:spcPts val="0"/>
              </a:spcAft>
              <a:buSzPts val="2800"/>
              <a:buChar char="•"/>
            </a:pPr>
            <a:r>
              <a:rPr lang="en-US" sz="2800" dirty="0"/>
              <a:t>Are there any missing values?</a:t>
            </a:r>
            <a:endParaRPr dirty="0"/>
          </a:p>
          <a:p>
            <a:pPr marL="1143000" lvl="2" indent="-266700" algn="l" rtl="0">
              <a:spcBef>
                <a:spcPts val="1000"/>
              </a:spcBef>
              <a:spcAft>
                <a:spcPts val="0"/>
              </a:spcAft>
              <a:buClr>
                <a:srgbClr val="FF0000"/>
              </a:buClr>
              <a:buSzPts val="2400"/>
              <a:buChar char="•"/>
            </a:pPr>
            <a:r>
              <a:rPr lang="en-US" sz="2400" dirty="0" err="1">
                <a:solidFill>
                  <a:srgbClr val="FF0000"/>
                </a:solidFill>
              </a:rPr>
              <a:t>df.isnull</a:t>
            </a:r>
            <a:r>
              <a:rPr lang="en-US" sz="2400" dirty="0">
                <a:solidFill>
                  <a:srgbClr val="FF0000"/>
                </a:solidFill>
              </a:rPr>
              <a:t>().sum</a:t>
            </a:r>
            <a:endParaRPr dirty="0"/>
          </a:p>
          <a:p>
            <a:pPr marL="685800" lvl="0" indent="0" algn="l" rtl="0">
              <a:spcBef>
                <a:spcPts val="1000"/>
              </a:spcBef>
              <a:spcAft>
                <a:spcPts val="0"/>
              </a:spcAft>
              <a:buNone/>
            </a:pPr>
            <a:endParaRPr sz="2800" dirty="0"/>
          </a:p>
          <a:p>
            <a:pPr marL="685800" lvl="0" indent="0" algn="l" rtl="0">
              <a:spcBef>
                <a:spcPts val="1000"/>
              </a:spcBef>
              <a:spcAft>
                <a:spcPts val="0"/>
              </a:spcAft>
              <a:buNone/>
            </a:pPr>
            <a:endParaRPr sz="2800" dirty="0"/>
          </a:p>
          <a:p>
            <a:pPr marL="685800" lvl="0" indent="0" algn="l" rtl="0">
              <a:spcBef>
                <a:spcPts val="1000"/>
              </a:spcBef>
              <a:spcAft>
                <a:spcPts val="0"/>
              </a:spcAft>
              <a:buNone/>
            </a:pPr>
            <a:endParaRPr sz="2800" dirty="0"/>
          </a:p>
          <a:p>
            <a:pPr marL="685800" lvl="0" indent="0" algn="l" rtl="0">
              <a:spcBef>
                <a:spcPts val="1000"/>
              </a:spcBef>
              <a:spcAft>
                <a:spcPts val="0"/>
              </a:spcAft>
              <a:buNone/>
            </a:pPr>
            <a:endParaRPr sz="2800" dirty="0"/>
          </a:p>
          <a:p>
            <a:pPr marL="685800" lvl="0" indent="0" algn="l" rtl="0">
              <a:spcBef>
                <a:spcPts val="1000"/>
              </a:spcBef>
              <a:spcAft>
                <a:spcPts val="0"/>
              </a:spcAft>
              <a:buNone/>
            </a:pPr>
            <a:endParaRPr sz="2800" dirty="0"/>
          </a:p>
          <a:p>
            <a:pPr marL="685800" lvl="0" indent="0" algn="l" rtl="0">
              <a:spcBef>
                <a:spcPts val="1000"/>
              </a:spcBef>
              <a:spcAft>
                <a:spcPts val="0"/>
              </a:spcAft>
              <a:buNone/>
            </a:pPr>
            <a:endParaRPr dirty="0"/>
          </a:p>
        </p:txBody>
      </p:sp>
      <p:pic>
        <p:nvPicPr>
          <p:cNvPr id="145" name="Google Shape;145;g3094bd1d618_0_15"/>
          <p:cNvPicPr preferRelativeResize="0"/>
          <p:nvPr/>
        </p:nvPicPr>
        <p:blipFill rotWithShape="1">
          <a:blip r:embed="rId3">
            <a:alphaModFix/>
          </a:blip>
          <a:srcRect l="8063" t="38127" r="65695" b="17538"/>
          <a:stretch/>
        </p:blipFill>
        <p:spPr>
          <a:xfrm>
            <a:off x="1349300" y="2766450"/>
            <a:ext cx="3849902" cy="3658775"/>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49"/>
        <p:cNvGrpSpPr/>
        <p:nvPr/>
      </p:nvGrpSpPr>
      <p:grpSpPr>
        <a:xfrm>
          <a:off x="0" y="0"/>
          <a:ext cx="0" cy="0"/>
          <a:chOff x="0" y="0"/>
          <a:chExt cx="0" cy="0"/>
        </a:xfrm>
      </p:grpSpPr>
      <p:sp>
        <p:nvSpPr>
          <p:cNvPr id="150" name="Google Shape;150;g3094bd1d618_0_21"/>
          <p:cNvSpPr txBox="1">
            <a:spLocks noGrp="1"/>
          </p:cNvSpPr>
          <p:nvPr>
            <p:ph type="title"/>
          </p:nvPr>
        </p:nvSpPr>
        <p:spPr>
          <a:xfrm>
            <a:off x="628650" y="365126"/>
            <a:ext cx="7886700" cy="1325700"/>
          </a:xfrm>
          <a:prstGeom prst="rect">
            <a:avLst/>
          </a:prstGeom>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1100"/>
              <a:buFont typeface="Arial"/>
              <a:buNone/>
            </a:pPr>
            <a:r>
              <a:rPr lang="en-US"/>
              <a:t>Data Understanding</a:t>
            </a:r>
            <a:endParaRPr/>
          </a:p>
        </p:txBody>
      </p:sp>
      <p:sp>
        <p:nvSpPr>
          <p:cNvPr id="151" name="Google Shape;151;g3094bd1d618_0_21"/>
          <p:cNvSpPr txBox="1">
            <a:spLocks noGrp="1"/>
          </p:cNvSpPr>
          <p:nvPr>
            <p:ph type="body" idx="1"/>
          </p:nvPr>
        </p:nvSpPr>
        <p:spPr>
          <a:xfrm>
            <a:off x="628650" y="1825625"/>
            <a:ext cx="7886700" cy="4351200"/>
          </a:xfrm>
          <a:prstGeom prst="rect">
            <a:avLst/>
          </a:prstGeom>
        </p:spPr>
        <p:txBody>
          <a:bodyPr spcFirstLastPara="1" wrap="square" lIns="91425" tIns="45700" rIns="91425" bIns="45700" anchor="t" anchorCtr="0">
            <a:normAutofit/>
          </a:bodyPr>
          <a:lstStyle/>
          <a:p>
            <a:pPr marL="228600" lvl="1" indent="-228600" algn="l" rtl="0">
              <a:spcBef>
                <a:spcPts val="1000"/>
              </a:spcBef>
              <a:spcAft>
                <a:spcPts val="0"/>
              </a:spcAft>
              <a:buSzPts val="2800"/>
              <a:buChar char="•"/>
            </a:pPr>
            <a:r>
              <a:rPr lang="en-US" sz="2800"/>
              <a:t>How does the data look like mathematically?</a:t>
            </a:r>
            <a:endParaRPr/>
          </a:p>
          <a:p>
            <a:pPr marL="685800" lvl="2" indent="-228600" algn="l" rtl="0">
              <a:spcBef>
                <a:spcPts val="1000"/>
              </a:spcBef>
              <a:spcAft>
                <a:spcPts val="0"/>
              </a:spcAft>
              <a:buClr>
                <a:srgbClr val="FF0000"/>
              </a:buClr>
              <a:buSzPts val="2400"/>
              <a:buChar char="•"/>
            </a:pPr>
            <a:r>
              <a:rPr lang="en-US" sz="2400">
                <a:solidFill>
                  <a:srgbClr val="FF0000"/>
                </a:solidFill>
              </a:rPr>
              <a:t>df.describe()</a:t>
            </a:r>
            <a:endParaRPr/>
          </a:p>
        </p:txBody>
      </p:sp>
      <p:pic>
        <p:nvPicPr>
          <p:cNvPr id="152" name="Google Shape;152;g3094bd1d618_0_21"/>
          <p:cNvPicPr preferRelativeResize="0"/>
          <p:nvPr/>
        </p:nvPicPr>
        <p:blipFill rotWithShape="1">
          <a:blip r:embed="rId3">
            <a:alphaModFix/>
          </a:blip>
          <a:srcRect l="7868" t="31492" r="37602" b="21859"/>
          <a:stretch/>
        </p:blipFill>
        <p:spPr>
          <a:xfrm>
            <a:off x="855775" y="2818500"/>
            <a:ext cx="7659576" cy="368601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56"/>
        <p:cNvGrpSpPr/>
        <p:nvPr/>
      </p:nvGrpSpPr>
      <p:grpSpPr>
        <a:xfrm>
          <a:off x="0" y="0"/>
          <a:ext cx="0" cy="0"/>
          <a:chOff x="0" y="0"/>
          <a:chExt cx="0" cy="0"/>
        </a:xfrm>
      </p:grpSpPr>
      <p:sp>
        <p:nvSpPr>
          <p:cNvPr id="157" name="Google Shape;157;p7"/>
          <p:cNvSpPr txBox="1">
            <a:spLocks noGrp="1"/>
          </p:cNvSpPr>
          <p:nvPr>
            <p:ph type="title"/>
          </p:nvPr>
        </p:nvSpPr>
        <p:spPr>
          <a:xfrm>
            <a:off x="628650" y="365126"/>
            <a:ext cx="78867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a:t>Data Understanding</a:t>
            </a:r>
            <a:endParaRPr/>
          </a:p>
        </p:txBody>
      </p:sp>
      <p:sp>
        <p:nvSpPr>
          <p:cNvPr id="158" name="Google Shape;158;p7"/>
          <p:cNvSpPr txBox="1">
            <a:spLocks noGrp="1"/>
          </p:cNvSpPr>
          <p:nvPr>
            <p:ph type="body" idx="1"/>
          </p:nvPr>
        </p:nvSpPr>
        <p:spPr>
          <a:xfrm>
            <a:off x="628650" y="1825625"/>
            <a:ext cx="7886700" cy="4351338"/>
          </a:xfrm>
          <a:prstGeom prst="rect">
            <a:avLst/>
          </a:prstGeom>
          <a:noFill/>
          <a:ln>
            <a:noFill/>
          </a:ln>
        </p:spPr>
        <p:txBody>
          <a:bodyPr spcFirstLastPara="1" wrap="square" lIns="91425" tIns="45700" rIns="91425" bIns="45700" anchor="t" anchorCtr="0">
            <a:normAutofit/>
          </a:bodyPr>
          <a:lstStyle/>
          <a:p>
            <a:pPr marL="228600" lvl="1" indent="-228600" algn="l" rtl="0">
              <a:lnSpc>
                <a:spcPct val="90000"/>
              </a:lnSpc>
              <a:spcBef>
                <a:spcPts val="1000"/>
              </a:spcBef>
              <a:spcAft>
                <a:spcPts val="0"/>
              </a:spcAft>
              <a:buClr>
                <a:schemeClr val="dk1"/>
              </a:buClr>
              <a:buSzPts val="2800"/>
              <a:buChar char="•"/>
            </a:pPr>
            <a:r>
              <a:rPr lang="en-US" sz="2800"/>
              <a:t>Are there any duplicate values?</a:t>
            </a:r>
            <a:endParaRPr/>
          </a:p>
          <a:p>
            <a:pPr marL="685800" lvl="1" indent="-228600" algn="l" rtl="0">
              <a:lnSpc>
                <a:spcPct val="90000"/>
              </a:lnSpc>
              <a:spcBef>
                <a:spcPts val="500"/>
              </a:spcBef>
              <a:spcAft>
                <a:spcPts val="0"/>
              </a:spcAft>
              <a:buClr>
                <a:srgbClr val="FF0000"/>
              </a:buClr>
              <a:buSzPts val="2400"/>
              <a:buChar char="•"/>
            </a:pPr>
            <a:r>
              <a:rPr lang="en-US">
                <a:solidFill>
                  <a:srgbClr val="FF0000"/>
                </a:solidFill>
              </a:rPr>
              <a:t>df.duplicated().sum()</a:t>
            </a:r>
            <a:endParaRPr/>
          </a:p>
          <a:p>
            <a:pPr marL="0" lvl="0" indent="0" algn="l" rtl="0">
              <a:lnSpc>
                <a:spcPct val="90000"/>
              </a:lnSpc>
              <a:spcBef>
                <a:spcPts val="1000"/>
              </a:spcBef>
              <a:spcAft>
                <a:spcPts val="0"/>
              </a:spcAft>
              <a:buNone/>
            </a:pPr>
            <a:endParaRPr sz="2800"/>
          </a:p>
          <a:p>
            <a:pPr marL="685800" lvl="0" indent="0" algn="l" rtl="0">
              <a:lnSpc>
                <a:spcPct val="90000"/>
              </a:lnSpc>
              <a:spcBef>
                <a:spcPts val="1000"/>
              </a:spcBef>
              <a:spcAft>
                <a:spcPts val="0"/>
              </a:spcAft>
              <a:buNone/>
            </a:pPr>
            <a:endParaRPr/>
          </a:p>
          <a:p>
            <a:pPr marL="685800" lvl="0" indent="0" algn="l" rtl="0">
              <a:lnSpc>
                <a:spcPct val="90000"/>
              </a:lnSpc>
              <a:spcBef>
                <a:spcPts val="1000"/>
              </a:spcBef>
              <a:spcAft>
                <a:spcPts val="0"/>
              </a:spcAft>
              <a:buNone/>
            </a:pPr>
            <a:endParaRPr/>
          </a:p>
          <a:p>
            <a:pPr marL="685800" lvl="0" indent="0" algn="l" rtl="0">
              <a:lnSpc>
                <a:spcPct val="90000"/>
              </a:lnSpc>
              <a:spcBef>
                <a:spcPts val="1000"/>
              </a:spcBef>
              <a:spcAft>
                <a:spcPts val="0"/>
              </a:spcAft>
              <a:buNone/>
            </a:pPr>
            <a:endParaRPr/>
          </a:p>
          <a:p>
            <a:pPr marL="685800" lvl="0" indent="0" algn="l" rtl="0">
              <a:lnSpc>
                <a:spcPct val="90000"/>
              </a:lnSpc>
              <a:spcBef>
                <a:spcPts val="1000"/>
              </a:spcBef>
              <a:spcAft>
                <a:spcPts val="0"/>
              </a:spcAft>
              <a:buNone/>
            </a:pPr>
            <a:endParaRPr/>
          </a:p>
          <a:p>
            <a:pPr marL="685800" lvl="0" indent="0" algn="l" rtl="0">
              <a:lnSpc>
                <a:spcPct val="90000"/>
              </a:lnSpc>
              <a:spcBef>
                <a:spcPts val="500"/>
              </a:spcBef>
              <a:spcAft>
                <a:spcPts val="0"/>
              </a:spcAft>
              <a:buNone/>
            </a:pPr>
            <a:endParaRPr/>
          </a:p>
          <a:p>
            <a:pPr marL="228600" lvl="0" indent="-50800" algn="l" rtl="0">
              <a:lnSpc>
                <a:spcPct val="90000"/>
              </a:lnSpc>
              <a:spcBef>
                <a:spcPts val="1000"/>
              </a:spcBef>
              <a:spcAft>
                <a:spcPts val="0"/>
              </a:spcAft>
              <a:buClr>
                <a:schemeClr val="dk1"/>
              </a:buClr>
              <a:buSzPts val="2800"/>
              <a:buNone/>
            </a:pPr>
            <a:endParaRPr/>
          </a:p>
        </p:txBody>
      </p:sp>
      <p:pic>
        <p:nvPicPr>
          <p:cNvPr id="159" name="Google Shape;159;p7"/>
          <p:cNvPicPr preferRelativeResize="0"/>
          <p:nvPr/>
        </p:nvPicPr>
        <p:blipFill rotWithShape="1">
          <a:blip r:embed="rId3">
            <a:alphaModFix/>
          </a:blip>
          <a:srcRect l="3039" t="54669" r="62345" b="31434"/>
          <a:stretch/>
        </p:blipFill>
        <p:spPr>
          <a:xfrm>
            <a:off x="580550" y="2919625"/>
            <a:ext cx="7982899" cy="1802569"/>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63"/>
        <p:cNvGrpSpPr/>
        <p:nvPr/>
      </p:nvGrpSpPr>
      <p:grpSpPr>
        <a:xfrm>
          <a:off x="0" y="0"/>
          <a:ext cx="0" cy="0"/>
          <a:chOff x="0" y="0"/>
          <a:chExt cx="0" cy="0"/>
        </a:xfrm>
      </p:grpSpPr>
      <p:sp>
        <p:nvSpPr>
          <p:cNvPr id="164" name="Google Shape;164;p8"/>
          <p:cNvSpPr txBox="1">
            <a:spLocks noGrp="1"/>
          </p:cNvSpPr>
          <p:nvPr>
            <p:ph type="title"/>
          </p:nvPr>
        </p:nvSpPr>
        <p:spPr>
          <a:xfrm>
            <a:off x="628650" y="212725"/>
            <a:ext cx="7886700" cy="12093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a:t>Univariate Analysis</a:t>
            </a:r>
            <a:endParaRPr/>
          </a:p>
        </p:txBody>
      </p:sp>
      <p:sp>
        <p:nvSpPr>
          <p:cNvPr id="165" name="Google Shape;165;p8"/>
          <p:cNvSpPr txBox="1">
            <a:spLocks noGrp="1"/>
          </p:cNvSpPr>
          <p:nvPr>
            <p:ph type="body" idx="1"/>
          </p:nvPr>
        </p:nvSpPr>
        <p:spPr>
          <a:xfrm>
            <a:off x="628650" y="1557475"/>
            <a:ext cx="7886700" cy="4969200"/>
          </a:xfrm>
          <a:prstGeom prst="rect">
            <a:avLst/>
          </a:prstGeom>
          <a:noFill/>
          <a:ln>
            <a:noFill/>
          </a:ln>
        </p:spPr>
        <p:txBody>
          <a:bodyPr spcFirstLastPara="1" wrap="square" lIns="91425" tIns="45700" rIns="91425" bIns="45700" anchor="t" anchorCtr="0">
            <a:normAutofit/>
          </a:bodyPr>
          <a:lstStyle/>
          <a:p>
            <a:pPr marL="228600" lvl="0" indent="-255270" algn="l" rtl="0">
              <a:lnSpc>
                <a:spcPct val="90000"/>
              </a:lnSpc>
              <a:spcBef>
                <a:spcPts val="0"/>
              </a:spcBef>
              <a:spcAft>
                <a:spcPts val="0"/>
              </a:spcAft>
              <a:buClr>
                <a:schemeClr val="dk1"/>
              </a:buClr>
              <a:buSzPts val="2800"/>
              <a:buChar char="•"/>
            </a:pPr>
            <a:r>
              <a:rPr lang="en-US"/>
              <a:t>Univariate analysis explores each variable in a dataset separately. Variable is of two main types:</a:t>
            </a:r>
            <a:endParaRPr/>
          </a:p>
          <a:p>
            <a:pPr marL="685800" lvl="1" indent="-251459" algn="l" rtl="0">
              <a:lnSpc>
                <a:spcPct val="90000"/>
              </a:lnSpc>
              <a:spcBef>
                <a:spcPts val="500"/>
              </a:spcBef>
              <a:spcAft>
                <a:spcPts val="0"/>
              </a:spcAft>
              <a:buClr>
                <a:srgbClr val="FF0000"/>
              </a:buClr>
              <a:buSzPts val="2400"/>
              <a:buChar char="•"/>
            </a:pPr>
            <a:r>
              <a:rPr lang="en-US">
                <a:solidFill>
                  <a:srgbClr val="FF0000"/>
                </a:solidFill>
              </a:rPr>
              <a:t>Categorical Data (such as country, gender etc.)</a:t>
            </a:r>
            <a:endParaRPr/>
          </a:p>
          <a:p>
            <a:pPr marL="685800" lvl="1" indent="-251459" algn="l" rtl="0">
              <a:lnSpc>
                <a:spcPct val="90000"/>
              </a:lnSpc>
              <a:spcBef>
                <a:spcPts val="500"/>
              </a:spcBef>
              <a:spcAft>
                <a:spcPts val="0"/>
              </a:spcAft>
              <a:buClr>
                <a:srgbClr val="FF0000"/>
              </a:buClr>
              <a:buSzPts val="2400"/>
              <a:buChar char="•"/>
            </a:pPr>
            <a:r>
              <a:rPr lang="en-US">
                <a:solidFill>
                  <a:srgbClr val="FF0000"/>
                </a:solidFill>
              </a:rPr>
              <a:t>Numerical Data (such as weight, age etc.)</a:t>
            </a:r>
            <a:endParaRPr>
              <a:solidFill>
                <a:srgbClr val="FF0000"/>
              </a:solidFill>
            </a:endParaRPr>
          </a:p>
          <a:p>
            <a:pPr marL="685800" lvl="1" indent="-251459" algn="l" rtl="0">
              <a:lnSpc>
                <a:spcPct val="90000"/>
              </a:lnSpc>
              <a:spcBef>
                <a:spcPts val="500"/>
              </a:spcBef>
              <a:spcAft>
                <a:spcPts val="0"/>
              </a:spcAft>
              <a:buClr>
                <a:srgbClr val="FF0000"/>
              </a:buClr>
              <a:buSzPts val="2400"/>
              <a:buChar char="•"/>
            </a:pPr>
            <a:r>
              <a:rPr lang="en-US">
                <a:solidFill>
                  <a:srgbClr val="FF0000"/>
                </a:solidFill>
              </a:rPr>
              <a:t>Mixed Type (Name, Ticket No etc.)</a:t>
            </a:r>
            <a:endParaRPr>
              <a:solidFill>
                <a:srgbClr val="FF0000"/>
              </a:solidFill>
            </a:endParaRPr>
          </a:p>
          <a:p>
            <a:pPr marL="228600" lvl="1" indent="-255270" algn="l" rtl="0">
              <a:lnSpc>
                <a:spcPct val="90000"/>
              </a:lnSpc>
              <a:spcBef>
                <a:spcPts val="1000"/>
              </a:spcBef>
              <a:spcAft>
                <a:spcPts val="0"/>
              </a:spcAft>
              <a:buClr>
                <a:schemeClr val="dk1"/>
              </a:buClr>
              <a:buSzPts val="2800"/>
              <a:buChar char="•"/>
            </a:pPr>
            <a:r>
              <a:rPr lang="en-US" sz="2800"/>
              <a:t>Univariate analysis for categorical data involves examining the distribution and characteristics of a single categorical variable. </a:t>
            </a:r>
            <a:endParaRPr/>
          </a:p>
          <a:p>
            <a:pPr marL="228600" lvl="1" indent="-255270" algn="l" rtl="0">
              <a:lnSpc>
                <a:spcPct val="90000"/>
              </a:lnSpc>
              <a:spcBef>
                <a:spcPts val="1000"/>
              </a:spcBef>
              <a:spcAft>
                <a:spcPts val="0"/>
              </a:spcAft>
              <a:buClr>
                <a:schemeClr val="dk1"/>
              </a:buClr>
              <a:buSzPts val="2800"/>
              <a:buChar char="•"/>
            </a:pPr>
            <a:r>
              <a:rPr lang="en-US" sz="2800"/>
              <a:t>It aims to understand the frequency of each category within the variable and any patterns or trends that may exist.</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69"/>
        <p:cNvGrpSpPr/>
        <p:nvPr/>
      </p:nvGrpSpPr>
      <p:grpSpPr>
        <a:xfrm>
          <a:off x="0" y="0"/>
          <a:ext cx="0" cy="0"/>
          <a:chOff x="0" y="0"/>
          <a:chExt cx="0" cy="0"/>
        </a:xfrm>
      </p:grpSpPr>
      <p:sp>
        <p:nvSpPr>
          <p:cNvPr id="170" name="Google Shape;170;g3094bd1d618_0_33"/>
          <p:cNvSpPr txBox="1">
            <a:spLocks noGrp="1"/>
          </p:cNvSpPr>
          <p:nvPr>
            <p:ph type="title"/>
          </p:nvPr>
        </p:nvSpPr>
        <p:spPr>
          <a:xfrm>
            <a:off x="628650" y="365125"/>
            <a:ext cx="7886700" cy="869700"/>
          </a:xfrm>
          <a:prstGeom prst="rect">
            <a:avLst/>
          </a:prstGeom>
        </p:spPr>
        <p:txBody>
          <a:bodyPr spcFirstLastPara="1" wrap="square" lIns="91425" tIns="45700" rIns="91425" bIns="45700" anchor="ctr" anchorCtr="0">
            <a:normAutofit fontScale="90000"/>
          </a:bodyPr>
          <a:lstStyle/>
          <a:p>
            <a:pPr marL="0" lvl="0" indent="0" algn="l" rtl="0">
              <a:spcBef>
                <a:spcPts val="0"/>
              </a:spcBef>
              <a:spcAft>
                <a:spcPts val="0"/>
              </a:spcAft>
              <a:buClr>
                <a:schemeClr val="dk1"/>
              </a:buClr>
              <a:buSzPct val="100000"/>
              <a:buFont typeface="Calibri"/>
              <a:buNone/>
            </a:pPr>
            <a:r>
              <a:rPr lang="en-US"/>
              <a:t>Univariate Analysis (Categorical Data)</a:t>
            </a:r>
            <a:endParaRPr/>
          </a:p>
        </p:txBody>
      </p:sp>
      <p:sp>
        <p:nvSpPr>
          <p:cNvPr id="171" name="Google Shape;171;g3094bd1d618_0_33"/>
          <p:cNvSpPr txBox="1">
            <a:spLocks noGrp="1"/>
          </p:cNvSpPr>
          <p:nvPr>
            <p:ph type="body" idx="1"/>
          </p:nvPr>
        </p:nvSpPr>
        <p:spPr>
          <a:xfrm>
            <a:off x="628650" y="1376375"/>
            <a:ext cx="7886700" cy="2377200"/>
          </a:xfrm>
          <a:prstGeom prst="rect">
            <a:avLst/>
          </a:prstGeom>
        </p:spPr>
        <p:txBody>
          <a:bodyPr spcFirstLastPara="1" wrap="square" lIns="91425" tIns="45700" rIns="91425" bIns="45700" anchor="t" anchorCtr="0">
            <a:normAutofit/>
          </a:bodyPr>
          <a:lstStyle/>
          <a:p>
            <a:pPr marL="228600" lvl="1" indent="-255270" algn="l" rtl="0">
              <a:spcBef>
                <a:spcPts val="1000"/>
              </a:spcBef>
              <a:spcAft>
                <a:spcPts val="0"/>
              </a:spcAft>
              <a:buSzPts val="2800"/>
              <a:buChar char="•"/>
            </a:pPr>
            <a:r>
              <a:rPr lang="en-US" sz="2800"/>
              <a:t>The univariate analysis can be performed for categorical data in the following ways:</a:t>
            </a:r>
            <a:endParaRPr/>
          </a:p>
          <a:p>
            <a:pPr marL="685800" lvl="2" indent="-252412" algn="l" rtl="0">
              <a:spcBef>
                <a:spcPts val="1000"/>
              </a:spcBef>
              <a:spcAft>
                <a:spcPts val="0"/>
              </a:spcAft>
              <a:buClr>
                <a:srgbClr val="FF0000"/>
              </a:buClr>
              <a:buSzPts val="2500"/>
              <a:buChar char="•"/>
            </a:pPr>
            <a:r>
              <a:rPr lang="en-US" sz="2500">
                <a:solidFill>
                  <a:srgbClr val="FF0000"/>
                </a:solidFill>
              </a:rPr>
              <a:t>Bar Chart: </a:t>
            </a:r>
            <a:r>
              <a:rPr lang="en-US" sz="2500"/>
              <a:t>Calculate the frequency or count of each category in the categorical variable. </a:t>
            </a:r>
            <a:r>
              <a:rPr lang="en-US" sz="2400">
                <a:solidFill>
                  <a:srgbClr val="FF0000"/>
                </a:solidFill>
              </a:rPr>
              <a:t>sns.countplot(x='Survived', data=df)</a:t>
            </a:r>
            <a:endParaRPr sz="2400">
              <a:solidFill>
                <a:srgbClr val="FF0000"/>
              </a:solidFill>
            </a:endParaRPr>
          </a:p>
          <a:p>
            <a:pPr marL="1143000" lvl="0" indent="0" algn="l" rtl="0">
              <a:spcBef>
                <a:spcPts val="1000"/>
              </a:spcBef>
              <a:spcAft>
                <a:spcPts val="0"/>
              </a:spcAft>
              <a:buNone/>
            </a:pPr>
            <a:endParaRPr/>
          </a:p>
        </p:txBody>
      </p:sp>
      <p:pic>
        <p:nvPicPr>
          <p:cNvPr id="172" name="Google Shape;172;g3094bd1d618_0_33"/>
          <p:cNvPicPr preferRelativeResize="0"/>
          <p:nvPr/>
        </p:nvPicPr>
        <p:blipFill>
          <a:blip r:embed="rId3">
            <a:alphaModFix/>
          </a:blip>
          <a:stretch>
            <a:fillRect/>
          </a:stretch>
        </p:blipFill>
        <p:spPr>
          <a:xfrm>
            <a:off x="2187872" y="3361597"/>
            <a:ext cx="4387491" cy="349640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76"/>
        <p:cNvGrpSpPr/>
        <p:nvPr/>
      </p:nvGrpSpPr>
      <p:grpSpPr>
        <a:xfrm>
          <a:off x="0" y="0"/>
          <a:ext cx="0" cy="0"/>
          <a:chOff x="0" y="0"/>
          <a:chExt cx="0" cy="0"/>
        </a:xfrm>
      </p:grpSpPr>
      <p:sp>
        <p:nvSpPr>
          <p:cNvPr id="177" name="Google Shape;177;g3094bd1d618_0_40"/>
          <p:cNvSpPr txBox="1">
            <a:spLocks noGrp="1"/>
          </p:cNvSpPr>
          <p:nvPr>
            <p:ph type="title"/>
          </p:nvPr>
        </p:nvSpPr>
        <p:spPr>
          <a:xfrm>
            <a:off x="628650" y="365126"/>
            <a:ext cx="7886700" cy="1325700"/>
          </a:xfrm>
          <a:prstGeom prst="rect">
            <a:avLst/>
          </a:prstGeom>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1100"/>
              <a:buFont typeface="Arial"/>
              <a:buNone/>
            </a:pPr>
            <a:r>
              <a:rPr lang="en-US" sz="4000"/>
              <a:t>Univariate Analysis (Categorical Data)</a:t>
            </a:r>
            <a:endParaRPr sz="4000"/>
          </a:p>
        </p:txBody>
      </p:sp>
      <p:sp>
        <p:nvSpPr>
          <p:cNvPr id="178" name="Google Shape;178;g3094bd1d618_0_40"/>
          <p:cNvSpPr txBox="1">
            <a:spLocks noGrp="1"/>
          </p:cNvSpPr>
          <p:nvPr>
            <p:ph type="body" idx="1"/>
          </p:nvPr>
        </p:nvSpPr>
        <p:spPr>
          <a:xfrm>
            <a:off x="628650" y="1825625"/>
            <a:ext cx="7886700" cy="4351200"/>
          </a:xfrm>
          <a:prstGeom prst="rect">
            <a:avLst/>
          </a:prstGeom>
        </p:spPr>
        <p:txBody>
          <a:bodyPr spcFirstLastPara="1" wrap="square" lIns="91425" tIns="45700" rIns="91425" bIns="45700" anchor="t" anchorCtr="0">
            <a:normAutofit/>
          </a:bodyPr>
          <a:lstStyle/>
          <a:p>
            <a:pPr marL="685800" lvl="2" indent="-253365" algn="l" rtl="0">
              <a:spcBef>
                <a:spcPts val="1000"/>
              </a:spcBef>
              <a:spcAft>
                <a:spcPts val="0"/>
              </a:spcAft>
              <a:buClr>
                <a:srgbClr val="FF0000"/>
              </a:buClr>
              <a:buSzPts val="2600"/>
              <a:buChar char="•"/>
            </a:pPr>
            <a:r>
              <a:rPr lang="en-US" sz="2600" dirty="0">
                <a:solidFill>
                  <a:srgbClr val="FF0000"/>
                </a:solidFill>
              </a:rPr>
              <a:t>Percentage Distribution: </a:t>
            </a:r>
            <a:r>
              <a:rPr lang="en-US" sz="2600" dirty="0"/>
              <a:t>Calculate the percentage or proportion of each category relative to the total number of observations. </a:t>
            </a:r>
            <a:r>
              <a:rPr lang="en-US" sz="2600" dirty="0" err="1">
                <a:solidFill>
                  <a:srgbClr val="FF0000"/>
                </a:solidFill>
              </a:rPr>
              <a:t>df</a:t>
            </a:r>
            <a:r>
              <a:rPr lang="en-US" sz="2600" dirty="0">
                <a:solidFill>
                  <a:srgbClr val="FF0000"/>
                </a:solidFill>
              </a:rPr>
              <a:t>['Sex'].</a:t>
            </a:r>
            <a:r>
              <a:rPr lang="en-US" sz="2600" dirty="0" err="1">
                <a:solidFill>
                  <a:srgbClr val="FF0000"/>
                </a:solidFill>
              </a:rPr>
              <a:t>value_counts</a:t>
            </a:r>
            <a:r>
              <a:rPr lang="en-US" sz="2600" dirty="0">
                <a:solidFill>
                  <a:srgbClr val="FF0000"/>
                </a:solidFill>
              </a:rPr>
              <a:t>().plot(kind='pie',</a:t>
            </a:r>
            <a:r>
              <a:rPr lang="en-US" sz="2600" dirty="0" err="1">
                <a:solidFill>
                  <a:srgbClr val="FF0000"/>
                </a:solidFill>
              </a:rPr>
              <a:t>autopct</a:t>
            </a:r>
            <a:r>
              <a:rPr lang="en-US" sz="2600" dirty="0">
                <a:solidFill>
                  <a:srgbClr val="FF0000"/>
                </a:solidFill>
              </a:rPr>
              <a:t>='%0.1f%%')</a:t>
            </a:r>
            <a:endParaRPr sz="2400" dirty="0">
              <a:solidFill>
                <a:srgbClr val="FF0000"/>
              </a:solidFill>
            </a:endParaRPr>
          </a:p>
          <a:p>
            <a:pPr marL="1143000" lvl="0" indent="0" algn="l" rtl="0">
              <a:spcBef>
                <a:spcPts val="1000"/>
              </a:spcBef>
              <a:spcAft>
                <a:spcPts val="0"/>
              </a:spcAft>
              <a:buNone/>
            </a:pPr>
            <a:endParaRPr dirty="0"/>
          </a:p>
        </p:txBody>
      </p:sp>
      <p:pic>
        <p:nvPicPr>
          <p:cNvPr id="179" name="Google Shape;179;g3094bd1d618_0_40"/>
          <p:cNvPicPr preferRelativeResize="0"/>
          <p:nvPr/>
        </p:nvPicPr>
        <p:blipFill>
          <a:blip r:embed="rId3">
            <a:alphaModFix/>
          </a:blip>
          <a:stretch>
            <a:fillRect/>
          </a:stretch>
        </p:blipFill>
        <p:spPr>
          <a:xfrm>
            <a:off x="2837525" y="3525925"/>
            <a:ext cx="3381750" cy="318525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83"/>
        <p:cNvGrpSpPr/>
        <p:nvPr/>
      </p:nvGrpSpPr>
      <p:grpSpPr>
        <a:xfrm>
          <a:off x="0" y="0"/>
          <a:ext cx="0" cy="0"/>
          <a:chOff x="0" y="0"/>
          <a:chExt cx="0" cy="0"/>
        </a:xfrm>
      </p:grpSpPr>
      <p:sp>
        <p:nvSpPr>
          <p:cNvPr id="184" name="Google Shape;184;p9"/>
          <p:cNvSpPr txBox="1">
            <a:spLocks noGrp="1"/>
          </p:cNvSpPr>
          <p:nvPr>
            <p:ph type="title"/>
          </p:nvPr>
        </p:nvSpPr>
        <p:spPr>
          <a:xfrm>
            <a:off x="628650" y="182900"/>
            <a:ext cx="7886700" cy="1060200"/>
          </a:xfrm>
          <a:prstGeom prst="rect">
            <a:avLst/>
          </a:prstGeom>
          <a:noFill/>
          <a:ln>
            <a:noFill/>
          </a:ln>
        </p:spPr>
        <p:txBody>
          <a:bodyPr spcFirstLastPara="1" wrap="square" lIns="91425" tIns="45700" rIns="91425" bIns="45700" anchor="ctr" anchorCtr="0">
            <a:normAutofit fontScale="90000"/>
          </a:bodyPr>
          <a:lstStyle/>
          <a:p>
            <a:pPr marL="0" lvl="0" indent="0" algn="l" rtl="0">
              <a:lnSpc>
                <a:spcPct val="90000"/>
              </a:lnSpc>
              <a:spcBef>
                <a:spcPts val="0"/>
              </a:spcBef>
              <a:spcAft>
                <a:spcPts val="0"/>
              </a:spcAft>
              <a:buClr>
                <a:schemeClr val="dk1"/>
              </a:buClr>
              <a:buSzPct val="100000"/>
              <a:buFont typeface="Calibri"/>
              <a:buNone/>
            </a:pPr>
            <a:r>
              <a:rPr lang="en-US"/>
              <a:t>Univariate Analysis (Numerical Data)</a:t>
            </a:r>
            <a:endParaRPr/>
          </a:p>
        </p:txBody>
      </p:sp>
      <p:sp>
        <p:nvSpPr>
          <p:cNvPr id="185" name="Google Shape;185;p9"/>
          <p:cNvSpPr txBox="1">
            <a:spLocks noGrp="1"/>
          </p:cNvSpPr>
          <p:nvPr>
            <p:ph type="body" idx="1"/>
          </p:nvPr>
        </p:nvSpPr>
        <p:spPr>
          <a:xfrm>
            <a:off x="628650" y="1456875"/>
            <a:ext cx="7886700" cy="4883100"/>
          </a:xfrm>
          <a:prstGeom prst="rect">
            <a:avLst/>
          </a:prstGeom>
          <a:noFill/>
          <a:ln>
            <a:noFill/>
          </a:ln>
        </p:spPr>
        <p:txBody>
          <a:bodyPr spcFirstLastPara="1" wrap="square" lIns="91425" tIns="45700" rIns="91425" bIns="45700" anchor="t" anchorCtr="0">
            <a:normAutofit/>
          </a:bodyPr>
          <a:lstStyle/>
          <a:p>
            <a:pPr marL="228600" lvl="0" indent="-241934" algn="l" rtl="0">
              <a:lnSpc>
                <a:spcPct val="90000"/>
              </a:lnSpc>
              <a:spcBef>
                <a:spcPts val="0"/>
              </a:spcBef>
              <a:spcAft>
                <a:spcPts val="0"/>
              </a:spcAft>
              <a:buClr>
                <a:schemeClr val="dk1"/>
              </a:buClr>
              <a:buSzPts val="2800"/>
              <a:buChar char="•"/>
            </a:pPr>
            <a:r>
              <a:rPr lang="en-US"/>
              <a:t>Univariate analysis for numerical data involves exploring the distribution and characteristics of a single numerical variable. </a:t>
            </a:r>
            <a:endParaRPr/>
          </a:p>
          <a:p>
            <a:pPr marL="228600" lvl="0" indent="-241934" algn="l" rtl="0">
              <a:lnSpc>
                <a:spcPct val="90000"/>
              </a:lnSpc>
              <a:spcBef>
                <a:spcPts val="1000"/>
              </a:spcBef>
              <a:spcAft>
                <a:spcPts val="0"/>
              </a:spcAft>
              <a:buClr>
                <a:schemeClr val="dk1"/>
              </a:buClr>
              <a:buSzPts val="2800"/>
              <a:buChar char="•"/>
            </a:pPr>
            <a:r>
              <a:rPr lang="en-US"/>
              <a:t>Here's how univariate analysis can be performed for numerical data:</a:t>
            </a:r>
            <a:endParaRPr/>
          </a:p>
          <a:p>
            <a:pPr marL="685800" lvl="1" indent="-240030" algn="l" rtl="0">
              <a:lnSpc>
                <a:spcPct val="90000"/>
              </a:lnSpc>
              <a:spcBef>
                <a:spcPts val="500"/>
              </a:spcBef>
              <a:spcAft>
                <a:spcPts val="0"/>
              </a:spcAft>
              <a:buClr>
                <a:srgbClr val="FF0000"/>
              </a:buClr>
              <a:buSzPts val="2400"/>
              <a:buChar char="•"/>
            </a:pPr>
            <a:r>
              <a:rPr lang="en-US">
                <a:solidFill>
                  <a:srgbClr val="FF0000"/>
                </a:solidFill>
              </a:rPr>
              <a:t>Mean: </a:t>
            </a:r>
            <a:r>
              <a:rPr lang="en-US"/>
              <a:t>Calculate the </a:t>
            </a:r>
            <a:r>
              <a:rPr lang="en-US">
                <a:solidFill>
                  <a:srgbClr val="FF0000"/>
                </a:solidFill>
              </a:rPr>
              <a:t>arithmetic average </a:t>
            </a:r>
            <a:r>
              <a:rPr lang="en-US"/>
              <a:t>of the data points. It gives an indication of the central tendency of the data.</a:t>
            </a:r>
            <a:endParaRPr/>
          </a:p>
          <a:p>
            <a:pPr marL="685800" lvl="1" indent="-240030" algn="l" rtl="0">
              <a:lnSpc>
                <a:spcPct val="90000"/>
              </a:lnSpc>
              <a:spcBef>
                <a:spcPts val="500"/>
              </a:spcBef>
              <a:spcAft>
                <a:spcPts val="0"/>
              </a:spcAft>
              <a:buClr>
                <a:srgbClr val="FF0000"/>
              </a:buClr>
              <a:buSzPts val="2400"/>
              <a:buChar char="•"/>
            </a:pPr>
            <a:r>
              <a:rPr lang="en-US">
                <a:solidFill>
                  <a:srgbClr val="FF0000"/>
                </a:solidFill>
              </a:rPr>
              <a:t>Median: </a:t>
            </a:r>
            <a:r>
              <a:rPr lang="en-US"/>
              <a:t>Determine the </a:t>
            </a:r>
            <a:r>
              <a:rPr lang="en-US">
                <a:solidFill>
                  <a:srgbClr val="FF0000"/>
                </a:solidFill>
              </a:rPr>
              <a:t>middle value of the dataset </a:t>
            </a:r>
            <a:r>
              <a:rPr lang="en-US"/>
              <a:t>when it is sorted in ascending order. It is less sensitive to outliers than the mean and provides a robust measure of central tendency.</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89"/>
        <p:cNvGrpSpPr/>
        <p:nvPr/>
      </p:nvGrpSpPr>
      <p:grpSpPr>
        <a:xfrm>
          <a:off x="0" y="0"/>
          <a:ext cx="0" cy="0"/>
          <a:chOff x="0" y="0"/>
          <a:chExt cx="0" cy="0"/>
        </a:xfrm>
      </p:grpSpPr>
      <p:sp>
        <p:nvSpPr>
          <p:cNvPr id="190" name="Google Shape;190;g3094bd1d618_0_54"/>
          <p:cNvSpPr txBox="1">
            <a:spLocks noGrp="1"/>
          </p:cNvSpPr>
          <p:nvPr>
            <p:ph type="title"/>
          </p:nvPr>
        </p:nvSpPr>
        <p:spPr>
          <a:xfrm>
            <a:off x="628650" y="288925"/>
            <a:ext cx="7886700" cy="816900"/>
          </a:xfrm>
          <a:prstGeom prst="rect">
            <a:avLst/>
          </a:prstGeom>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4400"/>
              <a:buFont typeface="Calibri"/>
              <a:buNone/>
            </a:pPr>
            <a:r>
              <a:rPr lang="en-US" sz="4000"/>
              <a:t>Univariate Analysis (Numerical Data)</a:t>
            </a:r>
            <a:endParaRPr sz="4000"/>
          </a:p>
        </p:txBody>
      </p:sp>
      <p:sp>
        <p:nvSpPr>
          <p:cNvPr id="191" name="Google Shape;191;g3094bd1d618_0_54"/>
          <p:cNvSpPr txBox="1">
            <a:spLocks noGrp="1"/>
          </p:cNvSpPr>
          <p:nvPr>
            <p:ph type="body" idx="1"/>
          </p:nvPr>
        </p:nvSpPr>
        <p:spPr>
          <a:xfrm>
            <a:off x="628650" y="1175425"/>
            <a:ext cx="7886700" cy="2939100"/>
          </a:xfrm>
          <a:prstGeom prst="rect">
            <a:avLst/>
          </a:prstGeom>
        </p:spPr>
        <p:txBody>
          <a:bodyPr spcFirstLastPara="1" wrap="square" lIns="91425" tIns="45700" rIns="91425" bIns="45700" anchor="t" anchorCtr="0">
            <a:normAutofit fontScale="92500" lnSpcReduction="20000"/>
          </a:bodyPr>
          <a:lstStyle/>
          <a:p>
            <a:pPr marL="685800" lvl="1" indent="-217170" algn="l" rtl="0">
              <a:spcBef>
                <a:spcPts val="500"/>
              </a:spcBef>
              <a:spcAft>
                <a:spcPts val="0"/>
              </a:spcAft>
              <a:buClr>
                <a:srgbClr val="FF0000"/>
              </a:buClr>
              <a:buSzPct val="100000"/>
              <a:buChar char="•"/>
            </a:pPr>
            <a:r>
              <a:rPr lang="en-US">
                <a:solidFill>
                  <a:srgbClr val="FF0000"/>
                </a:solidFill>
              </a:rPr>
              <a:t>Skewness: </a:t>
            </a:r>
            <a:r>
              <a:rPr lang="en-US"/>
              <a:t>Assess the </a:t>
            </a:r>
            <a:r>
              <a:rPr lang="en-US">
                <a:solidFill>
                  <a:srgbClr val="FF0000"/>
                </a:solidFill>
              </a:rPr>
              <a:t>asymmetry and tail heaviness </a:t>
            </a:r>
            <a:r>
              <a:rPr lang="en-US"/>
              <a:t>of the distribution. Skewness measures the deviation from symmetry.</a:t>
            </a:r>
            <a:endParaRPr/>
          </a:p>
          <a:p>
            <a:pPr marL="685800" lvl="1" indent="-217170" algn="l" rtl="0">
              <a:spcBef>
                <a:spcPts val="500"/>
              </a:spcBef>
              <a:spcAft>
                <a:spcPts val="0"/>
              </a:spcAft>
              <a:buClr>
                <a:srgbClr val="FF0000"/>
              </a:buClr>
              <a:buSzPct val="100000"/>
              <a:buChar char="•"/>
            </a:pPr>
            <a:r>
              <a:rPr lang="en-US">
                <a:solidFill>
                  <a:srgbClr val="FF0000"/>
                </a:solidFill>
              </a:rPr>
              <a:t>Histogram: </a:t>
            </a:r>
            <a:endParaRPr>
              <a:solidFill>
                <a:srgbClr val="FF0000"/>
              </a:solidFill>
            </a:endParaRPr>
          </a:p>
          <a:p>
            <a:pPr marL="1143000" lvl="2" indent="-243839" algn="l" rtl="0">
              <a:spcBef>
                <a:spcPts val="500"/>
              </a:spcBef>
              <a:spcAft>
                <a:spcPts val="0"/>
              </a:spcAft>
              <a:buClr>
                <a:srgbClr val="FF0000"/>
              </a:buClr>
              <a:buSzPct val="120000"/>
              <a:buChar char="•"/>
            </a:pPr>
            <a:r>
              <a:rPr lang="en-US"/>
              <a:t>Create a histogram to </a:t>
            </a:r>
            <a:r>
              <a:rPr lang="en-US">
                <a:solidFill>
                  <a:srgbClr val="FF0000"/>
                </a:solidFill>
              </a:rPr>
              <a:t>visualize the frequency distribution</a:t>
            </a:r>
            <a:r>
              <a:rPr lang="en-US"/>
              <a:t> of the numerical variable. </a:t>
            </a:r>
            <a:endParaRPr/>
          </a:p>
          <a:p>
            <a:pPr marL="1143000" lvl="2" indent="-243839" algn="l" rtl="0">
              <a:spcBef>
                <a:spcPts val="500"/>
              </a:spcBef>
              <a:spcAft>
                <a:spcPts val="0"/>
              </a:spcAft>
              <a:buClr>
                <a:srgbClr val="FF0000"/>
              </a:buClr>
              <a:buSzPct val="120000"/>
              <a:buChar char="•"/>
            </a:pPr>
            <a:r>
              <a:rPr lang="en-US"/>
              <a:t>It divides the range of the variable into bins and displays the count or density of observations in each bin. </a:t>
            </a:r>
            <a:endParaRPr/>
          </a:p>
          <a:p>
            <a:pPr marL="685800" lvl="1" indent="-211455" algn="l" rtl="0">
              <a:lnSpc>
                <a:spcPct val="131250"/>
              </a:lnSpc>
              <a:spcBef>
                <a:spcPts val="0"/>
              </a:spcBef>
              <a:spcAft>
                <a:spcPts val="0"/>
              </a:spcAft>
              <a:buSzPct val="75000"/>
              <a:buChar char="•"/>
            </a:pPr>
            <a:r>
              <a:rPr lang="en-US">
                <a:solidFill>
                  <a:srgbClr val="FF0000"/>
                </a:solidFill>
              </a:rPr>
              <a:t>sns.histplot(titanic['age'], bins=27, color='blue', alpha=0.6)</a:t>
            </a:r>
            <a:endParaRPr>
              <a:solidFill>
                <a:srgbClr val="FF0000"/>
              </a:solidFill>
            </a:endParaRPr>
          </a:p>
          <a:p>
            <a:pPr marL="685800" lvl="1" indent="-211455" algn="l" rtl="0">
              <a:lnSpc>
                <a:spcPct val="131250"/>
              </a:lnSpc>
              <a:spcBef>
                <a:spcPts val="0"/>
              </a:spcBef>
              <a:spcAft>
                <a:spcPts val="0"/>
              </a:spcAft>
              <a:buSzPct val="75000"/>
              <a:buChar char="•"/>
            </a:pPr>
            <a:r>
              <a:rPr lang="en-US">
                <a:solidFill>
                  <a:srgbClr val="FF0000"/>
                </a:solidFill>
              </a:rPr>
              <a:t>sns.histplot(titanic['fare'], bins=30, color='orange', alpha=0.6)</a:t>
            </a:r>
            <a:endParaRPr/>
          </a:p>
          <a:p>
            <a:pPr marL="685800" lvl="0" indent="0" algn="l" rtl="0">
              <a:spcBef>
                <a:spcPts val="1000"/>
              </a:spcBef>
              <a:spcAft>
                <a:spcPts val="0"/>
              </a:spcAft>
              <a:buNone/>
            </a:pPr>
            <a:endParaRPr/>
          </a:p>
        </p:txBody>
      </p:sp>
      <p:pic>
        <p:nvPicPr>
          <p:cNvPr id="192" name="Google Shape;192;g3094bd1d618_0_54"/>
          <p:cNvPicPr preferRelativeResize="0"/>
          <p:nvPr/>
        </p:nvPicPr>
        <p:blipFill>
          <a:blip r:embed="rId3">
            <a:alphaModFix/>
          </a:blip>
          <a:stretch>
            <a:fillRect/>
          </a:stretch>
        </p:blipFill>
        <p:spPr>
          <a:xfrm>
            <a:off x="1212325" y="3753649"/>
            <a:ext cx="7081624" cy="2990375"/>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96"/>
        <p:cNvGrpSpPr/>
        <p:nvPr/>
      </p:nvGrpSpPr>
      <p:grpSpPr>
        <a:xfrm>
          <a:off x="0" y="0"/>
          <a:ext cx="0" cy="0"/>
          <a:chOff x="0" y="0"/>
          <a:chExt cx="0" cy="0"/>
        </a:xfrm>
      </p:grpSpPr>
      <p:sp>
        <p:nvSpPr>
          <p:cNvPr id="197" name="Google Shape;197;g3096f5665a1_0_261"/>
          <p:cNvSpPr txBox="1">
            <a:spLocks noGrp="1"/>
          </p:cNvSpPr>
          <p:nvPr>
            <p:ph type="title"/>
          </p:nvPr>
        </p:nvSpPr>
        <p:spPr>
          <a:xfrm>
            <a:off x="628650" y="212725"/>
            <a:ext cx="7886700" cy="798900"/>
          </a:xfrm>
          <a:prstGeom prst="rect">
            <a:avLst/>
          </a:prstGeom>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4400"/>
              <a:buFont typeface="Calibri"/>
              <a:buNone/>
            </a:pPr>
            <a:r>
              <a:rPr lang="en-US" sz="4000"/>
              <a:t>Univariate Analysis (Numerical Data)</a:t>
            </a:r>
            <a:endParaRPr/>
          </a:p>
        </p:txBody>
      </p:sp>
      <p:sp>
        <p:nvSpPr>
          <p:cNvPr id="198" name="Google Shape;198;g3096f5665a1_0_261"/>
          <p:cNvSpPr txBox="1">
            <a:spLocks noGrp="1"/>
          </p:cNvSpPr>
          <p:nvPr>
            <p:ph type="body" idx="1"/>
          </p:nvPr>
        </p:nvSpPr>
        <p:spPr>
          <a:xfrm>
            <a:off x="628650" y="1049425"/>
            <a:ext cx="7886700" cy="2154300"/>
          </a:xfrm>
          <a:prstGeom prst="rect">
            <a:avLst/>
          </a:prstGeom>
        </p:spPr>
        <p:txBody>
          <a:bodyPr spcFirstLastPara="1" wrap="square" lIns="91425" tIns="45700" rIns="91425" bIns="45700" anchor="t" anchorCtr="0">
            <a:normAutofit fontScale="92500" lnSpcReduction="20000"/>
          </a:bodyPr>
          <a:lstStyle/>
          <a:p>
            <a:pPr marL="685800" lvl="1" indent="-228600" algn="l" rtl="0">
              <a:spcBef>
                <a:spcPts val="500"/>
              </a:spcBef>
              <a:spcAft>
                <a:spcPts val="0"/>
              </a:spcAft>
              <a:buClr>
                <a:srgbClr val="FF0000"/>
              </a:buClr>
              <a:buSzPct val="100000"/>
              <a:buChar char="•"/>
            </a:pPr>
            <a:r>
              <a:rPr lang="en-US">
                <a:solidFill>
                  <a:srgbClr val="FF0000"/>
                </a:solidFill>
              </a:rPr>
              <a:t>Box Plot: </a:t>
            </a:r>
            <a:r>
              <a:rPr lang="en-US"/>
              <a:t>Construct a box plot (box-and-whisker plot) to display the distribution of the numerical variable, including its </a:t>
            </a:r>
            <a:r>
              <a:rPr lang="en-US">
                <a:solidFill>
                  <a:srgbClr val="FF0000"/>
                </a:solidFill>
              </a:rPr>
              <a:t>median, quartiles, and outliers</a:t>
            </a:r>
            <a:r>
              <a:rPr lang="en-US"/>
              <a:t>. </a:t>
            </a:r>
            <a:endParaRPr/>
          </a:p>
          <a:p>
            <a:pPr marL="685800" lvl="1" indent="-228600" algn="l" rtl="0">
              <a:spcBef>
                <a:spcPts val="500"/>
              </a:spcBef>
              <a:spcAft>
                <a:spcPts val="0"/>
              </a:spcAft>
              <a:buClr>
                <a:srgbClr val="FF0000"/>
              </a:buClr>
              <a:buSzPct val="100000"/>
              <a:buChar char="•"/>
            </a:pPr>
            <a:r>
              <a:rPr lang="en-US"/>
              <a:t>Box plots are useful for detecting skewness, outliers, and variability in the data.</a:t>
            </a:r>
            <a:endParaRPr/>
          </a:p>
          <a:p>
            <a:pPr marL="685800" lvl="1" indent="-255269" algn="l" rtl="0">
              <a:lnSpc>
                <a:spcPct val="131250"/>
              </a:lnSpc>
              <a:spcBef>
                <a:spcPts val="0"/>
              </a:spcBef>
              <a:spcAft>
                <a:spcPts val="0"/>
              </a:spcAft>
              <a:buClr>
                <a:srgbClr val="FF0000"/>
              </a:buClr>
              <a:buSzPct val="100000"/>
              <a:buChar char="•"/>
            </a:pPr>
            <a:r>
              <a:rPr lang="en-US">
                <a:solidFill>
                  <a:srgbClr val="FF0000"/>
                </a:solidFill>
              </a:rPr>
              <a:t>sns.boxplot(y=titanic[age]) </a:t>
            </a:r>
            <a:endParaRPr>
              <a:solidFill>
                <a:srgbClr val="FF0000"/>
              </a:solidFill>
            </a:endParaRPr>
          </a:p>
          <a:p>
            <a:pPr marL="685800" lvl="1" indent="-255269" algn="l" rtl="0">
              <a:lnSpc>
                <a:spcPct val="131250"/>
              </a:lnSpc>
              <a:spcBef>
                <a:spcPts val="0"/>
              </a:spcBef>
              <a:spcAft>
                <a:spcPts val="0"/>
              </a:spcAft>
              <a:buClr>
                <a:srgbClr val="FF0000"/>
              </a:buClr>
              <a:buSzPct val="100000"/>
              <a:buChar char="•"/>
            </a:pPr>
            <a:r>
              <a:rPr lang="en-US">
                <a:solidFill>
                  <a:srgbClr val="FF0000"/>
                </a:solidFill>
              </a:rPr>
              <a:t>sns.boxplot(y=titanic[fare]) </a:t>
            </a:r>
            <a:endParaRPr/>
          </a:p>
        </p:txBody>
      </p:sp>
      <p:pic>
        <p:nvPicPr>
          <p:cNvPr id="199" name="Google Shape;199;g3096f5665a1_0_261"/>
          <p:cNvPicPr preferRelativeResize="0"/>
          <p:nvPr/>
        </p:nvPicPr>
        <p:blipFill>
          <a:blip r:embed="rId3">
            <a:alphaModFix/>
          </a:blip>
          <a:stretch>
            <a:fillRect/>
          </a:stretch>
        </p:blipFill>
        <p:spPr>
          <a:xfrm>
            <a:off x="1082300" y="3339025"/>
            <a:ext cx="7074901" cy="3479925"/>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How to Interpret a Boxplot?</a:t>
            </a:r>
            <a:br>
              <a:rPr lang="en-US" b="1" dirty="0"/>
            </a:br>
            <a:endParaRPr lang="en-US" dirty="0"/>
          </a:p>
        </p:txBody>
      </p:sp>
      <p:sp>
        <p:nvSpPr>
          <p:cNvPr id="3" name="Text Placeholder 2"/>
          <p:cNvSpPr>
            <a:spLocks noGrp="1"/>
          </p:cNvSpPr>
          <p:nvPr>
            <p:ph type="body" idx="1"/>
          </p:nvPr>
        </p:nvSpPr>
        <p:spPr>
          <a:xfrm>
            <a:off x="628650" y="1064525"/>
            <a:ext cx="7886700" cy="5112438"/>
          </a:xfrm>
        </p:spPr>
        <p:txBody>
          <a:bodyPr>
            <a:normAutofit fontScale="92500" lnSpcReduction="20000"/>
          </a:bodyPr>
          <a:lstStyle/>
          <a:p>
            <a:r>
              <a:rPr lang="en-US" sz="2000" dirty="0"/>
              <a:t>A </a:t>
            </a:r>
            <a:r>
              <a:rPr lang="en-US" sz="2000" b="1" dirty="0"/>
              <a:t>boxplot</a:t>
            </a:r>
            <a:r>
              <a:rPr lang="en-US" sz="2000" dirty="0"/>
              <a:t> is a graphical representation of the </a:t>
            </a:r>
            <a:r>
              <a:rPr lang="en-US" sz="2000" b="1" dirty="0"/>
              <a:t>distribution of a dataset</a:t>
            </a:r>
            <a:r>
              <a:rPr lang="en-US" sz="2000" dirty="0"/>
              <a:t> based on five key summary statistics:</a:t>
            </a:r>
          </a:p>
          <a:p>
            <a:r>
              <a:rPr lang="en-US" sz="2000" b="1" dirty="0"/>
              <a:t>Minimum</a:t>
            </a:r>
            <a:r>
              <a:rPr lang="en-US" sz="2000" dirty="0"/>
              <a:t> – The smallest value (excluding outliers).</a:t>
            </a:r>
          </a:p>
          <a:p>
            <a:r>
              <a:rPr lang="en-US" sz="2000" b="1" dirty="0"/>
              <a:t>First Quartile (Q1)</a:t>
            </a:r>
            <a:r>
              <a:rPr lang="en-US" sz="2000" dirty="0"/>
              <a:t> – The 25th percentile (lower quartile).</a:t>
            </a:r>
          </a:p>
          <a:p>
            <a:r>
              <a:rPr lang="en-US" sz="2000" b="1" dirty="0"/>
              <a:t>Median (Q2)</a:t>
            </a:r>
            <a:r>
              <a:rPr lang="en-US" sz="2000" dirty="0"/>
              <a:t> – The 50th percentile (middle value).</a:t>
            </a:r>
          </a:p>
          <a:p>
            <a:r>
              <a:rPr lang="en-US" sz="2000" b="1" dirty="0"/>
              <a:t>Third Quartile (Q3)</a:t>
            </a:r>
            <a:r>
              <a:rPr lang="en-US" sz="2000" dirty="0"/>
              <a:t> – The 75th percentile (upper quartile).</a:t>
            </a:r>
          </a:p>
          <a:p>
            <a:r>
              <a:rPr lang="en-US" sz="2000" b="1" dirty="0"/>
              <a:t>Maximum</a:t>
            </a:r>
            <a:r>
              <a:rPr lang="en-US" sz="2000" dirty="0"/>
              <a:t> – The largest value (excluding outliers).</a:t>
            </a:r>
          </a:p>
          <a:p>
            <a:r>
              <a:rPr lang="en-US" sz="2000" dirty="0"/>
              <a:t>It also displays </a:t>
            </a:r>
            <a:r>
              <a:rPr lang="en-US" sz="2000" b="1" dirty="0"/>
              <a:t>outliers</a:t>
            </a:r>
            <a:r>
              <a:rPr lang="en-US" sz="2000" dirty="0"/>
              <a:t> as individual points beyond the whiskers.</a:t>
            </a:r>
          </a:p>
          <a:p>
            <a:endParaRPr lang="en-US" sz="2000" b="1" dirty="0" smtClean="0"/>
          </a:p>
          <a:p>
            <a:endParaRPr lang="en-US" sz="2000" b="1" dirty="0"/>
          </a:p>
          <a:p>
            <a:r>
              <a:rPr lang="en-US" sz="2000" b="1" dirty="0" smtClean="0"/>
              <a:t>Box </a:t>
            </a:r>
            <a:r>
              <a:rPr lang="en-US" sz="2000" b="1" dirty="0"/>
              <a:t>(IQR: Interquartile Range)</a:t>
            </a:r>
            <a:r>
              <a:rPr lang="en-US" sz="2000" dirty="0"/>
              <a:t> → Shows the middle </a:t>
            </a:r>
            <a:r>
              <a:rPr lang="en-US" sz="2000" b="1" dirty="0"/>
              <a:t>50% of the data</a:t>
            </a:r>
            <a:r>
              <a:rPr lang="en-US" sz="2000" dirty="0"/>
              <a:t> (Q1 to Q3).</a:t>
            </a:r>
          </a:p>
          <a:p>
            <a:r>
              <a:rPr lang="en-US" sz="2000" b="1" dirty="0"/>
              <a:t>Line inside the box</a:t>
            </a:r>
            <a:r>
              <a:rPr lang="en-US" sz="2000" dirty="0"/>
              <a:t> → Represents the </a:t>
            </a:r>
            <a:r>
              <a:rPr lang="en-US" sz="2000" b="1" dirty="0"/>
              <a:t>median (Q2)</a:t>
            </a:r>
            <a:r>
              <a:rPr lang="en-US" sz="2000" dirty="0"/>
              <a:t>.</a:t>
            </a:r>
          </a:p>
          <a:p>
            <a:r>
              <a:rPr lang="en-US" sz="2000" b="1" dirty="0"/>
              <a:t>Whiskers</a:t>
            </a:r>
            <a:r>
              <a:rPr lang="en-US" sz="2000" dirty="0"/>
              <a:t> → Extend to the lowest and highest values </a:t>
            </a:r>
            <a:r>
              <a:rPr lang="en-US" sz="2000" b="1" dirty="0"/>
              <a:t>within</a:t>
            </a:r>
            <a:r>
              <a:rPr lang="en-US" sz="2000" dirty="0"/>
              <a:t> 1.5 times the IQR.</a:t>
            </a:r>
          </a:p>
          <a:p>
            <a:r>
              <a:rPr lang="en-US" sz="2000" b="1" dirty="0"/>
              <a:t>Dots outside the whiskers</a:t>
            </a:r>
            <a:r>
              <a:rPr lang="en-US" sz="2000" dirty="0"/>
              <a:t> → Indicate </a:t>
            </a:r>
            <a:r>
              <a:rPr lang="en-US" sz="2000" b="1" dirty="0"/>
              <a:t>outliers</a:t>
            </a:r>
            <a:r>
              <a:rPr lang="en-US" sz="2000" dirty="0"/>
              <a:t> (values beyond 1.5×IQR).</a:t>
            </a:r>
          </a:p>
          <a:p>
            <a:endParaRPr lang="en-US" dirty="0"/>
          </a:p>
        </p:txBody>
      </p:sp>
    </p:spTree>
    <p:extLst>
      <p:ext uri="{BB962C8B-B14F-4D97-AF65-F5344CB8AC3E}">
        <p14:creationId xmlns:p14="http://schemas.microsoft.com/office/powerpoint/2010/main" val="176509405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03"/>
        <p:cNvGrpSpPr/>
        <p:nvPr/>
      </p:nvGrpSpPr>
      <p:grpSpPr>
        <a:xfrm>
          <a:off x="0" y="0"/>
          <a:ext cx="0" cy="0"/>
          <a:chOff x="0" y="0"/>
          <a:chExt cx="0" cy="0"/>
        </a:xfrm>
      </p:grpSpPr>
      <p:sp>
        <p:nvSpPr>
          <p:cNvPr id="204" name="Google Shape;204;p10"/>
          <p:cNvSpPr txBox="1">
            <a:spLocks noGrp="1"/>
          </p:cNvSpPr>
          <p:nvPr>
            <p:ph type="title"/>
          </p:nvPr>
        </p:nvSpPr>
        <p:spPr>
          <a:xfrm>
            <a:off x="628650" y="232598"/>
            <a:ext cx="7886700" cy="8766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000"/>
              <a:buFont typeface="Calibri"/>
              <a:buNone/>
            </a:pPr>
            <a:r>
              <a:rPr lang="en-US" sz="4000"/>
              <a:t>Bivariate Analysis</a:t>
            </a:r>
            <a:endParaRPr/>
          </a:p>
        </p:txBody>
      </p:sp>
      <p:sp>
        <p:nvSpPr>
          <p:cNvPr id="205" name="Google Shape;205;p10"/>
          <p:cNvSpPr txBox="1">
            <a:spLocks noGrp="1"/>
          </p:cNvSpPr>
          <p:nvPr>
            <p:ph type="body" idx="1"/>
          </p:nvPr>
        </p:nvSpPr>
        <p:spPr>
          <a:xfrm>
            <a:off x="628650" y="1139450"/>
            <a:ext cx="7886700" cy="5537400"/>
          </a:xfrm>
          <a:prstGeom prst="rect">
            <a:avLst/>
          </a:prstGeom>
          <a:noFill/>
          <a:ln>
            <a:noFill/>
          </a:ln>
        </p:spPr>
        <p:txBody>
          <a:bodyPr spcFirstLastPara="1" wrap="square" lIns="91425" tIns="45700" rIns="91425" bIns="45700" anchor="t" anchorCtr="0">
            <a:normAutofit lnSpcReduction="10000"/>
          </a:bodyPr>
          <a:lstStyle/>
          <a:p>
            <a:pPr marL="228600" lvl="0" indent="-255270" algn="l" rtl="0">
              <a:lnSpc>
                <a:spcPct val="90000"/>
              </a:lnSpc>
              <a:spcBef>
                <a:spcPts val="0"/>
              </a:spcBef>
              <a:spcAft>
                <a:spcPts val="0"/>
              </a:spcAft>
              <a:buClr>
                <a:schemeClr val="dk1"/>
              </a:buClr>
              <a:buSzPts val="2800"/>
              <a:buChar char="•"/>
            </a:pPr>
            <a:r>
              <a:rPr lang="en-US"/>
              <a:t>Bivariate analysis is a statistical method used to analyze the relationship between </a:t>
            </a:r>
            <a:r>
              <a:rPr lang="en-US">
                <a:solidFill>
                  <a:srgbClr val="FF0000"/>
                </a:solidFill>
              </a:rPr>
              <a:t>two variables simultaneously</a:t>
            </a:r>
            <a:r>
              <a:rPr lang="en-US"/>
              <a:t>. </a:t>
            </a:r>
            <a:endParaRPr/>
          </a:p>
          <a:p>
            <a:pPr marL="228600" lvl="0" indent="-255270" algn="l" rtl="0">
              <a:lnSpc>
                <a:spcPct val="90000"/>
              </a:lnSpc>
              <a:spcBef>
                <a:spcPts val="0"/>
              </a:spcBef>
              <a:spcAft>
                <a:spcPts val="0"/>
              </a:spcAft>
              <a:buClr>
                <a:schemeClr val="dk1"/>
              </a:buClr>
              <a:buSzPts val="2800"/>
              <a:buChar char="•"/>
            </a:pPr>
            <a:r>
              <a:rPr lang="en-US"/>
              <a:t>It explores the </a:t>
            </a:r>
            <a:r>
              <a:rPr lang="en-US">
                <a:solidFill>
                  <a:srgbClr val="FF0000"/>
                </a:solidFill>
              </a:rPr>
              <a:t>association, correlation, or dependency </a:t>
            </a:r>
            <a:r>
              <a:rPr lang="en-US"/>
              <a:t>between two variables to understand </a:t>
            </a:r>
            <a:r>
              <a:rPr lang="en-US">
                <a:solidFill>
                  <a:srgbClr val="FF0000"/>
                </a:solidFill>
              </a:rPr>
              <a:t>how changes in one variable are related to changes in another</a:t>
            </a:r>
            <a:r>
              <a:rPr lang="en-US"/>
              <a:t>.</a:t>
            </a:r>
            <a:endParaRPr/>
          </a:p>
          <a:p>
            <a:pPr marL="228600" lvl="0" indent="-255270" algn="l" rtl="0">
              <a:lnSpc>
                <a:spcPct val="90000"/>
              </a:lnSpc>
              <a:spcBef>
                <a:spcPts val="1000"/>
              </a:spcBef>
              <a:spcAft>
                <a:spcPts val="0"/>
              </a:spcAft>
              <a:buClr>
                <a:schemeClr val="dk1"/>
              </a:buClr>
              <a:buSzPts val="2800"/>
              <a:buChar char="•"/>
            </a:pPr>
            <a:r>
              <a:rPr lang="en-US"/>
              <a:t>In bivariate analysis, the </a:t>
            </a:r>
            <a:r>
              <a:rPr lang="en-US">
                <a:solidFill>
                  <a:srgbClr val="FF0000"/>
                </a:solidFill>
              </a:rPr>
              <a:t>two variables being studied are typically referred</a:t>
            </a:r>
            <a:r>
              <a:rPr lang="en-US"/>
              <a:t> to as the </a:t>
            </a:r>
            <a:r>
              <a:rPr lang="en-US">
                <a:solidFill>
                  <a:srgbClr val="FF0000"/>
                </a:solidFill>
              </a:rPr>
              <a:t>independent variable and the dependent variable</a:t>
            </a:r>
            <a:r>
              <a:rPr lang="en-US"/>
              <a:t>. </a:t>
            </a:r>
            <a:endParaRPr/>
          </a:p>
          <a:p>
            <a:pPr marL="228600" lvl="0" indent="-255270" algn="l" rtl="0">
              <a:lnSpc>
                <a:spcPct val="90000"/>
              </a:lnSpc>
              <a:spcBef>
                <a:spcPts val="1000"/>
              </a:spcBef>
              <a:spcAft>
                <a:spcPts val="0"/>
              </a:spcAft>
              <a:buClr>
                <a:schemeClr val="dk1"/>
              </a:buClr>
              <a:buSzPts val="2800"/>
              <a:buChar char="•"/>
            </a:pPr>
            <a:r>
              <a:rPr lang="en-US"/>
              <a:t>The independent variable is the variable that is manipulated or controlled by the researcher, while the dependent variable is the variable that is observed and measured to see how it responds to changes in the independent variable.</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09"/>
        <p:cNvGrpSpPr/>
        <p:nvPr/>
      </p:nvGrpSpPr>
      <p:grpSpPr>
        <a:xfrm>
          <a:off x="0" y="0"/>
          <a:ext cx="0" cy="0"/>
          <a:chOff x="0" y="0"/>
          <a:chExt cx="0" cy="0"/>
        </a:xfrm>
      </p:grpSpPr>
      <p:sp>
        <p:nvSpPr>
          <p:cNvPr id="210" name="Google Shape;210;g3096f5665a1_0_268"/>
          <p:cNvSpPr txBox="1">
            <a:spLocks noGrp="1"/>
          </p:cNvSpPr>
          <p:nvPr>
            <p:ph type="title"/>
          </p:nvPr>
        </p:nvSpPr>
        <p:spPr>
          <a:xfrm>
            <a:off x="628650" y="136525"/>
            <a:ext cx="7886700" cy="765300"/>
          </a:xfrm>
          <a:prstGeom prst="rect">
            <a:avLst/>
          </a:prstGeom>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4000"/>
              <a:buFont typeface="Calibri"/>
              <a:buNone/>
            </a:pPr>
            <a:r>
              <a:rPr lang="en-US" sz="4000"/>
              <a:t>Bivariate Analysis</a:t>
            </a:r>
            <a:endParaRPr/>
          </a:p>
        </p:txBody>
      </p:sp>
      <p:sp>
        <p:nvSpPr>
          <p:cNvPr id="211" name="Google Shape;211;g3096f5665a1_0_268"/>
          <p:cNvSpPr txBox="1">
            <a:spLocks noGrp="1"/>
          </p:cNvSpPr>
          <p:nvPr>
            <p:ph type="body" idx="1"/>
          </p:nvPr>
        </p:nvSpPr>
        <p:spPr>
          <a:xfrm>
            <a:off x="-25" y="909200"/>
            <a:ext cx="9144000" cy="2732700"/>
          </a:xfrm>
          <a:prstGeom prst="rect">
            <a:avLst/>
          </a:prstGeom>
        </p:spPr>
        <p:txBody>
          <a:bodyPr spcFirstLastPara="1" wrap="square" lIns="91425" tIns="45700" rIns="91425" bIns="45700" anchor="t" anchorCtr="0">
            <a:normAutofit fontScale="92500" lnSpcReduction="20000"/>
          </a:bodyPr>
          <a:lstStyle/>
          <a:p>
            <a:pPr marL="228600" lvl="0" indent="-241934" algn="l" rtl="0">
              <a:spcBef>
                <a:spcPts val="1000"/>
              </a:spcBef>
              <a:spcAft>
                <a:spcPts val="0"/>
              </a:spcAft>
              <a:buSzPct val="100000"/>
              <a:buChar char="•"/>
            </a:pPr>
            <a:r>
              <a:rPr lang="en-US"/>
              <a:t>Bivariate analysis can involve various statistical techniques and visualizations depending on the types of variables being studied:</a:t>
            </a:r>
            <a:endParaRPr/>
          </a:p>
          <a:p>
            <a:pPr marL="685800" lvl="1" indent="-240030" algn="l" rtl="0">
              <a:spcBef>
                <a:spcPts val="500"/>
              </a:spcBef>
              <a:spcAft>
                <a:spcPts val="0"/>
              </a:spcAft>
              <a:buClr>
                <a:srgbClr val="000000"/>
              </a:buClr>
              <a:buSzPct val="100000"/>
              <a:buChar char="•"/>
            </a:pPr>
            <a:r>
              <a:rPr lang="en-US">
                <a:solidFill>
                  <a:srgbClr val="FF0000"/>
                </a:solidFill>
              </a:rPr>
              <a:t>Categorical vs. Categorical Variables</a:t>
            </a:r>
            <a:r>
              <a:rPr lang="en-US"/>
              <a:t>: For categorical variables, bivariate analysis often involves </a:t>
            </a:r>
            <a:r>
              <a:rPr lang="en-US">
                <a:solidFill>
                  <a:srgbClr val="FF0000"/>
                </a:solidFill>
              </a:rPr>
              <a:t>heatmap, contingency table</a:t>
            </a:r>
            <a:r>
              <a:rPr lang="en-US"/>
              <a:t> etc.</a:t>
            </a:r>
            <a:endParaRPr/>
          </a:p>
          <a:p>
            <a:pPr marL="685800" lvl="1" indent="-240030" algn="l" rtl="0">
              <a:spcBef>
                <a:spcPts val="500"/>
              </a:spcBef>
              <a:spcAft>
                <a:spcPts val="0"/>
              </a:spcAft>
              <a:buClr>
                <a:srgbClr val="000000"/>
              </a:buClr>
              <a:buSzPct val="100000"/>
              <a:buChar char="•"/>
            </a:pPr>
            <a:r>
              <a:rPr lang="en-US"/>
              <a:t>Heatmaps for bivariate analysis typically display the </a:t>
            </a:r>
            <a:r>
              <a:rPr lang="en-US">
                <a:solidFill>
                  <a:srgbClr val="FF0000"/>
                </a:solidFill>
              </a:rPr>
              <a:t>magnitude or strength of the relationship between variables using color gradients</a:t>
            </a:r>
            <a:r>
              <a:rPr lang="en-US"/>
              <a:t>.</a:t>
            </a:r>
            <a:endParaRPr/>
          </a:p>
          <a:p>
            <a:pPr marL="1143000" lvl="2" indent="-220027" algn="l" rtl="0">
              <a:lnSpc>
                <a:spcPct val="131250"/>
              </a:lnSpc>
              <a:spcBef>
                <a:spcPts val="0"/>
              </a:spcBef>
              <a:spcAft>
                <a:spcPts val="0"/>
              </a:spcAft>
              <a:buSzPct val="90000"/>
              <a:buChar char="•"/>
            </a:pPr>
            <a:r>
              <a:rPr lang="en-US">
                <a:solidFill>
                  <a:srgbClr val="FF0000"/>
                </a:solidFill>
              </a:rPr>
              <a:t>sns.heatmap(pd.crosstab(titanic['pclass'], titanic['survived']),annot=True,fmt='d')</a:t>
            </a:r>
            <a:endParaRPr/>
          </a:p>
        </p:txBody>
      </p:sp>
      <p:pic>
        <p:nvPicPr>
          <p:cNvPr id="212" name="Google Shape;212;g3096f5665a1_0_268"/>
          <p:cNvPicPr preferRelativeResize="0"/>
          <p:nvPr/>
        </p:nvPicPr>
        <p:blipFill>
          <a:blip r:embed="rId3">
            <a:alphaModFix/>
          </a:blip>
          <a:stretch>
            <a:fillRect/>
          </a:stretch>
        </p:blipFill>
        <p:spPr>
          <a:xfrm>
            <a:off x="2122500" y="3474850"/>
            <a:ext cx="3811876" cy="3212774"/>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16"/>
        <p:cNvGrpSpPr/>
        <p:nvPr/>
      </p:nvGrpSpPr>
      <p:grpSpPr>
        <a:xfrm>
          <a:off x="0" y="0"/>
          <a:ext cx="0" cy="0"/>
          <a:chOff x="0" y="0"/>
          <a:chExt cx="0" cy="0"/>
        </a:xfrm>
      </p:grpSpPr>
      <p:sp>
        <p:nvSpPr>
          <p:cNvPr id="217" name="Google Shape;217;p11"/>
          <p:cNvSpPr txBox="1">
            <a:spLocks noGrp="1"/>
          </p:cNvSpPr>
          <p:nvPr>
            <p:ph type="title"/>
          </p:nvPr>
        </p:nvSpPr>
        <p:spPr>
          <a:xfrm>
            <a:off x="628650" y="212727"/>
            <a:ext cx="7886700" cy="8475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a:t>Bivariate Analysis</a:t>
            </a:r>
            <a:endParaRPr/>
          </a:p>
        </p:txBody>
      </p:sp>
      <p:sp>
        <p:nvSpPr>
          <p:cNvPr id="218" name="Google Shape;218;p11"/>
          <p:cNvSpPr txBox="1">
            <a:spLocks noGrp="1"/>
          </p:cNvSpPr>
          <p:nvPr>
            <p:ph type="body" idx="1"/>
          </p:nvPr>
        </p:nvSpPr>
        <p:spPr>
          <a:xfrm>
            <a:off x="628650" y="1060175"/>
            <a:ext cx="7886700" cy="2738100"/>
          </a:xfrm>
          <a:prstGeom prst="rect">
            <a:avLst/>
          </a:prstGeom>
          <a:noFill/>
          <a:ln>
            <a:noFill/>
          </a:ln>
        </p:spPr>
        <p:txBody>
          <a:bodyPr spcFirstLastPara="1" wrap="square" lIns="91425" tIns="45700" rIns="91425" bIns="45700" anchor="t" anchorCtr="0">
            <a:normAutofit fontScale="92500"/>
          </a:bodyPr>
          <a:lstStyle/>
          <a:p>
            <a:pPr marL="228600" lvl="0" indent="-241934" algn="l" rtl="0">
              <a:lnSpc>
                <a:spcPct val="90000"/>
              </a:lnSpc>
              <a:spcBef>
                <a:spcPts val="0"/>
              </a:spcBef>
              <a:spcAft>
                <a:spcPts val="0"/>
              </a:spcAft>
              <a:buClr>
                <a:srgbClr val="FF0000"/>
              </a:buClr>
              <a:buSzPts val="2800"/>
              <a:buChar char="•"/>
            </a:pPr>
            <a:r>
              <a:rPr lang="en-US">
                <a:solidFill>
                  <a:srgbClr val="FF0000"/>
                </a:solidFill>
              </a:rPr>
              <a:t>Categorical vs. Numerical Variables: </a:t>
            </a:r>
            <a:r>
              <a:rPr lang="en-US"/>
              <a:t>When one variable is categorical and the other is numerical (also known as quantitative or continuous), bivariate analysis may involve comparing the distribution of the numerical variable across different categories of the categorical variable using techniques such as </a:t>
            </a:r>
            <a:r>
              <a:rPr lang="en-US">
                <a:solidFill>
                  <a:srgbClr val="FF0000"/>
                </a:solidFill>
              </a:rPr>
              <a:t>box plots or histograms etc</a:t>
            </a:r>
            <a:r>
              <a:rPr lang="en-US"/>
              <a:t>.</a:t>
            </a:r>
            <a:endParaRPr/>
          </a:p>
        </p:txBody>
      </p:sp>
      <p:pic>
        <p:nvPicPr>
          <p:cNvPr id="219" name="Google Shape;219;p11"/>
          <p:cNvPicPr preferRelativeResize="0"/>
          <p:nvPr/>
        </p:nvPicPr>
        <p:blipFill>
          <a:blip r:embed="rId3">
            <a:alphaModFix/>
          </a:blip>
          <a:stretch>
            <a:fillRect/>
          </a:stretch>
        </p:blipFill>
        <p:spPr>
          <a:xfrm>
            <a:off x="2388700" y="3687900"/>
            <a:ext cx="3963700" cy="3046825"/>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23"/>
        <p:cNvGrpSpPr/>
        <p:nvPr/>
      </p:nvGrpSpPr>
      <p:grpSpPr>
        <a:xfrm>
          <a:off x="0" y="0"/>
          <a:ext cx="0" cy="0"/>
          <a:chOff x="0" y="0"/>
          <a:chExt cx="0" cy="0"/>
        </a:xfrm>
      </p:grpSpPr>
      <p:sp>
        <p:nvSpPr>
          <p:cNvPr id="224" name="Google Shape;224;g3096f5665a1_0_273"/>
          <p:cNvSpPr txBox="1">
            <a:spLocks noGrp="1"/>
          </p:cNvSpPr>
          <p:nvPr>
            <p:ph type="title"/>
          </p:nvPr>
        </p:nvSpPr>
        <p:spPr>
          <a:xfrm>
            <a:off x="628650" y="288925"/>
            <a:ext cx="7886700" cy="891600"/>
          </a:xfrm>
          <a:prstGeom prst="rect">
            <a:avLst/>
          </a:prstGeom>
        </p:spPr>
        <p:txBody>
          <a:bodyPr spcFirstLastPara="1" wrap="square" lIns="91425" tIns="45700" rIns="91425" bIns="45700" anchor="ctr" anchorCtr="0">
            <a:normAutofit/>
          </a:bodyPr>
          <a:lstStyle/>
          <a:p>
            <a:pPr marL="0" lvl="0" indent="0" algn="l" rtl="0">
              <a:spcBef>
                <a:spcPts val="0"/>
              </a:spcBef>
              <a:spcAft>
                <a:spcPts val="0"/>
              </a:spcAft>
              <a:buNone/>
            </a:pPr>
            <a:r>
              <a:rPr lang="en-US"/>
              <a:t>Bivariate Analysis</a:t>
            </a:r>
            <a:endParaRPr/>
          </a:p>
        </p:txBody>
      </p:sp>
      <p:sp>
        <p:nvSpPr>
          <p:cNvPr id="225" name="Google Shape;225;g3096f5665a1_0_273"/>
          <p:cNvSpPr txBox="1">
            <a:spLocks noGrp="1"/>
          </p:cNvSpPr>
          <p:nvPr>
            <p:ph type="body" idx="1"/>
          </p:nvPr>
        </p:nvSpPr>
        <p:spPr>
          <a:xfrm>
            <a:off x="628650" y="1168075"/>
            <a:ext cx="7886700" cy="2247000"/>
          </a:xfrm>
          <a:prstGeom prst="rect">
            <a:avLst/>
          </a:prstGeom>
        </p:spPr>
        <p:txBody>
          <a:bodyPr spcFirstLastPara="1" wrap="square" lIns="91425" tIns="45700" rIns="91425" bIns="45700" anchor="t" anchorCtr="0">
            <a:normAutofit fontScale="92500" lnSpcReduction="20000"/>
          </a:bodyPr>
          <a:lstStyle/>
          <a:p>
            <a:pPr marL="228600" lvl="0" indent="-228600" algn="l" rtl="0">
              <a:spcBef>
                <a:spcPts val="1000"/>
              </a:spcBef>
              <a:spcAft>
                <a:spcPts val="0"/>
              </a:spcAft>
              <a:buClr>
                <a:srgbClr val="FF0000"/>
              </a:buClr>
              <a:buSzPct val="100000"/>
              <a:buChar char="•"/>
            </a:pPr>
            <a:r>
              <a:rPr lang="en-US">
                <a:solidFill>
                  <a:srgbClr val="FF0000"/>
                </a:solidFill>
              </a:rPr>
              <a:t>Numerical vs. Numerical Variables: </a:t>
            </a:r>
            <a:r>
              <a:rPr lang="en-US"/>
              <a:t>For two numerical variables, bivariate analysis focuses on exploring the relationship between the variables through techniques such as </a:t>
            </a:r>
            <a:r>
              <a:rPr lang="en-US">
                <a:solidFill>
                  <a:srgbClr val="FF0000"/>
                </a:solidFill>
              </a:rPr>
              <a:t>scatter plots and correlation analysis</a:t>
            </a:r>
            <a:r>
              <a:rPr lang="en-US"/>
              <a:t>. </a:t>
            </a:r>
            <a:endParaRPr/>
          </a:p>
          <a:p>
            <a:pPr marL="685800" lvl="1" indent="-228600" algn="l" rtl="0">
              <a:spcBef>
                <a:spcPts val="500"/>
              </a:spcBef>
              <a:spcAft>
                <a:spcPts val="0"/>
              </a:spcAft>
              <a:buClr>
                <a:srgbClr val="FF0000"/>
              </a:buClr>
              <a:buSzPct val="100000"/>
              <a:buChar char="•"/>
            </a:pPr>
            <a:r>
              <a:rPr lang="en-US">
                <a:solidFill>
                  <a:srgbClr val="FF0000"/>
                </a:solidFill>
              </a:rPr>
              <a:t>Scatter plots </a:t>
            </a:r>
            <a:r>
              <a:rPr lang="en-US"/>
              <a:t>visually represent the </a:t>
            </a:r>
            <a:r>
              <a:rPr lang="en-US">
                <a:solidFill>
                  <a:srgbClr val="FF0000"/>
                </a:solidFill>
              </a:rPr>
              <a:t>relationship between the variables</a:t>
            </a:r>
            <a:r>
              <a:rPr lang="en-US"/>
              <a:t>. </a:t>
            </a:r>
            <a:endParaRPr/>
          </a:p>
          <a:p>
            <a:pPr marL="685800" lvl="1" indent="-220027" algn="l" rtl="0">
              <a:lnSpc>
                <a:spcPct val="131250"/>
              </a:lnSpc>
              <a:spcBef>
                <a:spcPts val="0"/>
              </a:spcBef>
              <a:spcAft>
                <a:spcPts val="0"/>
              </a:spcAft>
              <a:buSzPct val="75000"/>
              <a:buChar char="•"/>
            </a:pPr>
            <a:r>
              <a:rPr lang="en-US">
                <a:solidFill>
                  <a:srgbClr val="FF0000"/>
                </a:solidFill>
              </a:rPr>
              <a:t>sns.scatterplot(x='age', y='fare', data=titanic)</a:t>
            </a:r>
            <a:endParaRPr/>
          </a:p>
        </p:txBody>
      </p:sp>
      <p:pic>
        <p:nvPicPr>
          <p:cNvPr id="226" name="Google Shape;226;g3096f5665a1_0_273"/>
          <p:cNvPicPr preferRelativeResize="0"/>
          <p:nvPr/>
        </p:nvPicPr>
        <p:blipFill>
          <a:blip r:embed="rId3">
            <a:alphaModFix/>
          </a:blip>
          <a:stretch>
            <a:fillRect/>
          </a:stretch>
        </p:blipFill>
        <p:spPr>
          <a:xfrm>
            <a:off x="1632625" y="3477975"/>
            <a:ext cx="5161475" cy="3336949"/>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30"/>
        <p:cNvGrpSpPr/>
        <p:nvPr/>
      </p:nvGrpSpPr>
      <p:grpSpPr>
        <a:xfrm>
          <a:off x="0" y="0"/>
          <a:ext cx="0" cy="0"/>
          <a:chOff x="0" y="0"/>
          <a:chExt cx="0" cy="0"/>
        </a:xfrm>
      </p:grpSpPr>
      <p:sp>
        <p:nvSpPr>
          <p:cNvPr id="231" name="Google Shape;231;g3096f5665a1_0_285"/>
          <p:cNvSpPr txBox="1">
            <a:spLocks noGrp="1"/>
          </p:cNvSpPr>
          <p:nvPr>
            <p:ph type="title"/>
          </p:nvPr>
        </p:nvSpPr>
        <p:spPr>
          <a:xfrm>
            <a:off x="628650" y="365125"/>
            <a:ext cx="7886700" cy="880800"/>
          </a:xfrm>
          <a:prstGeom prst="rect">
            <a:avLst/>
          </a:prstGeom>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1100"/>
              <a:buFont typeface="Arial"/>
              <a:buNone/>
            </a:pPr>
            <a:r>
              <a:rPr lang="en-US"/>
              <a:t>Bivariate Analysis</a:t>
            </a:r>
            <a:endParaRPr/>
          </a:p>
        </p:txBody>
      </p:sp>
      <p:sp>
        <p:nvSpPr>
          <p:cNvPr id="232" name="Google Shape;232;g3096f5665a1_0_285"/>
          <p:cNvSpPr txBox="1">
            <a:spLocks noGrp="1"/>
          </p:cNvSpPr>
          <p:nvPr>
            <p:ph type="body" idx="1"/>
          </p:nvPr>
        </p:nvSpPr>
        <p:spPr>
          <a:xfrm>
            <a:off x="628650" y="1309825"/>
            <a:ext cx="7886700" cy="1586700"/>
          </a:xfrm>
          <a:prstGeom prst="rect">
            <a:avLst/>
          </a:prstGeom>
        </p:spPr>
        <p:txBody>
          <a:bodyPr spcFirstLastPara="1" wrap="square" lIns="91425" tIns="45700" rIns="91425" bIns="45700" anchor="t" anchorCtr="0">
            <a:normAutofit/>
          </a:bodyPr>
          <a:lstStyle/>
          <a:p>
            <a:pPr marL="685800" lvl="1" indent="-240030" algn="l" rtl="0">
              <a:spcBef>
                <a:spcPts val="500"/>
              </a:spcBef>
              <a:spcAft>
                <a:spcPts val="0"/>
              </a:spcAft>
              <a:buClr>
                <a:srgbClr val="FF0000"/>
              </a:buClr>
              <a:buSzPts val="2400"/>
              <a:buChar char="•"/>
            </a:pPr>
            <a:r>
              <a:rPr lang="en-US">
                <a:solidFill>
                  <a:srgbClr val="FF0000"/>
                </a:solidFill>
              </a:rPr>
              <a:t>Correlation analysis quantifies the strength and direction of the linear relationship </a:t>
            </a:r>
            <a:r>
              <a:rPr lang="en-US"/>
              <a:t>between the variables using correlation coefficients (e.g., </a:t>
            </a:r>
            <a:r>
              <a:rPr lang="en-US">
                <a:solidFill>
                  <a:srgbClr val="FF0000"/>
                </a:solidFill>
              </a:rPr>
              <a:t>Pearson correlation coefficient</a:t>
            </a:r>
            <a:r>
              <a:rPr lang="en-US"/>
              <a:t>).</a:t>
            </a:r>
            <a:endParaRPr/>
          </a:p>
        </p:txBody>
      </p:sp>
      <p:pic>
        <p:nvPicPr>
          <p:cNvPr id="233" name="Google Shape;233;g3096f5665a1_0_285"/>
          <p:cNvPicPr preferRelativeResize="0"/>
          <p:nvPr/>
        </p:nvPicPr>
        <p:blipFill>
          <a:blip r:embed="rId3">
            <a:alphaModFix/>
          </a:blip>
          <a:stretch>
            <a:fillRect/>
          </a:stretch>
        </p:blipFill>
        <p:spPr>
          <a:xfrm>
            <a:off x="2916200" y="2481225"/>
            <a:ext cx="4885001" cy="4312899"/>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37"/>
        <p:cNvGrpSpPr/>
        <p:nvPr/>
      </p:nvGrpSpPr>
      <p:grpSpPr>
        <a:xfrm>
          <a:off x="0" y="0"/>
          <a:ext cx="0" cy="0"/>
          <a:chOff x="0" y="0"/>
          <a:chExt cx="0" cy="0"/>
        </a:xfrm>
      </p:grpSpPr>
      <p:sp>
        <p:nvSpPr>
          <p:cNvPr id="238" name="Google Shape;238;g2d412bb40c8_0_18"/>
          <p:cNvSpPr txBox="1">
            <a:spLocks noGrp="1"/>
          </p:cNvSpPr>
          <p:nvPr>
            <p:ph type="title"/>
          </p:nvPr>
        </p:nvSpPr>
        <p:spPr>
          <a:xfrm>
            <a:off x="628650" y="212725"/>
            <a:ext cx="7886700" cy="923400"/>
          </a:xfrm>
          <a:prstGeom prst="rect">
            <a:avLst/>
          </a:prstGeom>
        </p:spPr>
        <p:txBody>
          <a:bodyPr spcFirstLastPara="1" wrap="square" lIns="91425" tIns="45700" rIns="91425" bIns="45700" anchor="ctr" anchorCtr="0">
            <a:normAutofit/>
          </a:bodyPr>
          <a:lstStyle/>
          <a:p>
            <a:pPr marL="0" lvl="0" indent="0" algn="l" rtl="0">
              <a:spcBef>
                <a:spcPts val="0"/>
              </a:spcBef>
              <a:spcAft>
                <a:spcPts val="0"/>
              </a:spcAft>
              <a:buNone/>
            </a:pPr>
            <a:r>
              <a:rPr lang="en-US"/>
              <a:t>Multivariate Analysis</a:t>
            </a:r>
            <a:endParaRPr/>
          </a:p>
        </p:txBody>
      </p:sp>
      <p:sp>
        <p:nvSpPr>
          <p:cNvPr id="239" name="Google Shape;239;g2d412bb40c8_0_18"/>
          <p:cNvSpPr txBox="1">
            <a:spLocks noGrp="1"/>
          </p:cNvSpPr>
          <p:nvPr>
            <p:ph type="body" idx="1"/>
          </p:nvPr>
        </p:nvSpPr>
        <p:spPr>
          <a:xfrm>
            <a:off x="628650" y="1079575"/>
            <a:ext cx="7886700" cy="1795800"/>
          </a:xfrm>
          <a:prstGeom prst="rect">
            <a:avLst/>
          </a:prstGeom>
        </p:spPr>
        <p:txBody>
          <a:bodyPr spcFirstLastPara="1" wrap="square" lIns="91425" tIns="45700" rIns="91425" bIns="45700" anchor="t" anchorCtr="0">
            <a:normAutofit fontScale="85000" lnSpcReduction="10000"/>
          </a:bodyPr>
          <a:lstStyle/>
          <a:p>
            <a:pPr marL="457200" lvl="0" indent="-366395" algn="l" rtl="0">
              <a:spcBef>
                <a:spcPts val="1000"/>
              </a:spcBef>
              <a:spcAft>
                <a:spcPts val="0"/>
              </a:spcAft>
              <a:buSzPct val="100000"/>
              <a:buChar char="•"/>
            </a:pPr>
            <a:r>
              <a:rPr lang="en-US"/>
              <a:t>Multivariate analysis is a statistical technique used to analyze data that involves multiple variables simultaneously. </a:t>
            </a:r>
            <a:endParaRPr/>
          </a:p>
          <a:p>
            <a:pPr marL="457200" lvl="0" indent="-366395" algn="l" rtl="0">
              <a:spcBef>
                <a:spcPts val="0"/>
              </a:spcBef>
              <a:spcAft>
                <a:spcPts val="0"/>
              </a:spcAft>
              <a:buSzPct val="100000"/>
              <a:buChar char="•"/>
            </a:pPr>
            <a:r>
              <a:rPr lang="en-US"/>
              <a:t>It aims to understand the relationships and interactions between these variables, making it possible to identify patterns, correlations, and underlying structures in the data. </a:t>
            </a:r>
            <a:endParaRPr/>
          </a:p>
        </p:txBody>
      </p:sp>
      <p:pic>
        <p:nvPicPr>
          <p:cNvPr id="240" name="Google Shape;240;g2d412bb40c8_0_18"/>
          <p:cNvPicPr preferRelativeResize="0"/>
          <p:nvPr/>
        </p:nvPicPr>
        <p:blipFill>
          <a:blip r:embed="rId3">
            <a:alphaModFix/>
          </a:blip>
          <a:stretch>
            <a:fillRect/>
          </a:stretch>
        </p:blipFill>
        <p:spPr>
          <a:xfrm>
            <a:off x="2095938" y="2970125"/>
            <a:ext cx="4952125" cy="3746625"/>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44"/>
        <p:cNvGrpSpPr/>
        <p:nvPr/>
      </p:nvGrpSpPr>
      <p:grpSpPr>
        <a:xfrm>
          <a:off x="0" y="0"/>
          <a:ext cx="0" cy="0"/>
          <a:chOff x="0" y="0"/>
          <a:chExt cx="0" cy="0"/>
        </a:xfrm>
      </p:grpSpPr>
      <p:sp>
        <p:nvSpPr>
          <p:cNvPr id="245" name="Google Shape;245;p12"/>
          <p:cNvSpPr txBox="1">
            <a:spLocks noGrp="1"/>
          </p:cNvSpPr>
          <p:nvPr>
            <p:ph type="title"/>
          </p:nvPr>
        </p:nvSpPr>
        <p:spPr>
          <a:xfrm>
            <a:off x="628650" y="235920"/>
            <a:ext cx="7886700" cy="887202"/>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a:t>Pandas Profiling</a:t>
            </a:r>
            <a:endParaRPr/>
          </a:p>
        </p:txBody>
      </p:sp>
      <p:sp>
        <p:nvSpPr>
          <p:cNvPr id="246" name="Google Shape;246;p12"/>
          <p:cNvSpPr txBox="1">
            <a:spLocks noGrp="1"/>
          </p:cNvSpPr>
          <p:nvPr>
            <p:ph type="body" idx="1"/>
          </p:nvPr>
        </p:nvSpPr>
        <p:spPr>
          <a:xfrm>
            <a:off x="628650" y="1192699"/>
            <a:ext cx="7886700" cy="5546032"/>
          </a:xfrm>
          <a:prstGeom prst="rect">
            <a:avLst/>
          </a:prstGeom>
          <a:noFill/>
          <a:ln>
            <a:noFill/>
          </a:ln>
        </p:spPr>
        <p:txBody>
          <a:bodyPr spcFirstLastPara="1" wrap="square" lIns="91425" tIns="45700" rIns="91425" bIns="45700" anchor="t" anchorCtr="0">
            <a:normAutofit fontScale="85000" lnSpcReduction="20000"/>
          </a:bodyPr>
          <a:lstStyle/>
          <a:p>
            <a:pPr marL="228600" lvl="0" indent="-228600" algn="l" rtl="0">
              <a:lnSpc>
                <a:spcPct val="90000"/>
              </a:lnSpc>
              <a:spcBef>
                <a:spcPts val="0"/>
              </a:spcBef>
              <a:spcAft>
                <a:spcPts val="0"/>
              </a:spcAft>
              <a:buClr>
                <a:schemeClr val="dk1"/>
              </a:buClr>
              <a:buSzPct val="100000"/>
              <a:buChar char="•"/>
            </a:pPr>
            <a:r>
              <a:rPr lang="en-US"/>
              <a:t>Pandas Profiling (</a:t>
            </a:r>
            <a:r>
              <a:rPr lang="en-US">
                <a:solidFill>
                  <a:srgbClr val="FF0000"/>
                </a:solidFill>
              </a:rPr>
              <a:t>now ydata-profiling</a:t>
            </a:r>
            <a:r>
              <a:rPr lang="en-US"/>
              <a:t>) is a </a:t>
            </a:r>
            <a:r>
              <a:rPr lang="en-US">
                <a:solidFill>
                  <a:srgbClr val="FF0000"/>
                </a:solidFill>
              </a:rPr>
              <a:t>Python library </a:t>
            </a:r>
            <a:r>
              <a:rPr lang="en-US"/>
              <a:t>that generates an exploratory analysis report for a DataFrame in pandas. </a:t>
            </a:r>
            <a:endParaRPr/>
          </a:p>
          <a:p>
            <a:pPr marL="228600" lvl="0" indent="-228600" algn="l" rtl="0">
              <a:lnSpc>
                <a:spcPct val="90000"/>
              </a:lnSpc>
              <a:spcBef>
                <a:spcPts val="1000"/>
              </a:spcBef>
              <a:spcAft>
                <a:spcPts val="0"/>
              </a:spcAft>
              <a:buClr>
                <a:schemeClr val="dk1"/>
              </a:buClr>
              <a:buSzPct val="100000"/>
              <a:buChar char="•"/>
            </a:pPr>
            <a:r>
              <a:rPr lang="en-US"/>
              <a:t>This report provides a comprehensive summary of the dataset's characteristics, including </a:t>
            </a:r>
            <a:r>
              <a:rPr lang="en-US">
                <a:solidFill>
                  <a:srgbClr val="FF0000"/>
                </a:solidFill>
              </a:rPr>
              <a:t>descriptive statistics, data types, missing values, correlations, and visualizations</a:t>
            </a:r>
            <a:r>
              <a:rPr lang="en-US"/>
              <a:t>. </a:t>
            </a:r>
            <a:endParaRPr/>
          </a:p>
          <a:p>
            <a:pPr marL="228600" lvl="0" indent="-228600" algn="l" rtl="0">
              <a:lnSpc>
                <a:spcPct val="90000"/>
              </a:lnSpc>
              <a:spcBef>
                <a:spcPts val="1000"/>
              </a:spcBef>
              <a:spcAft>
                <a:spcPts val="0"/>
              </a:spcAft>
              <a:buClr>
                <a:schemeClr val="dk1"/>
              </a:buClr>
              <a:buSzPct val="100000"/>
              <a:buChar char="•"/>
            </a:pPr>
            <a:r>
              <a:rPr lang="en-US"/>
              <a:t>Pandas Profiling aims to automate and streamline the process of data exploration and preliminary analysis.</a:t>
            </a:r>
            <a:endParaRPr/>
          </a:p>
          <a:p>
            <a:pPr marL="228600" lvl="0" indent="-228600" algn="l" rtl="0">
              <a:lnSpc>
                <a:spcPct val="90000"/>
              </a:lnSpc>
              <a:spcBef>
                <a:spcPts val="1000"/>
              </a:spcBef>
              <a:spcAft>
                <a:spcPts val="0"/>
              </a:spcAft>
              <a:buClr>
                <a:schemeClr val="dk1"/>
              </a:buClr>
              <a:buSzPct val="100000"/>
              <a:buChar char="•"/>
            </a:pPr>
            <a:r>
              <a:rPr lang="en-US"/>
              <a:t>Here are some key features of Pandas Profiling:</a:t>
            </a:r>
            <a:endParaRPr/>
          </a:p>
          <a:p>
            <a:pPr marL="685800" lvl="1" indent="-228600" algn="l" rtl="0">
              <a:lnSpc>
                <a:spcPct val="90000"/>
              </a:lnSpc>
              <a:spcBef>
                <a:spcPts val="500"/>
              </a:spcBef>
              <a:spcAft>
                <a:spcPts val="0"/>
              </a:spcAft>
              <a:buClr>
                <a:schemeClr val="dk1"/>
              </a:buClr>
              <a:buSzPct val="100000"/>
              <a:buChar char="•"/>
            </a:pPr>
            <a:r>
              <a:rPr lang="en-US" b="1"/>
              <a:t>Descriptive Statistics: </a:t>
            </a:r>
            <a:r>
              <a:rPr lang="en-US"/>
              <a:t>Pandas Profiling generates descriptive statistics for each numerical and categorical variable in the DataFrame, including count, mean, median, minimum, maximum, standard deviation, and quantiles.</a:t>
            </a:r>
            <a:endParaRPr/>
          </a:p>
          <a:p>
            <a:pPr marL="685800" lvl="1" indent="-228600" algn="l" rtl="0">
              <a:lnSpc>
                <a:spcPct val="90000"/>
              </a:lnSpc>
              <a:spcBef>
                <a:spcPts val="500"/>
              </a:spcBef>
              <a:spcAft>
                <a:spcPts val="0"/>
              </a:spcAft>
              <a:buClr>
                <a:schemeClr val="dk1"/>
              </a:buClr>
              <a:buSzPct val="100000"/>
              <a:buChar char="•"/>
            </a:pPr>
            <a:r>
              <a:rPr lang="en-US" b="1"/>
              <a:t>Data Types: </a:t>
            </a:r>
            <a:r>
              <a:rPr lang="en-US"/>
              <a:t>It provides an overview of the data types of each column in the DataFrame, including numerical, categorical, and datetime types.</a:t>
            </a:r>
            <a:endParaRPr/>
          </a:p>
          <a:p>
            <a:pPr marL="685800" lvl="1" indent="-228600" algn="l" rtl="0">
              <a:lnSpc>
                <a:spcPct val="90000"/>
              </a:lnSpc>
              <a:spcBef>
                <a:spcPts val="500"/>
              </a:spcBef>
              <a:spcAft>
                <a:spcPts val="0"/>
              </a:spcAft>
              <a:buClr>
                <a:schemeClr val="dk1"/>
              </a:buClr>
              <a:buSzPct val="100000"/>
              <a:buChar char="•"/>
            </a:pPr>
            <a:r>
              <a:rPr lang="en-US" b="1"/>
              <a:t>Missing Values: </a:t>
            </a:r>
            <a:r>
              <a:rPr lang="en-US"/>
              <a:t>Pandas Profiling identifies missing values in the dataset and provides information about the percentage of missing values for each column.</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50"/>
        <p:cNvGrpSpPr/>
        <p:nvPr/>
      </p:nvGrpSpPr>
      <p:grpSpPr>
        <a:xfrm>
          <a:off x="0" y="0"/>
          <a:ext cx="0" cy="0"/>
          <a:chOff x="0" y="0"/>
          <a:chExt cx="0" cy="0"/>
        </a:xfrm>
      </p:grpSpPr>
      <p:sp>
        <p:nvSpPr>
          <p:cNvPr id="251" name="Google Shape;251;p13"/>
          <p:cNvSpPr txBox="1">
            <a:spLocks noGrp="1"/>
          </p:cNvSpPr>
          <p:nvPr>
            <p:ph type="title"/>
          </p:nvPr>
        </p:nvSpPr>
        <p:spPr>
          <a:xfrm>
            <a:off x="628650" y="365126"/>
            <a:ext cx="7886700" cy="817631"/>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a:t>Pandas Profiling</a:t>
            </a:r>
            <a:endParaRPr/>
          </a:p>
        </p:txBody>
      </p:sp>
      <p:sp>
        <p:nvSpPr>
          <p:cNvPr id="252" name="Google Shape;252;p13"/>
          <p:cNvSpPr txBox="1">
            <a:spLocks noGrp="1"/>
          </p:cNvSpPr>
          <p:nvPr>
            <p:ph type="body" idx="1"/>
          </p:nvPr>
        </p:nvSpPr>
        <p:spPr>
          <a:xfrm>
            <a:off x="628650" y="1182756"/>
            <a:ext cx="7886700" cy="5506279"/>
          </a:xfrm>
          <a:prstGeom prst="rect">
            <a:avLst/>
          </a:prstGeom>
          <a:noFill/>
          <a:ln>
            <a:noFill/>
          </a:ln>
        </p:spPr>
        <p:txBody>
          <a:bodyPr spcFirstLastPara="1" wrap="square" lIns="91425" tIns="45700" rIns="91425" bIns="45700" anchor="t" anchorCtr="0">
            <a:normAutofit fontScale="85000" lnSpcReduction="20000"/>
          </a:bodyPr>
          <a:lstStyle/>
          <a:p>
            <a:pPr marL="228600" lvl="0" indent="-228600" algn="l" rtl="0">
              <a:lnSpc>
                <a:spcPct val="90000"/>
              </a:lnSpc>
              <a:spcBef>
                <a:spcPts val="0"/>
              </a:spcBef>
              <a:spcAft>
                <a:spcPts val="0"/>
              </a:spcAft>
              <a:buClr>
                <a:schemeClr val="dk1"/>
              </a:buClr>
              <a:buSzPct val="100000"/>
              <a:buChar char="•"/>
            </a:pPr>
            <a:r>
              <a:rPr lang="en-US" b="1"/>
              <a:t>Correlations: </a:t>
            </a:r>
            <a:r>
              <a:rPr lang="en-US"/>
              <a:t>It calculates pairwise correlations between numerical variables and visualizes them using correlation matrices and heatmap plots. This helps identify linear relationships between variables.</a:t>
            </a:r>
            <a:endParaRPr/>
          </a:p>
          <a:p>
            <a:pPr marL="228600" lvl="0" indent="-228600" algn="l" rtl="0">
              <a:lnSpc>
                <a:spcPct val="90000"/>
              </a:lnSpc>
              <a:spcBef>
                <a:spcPts val="1000"/>
              </a:spcBef>
              <a:spcAft>
                <a:spcPts val="0"/>
              </a:spcAft>
              <a:buClr>
                <a:schemeClr val="dk1"/>
              </a:buClr>
              <a:buSzPct val="100000"/>
              <a:buChar char="•"/>
            </a:pPr>
            <a:r>
              <a:rPr lang="en-US" b="1"/>
              <a:t>Distribution Plots: </a:t>
            </a:r>
            <a:r>
              <a:rPr lang="en-US"/>
              <a:t>Pandas Profiling generates histograms and kernel density plots to visualize the distribution of numerical variables. For categorical variables, it provides bar plots showing the frequency of each category.</a:t>
            </a:r>
            <a:endParaRPr/>
          </a:p>
          <a:p>
            <a:pPr marL="228600" lvl="0" indent="-228600" algn="l" rtl="0">
              <a:lnSpc>
                <a:spcPct val="90000"/>
              </a:lnSpc>
              <a:spcBef>
                <a:spcPts val="1000"/>
              </a:spcBef>
              <a:spcAft>
                <a:spcPts val="0"/>
              </a:spcAft>
              <a:buClr>
                <a:schemeClr val="dk1"/>
              </a:buClr>
              <a:buSzPct val="100000"/>
              <a:buChar char="•"/>
            </a:pPr>
            <a:r>
              <a:rPr lang="en-US" b="1"/>
              <a:t>Unique Values: </a:t>
            </a:r>
            <a:r>
              <a:rPr lang="en-US"/>
              <a:t>It lists the unique values and their frequencies for each categorical variable, helping identify potential data quality issues or inconsistencies.</a:t>
            </a:r>
            <a:endParaRPr/>
          </a:p>
          <a:p>
            <a:pPr marL="228600" lvl="0" indent="-228600" algn="l" rtl="0">
              <a:lnSpc>
                <a:spcPct val="90000"/>
              </a:lnSpc>
              <a:spcBef>
                <a:spcPts val="1000"/>
              </a:spcBef>
              <a:spcAft>
                <a:spcPts val="0"/>
              </a:spcAft>
              <a:buClr>
                <a:schemeClr val="dk1"/>
              </a:buClr>
              <a:buSzPct val="100000"/>
              <a:buChar char="•"/>
            </a:pPr>
            <a:r>
              <a:rPr lang="en-US" b="1"/>
              <a:t>Interactions: </a:t>
            </a:r>
            <a:r>
              <a:rPr lang="en-US"/>
              <a:t>Pandas Profiling identifies potential interactions between variables by generating scatter plots, pair plots, and parallel coordinates plots for numerical variables.</a:t>
            </a:r>
            <a:endParaRPr/>
          </a:p>
          <a:p>
            <a:pPr marL="228600" lvl="0" indent="-228600" algn="l" rtl="0">
              <a:lnSpc>
                <a:spcPct val="90000"/>
              </a:lnSpc>
              <a:spcBef>
                <a:spcPts val="1000"/>
              </a:spcBef>
              <a:spcAft>
                <a:spcPts val="0"/>
              </a:spcAft>
              <a:buClr>
                <a:schemeClr val="dk1"/>
              </a:buClr>
              <a:buSzPct val="100000"/>
              <a:buChar char="•"/>
            </a:pPr>
            <a:r>
              <a:rPr lang="en-US" b="1"/>
              <a:t>Exporting Reports: </a:t>
            </a:r>
            <a:r>
              <a:rPr lang="en-US"/>
              <a:t>The generated analysis report can be exported to various formats, including HTML, JSON, and interactive HTML formats.</a:t>
            </a:r>
            <a:endParaRPr/>
          </a:p>
          <a:p>
            <a:pPr marL="228600" lvl="0" indent="-90804" algn="l" rtl="0">
              <a:lnSpc>
                <a:spcPct val="90000"/>
              </a:lnSpc>
              <a:spcBef>
                <a:spcPts val="1000"/>
              </a:spcBef>
              <a:spcAft>
                <a:spcPts val="0"/>
              </a:spcAft>
              <a:buClr>
                <a:schemeClr val="dk1"/>
              </a:buClr>
              <a:buSzPct val="100000"/>
              <a:buNone/>
            </a:pPr>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256"/>
        <p:cNvGrpSpPr/>
        <p:nvPr/>
      </p:nvGrpSpPr>
      <p:grpSpPr>
        <a:xfrm>
          <a:off x="0" y="0"/>
          <a:ext cx="0" cy="0"/>
          <a:chOff x="0" y="0"/>
          <a:chExt cx="0" cy="0"/>
        </a:xfrm>
      </p:grpSpPr>
      <p:sp>
        <p:nvSpPr>
          <p:cNvPr id="257" name="Google Shape;257;g2d412bb40c8_0_9"/>
          <p:cNvSpPr txBox="1">
            <a:spLocks noGrp="1"/>
          </p:cNvSpPr>
          <p:nvPr>
            <p:ph type="title"/>
          </p:nvPr>
        </p:nvSpPr>
        <p:spPr>
          <a:xfrm>
            <a:off x="628650" y="365125"/>
            <a:ext cx="7886700" cy="1083300"/>
          </a:xfrm>
          <a:prstGeom prst="rect">
            <a:avLst/>
          </a:prstGeom>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4400"/>
              <a:buFont typeface="Calibri"/>
              <a:buNone/>
            </a:pPr>
            <a:r>
              <a:rPr lang="en-US"/>
              <a:t>Pandas Profiling</a:t>
            </a:r>
            <a:endParaRPr/>
          </a:p>
        </p:txBody>
      </p:sp>
      <p:sp>
        <p:nvSpPr>
          <p:cNvPr id="258" name="Google Shape;258;g2d412bb40c8_0_9"/>
          <p:cNvSpPr txBox="1">
            <a:spLocks noGrp="1"/>
          </p:cNvSpPr>
          <p:nvPr>
            <p:ph type="body" idx="1"/>
          </p:nvPr>
        </p:nvSpPr>
        <p:spPr>
          <a:xfrm>
            <a:off x="628650" y="1825625"/>
            <a:ext cx="7886700" cy="4351200"/>
          </a:xfrm>
          <a:prstGeom prst="rect">
            <a:avLst/>
          </a:prstGeom>
        </p:spPr>
        <p:txBody>
          <a:bodyPr spcFirstLastPara="1" wrap="square" lIns="91425" tIns="45700" rIns="91425" bIns="45700" anchor="t" anchorCtr="0">
            <a:normAutofit/>
          </a:bodyPr>
          <a:lstStyle/>
          <a:p>
            <a:pPr marL="0" lvl="0" indent="0" algn="l" rtl="0">
              <a:spcBef>
                <a:spcPts val="1000"/>
              </a:spcBef>
              <a:spcAft>
                <a:spcPts val="0"/>
              </a:spcAft>
              <a:buNone/>
            </a:pPr>
            <a:r>
              <a:rPr lang="en-US" sz="2400">
                <a:latin typeface="Courier New"/>
                <a:ea typeface="Courier New"/>
                <a:cs typeface="Courier New"/>
                <a:sym typeface="Courier New"/>
              </a:rPr>
              <a:t>!pip install ydata-profiling</a:t>
            </a:r>
            <a:endParaRPr sz="2400">
              <a:latin typeface="Courier New"/>
              <a:ea typeface="Courier New"/>
              <a:cs typeface="Courier New"/>
              <a:sym typeface="Courier New"/>
            </a:endParaRPr>
          </a:p>
          <a:p>
            <a:pPr marL="0" lvl="0" indent="0" algn="l" rtl="0">
              <a:spcBef>
                <a:spcPts val="1000"/>
              </a:spcBef>
              <a:spcAft>
                <a:spcPts val="0"/>
              </a:spcAft>
              <a:buNone/>
            </a:pPr>
            <a:r>
              <a:rPr lang="en-US" sz="2400">
                <a:latin typeface="Courier New"/>
                <a:ea typeface="Courier New"/>
                <a:cs typeface="Courier New"/>
                <a:sym typeface="Courier New"/>
              </a:rPr>
              <a:t>import pandas as pd</a:t>
            </a:r>
            <a:endParaRPr sz="2400">
              <a:latin typeface="Courier New"/>
              <a:ea typeface="Courier New"/>
              <a:cs typeface="Courier New"/>
              <a:sym typeface="Courier New"/>
            </a:endParaRPr>
          </a:p>
          <a:p>
            <a:pPr marL="0" lvl="0" indent="0" algn="l" rtl="0">
              <a:spcBef>
                <a:spcPts val="1000"/>
              </a:spcBef>
              <a:spcAft>
                <a:spcPts val="0"/>
              </a:spcAft>
              <a:buClr>
                <a:schemeClr val="dk1"/>
              </a:buClr>
              <a:buSzPts val="1100"/>
              <a:buFont typeface="Arial"/>
              <a:buNone/>
            </a:pPr>
            <a:r>
              <a:rPr lang="en-US" sz="2400">
                <a:latin typeface="Courier New"/>
                <a:ea typeface="Courier New"/>
                <a:cs typeface="Courier New"/>
                <a:sym typeface="Courier New"/>
              </a:rPr>
              <a:t>from ydata_profiling import ProfileReport</a:t>
            </a:r>
            <a:endParaRPr sz="2400">
              <a:latin typeface="Courier New"/>
              <a:ea typeface="Courier New"/>
              <a:cs typeface="Courier New"/>
              <a:sym typeface="Courier New"/>
            </a:endParaRPr>
          </a:p>
          <a:p>
            <a:pPr marL="0" lvl="0" indent="0" algn="l" rtl="0">
              <a:spcBef>
                <a:spcPts val="1000"/>
              </a:spcBef>
              <a:spcAft>
                <a:spcPts val="0"/>
              </a:spcAft>
              <a:buNone/>
            </a:pPr>
            <a:endParaRPr sz="2400">
              <a:latin typeface="Courier New"/>
              <a:ea typeface="Courier New"/>
              <a:cs typeface="Courier New"/>
              <a:sym typeface="Courier New"/>
            </a:endParaRPr>
          </a:p>
          <a:p>
            <a:pPr marL="0" lvl="0" indent="0" algn="l" rtl="0">
              <a:spcBef>
                <a:spcPts val="1000"/>
              </a:spcBef>
              <a:spcAft>
                <a:spcPts val="0"/>
              </a:spcAft>
              <a:buNone/>
            </a:pPr>
            <a:r>
              <a:rPr lang="en-US" sz="2400">
                <a:latin typeface="Courier New"/>
                <a:ea typeface="Courier New"/>
                <a:cs typeface="Courier New"/>
                <a:sym typeface="Courier New"/>
              </a:rPr>
              <a:t>df=pd.read_csv('titanic.csv')</a:t>
            </a:r>
            <a:endParaRPr sz="2400">
              <a:latin typeface="Courier New"/>
              <a:ea typeface="Courier New"/>
              <a:cs typeface="Courier New"/>
              <a:sym typeface="Courier New"/>
            </a:endParaRPr>
          </a:p>
          <a:p>
            <a:pPr marL="0" lvl="0" indent="0" algn="l" rtl="0">
              <a:spcBef>
                <a:spcPts val="1000"/>
              </a:spcBef>
              <a:spcAft>
                <a:spcPts val="0"/>
              </a:spcAft>
              <a:buNone/>
            </a:pPr>
            <a:endParaRPr sz="2400">
              <a:latin typeface="Courier New"/>
              <a:ea typeface="Courier New"/>
              <a:cs typeface="Courier New"/>
              <a:sym typeface="Courier New"/>
            </a:endParaRPr>
          </a:p>
          <a:p>
            <a:pPr marL="0" lvl="0" indent="0" algn="l" rtl="0">
              <a:spcBef>
                <a:spcPts val="1000"/>
              </a:spcBef>
              <a:spcAft>
                <a:spcPts val="0"/>
              </a:spcAft>
              <a:buNone/>
            </a:pPr>
            <a:r>
              <a:rPr lang="en-US" sz="2400">
                <a:latin typeface="Courier New"/>
                <a:ea typeface="Courier New"/>
                <a:cs typeface="Courier New"/>
                <a:sym typeface="Courier New"/>
              </a:rPr>
              <a:t>prof = ProfileReport(df)</a:t>
            </a:r>
            <a:endParaRPr sz="2400">
              <a:latin typeface="Courier New"/>
              <a:ea typeface="Courier New"/>
              <a:cs typeface="Courier New"/>
              <a:sym typeface="Courier New"/>
            </a:endParaRPr>
          </a:p>
          <a:p>
            <a:pPr marL="0" lvl="0" indent="0" algn="l" rtl="0">
              <a:spcBef>
                <a:spcPts val="1000"/>
              </a:spcBef>
              <a:spcAft>
                <a:spcPts val="0"/>
              </a:spcAft>
              <a:buNone/>
            </a:pPr>
            <a:r>
              <a:rPr lang="en-US" sz="2400">
                <a:latin typeface="Courier New"/>
                <a:ea typeface="Courier New"/>
                <a:cs typeface="Courier New"/>
                <a:sym typeface="Courier New"/>
              </a:rPr>
              <a:t>prof.to_file(output_file='eda.html')</a:t>
            </a:r>
            <a:endParaRPr sz="1000">
              <a:solidFill>
                <a:srgbClr val="545454"/>
              </a:solidFill>
              <a:highlight>
                <a:srgbClr val="FEFEFE"/>
              </a:highlight>
              <a:latin typeface="Courier New"/>
              <a:ea typeface="Courier New"/>
              <a:cs typeface="Courier New"/>
              <a:sym typeface="Courier New"/>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262"/>
        <p:cNvGrpSpPr/>
        <p:nvPr/>
      </p:nvGrpSpPr>
      <p:grpSpPr>
        <a:xfrm>
          <a:off x="0" y="0"/>
          <a:ext cx="0" cy="0"/>
          <a:chOff x="0" y="0"/>
          <a:chExt cx="0" cy="0"/>
        </a:xfrm>
      </p:grpSpPr>
      <p:sp>
        <p:nvSpPr>
          <p:cNvPr id="263" name="Google Shape;263;p14"/>
          <p:cNvSpPr txBox="1">
            <a:spLocks noGrp="1"/>
          </p:cNvSpPr>
          <p:nvPr>
            <p:ph type="title"/>
          </p:nvPr>
        </p:nvSpPr>
        <p:spPr>
          <a:xfrm>
            <a:off x="628650" y="365125"/>
            <a:ext cx="7886700" cy="9234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a:t>Data Preparation</a:t>
            </a:r>
            <a:endParaRPr/>
          </a:p>
        </p:txBody>
      </p:sp>
      <p:sp>
        <p:nvSpPr>
          <p:cNvPr id="264" name="Google Shape;264;p14"/>
          <p:cNvSpPr txBox="1">
            <a:spLocks noGrp="1"/>
          </p:cNvSpPr>
          <p:nvPr>
            <p:ph type="body" idx="1"/>
          </p:nvPr>
        </p:nvSpPr>
        <p:spPr>
          <a:xfrm>
            <a:off x="628650" y="1395025"/>
            <a:ext cx="7886700" cy="5030100"/>
          </a:xfrm>
          <a:prstGeom prst="rect">
            <a:avLst/>
          </a:prstGeom>
          <a:noFill/>
          <a:ln>
            <a:noFill/>
          </a:ln>
        </p:spPr>
        <p:txBody>
          <a:bodyPr spcFirstLastPara="1" wrap="square" lIns="91425" tIns="45700" rIns="91425" bIns="45700" anchor="t" anchorCtr="0">
            <a:normAutofit lnSpcReduction="10000"/>
          </a:bodyPr>
          <a:lstStyle/>
          <a:p>
            <a:pPr marL="228600" lvl="0" indent="-241934" algn="l" rtl="0">
              <a:lnSpc>
                <a:spcPct val="90000"/>
              </a:lnSpc>
              <a:spcBef>
                <a:spcPts val="0"/>
              </a:spcBef>
              <a:spcAft>
                <a:spcPts val="0"/>
              </a:spcAft>
              <a:buClr>
                <a:schemeClr val="dk1"/>
              </a:buClr>
              <a:buSzPts val="2800"/>
              <a:buChar char="•"/>
            </a:pPr>
            <a:r>
              <a:rPr lang="en-US"/>
              <a:t>Data Preparation is a critical step in Exploratory Data Analysis (EDA) where the main objective is to</a:t>
            </a:r>
            <a:r>
              <a:rPr lang="en-US">
                <a:solidFill>
                  <a:srgbClr val="FF0000"/>
                </a:solidFill>
              </a:rPr>
              <a:t> preprocess, and transform the raw data into a format suitable for analysis</a:t>
            </a:r>
            <a:r>
              <a:rPr lang="en-US"/>
              <a:t>. </a:t>
            </a:r>
            <a:endParaRPr/>
          </a:p>
          <a:p>
            <a:pPr marL="228600" lvl="0" indent="-241934" algn="l" rtl="0">
              <a:lnSpc>
                <a:spcPct val="90000"/>
              </a:lnSpc>
              <a:spcBef>
                <a:spcPts val="1000"/>
              </a:spcBef>
              <a:spcAft>
                <a:spcPts val="0"/>
              </a:spcAft>
              <a:buClr>
                <a:schemeClr val="dk1"/>
              </a:buClr>
              <a:buSzPts val="2800"/>
              <a:buChar char="•"/>
            </a:pPr>
            <a:r>
              <a:rPr lang="en-US"/>
              <a:t>This step ensures that the data is of high quality, consistent, and ready for further exploration and modeling. </a:t>
            </a:r>
            <a:endParaRPr/>
          </a:p>
          <a:p>
            <a:pPr marL="685800" lvl="1" indent="-240030" algn="l" rtl="0">
              <a:lnSpc>
                <a:spcPct val="90000"/>
              </a:lnSpc>
              <a:spcBef>
                <a:spcPts val="500"/>
              </a:spcBef>
              <a:spcAft>
                <a:spcPts val="0"/>
              </a:spcAft>
              <a:buClr>
                <a:srgbClr val="FF0000"/>
              </a:buClr>
              <a:buSzPts val="2400"/>
              <a:buChar char="•"/>
            </a:pPr>
            <a:r>
              <a:rPr lang="en-US">
                <a:solidFill>
                  <a:srgbClr val="FF0000"/>
                </a:solidFill>
              </a:rPr>
              <a:t>Data Imputation</a:t>
            </a:r>
            <a:endParaRPr/>
          </a:p>
          <a:p>
            <a:pPr marL="685800" lvl="1" indent="-240030" algn="l" rtl="0">
              <a:lnSpc>
                <a:spcPct val="90000"/>
              </a:lnSpc>
              <a:spcBef>
                <a:spcPts val="500"/>
              </a:spcBef>
              <a:spcAft>
                <a:spcPts val="0"/>
              </a:spcAft>
              <a:buClr>
                <a:srgbClr val="FF0000"/>
              </a:buClr>
              <a:buSzPts val="2400"/>
              <a:buChar char="•"/>
            </a:pPr>
            <a:r>
              <a:rPr lang="en-US">
                <a:solidFill>
                  <a:srgbClr val="FF0000"/>
                </a:solidFill>
              </a:rPr>
              <a:t>Feature Transformation</a:t>
            </a:r>
            <a:endParaRPr>
              <a:solidFill>
                <a:srgbClr val="FF0000"/>
              </a:solidFill>
            </a:endParaRPr>
          </a:p>
          <a:p>
            <a:pPr marL="1143000" lvl="2" indent="-228600" algn="l" rtl="0">
              <a:lnSpc>
                <a:spcPct val="90000"/>
              </a:lnSpc>
              <a:spcBef>
                <a:spcPts val="500"/>
              </a:spcBef>
              <a:spcAft>
                <a:spcPts val="0"/>
              </a:spcAft>
              <a:buClr>
                <a:srgbClr val="FF0000"/>
              </a:buClr>
              <a:buSzPts val="1800"/>
              <a:buChar char="•"/>
            </a:pPr>
            <a:r>
              <a:rPr lang="en-US">
                <a:solidFill>
                  <a:srgbClr val="FF0000"/>
                </a:solidFill>
              </a:rPr>
              <a:t>Feature Encoding</a:t>
            </a:r>
            <a:endParaRPr>
              <a:solidFill>
                <a:srgbClr val="FF0000"/>
              </a:solidFill>
            </a:endParaRPr>
          </a:p>
          <a:p>
            <a:pPr marL="1143000" lvl="2" indent="-228600" algn="l" rtl="0">
              <a:lnSpc>
                <a:spcPct val="90000"/>
              </a:lnSpc>
              <a:spcBef>
                <a:spcPts val="500"/>
              </a:spcBef>
              <a:spcAft>
                <a:spcPts val="0"/>
              </a:spcAft>
              <a:buClr>
                <a:srgbClr val="FF0000"/>
              </a:buClr>
              <a:buSzPts val="1800"/>
              <a:buChar char="•"/>
            </a:pPr>
            <a:r>
              <a:rPr lang="en-US">
                <a:solidFill>
                  <a:srgbClr val="FF0000"/>
                </a:solidFill>
              </a:rPr>
              <a:t>Feature Scaling</a:t>
            </a:r>
            <a:endParaRPr>
              <a:solidFill>
                <a:srgbClr val="FF0000"/>
              </a:solidFill>
            </a:endParaRPr>
          </a:p>
          <a:p>
            <a:pPr marL="685800" lvl="1" indent="-240030" algn="l" rtl="0">
              <a:lnSpc>
                <a:spcPct val="90000"/>
              </a:lnSpc>
              <a:spcBef>
                <a:spcPts val="500"/>
              </a:spcBef>
              <a:spcAft>
                <a:spcPts val="0"/>
              </a:spcAft>
              <a:buClr>
                <a:srgbClr val="FF0000"/>
              </a:buClr>
              <a:buSzPts val="2400"/>
              <a:buChar char="•"/>
            </a:pPr>
            <a:r>
              <a:rPr lang="en-US">
                <a:solidFill>
                  <a:srgbClr val="FF0000"/>
                </a:solidFill>
              </a:rPr>
              <a:t>Feature Creation</a:t>
            </a:r>
            <a:endParaRPr/>
          </a:p>
          <a:p>
            <a:pPr marL="685800" lvl="1" indent="-240030" algn="l" rtl="0">
              <a:lnSpc>
                <a:spcPct val="90000"/>
              </a:lnSpc>
              <a:spcBef>
                <a:spcPts val="500"/>
              </a:spcBef>
              <a:spcAft>
                <a:spcPts val="0"/>
              </a:spcAft>
              <a:buClr>
                <a:srgbClr val="FF0000"/>
              </a:buClr>
              <a:buSzPts val="2400"/>
              <a:buChar char="•"/>
            </a:pPr>
            <a:r>
              <a:rPr lang="en-US">
                <a:solidFill>
                  <a:srgbClr val="FF0000"/>
                </a:solidFill>
              </a:rPr>
              <a:t>Feature Selection</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268"/>
        <p:cNvGrpSpPr/>
        <p:nvPr/>
      </p:nvGrpSpPr>
      <p:grpSpPr>
        <a:xfrm>
          <a:off x="0" y="0"/>
          <a:ext cx="0" cy="0"/>
          <a:chOff x="0" y="0"/>
          <a:chExt cx="0" cy="0"/>
        </a:xfrm>
      </p:grpSpPr>
      <p:sp>
        <p:nvSpPr>
          <p:cNvPr id="269" name="Google Shape;269;p15"/>
          <p:cNvSpPr txBox="1">
            <a:spLocks noGrp="1"/>
          </p:cNvSpPr>
          <p:nvPr>
            <p:ph type="title"/>
          </p:nvPr>
        </p:nvSpPr>
        <p:spPr>
          <a:xfrm>
            <a:off x="628650" y="365125"/>
            <a:ext cx="7886700" cy="10617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a:t>Data Imputation</a:t>
            </a:r>
            <a:endParaRPr/>
          </a:p>
        </p:txBody>
      </p:sp>
      <p:sp>
        <p:nvSpPr>
          <p:cNvPr id="270" name="Google Shape;270;p15"/>
          <p:cNvSpPr txBox="1">
            <a:spLocks noGrp="1"/>
          </p:cNvSpPr>
          <p:nvPr>
            <p:ph type="body" idx="1"/>
          </p:nvPr>
        </p:nvSpPr>
        <p:spPr>
          <a:xfrm>
            <a:off x="628650" y="1650600"/>
            <a:ext cx="7886700" cy="4842300"/>
          </a:xfrm>
          <a:prstGeom prst="rect">
            <a:avLst/>
          </a:prstGeom>
          <a:noFill/>
          <a:ln>
            <a:noFill/>
          </a:ln>
        </p:spPr>
        <p:txBody>
          <a:bodyPr spcFirstLastPara="1" wrap="square" lIns="91425" tIns="45700" rIns="91425" bIns="45700" anchor="t" anchorCtr="0">
            <a:normAutofit/>
          </a:bodyPr>
          <a:lstStyle/>
          <a:p>
            <a:pPr marL="228600" lvl="0" indent="-268605" algn="l" rtl="0">
              <a:lnSpc>
                <a:spcPct val="90000"/>
              </a:lnSpc>
              <a:spcBef>
                <a:spcPts val="0"/>
              </a:spcBef>
              <a:spcAft>
                <a:spcPts val="0"/>
              </a:spcAft>
              <a:buClr>
                <a:schemeClr val="dk1"/>
              </a:buClr>
              <a:buSzPts val="2800"/>
              <a:buChar char="•"/>
            </a:pPr>
            <a:r>
              <a:rPr lang="en-US"/>
              <a:t>Data imputation in exploratory data analysis (EDA) refers to the process of </a:t>
            </a:r>
            <a:r>
              <a:rPr lang="en-US">
                <a:solidFill>
                  <a:srgbClr val="FF0000"/>
                </a:solidFill>
              </a:rPr>
              <a:t>filling in missing values in a dataset</a:t>
            </a:r>
            <a:r>
              <a:rPr lang="en-US"/>
              <a:t>. </a:t>
            </a:r>
            <a:endParaRPr/>
          </a:p>
          <a:p>
            <a:pPr marL="228600" lvl="0" indent="-268605" algn="l" rtl="0">
              <a:lnSpc>
                <a:spcPct val="90000"/>
              </a:lnSpc>
              <a:spcBef>
                <a:spcPts val="1000"/>
              </a:spcBef>
              <a:spcAft>
                <a:spcPts val="0"/>
              </a:spcAft>
              <a:buClr>
                <a:schemeClr val="dk1"/>
              </a:buClr>
              <a:buSzPts val="2800"/>
              <a:buChar char="•"/>
            </a:pPr>
            <a:r>
              <a:rPr lang="en-US"/>
              <a:t>Missing data is a common issue in real-world datasets and can arise due to various reasons such as human error, malfunctioning sensors, or data corruption during collection or storage.</a:t>
            </a:r>
            <a:endParaRPr/>
          </a:p>
          <a:p>
            <a:pPr marL="228600" lvl="0" indent="-268605" algn="l" rtl="0">
              <a:lnSpc>
                <a:spcPct val="90000"/>
              </a:lnSpc>
              <a:spcBef>
                <a:spcPts val="1000"/>
              </a:spcBef>
              <a:spcAft>
                <a:spcPts val="0"/>
              </a:spcAft>
              <a:buClr>
                <a:schemeClr val="dk1"/>
              </a:buClr>
              <a:buSzPts val="2800"/>
              <a:buChar char="•"/>
            </a:pPr>
            <a:r>
              <a:rPr lang="en-US"/>
              <a:t>Imputing missing values is important because many statistical and machine learning algorithms cannot handle missing data.</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274"/>
        <p:cNvGrpSpPr/>
        <p:nvPr/>
      </p:nvGrpSpPr>
      <p:grpSpPr>
        <a:xfrm>
          <a:off x="0" y="0"/>
          <a:ext cx="0" cy="0"/>
          <a:chOff x="0" y="0"/>
          <a:chExt cx="0" cy="0"/>
        </a:xfrm>
      </p:grpSpPr>
      <p:sp>
        <p:nvSpPr>
          <p:cNvPr id="275" name="Google Shape;275;g2d412bb40c8_0_0"/>
          <p:cNvSpPr txBox="1">
            <a:spLocks noGrp="1"/>
          </p:cNvSpPr>
          <p:nvPr>
            <p:ph type="title"/>
          </p:nvPr>
        </p:nvSpPr>
        <p:spPr>
          <a:xfrm>
            <a:off x="628650" y="365125"/>
            <a:ext cx="7886700" cy="955200"/>
          </a:xfrm>
          <a:prstGeom prst="rect">
            <a:avLst/>
          </a:prstGeom>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4400"/>
              <a:buFont typeface="Calibri"/>
              <a:buNone/>
            </a:pPr>
            <a:r>
              <a:rPr lang="en-US"/>
              <a:t>Data Imputation</a:t>
            </a:r>
            <a:endParaRPr/>
          </a:p>
        </p:txBody>
      </p:sp>
      <p:sp>
        <p:nvSpPr>
          <p:cNvPr id="276" name="Google Shape;276;g2d412bb40c8_0_0"/>
          <p:cNvSpPr txBox="1">
            <a:spLocks noGrp="1"/>
          </p:cNvSpPr>
          <p:nvPr>
            <p:ph type="body" idx="1"/>
          </p:nvPr>
        </p:nvSpPr>
        <p:spPr>
          <a:xfrm>
            <a:off x="628650" y="1544125"/>
            <a:ext cx="7886700" cy="5058300"/>
          </a:xfrm>
          <a:prstGeom prst="rect">
            <a:avLst/>
          </a:prstGeom>
        </p:spPr>
        <p:txBody>
          <a:bodyPr spcFirstLastPara="1" wrap="square" lIns="91425" tIns="45700" rIns="91425" bIns="45700" anchor="t" anchorCtr="0">
            <a:normAutofit fontScale="92500"/>
          </a:bodyPr>
          <a:lstStyle/>
          <a:p>
            <a:pPr marL="228600" lvl="0" indent="-268605" algn="l" rtl="0">
              <a:spcBef>
                <a:spcPts val="1000"/>
              </a:spcBef>
              <a:spcAft>
                <a:spcPts val="0"/>
              </a:spcAft>
              <a:buSzPts val="2800"/>
              <a:buChar char="•"/>
            </a:pPr>
            <a:r>
              <a:rPr lang="en-US"/>
              <a:t>Therefore, imputation aims to replace missing values with estimated or predicted values based on the available data. </a:t>
            </a:r>
            <a:endParaRPr/>
          </a:p>
          <a:p>
            <a:pPr marL="228600" lvl="0" indent="-268605" algn="l" rtl="0">
              <a:spcBef>
                <a:spcPts val="1000"/>
              </a:spcBef>
              <a:spcAft>
                <a:spcPts val="0"/>
              </a:spcAft>
              <a:buSzPts val="2800"/>
              <a:buChar char="•"/>
            </a:pPr>
            <a:r>
              <a:rPr lang="en-US"/>
              <a:t>There are several common methods for data imputation in EDA:</a:t>
            </a:r>
            <a:endParaRPr/>
          </a:p>
          <a:p>
            <a:pPr marL="685800" lvl="1" indent="-262890" algn="l" rtl="0">
              <a:spcBef>
                <a:spcPts val="500"/>
              </a:spcBef>
              <a:spcAft>
                <a:spcPts val="0"/>
              </a:spcAft>
              <a:buClr>
                <a:srgbClr val="FF0000"/>
              </a:buClr>
              <a:buSzPts val="2400"/>
              <a:buChar char="•"/>
            </a:pPr>
            <a:r>
              <a:rPr lang="en-US">
                <a:solidFill>
                  <a:srgbClr val="FF0000"/>
                </a:solidFill>
              </a:rPr>
              <a:t>Mean/Median/Mode Imputation</a:t>
            </a:r>
            <a:r>
              <a:rPr lang="en-US"/>
              <a:t>: </a:t>
            </a:r>
            <a:endParaRPr/>
          </a:p>
          <a:p>
            <a:pPr marL="1143000" lvl="2" indent="-266700" algn="l" rtl="0">
              <a:spcBef>
                <a:spcPts val="500"/>
              </a:spcBef>
              <a:spcAft>
                <a:spcPts val="0"/>
              </a:spcAft>
              <a:buClr>
                <a:srgbClr val="FF0000"/>
              </a:buClr>
              <a:buSzPts val="2400"/>
              <a:buChar char="•"/>
            </a:pPr>
            <a:r>
              <a:rPr lang="en-US"/>
              <a:t>Replace missing values with the mean, median, or mode of the non-missing values in the same column. </a:t>
            </a:r>
            <a:endParaRPr/>
          </a:p>
          <a:p>
            <a:pPr marL="1143000" lvl="0" indent="0" algn="l" rtl="0">
              <a:spcBef>
                <a:spcPts val="1000"/>
              </a:spcBef>
              <a:spcAft>
                <a:spcPts val="0"/>
              </a:spcAft>
              <a:buNone/>
            </a:pPr>
            <a:endParaRPr/>
          </a:p>
          <a:p>
            <a:pPr marL="1143000" lvl="2" indent="-228600" algn="l" rtl="0">
              <a:lnSpc>
                <a:spcPct val="131250"/>
              </a:lnSpc>
              <a:spcBef>
                <a:spcPts val="0"/>
              </a:spcBef>
              <a:spcAft>
                <a:spcPts val="0"/>
              </a:spcAft>
              <a:buSzPts val="1800"/>
              <a:buChar char="•"/>
            </a:pPr>
            <a:r>
              <a:rPr lang="en-US"/>
              <a:t># Mean Imputation for the 'Age' column (numerical)</a:t>
            </a:r>
            <a:endParaRPr>
              <a:solidFill>
                <a:srgbClr val="FF0000"/>
              </a:solidFill>
            </a:endParaRPr>
          </a:p>
          <a:p>
            <a:pPr marL="1143000" lvl="2" indent="-228600" algn="l" rtl="0">
              <a:lnSpc>
                <a:spcPct val="131250"/>
              </a:lnSpc>
              <a:spcBef>
                <a:spcPts val="0"/>
              </a:spcBef>
              <a:spcAft>
                <a:spcPts val="0"/>
              </a:spcAft>
              <a:buSzPts val="1800"/>
              <a:buChar char="•"/>
            </a:pPr>
            <a:r>
              <a:rPr lang="en-US">
                <a:solidFill>
                  <a:srgbClr val="FF0000"/>
                </a:solidFill>
              </a:rPr>
              <a:t>titanic['age'].fillna(titanic['age'].mean(), inplace=True)</a:t>
            </a:r>
            <a:endParaRPr>
              <a:solidFill>
                <a:srgbClr val="FF0000"/>
              </a:solidFill>
            </a:endParaRPr>
          </a:p>
          <a:p>
            <a:pPr marL="1143000" lvl="2" indent="-228600" algn="l" rtl="0">
              <a:lnSpc>
                <a:spcPct val="131250"/>
              </a:lnSpc>
              <a:spcBef>
                <a:spcPts val="0"/>
              </a:spcBef>
              <a:spcAft>
                <a:spcPts val="0"/>
              </a:spcAft>
              <a:buSzPts val="1800"/>
              <a:buChar char="•"/>
            </a:pPr>
            <a:r>
              <a:rPr lang="en-US"/>
              <a:t># Mode Imputation for the 'Embarked' column (categorical)</a:t>
            </a:r>
            <a:endParaRPr>
              <a:solidFill>
                <a:srgbClr val="FF0000"/>
              </a:solidFill>
            </a:endParaRPr>
          </a:p>
          <a:p>
            <a:pPr marL="1143000" lvl="2" indent="-228600" algn="l" rtl="0">
              <a:lnSpc>
                <a:spcPct val="131250"/>
              </a:lnSpc>
              <a:spcBef>
                <a:spcPts val="0"/>
              </a:spcBef>
              <a:spcAft>
                <a:spcPts val="0"/>
              </a:spcAft>
              <a:buSzPts val="1800"/>
              <a:buChar char="•"/>
            </a:pPr>
            <a:r>
              <a:rPr lang="en-US">
                <a:solidFill>
                  <a:srgbClr val="FF0000"/>
                </a:solidFill>
              </a:rPr>
              <a:t>titanic['embarked'].fillna(titanic['embarked'].mode()[0], inplace=True)</a:t>
            </a:r>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280"/>
        <p:cNvGrpSpPr/>
        <p:nvPr/>
      </p:nvGrpSpPr>
      <p:grpSpPr>
        <a:xfrm>
          <a:off x="0" y="0"/>
          <a:ext cx="0" cy="0"/>
          <a:chOff x="0" y="0"/>
          <a:chExt cx="0" cy="0"/>
        </a:xfrm>
      </p:grpSpPr>
      <p:sp>
        <p:nvSpPr>
          <p:cNvPr id="281" name="Google Shape;281;p16"/>
          <p:cNvSpPr txBox="1">
            <a:spLocks noGrp="1"/>
          </p:cNvSpPr>
          <p:nvPr>
            <p:ph type="title"/>
          </p:nvPr>
        </p:nvSpPr>
        <p:spPr>
          <a:xfrm>
            <a:off x="628650" y="265737"/>
            <a:ext cx="7886700" cy="1006474"/>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a:t>Data Imputation Techniques</a:t>
            </a:r>
            <a:endParaRPr/>
          </a:p>
        </p:txBody>
      </p:sp>
      <p:sp>
        <p:nvSpPr>
          <p:cNvPr id="282" name="Google Shape;282;p16"/>
          <p:cNvSpPr txBox="1">
            <a:spLocks noGrp="1"/>
          </p:cNvSpPr>
          <p:nvPr>
            <p:ph type="body" idx="1"/>
          </p:nvPr>
        </p:nvSpPr>
        <p:spPr>
          <a:xfrm>
            <a:off x="628650" y="1371602"/>
            <a:ext cx="7886700" cy="5486398"/>
          </a:xfrm>
          <a:prstGeom prst="rect">
            <a:avLst/>
          </a:prstGeom>
          <a:noFill/>
          <a:ln>
            <a:noFill/>
          </a:ln>
        </p:spPr>
        <p:txBody>
          <a:bodyPr spcFirstLastPara="1" wrap="square" lIns="91425" tIns="45700" rIns="91425" bIns="45700" anchor="t" anchorCtr="0">
            <a:normAutofit fontScale="85000" lnSpcReduction="10000"/>
          </a:bodyPr>
          <a:lstStyle/>
          <a:p>
            <a:pPr marL="228600" lvl="0" indent="-228600" algn="l" rtl="0">
              <a:lnSpc>
                <a:spcPct val="90000"/>
              </a:lnSpc>
              <a:spcBef>
                <a:spcPts val="0"/>
              </a:spcBef>
              <a:spcAft>
                <a:spcPts val="0"/>
              </a:spcAft>
              <a:buClr>
                <a:srgbClr val="FF0000"/>
              </a:buClr>
              <a:buSzPct val="100000"/>
              <a:buChar char="•"/>
            </a:pPr>
            <a:r>
              <a:rPr lang="en-US">
                <a:solidFill>
                  <a:srgbClr val="FF0000"/>
                </a:solidFill>
              </a:rPr>
              <a:t>Forward Fill (or Backward Fill) Imputation</a:t>
            </a:r>
            <a:r>
              <a:rPr lang="en-US"/>
              <a:t>: </a:t>
            </a:r>
            <a:endParaRPr/>
          </a:p>
          <a:p>
            <a:pPr marL="685800" lvl="1" indent="-262731" algn="l" rtl="0">
              <a:lnSpc>
                <a:spcPct val="90000"/>
              </a:lnSpc>
              <a:spcBef>
                <a:spcPts val="0"/>
              </a:spcBef>
              <a:spcAft>
                <a:spcPts val="0"/>
              </a:spcAft>
              <a:buSzPct val="114583"/>
              <a:buChar char="•"/>
            </a:pPr>
            <a:r>
              <a:rPr lang="en-US"/>
              <a:t>Propagate the last (or next) observed value forward (or backward) to fill missing values. </a:t>
            </a:r>
            <a:endParaRPr/>
          </a:p>
          <a:p>
            <a:pPr marL="685800" lvl="1" indent="-262731" algn="l" rtl="0">
              <a:lnSpc>
                <a:spcPct val="90000"/>
              </a:lnSpc>
              <a:spcBef>
                <a:spcPts val="0"/>
              </a:spcBef>
              <a:spcAft>
                <a:spcPts val="0"/>
              </a:spcAft>
              <a:buSzPct val="114583"/>
              <a:buChar char="•"/>
            </a:pPr>
            <a:r>
              <a:rPr lang="en-US"/>
              <a:t>This method is suitable for time-series data where the missing values are assumed to follow the trend of the observed data.</a:t>
            </a:r>
            <a:endParaRPr/>
          </a:p>
          <a:p>
            <a:pPr marL="685800" marR="0" lvl="1" indent="-262731" algn="l" rtl="0">
              <a:lnSpc>
                <a:spcPct val="90000"/>
              </a:lnSpc>
              <a:spcBef>
                <a:spcPts val="0"/>
              </a:spcBef>
              <a:spcAft>
                <a:spcPts val="0"/>
              </a:spcAft>
              <a:buSzPct val="98214"/>
              <a:buChar char="•"/>
            </a:pPr>
            <a:r>
              <a:rPr lang="en-US" sz="2800">
                <a:solidFill>
                  <a:srgbClr val="FF0000"/>
                </a:solidFill>
              </a:rPr>
              <a:t>titanic['age'].fillna(method='ffill', inplace=True)</a:t>
            </a:r>
            <a:endParaRPr/>
          </a:p>
          <a:p>
            <a:pPr marL="228600" lvl="0" indent="-228600" algn="l" rtl="0">
              <a:lnSpc>
                <a:spcPct val="90000"/>
              </a:lnSpc>
              <a:spcBef>
                <a:spcPts val="1000"/>
              </a:spcBef>
              <a:spcAft>
                <a:spcPts val="0"/>
              </a:spcAft>
              <a:buClr>
                <a:srgbClr val="FF0000"/>
              </a:buClr>
              <a:buSzPct val="100000"/>
              <a:buChar char="•"/>
            </a:pPr>
            <a:r>
              <a:rPr lang="en-US">
                <a:solidFill>
                  <a:srgbClr val="FF0000"/>
                </a:solidFill>
              </a:rPr>
              <a:t>Interpolation: </a:t>
            </a:r>
            <a:endParaRPr>
              <a:solidFill>
                <a:srgbClr val="FF0000"/>
              </a:solidFill>
            </a:endParaRPr>
          </a:p>
          <a:p>
            <a:pPr marL="685800" lvl="1" indent="-262731" algn="l" rtl="0">
              <a:lnSpc>
                <a:spcPct val="90000"/>
              </a:lnSpc>
              <a:spcBef>
                <a:spcPts val="1000"/>
              </a:spcBef>
              <a:spcAft>
                <a:spcPts val="0"/>
              </a:spcAft>
              <a:buSzPct val="114583"/>
              <a:buChar char="•"/>
            </a:pPr>
            <a:r>
              <a:rPr lang="en-US"/>
              <a:t>Estimate missing values based on the values of neighboring data points. </a:t>
            </a:r>
            <a:endParaRPr/>
          </a:p>
          <a:p>
            <a:pPr marL="685800" lvl="1" indent="-262731" algn="l" rtl="0">
              <a:lnSpc>
                <a:spcPct val="90000"/>
              </a:lnSpc>
              <a:spcBef>
                <a:spcPts val="1000"/>
              </a:spcBef>
              <a:spcAft>
                <a:spcPts val="0"/>
              </a:spcAft>
              <a:buSzPct val="114583"/>
              <a:buChar char="•"/>
            </a:pPr>
            <a:r>
              <a:rPr lang="en-US"/>
              <a:t>Linear interpolation, spline interpolation, or other interpolation techniques can be used depending on the nature of the data.</a:t>
            </a:r>
            <a:endParaRPr/>
          </a:p>
          <a:p>
            <a:pPr marL="685800" lvl="1" indent="-262731" algn="l" rtl="0">
              <a:lnSpc>
                <a:spcPct val="131250"/>
              </a:lnSpc>
              <a:spcBef>
                <a:spcPts val="0"/>
              </a:spcBef>
              <a:spcAft>
                <a:spcPts val="0"/>
              </a:spcAft>
              <a:buSzPct val="98214"/>
              <a:buChar char="•"/>
            </a:pPr>
            <a:r>
              <a:rPr lang="en-US" sz="2800">
                <a:solidFill>
                  <a:srgbClr val="FF0000"/>
                </a:solidFill>
              </a:rPr>
              <a:t>titanic['age'].interpolate(method='linear',inplace=True)</a:t>
            </a:r>
            <a:endParaRPr/>
          </a:p>
          <a:p>
            <a:pPr marL="228600" lvl="0" indent="-228600" algn="l" rtl="0">
              <a:lnSpc>
                <a:spcPct val="90000"/>
              </a:lnSpc>
              <a:spcBef>
                <a:spcPts val="1000"/>
              </a:spcBef>
              <a:spcAft>
                <a:spcPts val="0"/>
              </a:spcAft>
              <a:buClr>
                <a:srgbClr val="FF0000"/>
              </a:buClr>
              <a:buSzPct val="100000"/>
              <a:buChar char="•"/>
            </a:pPr>
            <a:r>
              <a:rPr lang="en-US">
                <a:solidFill>
                  <a:srgbClr val="FF0000"/>
                </a:solidFill>
              </a:rPr>
              <a:t>K-Nearest Neighbors (KNN) Imputation</a:t>
            </a:r>
            <a:r>
              <a:rPr lang="en-US"/>
              <a:t>: </a:t>
            </a:r>
            <a:endParaRPr/>
          </a:p>
          <a:p>
            <a:pPr marL="685800" lvl="1" indent="-262731" algn="l" rtl="0">
              <a:lnSpc>
                <a:spcPct val="90000"/>
              </a:lnSpc>
              <a:spcBef>
                <a:spcPts val="1000"/>
              </a:spcBef>
              <a:spcAft>
                <a:spcPts val="0"/>
              </a:spcAft>
              <a:buSzPct val="114583"/>
              <a:buChar char="•"/>
            </a:pPr>
            <a:r>
              <a:rPr lang="en-US"/>
              <a:t>Estimate missing values by averaging the values of the nearest neighbors in the feature space. </a:t>
            </a:r>
            <a:endParaRPr/>
          </a:p>
          <a:p>
            <a:pPr marL="685800" lvl="1" indent="-262731" algn="l" rtl="0">
              <a:lnSpc>
                <a:spcPct val="90000"/>
              </a:lnSpc>
              <a:spcBef>
                <a:spcPts val="1000"/>
              </a:spcBef>
              <a:spcAft>
                <a:spcPts val="0"/>
              </a:spcAft>
              <a:buSzPct val="114583"/>
              <a:buChar char="•"/>
            </a:pPr>
            <a:r>
              <a:rPr lang="en-US"/>
              <a:t>This method considers the similarity between data points and is useful when the dataset has complex patterns or relationships.</a:t>
            </a:r>
            <a:endParaRPr/>
          </a:p>
          <a:p>
            <a:pPr marL="0" lvl="0" indent="0" algn="l" rtl="0">
              <a:lnSpc>
                <a:spcPct val="90000"/>
              </a:lnSpc>
              <a:spcBef>
                <a:spcPts val="1000"/>
              </a:spcBef>
              <a:spcAft>
                <a:spcPts val="0"/>
              </a:spcAft>
              <a:buNone/>
            </a:pPr>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286"/>
        <p:cNvGrpSpPr/>
        <p:nvPr/>
      </p:nvGrpSpPr>
      <p:grpSpPr>
        <a:xfrm>
          <a:off x="0" y="0"/>
          <a:ext cx="0" cy="0"/>
          <a:chOff x="0" y="0"/>
          <a:chExt cx="0" cy="0"/>
        </a:xfrm>
      </p:grpSpPr>
      <p:sp>
        <p:nvSpPr>
          <p:cNvPr id="287" name="Google Shape;287;g30ac0273d84_0_36"/>
          <p:cNvSpPr txBox="1">
            <a:spLocks noGrp="1"/>
          </p:cNvSpPr>
          <p:nvPr>
            <p:ph type="title"/>
          </p:nvPr>
        </p:nvSpPr>
        <p:spPr>
          <a:xfrm>
            <a:off x="628650" y="288925"/>
            <a:ext cx="7886700" cy="944700"/>
          </a:xfrm>
          <a:prstGeom prst="rect">
            <a:avLst/>
          </a:prstGeom>
        </p:spPr>
        <p:txBody>
          <a:bodyPr spcFirstLastPara="1" wrap="square" lIns="91425" tIns="45700" rIns="91425" bIns="45700" anchor="ctr" anchorCtr="0">
            <a:normAutofit/>
          </a:bodyPr>
          <a:lstStyle/>
          <a:p>
            <a:pPr marL="0" lvl="0" indent="0" algn="l" rtl="0">
              <a:spcBef>
                <a:spcPts val="0"/>
              </a:spcBef>
              <a:spcAft>
                <a:spcPts val="0"/>
              </a:spcAft>
              <a:buNone/>
            </a:pPr>
            <a:r>
              <a:rPr lang="en-US"/>
              <a:t>Feature Transformation</a:t>
            </a:r>
            <a:endParaRPr/>
          </a:p>
        </p:txBody>
      </p:sp>
      <p:sp>
        <p:nvSpPr>
          <p:cNvPr id="288" name="Google Shape;288;g30ac0273d84_0_36"/>
          <p:cNvSpPr txBox="1">
            <a:spLocks noGrp="1"/>
          </p:cNvSpPr>
          <p:nvPr>
            <p:ph type="body" idx="1"/>
          </p:nvPr>
        </p:nvSpPr>
        <p:spPr>
          <a:xfrm>
            <a:off x="628650" y="1288525"/>
            <a:ext cx="7886700" cy="5378100"/>
          </a:xfrm>
          <a:prstGeom prst="rect">
            <a:avLst/>
          </a:prstGeom>
        </p:spPr>
        <p:txBody>
          <a:bodyPr spcFirstLastPara="1" wrap="square" lIns="91425" tIns="45700" rIns="91425" bIns="45700" anchor="t" anchorCtr="0">
            <a:normAutofit lnSpcReduction="10000"/>
          </a:bodyPr>
          <a:lstStyle/>
          <a:p>
            <a:pPr marL="457200" lvl="0" indent="-393700" algn="l" rtl="0">
              <a:spcBef>
                <a:spcPts val="1000"/>
              </a:spcBef>
              <a:spcAft>
                <a:spcPts val="0"/>
              </a:spcAft>
              <a:buSzPts val="2600"/>
              <a:buChar char="•"/>
            </a:pPr>
            <a:r>
              <a:rPr lang="en-US" sz="2600"/>
              <a:t>Feature transformation is the process of converting or modifying the features (variables) in a dataset to make them more suitable for analysis or modeling.</a:t>
            </a:r>
            <a:endParaRPr sz="2600"/>
          </a:p>
          <a:p>
            <a:pPr marL="457200" lvl="0" indent="-393700" algn="l" rtl="0">
              <a:spcBef>
                <a:spcPts val="0"/>
              </a:spcBef>
              <a:spcAft>
                <a:spcPts val="0"/>
              </a:spcAft>
              <a:buSzPts val="2600"/>
              <a:buChar char="•"/>
            </a:pPr>
            <a:r>
              <a:rPr lang="en-US" sz="2600"/>
              <a:t>It involves applying various mathematical or statistical transformations to the original features to extract more useful information, improve the performance of machine learning models, or meet specific requirements of the analysis.</a:t>
            </a:r>
            <a:endParaRPr sz="2600"/>
          </a:p>
          <a:p>
            <a:pPr marL="457200" lvl="0" indent="-393700" algn="l" rtl="0">
              <a:spcBef>
                <a:spcPts val="0"/>
              </a:spcBef>
              <a:spcAft>
                <a:spcPts val="0"/>
              </a:spcAft>
              <a:buSzPts val="2600"/>
              <a:buChar char="•"/>
            </a:pPr>
            <a:r>
              <a:rPr lang="en-US" sz="2600"/>
              <a:t>Feature transformation can include a wide range of techniques, including:</a:t>
            </a:r>
            <a:endParaRPr sz="2600"/>
          </a:p>
          <a:p>
            <a:pPr marL="914400" lvl="1" indent="-381000" algn="l" rtl="0">
              <a:spcBef>
                <a:spcPts val="0"/>
              </a:spcBef>
              <a:spcAft>
                <a:spcPts val="0"/>
              </a:spcAft>
              <a:buSzPts val="2400"/>
              <a:buChar char="•"/>
            </a:pPr>
            <a:r>
              <a:rPr lang="en-US" sz="2200">
                <a:solidFill>
                  <a:srgbClr val="FF0000"/>
                </a:solidFill>
              </a:rPr>
              <a:t>Feature Encoding</a:t>
            </a:r>
            <a:endParaRPr sz="2200">
              <a:solidFill>
                <a:srgbClr val="FF0000"/>
              </a:solidFill>
            </a:endParaRPr>
          </a:p>
          <a:p>
            <a:pPr marL="914400" lvl="1" indent="-381000" algn="l" rtl="0">
              <a:spcBef>
                <a:spcPts val="0"/>
              </a:spcBef>
              <a:spcAft>
                <a:spcPts val="0"/>
              </a:spcAft>
              <a:buSzPts val="2400"/>
              <a:buChar char="•"/>
            </a:pPr>
            <a:r>
              <a:rPr lang="en-US" sz="2200">
                <a:solidFill>
                  <a:srgbClr val="FF0000"/>
                </a:solidFill>
              </a:rPr>
              <a:t>Feature Scaling</a:t>
            </a:r>
            <a:endParaRPr sz="2200">
              <a:solidFill>
                <a:srgbClr val="FF0000"/>
              </a:solidFill>
            </a:endParaRPr>
          </a:p>
          <a:p>
            <a:pPr marL="914400" lvl="1" indent="-381000" algn="l" rtl="0">
              <a:spcBef>
                <a:spcPts val="0"/>
              </a:spcBef>
              <a:spcAft>
                <a:spcPts val="0"/>
              </a:spcAft>
              <a:buSzPts val="2400"/>
              <a:buChar char="•"/>
            </a:pPr>
            <a:r>
              <a:rPr lang="en-US" sz="2200">
                <a:solidFill>
                  <a:srgbClr val="FF0000"/>
                </a:solidFill>
              </a:rPr>
              <a:t>Outlier Detection</a:t>
            </a:r>
            <a:endParaRPr sz="2200">
              <a:solidFill>
                <a:srgbClr val="FF0000"/>
              </a:solidFill>
            </a:endParaRPr>
          </a:p>
          <a:p>
            <a:pPr marL="914400" lvl="1" indent="-368300" algn="l" rtl="0">
              <a:spcBef>
                <a:spcPts val="0"/>
              </a:spcBef>
              <a:spcAft>
                <a:spcPts val="0"/>
              </a:spcAft>
              <a:buSzPts val="2200"/>
              <a:buChar char="•"/>
            </a:pPr>
            <a:r>
              <a:rPr lang="en-US" sz="2200">
                <a:solidFill>
                  <a:srgbClr val="FF0000"/>
                </a:solidFill>
              </a:rPr>
              <a:t>Renaming Columns</a:t>
            </a:r>
            <a:endParaRPr sz="2200">
              <a:solidFill>
                <a:srgbClr val="FF0000"/>
              </a:solidFill>
            </a:endParaRPr>
          </a:p>
          <a:p>
            <a:pPr marL="914400" lvl="1" indent="-381000" algn="l" rtl="0">
              <a:spcBef>
                <a:spcPts val="0"/>
              </a:spcBef>
              <a:spcAft>
                <a:spcPts val="0"/>
              </a:spcAft>
              <a:buSzPts val="2400"/>
              <a:buChar char="•"/>
            </a:pPr>
            <a:r>
              <a:rPr lang="en-US" sz="2200">
                <a:solidFill>
                  <a:srgbClr val="FF0000"/>
                </a:solidFill>
              </a:rPr>
              <a:t>Identifying Duplicate Rows</a:t>
            </a:r>
            <a:endParaRPr sz="2200">
              <a:solidFill>
                <a:srgbClr val="FF0000"/>
              </a:solidFill>
            </a:endParaRPr>
          </a:p>
          <a:p>
            <a:pPr marL="914400" lvl="1" indent="-381000" algn="l" rtl="0">
              <a:spcBef>
                <a:spcPts val="0"/>
              </a:spcBef>
              <a:spcAft>
                <a:spcPts val="0"/>
              </a:spcAft>
              <a:buSzPts val="2400"/>
              <a:buChar char="•"/>
            </a:pPr>
            <a:r>
              <a:rPr lang="en-US" sz="2200">
                <a:solidFill>
                  <a:srgbClr val="FF0000"/>
                </a:solidFill>
              </a:rPr>
              <a:t>Handling Irrelevant Columns and Rows</a:t>
            </a:r>
            <a:endParaRPr sz="2200">
              <a:solidFill>
                <a:srgbClr val="FF0000"/>
              </a:solidFill>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292"/>
        <p:cNvGrpSpPr/>
        <p:nvPr/>
      </p:nvGrpSpPr>
      <p:grpSpPr>
        <a:xfrm>
          <a:off x="0" y="0"/>
          <a:ext cx="0" cy="0"/>
          <a:chOff x="0" y="0"/>
          <a:chExt cx="0" cy="0"/>
        </a:xfrm>
      </p:grpSpPr>
      <p:sp>
        <p:nvSpPr>
          <p:cNvPr id="293" name="Google Shape;293;p17"/>
          <p:cNvSpPr txBox="1">
            <a:spLocks noGrp="1"/>
          </p:cNvSpPr>
          <p:nvPr>
            <p:ph type="title"/>
          </p:nvPr>
        </p:nvSpPr>
        <p:spPr>
          <a:xfrm>
            <a:off x="628650" y="245858"/>
            <a:ext cx="7886700" cy="877265"/>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a:t>Feature Encoding</a:t>
            </a:r>
            <a:endParaRPr/>
          </a:p>
        </p:txBody>
      </p:sp>
      <p:sp>
        <p:nvSpPr>
          <p:cNvPr id="294" name="Google Shape;294;p17"/>
          <p:cNvSpPr txBox="1">
            <a:spLocks noGrp="1"/>
          </p:cNvSpPr>
          <p:nvPr>
            <p:ph type="body" idx="1"/>
          </p:nvPr>
        </p:nvSpPr>
        <p:spPr>
          <a:xfrm>
            <a:off x="628650" y="1123125"/>
            <a:ext cx="7886700" cy="5085300"/>
          </a:xfrm>
          <a:prstGeom prst="rect">
            <a:avLst/>
          </a:prstGeom>
          <a:noFill/>
          <a:ln>
            <a:noFill/>
          </a:ln>
        </p:spPr>
        <p:txBody>
          <a:bodyPr spcFirstLastPara="1" wrap="square" lIns="91425" tIns="45700" rIns="91425" bIns="45700" anchor="t" anchorCtr="0">
            <a:normAutofit/>
          </a:bodyPr>
          <a:lstStyle/>
          <a:p>
            <a:pPr marL="228600" lvl="0" indent="-241934" algn="l" rtl="0">
              <a:lnSpc>
                <a:spcPct val="90000"/>
              </a:lnSpc>
              <a:spcBef>
                <a:spcPts val="0"/>
              </a:spcBef>
              <a:spcAft>
                <a:spcPts val="0"/>
              </a:spcAft>
              <a:buClr>
                <a:schemeClr val="dk1"/>
              </a:buClr>
              <a:buSzPts val="2800"/>
              <a:buChar char="•"/>
            </a:pPr>
            <a:r>
              <a:rPr lang="en-US"/>
              <a:t>In the context of exploratory data analysis (EDA), feature encoding refers to the process of converting categorical or textual data into a numerical format that can be used for analysis and modeling. </a:t>
            </a:r>
            <a:endParaRPr/>
          </a:p>
          <a:p>
            <a:pPr marL="228600" lvl="0" indent="-241934" algn="l" rtl="0">
              <a:lnSpc>
                <a:spcPct val="90000"/>
              </a:lnSpc>
              <a:spcBef>
                <a:spcPts val="1000"/>
              </a:spcBef>
              <a:spcAft>
                <a:spcPts val="0"/>
              </a:spcAft>
              <a:buClr>
                <a:schemeClr val="dk1"/>
              </a:buClr>
              <a:buSzPts val="2800"/>
              <a:buChar char="•"/>
            </a:pPr>
            <a:r>
              <a:rPr lang="en-US"/>
              <a:t>Feature encoding is essential because many machine learning algorithms and statistical techniques require numerical inputs.</a:t>
            </a:r>
            <a:endParaRPr/>
          </a:p>
          <a:p>
            <a:pPr marL="685800" lvl="1" indent="-292100" algn="l" rtl="0">
              <a:lnSpc>
                <a:spcPct val="90000"/>
              </a:lnSpc>
              <a:spcBef>
                <a:spcPts val="1000"/>
              </a:spcBef>
              <a:spcAft>
                <a:spcPts val="0"/>
              </a:spcAft>
              <a:buClr>
                <a:srgbClr val="FF0000"/>
              </a:buClr>
              <a:buSzPts val="2800"/>
              <a:buChar char="•"/>
            </a:pPr>
            <a:r>
              <a:rPr lang="en-US">
                <a:solidFill>
                  <a:srgbClr val="FF0000"/>
                </a:solidFill>
              </a:rPr>
              <a:t>Ordinal Encoding </a:t>
            </a:r>
            <a:endParaRPr>
              <a:solidFill>
                <a:srgbClr val="FF0000"/>
              </a:solidFill>
            </a:endParaRPr>
          </a:p>
          <a:p>
            <a:pPr marL="685800" lvl="1" indent="-292100" algn="l" rtl="0">
              <a:spcBef>
                <a:spcPts val="1000"/>
              </a:spcBef>
              <a:spcAft>
                <a:spcPts val="0"/>
              </a:spcAft>
              <a:buClr>
                <a:srgbClr val="FF0000"/>
              </a:buClr>
              <a:buSzPts val="2800"/>
              <a:buChar char="•"/>
            </a:pPr>
            <a:r>
              <a:rPr lang="en-US">
                <a:solidFill>
                  <a:srgbClr val="FF0000"/>
                </a:solidFill>
              </a:rPr>
              <a:t>One-Hot Encoding</a:t>
            </a:r>
            <a:endParaRPr>
              <a:solidFill>
                <a:srgbClr val="FF0000"/>
              </a:solidFill>
            </a:endParaRPr>
          </a:p>
          <a:p>
            <a:pPr marL="685800" lvl="1" indent="-292100" algn="l" rtl="0">
              <a:lnSpc>
                <a:spcPct val="90000"/>
              </a:lnSpc>
              <a:spcBef>
                <a:spcPts val="1000"/>
              </a:spcBef>
              <a:spcAft>
                <a:spcPts val="0"/>
              </a:spcAft>
              <a:buClr>
                <a:srgbClr val="FF0000"/>
              </a:buClr>
              <a:buSzPts val="2800"/>
              <a:buChar char="•"/>
            </a:pPr>
            <a:r>
              <a:rPr lang="en-US">
                <a:solidFill>
                  <a:srgbClr val="FF0000"/>
                </a:solidFill>
              </a:rPr>
              <a:t>Label Encoding </a:t>
            </a:r>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298"/>
        <p:cNvGrpSpPr/>
        <p:nvPr/>
      </p:nvGrpSpPr>
      <p:grpSpPr>
        <a:xfrm>
          <a:off x="0" y="0"/>
          <a:ext cx="0" cy="0"/>
          <a:chOff x="0" y="0"/>
          <a:chExt cx="0" cy="0"/>
        </a:xfrm>
      </p:grpSpPr>
      <p:sp>
        <p:nvSpPr>
          <p:cNvPr id="299" name="Google Shape;299;g30ac0273d84_0_1"/>
          <p:cNvSpPr txBox="1">
            <a:spLocks noGrp="1"/>
          </p:cNvSpPr>
          <p:nvPr>
            <p:ph type="title"/>
          </p:nvPr>
        </p:nvSpPr>
        <p:spPr>
          <a:xfrm>
            <a:off x="628650" y="365126"/>
            <a:ext cx="7886700" cy="1325700"/>
          </a:xfrm>
          <a:prstGeom prst="rect">
            <a:avLst/>
          </a:prstGeom>
        </p:spPr>
        <p:txBody>
          <a:bodyPr spcFirstLastPara="1" wrap="square" lIns="91425" tIns="45700" rIns="91425" bIns="45700" anchor="ctr" anchorCtr="0">
            <a:normAutofit/>
          </a:bodyPr>
          <a:lstStyle/>
          <a:p>
            <a:pPr marL="0" lvl="0" indent="0" algn="l" rtl="0">
              <a:spcBef>
                <a:spcPts val="0"/>
              </a:spcBef>
              <a:spcAft>
                <a:spcPts val="0"/>
              </a:spcAft>
              <a:buNone/>
            </a:pPr>
            <a:r>
              <a:rPr lang="en-US" u="sng">
                <a:solidFill>
                  <a:schemeClr val="hlink"/>
                </a:solidFill>
                <a:hlinkClick r:id="rId3"/>
              </a:rPr>
              <a:t>Ordinal Encoding</a:t>
            </a:r>
            <a:endParaRPr/>
          </a:p>
        </p:txBody>
      </p:sp>
      <p:sp>
        <p:nvSpPr>
          <p:cNvPr id="300" name="Google Shape;300;g30ac0273d84_0_1"/>
          <p:cNvSpPr txBox="1">
            <a:spLocks noGrp="1"/>
          </p:cNvSpPr>
          <p:nvPr>
            <p:ph type="body" idx="1"/>
          </p:nvPr>
        </p:nvSpPr>
        <p:spPr>
          <a:xfrm>
            <a:off x="628650" y="1825625"/>
            <a:ext cx="7886700" cy="4351200"/>
          </a:xfrm>
          <a:prstGeom prst="rect">
            <a:avLst/>
          </a:prstGeom>
        </p:spPr>
        <p:txBody>
          <a:bodyPr spcFirstLastPara="1" wrap="square" lIns="91425" tIns="45700" rIns="91425" bIns="45700" anchor="t" anchorCtr="0">
            <a:normAutofit fontScale="92500"/>
          </a:bodyPr>
          <a:lstStyle/>
          <a:p>
            <a:pPr marL="228600" lvl="0" indent="-254634" algn="l" rtl="0">
              <a:spcBef>
                <a:spcPts val="1000"/>
              </a:spcBef>
              <a:spcAft>
                <a:spcPts val="0"/>
              </a:spcAft>
              <a:buSzPts val="3000"/>
              <a:buChar char="•"/>
            </a:pPr>
            <a:r>
              <a:rPr lang="en-US"/>
              <a:t>OrdinalEncoder is specifically designed to handle ordinal data where the order of categories is important. </a:t>
            </a:r>
            <a:endParaRPr/>
          </a:p>
          <a:p>
            <a:pPr marL="228600" lvl="0" indent="-254634" algn="l" rtl="0">
              <a:spcBef>
                <a:spcPts val="1000"/>
              </a:spcBef>
              <a:spcAft>
                <a:spcPts val="0"/>
              </a:spcAft>
              <a:buSzPts val="3000"/>
              <a:buChar char="•"/>
            </a:pPr>
            <a:r>
              <a:rPr lang="en-US"/>
              <a:t>It encodes the categories in the given order, ensuring that the numbers reflect the correct ranking of the data.</a:t>
            </a:r>
            <a:endParaRPr/>
          </a:p>
          <a:p>
            <a:pPr marL="228600" lvl="0" indent="-254634" algn="l" rtl="0">
              <a:spcBef>
                <a:spcPts val="1000"/>
              </a:spcBef>
              <a:spcAft>
                <a:spcPts val="0"/>
              </a:spcAft>
              <a:buSzPts val="3000"/>
              <a:buChar char="•"/>
            </a:pPr>
            <a:r>
              <a:rPr lang="en-US"/>
              <a:t>For example, "low", "medium", and "high" have a natural order, and ordinal encoding ensures this order is preserved in the numerical values.</a:t>
            </a:r>
            <a:endParaRPr/>
          </a:p>
          <a:p>
            <a:pPr marL="228600" lvl="0" indent="-260350" algn="l" rtl="0">
              <a:lnSpc>
                <a:spcPct val="110795"/>
              </a:lnSpc>
              <a:spcBef>
                <a:spcPts val="0"/>
              </a:spcBef>
              <a:spcAft>
                <a:spcPts val="0"/>
              </a:spcAft>
              <a:buSzPts val="2300"/>
              <a:buChar char="•"/>
            </a:pPr>
            <a:r>
              <a:rPr lang="en-US" sz="2300">
                <a:solidFill>
                  <a:srgbClr val="FF0000"/>
                </a:solidFill>
              </a:rPr>
              <a:t>oe = OrdinalEncoder(categories=[['Poor','Average','Good'],['School','UG','PG']])</a:t>
            </a:r>
            <a:endParaRPr sz="230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304"/>
        <p:cNvGrpSpPr/>
        <p:nvPr/>
      </p:nvGrpSpPr>
      <p:grpSpPr>
        <a:xfrm>
          <a:off x="0" y="0"/>
          <a:ext cx="0" cy="0"/>
          <a:chOff x="0" y="0"/>
          <a:chExt cx="0" cy="0"/>
        </a:xfrm>
      </p:grpSpPr>
      <p:sp>
        <p:nvSpPr>
          <p:cNvPr id="305" name="Google Shape;305;g30ac0273d84_0_27"/>
          <p:cNvSpPr txBox="1">
            <a:spLocks noGrp="1"/>
          </p:cNvSpPr>
          <p:nvPr>
            <p:ph type="title"/>
          </p:nvPr>
        </p:nvSpPr>
        <p:spPr>
          <a:xfrm>
            <a:off x="628650" y="365125"/>
            <a:ext cx="7886700" cy="1072500"/>
          </a:xfrm>
          <a:prstGeom prst="rect">
            <a:avLst/>
          </a:prstGeom>
        </p:spPr>
        <p:txBody>
          <a:bodyPr spcFirstLastPara="1" wrap="square" lIns="91425" tIns="45700" rIns="91425" bIns="45700" anchor="ctr" anchorCtr="0">
            <a:normAutofit/>
          </a:bodyPr>
          <a:lstStyle/>
          <a:p>
            <a:pPr marL="0" lvl="0" indent="0" algn="l" rtl="0">
              <a:spcBef>
                <a:spcPts val="0"/>
              </a:spcBef>
              <a:spcAft>
                <a:spcPts val="0"/>
              </a:spcAft>
              <a:buNone/>
            </a:pPr>
            <a:r>
              <a:rPr lang="en-US"/>
              <a:t>One-Hot Encoding</a:t>
            </a:r>
            <a:endParaRPr/>
          </a:p>
        </p:txBody>
      </p:sp>
      <p:sp>
        <p:nvSpPr>
          <p:cNvPr id="306" name="Google Shape;306;g30ac0273d84_0_27"/>
          <p:cNvSpPr txBox="1">
            <a:spLocks noGrp="1"/>
          </p:cNvSpPr>
          <p:nvPr>
            <p:ph type="body" idx="1"/>
          </p:nvPr>
        </p:nvSpPr>
        <p:spPr>
          <a:xfrm>
            <a:off x="628650" y="1825625"/>
            <a:ext cx="7886700" cy="4351200"/>
          </a:xfrm>
          <a:prstGeom prst="rect">
            <a:avLst/>
          </a:prstGeom>
        </p:spPr>
        <p:txBody>
          <a:bodyPr spcFirstLastPara="1" wrap="square" lIns="91425" tIns="45700" rIns="91425" bIns="45700" anchor="t" anchorCtr="0">
            <a:normAutofit lnSpcReduction="10000"/>
          </a:bodyPr>
          <a:lstStyle/>
          <a:p>
            <a:pPr marL="457200" lvl="0" indent="-406400" algn="l" rtl="0">
              <a:spcBef>
                <a:spcPts val="1000"/>
              </a:spcBef>
              <a:spcAft>
                <a:spcPts val="0"/>
              </a:spcAft>
              <a:buSzPts val="2800"/>
              <a:buChar char="•"/>
            </a:pPr>
            <a:r>
              <a:rPr lang="en-US"/>
              <a:t>One-Hot Encoding is a technique used to convert categorical variables into a binary (0 or 1) representation, where each unique category in the original feature is transformed into a new binary feature (column).</a:t>
            </a:r>
            <a:endParaRPr/>
          </a:p>
          <a:p>
            <a:pPr marL="0" lvl="0" indent="0" algn="l" rtl="0">
              <a:spcBef>
                <a:spcPts val="1000"/>
              </a:spcBef>
              <a:spcAft>
                <a:spcPts val="0"/>
              </a:spcAft>
              <a:buNone/>
            </a:pPr>
            <a:endParaRPr/>
          </a:p>
          <a:p>
            <a:pPr marL="457200" lvl="0" indent="-406400" algn="l" rtl="0">
              <a:lnSpc>
                <a:spcPct val="110795"/>
              </a:lnSpc>
              <a:spcBef>
                <a:spcPts val="0"/>
              </a:spcBef>
              <a:spcAft>
                <a:spcPts val="0"/>
              </a:spcAft>
              <a:buSzPts val="2800"/>
              <a:buChar char="•"/>
            </a:pPr>
            <a:r>
              <a:rPr lang="en-US"/>
              <a:t>Using pandas library</a:t>
            </a:r>
            <a:endParaRPr sz="2300">
              <a:solidFill>
                <a:srgbClr val="FF0000"/>
              </a:solidFill>
            </a:endParaRPr>
          </a:p>
          <a:p>
            <a:pPr marL="457200" lvl="0" indent="-406400" algn="l" rtl="0">
              <a:lnSpc>
                <a:spcPct val="110795"/>
              </a:lnSpc>
              <a:spcBef>
                <a:spcPts val="0"/>
              </a:spcBef>
              <a:spcAft>
                <a:spcPts val="0"/>
              </a:spcAft>
              <a:buSzPts val="2800"/>
              <a:buChar char="•"/>
            </a:pPr>
            <a:r>
              <a:rPr lang="en-US" sz="2300">
                <a:solidFill>
                  <a:srgbClr val="FF0000"/>
                </a:solidFill>
              </a:rPr>
              <a:t>pd.get_dummies(df,columns=['fuel','owner'])</a:t>
            </a:r>
            <a:endParaRPr sz="1000">
              <a:solidFill>
                <a:srgbClr val="212121"/>
              </a:solidFill>
              <a:latin typeface="Arial"/>
              <a:ea typeface="Arial"/>
              <a:cs typeface="Arial"/>
              <a:sym typeface="Arial"/>
            </a:endParaRPr>
          </a:p>
          <a:p>
            <a:pPr marL="457200" lvl="0" indent="-406400" algn="l" rtl="0">
              <a:spcBef>
                <a:spcPts val="0"/>
              </a:spcBef>
              <a:spcAft>
                <a:spcPts val="0"/>
              </a:spcAft>
              <a:buSzPts val="2800"/>
              <a:buChar char="•"/>
            </a:pPr>
            <a:r>
              <a:rPr lang="en-US"/>
              <a:t>Using sklearn library</a:t>
            </a:r>
            <a:endParaRPr/>
          </a:p>
          <a:p>
            <a:pPr marL="457200" lvl="0" indent="-406400" algn="l" rtl="0">
              <a:spcBef>
                <a:spcPts val="0"/>
              </a:spcBef>
              <a:spcAft>
                <a:spcPts val="0"/>
              </a:spcAft>
              <a:buSzPts val="2800"/>
              <a:buChar char="•"/>
            </a:pPr>
            <a:r>
              <a:rPr lang="en-US" sz="2300">
                <a:solidFill>
                  <a:srgbClr val="FF0000"/>
                </a:solidFill>
              </a:rPr>
              <a:t>ohe= OneHotEncoder()</a:t>
            </a:r>
            <a:endParaRPr/>
          </a:p>
          <a:p>
            <a:pPr marL="457200" lvl="0" indent="-406400" algn="l" rtl="0">
              <a:lnSpc>
                <a:spcPct val="110795"/>
              </a:lnSpc>
              <a:spcBef>
                <a:spcPts val="0"/>
              </a:spcBef>
              <a:spcAft>
                <a:spcPts val="0"/>
              </a:spcAft>
              <a:buSzPts val="2800"/>
              <a:buChar char="•"/>
            </a:pPr>
            <a:r>
              <a:rPr lang="en-US" sz="2300">
                <a:solidFill>
                  <a:srgbClr val="FF0000"/>
                </a:solidFill>
              </a:rPr>
              <a:t>X_train_new = ohe.fit_transform(X_train[['fuel','owner']])</a:t>
            </a:r>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310"/>
        <p:cNvGrpSpPr/>
        <p:nvPr/>
      </p:nvGrpSpPr>
      <p:grpSpPr>
        <a:xfrm>
          <a:off x="0" y="0"/>
          <a:ext cx="0" cy="0"/>
          <a:chOff x="0" y="0"/>
          <a:chExt cx="0" cy="0"/>
        </a:xfrm>
      </p:grpSpPr>
      <p:sp>
        <p:nvSpPr>
          <p:cNvPr id="311" name="Google Shape;311;g30ac0273d84_0_19"/>
          <p:cNvSpPr txBox="1">
            <a:spLocks noGrp="1"/>
          </p:cNvSpPr>
          <p:nvPr>
            <p:ph type="title"/>
          </p:nvPr>
        </p:nvSpPr>
        <p:spPr>
          <a:xfrm>
            <a:off x="628650" y="365125"/>
            <a:ext cx="7886700" cy="1061700"/>
          </a:xfrm>
          <a:prstGeom prst="rect">
            <a:avLst/>
          </a:prstGeom>
        </p:spPr>
        <p:txBody>
          <a:bodyPr spcFirstLastPara="1" wrap="square" lIns="91425" tIns="45700" rIns="91425" bIns="45700" anchor="ctr" anchorCtr="0">
            <a:normAutofit/>
          </a:bodyPr>
          <a:lstStyle/>
          <a:p>
            <a:pPr marL="0" lvl="0" indent="0" algn="l" rtl="0">
              <a:spcBef>
                <a:spcPts val="0"/>
              </a:spcBef>
              <a:spcAft>
                <a:spcPts val="0"/>
              </a:spcAft>
              <a:buNone/>
            </a:pPr>
            <a:r>
              <a:rPr lang="en-US" u="sng">
                <a:solidFill>
                  <a:schemeClr val="hlink"/>
                </a:solidFill>
                <a:hlinkClick r:id="rId3"/>
              </a:rPr>
              <a:t>Label Encoding</a:t>
            </a:r>
            <a:endParaRPr/>
          </a:p>
        </p:txBody>
      </p:sp>
      <p:sp>
        <p:nvSpPr>
          <p:cNvPr id="312" name="Google Shape;312;g30ac0273d84_0_19"/>
          <p:cNvSpPr txBox="1">
            <a:spLocks noGrp="1"/>
          </p:cNvSpPr>
          <p:nvPr>
            <p:ph type="body" idx="1"/>
          </p:nvPr>
        </p:nvSpPr>
        <p:spPr>
          <a:xfrm>
            <a:off x="628650" y="1586700"/>
            <a:ext cx="7886700" cy="4769100"/>
          </a:xfrm>
          <a:prstGeom prst="rect">
            <a:avLst/>
          </a:prstGeom>
        </p:spPr>
        <p:txBody>
          <a:bodyPr spcFirstLastPara="1" wrap="square" lIns="91425" tIns="45700" rIns="91425" bIns="45700" anchor="t" anchorCtr="0">
            <a:normAutofit fontScale="92500"/>
          </a:bodyPr>
          <a:lstStyle/>
          <a:p>
            <a:pPr marL="457200" lvl="0" indent="-406400" algn="l" rtl="0">
              <a:lnSpc>
                <a:spcPct val="80000"/>
              </a:lnSpc>
              <a:spcBef>
                <a:spcPts val="1000"/>
              </a:spcBef>
              <a:spcAft>
                <a:spcPts val="0"/>
              </a:spcAft>
              <a:buSzPts val="2800"/>
              <a:buChar char="•"/>
            </a:pPr>
            <a:r>
              <a:rPr lang="en-US"/>
              <a:t>Label Encoding is a technique used in machine learning to convert categorical data (features or target variables) into numerical labels.</a:t>
            </a:r>
            <a:r>
              <a:rPr lang="en-US" sz="1100">
                <a:latin typeface="Arial"/>
                <a:ea typeface="Arial"/>
                <a:cs typeface="Arial"/>
                <a:sym typeface="Arial"/>
              </a:rPr>
              <a:t>. </a:t>
            </a:r>
            <a:endParaRPr sz="1100">
              <a:latin typeface="Arial"/>
              <a:ea typeface="Arial"/>
              <a:cs typeface="Arial"/>
              <a:sym typeface="Arial"/>
            </a:endParaRPr>
          </a:p>
          <a:p>
            <a:pPr marL="457200" lvl="0" indent="-406400" algn="l" rtl="0">
              <a:lnSpc>
                <a:spcPct val="80000"/>
              </a:lnSpc>
              <a:spcBef>
                <a:spcPts val="1000"/>
              </a:spcBef>
              <a:spcAft>
                <a:spcPts val="0"/>
              </a:spcAft>
              <a:buSzPts val="2800"/>
              <a:buFont typeface="Arial"/>
              <a:buChar char="•"/>
            </a:pPr>
            <a:r>
              <a:rPr lang="en-US"/>
              <a:t>Often used when the target variable has categorical classes (e.g., binary classification: 'Yes', 'No' or multi-class classification: 'Dog', 'Cat', 'Rabbit').</a:t>
            </a:r>
            <a:endParaRPr/>
          </a:p>
          <a:p>
            <a:pPr marL="457200" lvl="0" indent="-381000" algn="l" rtl="0">
              <a:lnSpc>
                <a:spcPct val="80000"/>
              </a:lnSpc>
              <a:spcBef>
                <a:spcPts val="1000"/>
              </a:spcBef>
              <a:spcAft>
                <a:spcPts val="0"/>
              </a:spcAft>
              <a:buSzPts val="2400"/>
              <a:buChar char="•"/>
            </a:pPr>
            <a:r>
              <a:rPr lang="en-US"/>
              <a:t>Assigns a unique numerical value to each category. For example, if you have categories like "Red," "Green," and "Blue," you might assign them 0, 1, and 2 respectively.</a:t>
            </a:r>
            <a:endParaRPr/>
          </a:p>
          <a:p>
            <a:pPr marL="457200" lvl="0" indent="-406400" algn="l" rtl="0">
              <a:lnSpc>
                <a:spcPct val="80000"/>
              </a:lnSpc>
              <a:spcBef>
                <a:spcPts val="1000"/>
              </a:spcBef>
              <a:spcAft>
                <a:spcPts val="0"/>
              </a:spcAft>
              <a:buSzPts val="2800"/>
              <a:buChar char="•"/>
            </a:pPr>
            <a:endParaRPr/>
          </a:p>
          <a:p>
            <a:pPr marL="457200" lvl="0" indent="-406400" algn="l" rtl="0">
              <a:spcBef>
                <a:spcPts val="0"/>
              </a:spcBef>
              <a:spcAft>
                <a:spcPts val="0"/>
              </a:spcAft>
              <a:buSzPts val="2800"/>
              <a:buChar char="•"/>
            </a:pPr>
            <a:r>
              <a:rPr lang="en-US" sz="2300">
                <a:solidFill>
                  <a:srgbClr val="FF0000"/>
                </a:solidFill>
              </a:rPr>
              <a:t>colors = ['red', 'blue', 'green'] </a:t>
            </a:r>
            <a:endParaRPr sz="2300">
              <a:solidFill>
                <a:srgbClr val="FF0000"/>
              </a:solidFill>
            </a:endParaRPr>
          </a:p>
          <a:p>
            <a:pPr marL="457200" lvl="0" indent="-406400" algn="l" rtl="0">
              <a:spcBef>
                <a:spcPts val="0"/>
              </a:spcBef>
              <a:spcAft>
                <a:spcPts val="0"/>
              </a:spcAft>
              <a:buSzPts val="2800"/>
              <a:buChar char="•"/>
            </a:pPr>
            <a:r>
              <a:rPr lang="en-US" sz="2300">
                <a:solidFill>
                  <a:srgbClr val="FF0000"/>
                </a:solidFill>
              </a:rPr>
              <a:t># Fit and transform the data </a:t>
            </a:r>
            <a:endParaRPr sz="2300">
              <a:solidFill>
                <a:srgbClr val="FF0000"/>
              </a:solidFill>
            </a:endParaRPr>
          </a:p>
          <a:p>
            <a:pPr marL="457200" lvl="0" indent="-406400" algn="l" rtl="0">
              <a:spcBef>
                <a:spcPts val="0"/>
              </a:spcBef>
              <a:spcAft>
                <a:spcPts val="0"/>
              </a:spcAft>
              <a:buSzPts val="2800"/>
              <a:buChar char="•"/>
            </a:pPr>
            <a:r>
              <a:rPr lang="en-US" sz="2300">
                <a:solidFill>
                  <a:srgbClr val="FF0000"/>
                </a:solidFill>
              </a:rPr>
              <a:t>encoded_colors = label_encoder.fit_transform(colors)</a:t>
            </a:r>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316"/>
        <p:cNvGrpSpPr/>
        <p:nvPr/>
      </p:nvGrpSpPr>
      <p:grpSpPr>
        <a:xfrm>
          <a:off x="0" y="0"/>
          <a:ext cx="0" cy="0"/>
          <a:chOff x="0" y="0"/>
          <a:chExt cx="0" cy="0"/>
        </a:xfrm>
      </p:grpSpPr>
      <p:sp>
        <p:nvSpPr>
          <p:cNvPr id="317" name="Google Shape;317;g30bb7912dba_0_3"/>
          <p:cNvSpPr txBox="1">
            <a:spLocks noGrp="1"/>
          </p:cNvSpPr>
          <p:nvPr>
            <p:ph type="title"/>
          </p:nvPr>
        </p:nvSpPr>
        <p:spPr>
          <a:xfrm>
            <a:off x="628650" y="365125"/>
            <a:ext cx="7886700" cy="1056900"/>
          </a:xfrm>
          <a:prstGeom prst="rect">
            <a:avLst/>
          </a:prstGeom>
        </p:spPr>
        <p:txBody>
          <a:bodyPr spcFirstLastPara="1" wrap="square" lIns="91425" tIns="45700" rIns="91425" bIns="45700" anchor="ctr" anchorCtr="0">
            <a:normAutofit/>
          </a:bodyPr>
          <a:lstStyle/>
          <a:p>
            <a:pPr marL="0" lvl="0" indent="0" algn="l" rtl="0">
              <a:spcBef>
                <a:spcPts val="0"/>
              </a:spcBef>
              <a:spcAft>
                <a:spcPts val="0"/>
              </a:spcAft>
              <a:buNone/>
            </a:pPr>
            <a:r>
              <a:rPr lang="en-US"/>
              <a:t>Feature Scaling</a:t>
            </a:r>
            <a:endParaRPr/>
          </a:p>
        </p:txBody>
      </p:sp>
      <p:sp>
        <p:nvSpPr>
          <p:cNvPr id="318" name="Google Shape;318;g30bb7912dba_0_3"/>
          <p:cNvSpPr txBox="1">
            <a:spLocks noGrp="1"/>
          </p:cNvSpPr>
          <p:nvPr>
            <p:ph type="body" idx="1"/>
          </p:nvPr>
        </p:nvSpPr>
        <p:spPr>
          <a:xfrm>
            <a:off x="628650" y="1422025"/>
            <a:ext cx="7886700" cy="5071200"/>
          </a:xfrm>
          <a:prstGeom prst="rect">
            <a:avLst/>
          </a:prstGeom>
        </p:spPr>
        <p:txBody>
          <a:bodyPr spcFirstLastPara="1" wrap="square" lIns="91425" tIns="45700" rIns="91425" bIns="45700" anchor="t" anchorCtr="0">
            <a:normAutofit/>
          </a:bodyPr>
          <a:lstStyle/>
          <a:p>
            <a:pPr marL="457200" lvl="0" indent="-406400" algn="l" rtl="0">
              <a:spcBef>
                <a:spcPts val="1000"/>
              </a:spcBef>
              <a:spcAft>
                <a:spcPts val="0"/>
              </a:spcAft>
              <a:buSzPts val="2800"/>
              <a:buChar char="•"/>
            </a:pPr>
            <a:r>
              <a:rPr lang="en-US" b="1">
                <a:latin typeface="Arial"/>
                <a:ea typeface="Arial"/>
                <a:cs typeface="Arial"/>
                <a:sym typeface="Arial"/>
              </a:rPr>
              <a:t>Feature scaling</a:t>
            </a:r>
            <a:r>
              <a:rPr lang="en-US">
                <a:latin typeface="Arial"/>
                <a:ea typeface="Arial"/>
                <a:cs typeface="Arial"/>
                <a:sym typeface="Arial"/>
              </a:rPr>
              <a:t> is a technique used in machine learning to normalize the range of independent variables or features of the data. </a:t>
            </a:r>
            <a:endParaRPr>
              <a:latin typeface="Arial"/>
              <a:ea typeface="Arial"/>
              <a:cs typeface="Arial"/>
              <a:sym typeface="Arial"/>
            </a:endParaRPr>
          </a:p>
          <a:p>
            <a:pPr marL="457200" lvl="0" indent="-406400" algn="l" rtl="0">
              <a:spcBef>
                <a:spcPts val="0"/>
              </a:spcBef>
              <a:spcAft>
                <a:spcPts val="0"/>
              </a:spcAft>
              <a:buSzPts val="2800"/>
              <a:buChar char="•"/>
            </a:pPr>
            <a:r>
              <a:rPr lang="en-US">
                <a:latin typeface="Arial"/>
                <a:ea typeface="Arial"/>
                <a:cs typeface="Arial"/>
                <a:sym typeface="Arial"/>
              </a:rPr>
              <a:t>In many machine learning algorithms, the distance between data points influences the model's performance. </a:t>
            </a:r>
            <a:endParaRPr>
              <a:latin typeface="Arial"/>
              <a:ea typeface="Arial"/>
              <a:cs typeface="Arial"/>
              <a:sym typeface="Arial"/>
            </a:endParaRPr>
          </a:p>
          <a:p>
            <a:pPr marL="457200" lvl="0" indent="-406400" algn="l" rtl="0">
              <a:spcBef>
                <a:spcPts val="0"/>
              </a:spcBef>
              <a:spcAft>
                <a:spcPts val="0"/>
              </a:spcAft>
              <a:buSzPts val="2800"/>
              <a:buChar char="•"/>
            </a:pPr>
            <a:r>
              <a:rPr lang="en-US">
                <a:latin typeface="Arial"/>
                <a:ea typeface="Arial"/>
                <a:cs typeface="Arial"/>
                <a:sym typeface="Arial"/>
              </a:rPr>
              <a:t>Features on different scales can disproportionately affect the model, leading to suboptimal performance. </a:t>
            </a:r>
            <a:endParaRPr>
              <a:latin typeface="Arial"/>
              <a:ea typeface="Arial"/>
              <a:cs typeface="Arial"/>
              <a:sym typeface="Arial"/>
            </a:endParaRPr>
          </a:p>
          <a:p>
            <a:pPr marL="914400" lvl="1" indent="-342900" algn="l" rtl="0">
              <a:spcBef>
                <a:spcPts val="0"/>
              </a:spcBef>
              <a:spcAft>
                <a:spcPts val="0"/>
              </a:spcAft>
              <a:buSzPts val="1800"/>
              <a:buChar char="•"/>
            </a:pPr>
            <a:r>
              <a:rPr lang="en-US">
                <a:latin typeface="Arial"/>
                <a:ea typeface="Arial"/>
                <a:cs typeface="Arial"/>
                <a:sym typeface="Arial"/>
              </a:rPr>
              <a:t>Min-Max Scaling (Normalization)</a:t>
            </a:r>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322"/>
        <p:cNvGrpSpPr/>
        <p:nvPr/>
      </p:nvGrpSpPr>
      <p:grpSpPr>
        <a:xfrm>
          <a:off x="0" y="0"/>
          <a:ext cx="0" cy="0"/>
          <a:chOff x="0" y="0"/>
          <a:chExt cx="0" cy="0"/>
        </a:xfrm>
      </p:grpSpPr>
      <p:sp>
        <p:nvSpPr>
          <p:cNvPr id="323" name="Google Shape;323;g30ac0273d84_0_42"/>
          <p:cNvSpPr txBox="1">
            <a:spLocks noGrp="1"/>
          </p:cNvSpPr>
          <p:nvPr>
            <p:ph type="title"/>
          </p:nvPr>
        </p:nvSpPr>
        <p:spPr>
          <a:xfrm>
            <a:off x="628650" y="136525"/>
            <a:ext cx="7886700" cy="785100"/>
          </a:xfrm>
          <a:prstGeom prst="rect">
            <a:avLst/>
          </a:prstGeom>
        </p:spPr>
        <p:txBody>
          <a:bodyPr spcFirstLastPara="1" wrap="square" lIns="91425" tIns="45700" rIns="91425" bIns="45700" anchor="ctr" anchorCtr="0">
            <a:normAutofit/>
          </a:bodyPr>
          <a:lstStyle/>
          <a:p>
            <a:pPr marL="0" lvl="0" indent="0" algn="l" rtl="0">
              <a:spcBef>
                <a:spcPts val="0"/>
              </a:spcBef>
              <a:spcAft>
                <a:spcPts val="0"/>
              </a:spcAft>
              <a:buNone/>
            </a:pPr>
            <a:r>
              <a:rPr lang="en-US"/>
              <a:t>Feature Creation</a:t>
            </a:r>
            <a:endParaRPr/>
          </a:p>
        </p:txBody>
      </p:sp>
      <p:sp>
        <p:nvSpPr>
          <p:cNvPr id="324" name="Google Shape;324;g30ac0273d84_0_42"/>
          <p:cNvSpPr txBox="1">
            <a:spLocks noGrp="1"/>
          </p:cNvSpPr>
          <p:nvPr>
            <p:ph type="body" idx="1"/>
          </p:nvPr>
        </p:nvSpPr>
        <p:spPr>
          <a:xfrm>
            <a:off x="628650" y="1150100"/>
            <a:ext cx="7886700" cy="5292600"/>
          </a:xfrm>
          <a:prstGeom prst="rect">
            <a:avLst/>
          </a:prstGeom>
        </p:spPr>
        <p:txBody>
          <a:bodyPr spcFirstLastPara="1" wrap="square" lIns="91425" tIns="45700" rIns="91425" bIns="45700" anchor="t" anchorCtr="0">
            <a:normAutofit/>
          </a:bodyPr>
          <a:lstStyle/>
          <a:p>
            <a:pPr marL="457200" marR="0" lvl="0" indent="-406400" algn="l" rtl="0">
              <a:lnSpc>
                <a:spcPct val="80000"/>
              </a:lnSpc>
              <a:spcBef>
                <a:spcPts val="1000"/>
              </a:spcBef>
              <a:spcAft>
                <a:spcPts val="0"/>
              </a:spcAft>
              <a:buSzPts val="2800"/>
              <a:buChar char="•"/>
            </a:pPr>
            <a:r>
              <a:rPr lang="en-US"/>
              <a:t>Feature creation is the process of generating new features from existing data to improve the performance of machine learning models. </a:t>
            </a:r>
            <a:endParaRPr/>
          </a:p>
          <a:p>
            <a:pPr marL="457200" marR="0" lvl="0" indent="-406400" algn="l" rtl="0">
              <a:lnSpc>
                <a:spcPct val="80000"/>
              </a:lnSpc>
              <a:spcBef>
                <a:spcPts val="0"/>
              </a:spcBef>
              <a:spcAft>
                <a:spcPts val="0"/>
              </a:spcAft>
              <a:buSzPts val="2800"/>
              <a:buChar char="•"/>
            </a:pPr>
            <a:r>
              <a:rPr lang="en-US"/>
              <a:t>It involves transforming raw data into meaningful features that make patterns more visible to the model, thus increasing its predictive power.</a:t>
            </a:r>
            <a:endParaRPr/>
          </a:p>
          <a:p>
            <a:pPr marL="457200" marR="0" lvl="0" indent="-406400" algn="l" rtl="0">
              <a:lnSpc>
                <a:spcPct val="80000"/>
              </a:lnSpc>
              <a:spcBef>
                <a:spcPts val="0"/>
              </a:spcBef>
              <a:spcAft>
                <a:spcPts val="0"/>
              </a:spcAft>
              <a:buSzPts val="2800"/>
              <a:buChar char="•"/>
            </a:pPr>
            <a:r>
              <a:rPr lang="en-US"/>
              <a:t>Consider the Titanic dataset. Some of the passengers' names contain titles like "Mr.", "Mrs.", or "Dr.", which can provide additional information about the passenger's social status or occupation. </a:t>
            </a:r>
            <a:endParaRPr sz="2300">
              <a:solidFill>
                <a:srgbClr val="FF0000"/>
              </a:solidFill>
            </a:endParaRPr>
          </a:p>
          <a:p>
            <a:pPr marL="457200" lvl="0" indent="-381000" algn="l" rtl="0">
              <a:spcBef>
                <a:spcPts val="0"/>
              </a:spcBef>
              <a:spcAft>
                <a:spcPts val="0"/>
              </a:spcAft>
              <a:buSzPts val="2400"/>
              <a:buFont typeface="Arial"/>
              <a:buChar char="•"/>
            </a:pPr>
            <a:r>
              <a:rPr lang="en-US" sz="2300">
                <a:solidFill>
                  <a:srgbClr val="FF0000"/>
                </a:solidFill>
              </a:rPr>
              <a:t># Example of creating a new feature 'FamilySize' by summing SibSp and Parch </a:t>
            </a:r>
            <a:endParaRPr sz="2300">
              <a:solidFill>
                <a:srgbClr val="FF0000"/>
              </a:solidFill>
            </a:endParaRPr>
          </a:p>
          <a:p>
            <a:pPr marL="457200" lvl="0" indent="-381000" algn="l" rtl="0">
              <a:spcBef>
                <a:spcPts val="0"/>
              </a:spcBef>
              <a:spcAft>
                <a:spcPts val="0"/>
              </a:spcAft>
              <a:buSzPts val="2400"/>
              <a:buFont typeface="Arial"/>
              <a:buChar char="•"/>
            </a:pPr>
            <a:r>
              <a:rPr lang="en-US" sz="2300">
                <a:solidFill>
                  <a:srgbClr val="FF0000"/>
                </a:solidFill>
              </a:rPr>
              <a:t>data['FamilySize'] = data['SibSp'] + data['Parch'] + 1</a:t>
            </a:r>
            <a:endParaRPr>
              <a:latin typeface="Arial"/>
              <a:ea typeface="Arial"/>
              <a:cs typeface="Arial"/>
              <a:sym typeface="Arial"/>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328"/>
        <p:cNvGrpSpPr/>
        <p:nvPr/>
      </p:nvGrpSpPr>
      <p:grpSpPr>
        <a:xfrm>
          <a:off x="0" y="0"/>
          <a:ext cx="0" cy="0"/>
          <a:chOff x="0" y="0"/>
          <a:chExt cx="0" cy="0"/>
        </a:xfrm>
      </p:grpSpPr>
      <p:sp>
        <p:nvSpPr>
          <p:cNvPr id="329" name="Google Shape;329;g30ccc58a6f1_0_0"/>
          <p:cNvSpPr txBox="1">
            <a:spLocks noGrp="1"/>
          </p:cNvSpPr>
          <p:nvPr>
            <p:ph type="title"/>
          </p:nvPr>
        </p:nvSpPr>
        <p:spPr>
          <a:xfrm>
            <a:off x="628650" y="365125"/>
            <a:ext cx="7886700" cy="903900"/>
          </a:xfrm>
          <a:prstGeom prst="rect">
            <a:avLst/>
          </a:prstGeom>
        </p:spPr>
        <p:txBody>
          <a:bodyPr spcFirstLastPara="1" wrap="square" lIns="91425" tIns="45700" rIns="91425" bIns="45700" anchor="ctr" anchorCtr="0">
            <a:normAutofit/>
          </a:bodyPr>
          <a:lstStyle/>
          <a:p>
            <a:pPr marL="0" lvl="0" indent="0" algn="l" rtl="0">
              <a:spcBef>
                <a:spcPts val="0"/>
              </a:spcBef>
              <a:spcAft>
                <a:spcPts val="0"/>
              </a:spcAft>
              <a:buNone/>
            </a:pPr>
            <a:r>
              <a:rPr lang="en-US"/>
              <a:t>Column Transformer</a:t>
            </a:r>
            <a:endParaRPr/>
          </a:p>
        </p:txBody>
      </p:sp>
      <p:sp>
        <p:nvSpPr>
          <p:cNvPr id="330" name="Google Shape;330;g30ccc58a6f1_0_0"/>
          <p:cNvSpPr txBox="1">
            <a:spLocks noGrp="1"/>
          </p:cNvSpPr>
          <p:nvPr>
            <p:ph type="body" idx="1"/>
          </p:nvPr>
        </p:nvSpPr>
        <p:spPr>
          <a:xfrm>
            <a:off x="628650" y="1507175"/>
            <a:ext cx="7886700" cy="5088300"/>
          </a:xfrm>
          <a:prstGeom prst="rect">
            <a:avLst/>
          </a:prstGeom>
        </p:spPr>
        <p:txBody>
          <a:bodyPr spcFirstLastPara="1" wrap="square" lIns="91425" tIns="45700" rIns="91425" bIns="45700" anchor="t" anchorCtr="0">
            <a:normAutofit fontScale="92500" lnSpcReduction="10000"/>
          </a:bodyPr>
          <a:lstStyle/>
          <a:p>
            <a:pPr marL="457200" lvl="0" indent="-393065" algn="l" rtl="0">
              <a:spcBef>
                <a:spcPts val="1000"/>
              </a:spcBef>
              <a:spcAft>
                <a:spcPts val="0"/>
              </a:spcAft>
              <a:buSzPct val="100000"/>
              <a:buChar char="•"/>
            </a:pPr>
            <a:r>
              <a:rPr lang="en-US"/>
              <a:t>ColumnTransformer is a class in the </a:t>
            </a:r>
            <a:r>
              <a:rPr lang="en-US">
                <a:latin typeface="Courier New"/>
                <a:ea typeface="Courier New"/>
                <a:cs typeface="Courier New"/>
                <a:sym typeface="Courier New"/>
              </a:rPr>
              <a:t>sklearn.compose</a:t>
            </a:r>
            <a:r>
              <a:rPr lang="en-US"/>
              <a:t> module of the scikit-learn library that allows you to apply different preprocessing steps to different columns of a dataset within a single pipeline. </a:t>
            </a:r>
            <a:endParaRPr/>
          </a:p>
          <a:p>
            <a:pPr marL="457200" lvl="0" indent="-393065" algn="l" rtl="0">
              <a:spcBef>
                <a:spcPts val="0"/>
              </a:spcBef>
              <a:spcAft>
                <a:spcPts val="0"/>
              </a:spcAft>
              <a:buSzPct val="100000"/>
              <a:buChar char="•"/>
            </a:pPr>
            <a:r>
              <a:rPr lang="en-US"/>
              <a:t>It is particularly useful for datasets that contain both numerical and categorical features, as it enables you to handle each type of data appropriately.</a:t>
            </a:r>
            <a:endParaRPr/>
          </a:p>
          <a:p>
            <a:pPr marL="457200" marR="0" lvl="0" indent="-393065" algn="l" rtl="0">
              <a:lnSpc>
                <a:spcPct val="90000"/>
              </a:lnSpc>
              <a:spcBef>
                <a:spcPts val="0"/>
              </a:spcBef>
              <a:spcAft>
                <a:spcPts val="0"/>
              </a:spcAft>
              <a:buSzPct val="100000"/>
              <a:buChar char="•"/>
            </a:pPr>
            <a:r>
              <a:rPr lang="en-US"/>
              <a:t>You can specify different transformers for different columns or sets of columns. For instance, you might want to standardize numerical features while encoding categorical features.</a:t>
            </a:r>
            <a:endParaRPr/>
          </a:p>
          <a:p>
            <a:pPr marL="457200" marR="0" lvl="0" indent="-393065" algn="l" rtl="0">
              <a:lnSpc>
                <a:spcPct val="90000"/>
              </a:lnSpc>
              <a:spcBef>
                <a:spcPts val="0"/>
              </a:spcBef>
              <a:spcAft>
                <a:spcPts val="0"/>
              </a:spcAft>
              <a:buSzPct val="100000"/>
              <a:buChar char="•"/>
            </a:pPr>
            <a:r>
              <a:rPr lang="en-US"/>
              <a:t>ColumnTransformer</a:t>
            </a:r>
            <a:r>
              <a:rPr lang="en-US">
                <a:solidFill>
                  <a:srgbClr val="FF0000"/>
                </a:solidFill>
                <a:highlight>
                  <a:schemeClr val="lt1"/>
                </a:highlight>
              </a:rPr>
              <a:t> applies transformations in parallel for the different columns or groups of columns specified in its configuration</a:t>
            </a:r>
            <a:r>
              <a:rPr lang="en-US" sz="1100">
                <a:solidFill>
                  <a:srgbClr val="FF0000"/>
                </a:solidFill>
                <a:highlight>
                  <a:schemeClr val="lt1"/>
                </a:highlight>
                <a:latin typeface="Arial"/>
                <a:ea typeface="Arial"/>
                <a:cs typeface="Arial"/>
                <a:sym typeface="Arial"/>
              </a:rPr>
              <a:t>..</a:t>
            </a:r>
            <a:endParaRPr>
              <a:solidFill>
                <a:srgbClr val="FF0000"/>
              </a:solidFill>
              <a:highlight>
                <a:schemeClr val="lt1"/>
              </a:highlight>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334"/>
        <p:cNvGrpSpPr/>
        <p:nvPr/>
      </p:nvGrpSpPr>
      <p:grpSpPr>
        <a:xfrm>
          <a:off x="0" y="0"/>
          <a:ext cx="0" cy="0"/>
          <a:chOff x="0" y="0"/>
          <a:chExt cx="0" cy="0"/>
        </a:xfrm>
      </p:grpSpPr>
      <p:sp>
        <p:nvSpPr>
          <p:cNvPr id="335" name="Google Shape;335;g30cda042f99_0_14"/>
          <p:cNvSpPr txBox="1">
            <a:spLocks noGrp="1"/>
          </p:cNvSpPr>
          <p:nvPr>
            <p:ph type="title"/>
          </p:nvPr>
        </p:nvSpPr>
        <p:spPr>
          <a:xfrm>
            <a:off x="628650" y="212725"/>
            <a:ext cx="7886700" cy="801600"/>
          </a:xfrm>
          <a:prstGeom prst="rect">
            <a:avLst/>
          </a:prstGeom>
        </p:spPr>
        <p:txBody>
          <a:bodyPr spcFirstLastPara="1" wrap="square" lIns="91425" tIns="45700" rIns="91425" bIns="45700" anchor="ctr" anchorCtr="0">
            <a:normAutofit/>
          </a:bodyPr>
          <a:lstStyle/>
          <a:p>
            <a:pPr marL="0" lvl="0" indent="0" algn="l" rtl="0">
              <a:spcBef>
                <a:spcPts val="0"/>
              </a:spcBef>
              <a:spcAft>
                <a:spcPts val="0"/>
              </a:spcAft>
              <a:buNone/>
            </a:pPr>
            <a:r>
              <a:rPr lang="en-US"/>
              <a:t>Column Transformer (Example)</a:t>
            </a:r>
            <a:endParaRPr/>
          </a:p>
        </p:txBody>
      </p:sp>
      <p:sp>
        <p:nvSpPr>
          <p:cNvPr id="336" name="Google Shape;336;g30cda042f99_0_14"/>
          <p:cNvSpPr txBox="1">
            <a:spLocks noGrp="1"/>
          </p:cNvSpPr>
          <p:nvPr>
            <p:ph type="body" idx="1"/>
          </p:nvPr>
        </p:nvSpPr>
        <p:spPr>
          <a:xfrm>
            <a:off x="628650" y="1014325"/>
            <a:ext cx="7886700" cy="5559600"/>
          </a:xfrm>
          <a:prstGeom prst="rect">
            <a:avLst/>
          </a:prstGeom>
        </p:spPr>
        <p:txBody>
          <a:bodyPr spcFirstLastPara="1" wrap="square" lIns="91425" tIns="45700" rIns="91425" bIns="45700" anchor="t" anchorCtr="0">
            <a:normAutofit fontScale="70000" lnSpcReduction="20000"/>
          </a:bodyPr>
          <a:lstStyle/>
          <a:p>
            <a:pPr marL="0" lvl="0" indent="0" algn="l" rtl="0">
              <a:spcBef>
                <a:spcPts val="1000"/>
              </a:spcBef>
              <a:spcAft>
                <a:spcPts val="0"/>
              </a:spcAft>
              <a:buNone/>
            </a:pPr>
            <a:r>
              <a:rPr lang="en-US"/>
              <a:t># Sample DataFrame</a:t>
            </a:r>
            <a:endParaRPr/>
          </a:p>
          <a:p>
            <a:pPr marL="0" lvl="0" indent="0" algn="l" rtl="0">
              <a:spcBef>
                <a:spcPts val="1000"/>
              </a:spcBef>
              <a:spcAft>
                <a:spcPts val="0"/>
              </a:spcAft>
              <a:buNone/>
            </a:pPr>
            <a:r>
              <a:rPr lang="en-US"/>
              <a:t>data = pd.DataFrame({</a:t>
            </a:r>
            <a:endParaRPr/>
          </a:p>
          <a:p>
            <a:pPr marL="0" lvl="0" indent="0" algn="l" rtl="0">
              <a:spcBef>
                <a:spcPts val="1000"/>
              </a:spcBef>
              <a:spcAft>
                <a:spcPts val="0"/>
              </a:spcAft>
              <a:buNone/>
            </a:pPr>
            <a:r>
              <a:rPr lang="en-US"/>
              <a:t>    'Age': [22, None, 24, 22, None, 24],</a:t>
            </a:r>
            <a:endParaRPr/>
          </a:p>
          <a:p>
            <a:pPr marL="0" lvl="0" indent="0" algn="l" rtl="0">
              <a:spcBef>
                <a:spcPts val="1000"/>
              </a:spcBef>
              <a:spcAft>
                <a:spcPts val="0"/>
              </a:spcAft>
              <a:buNone/>
            </a:pPr>
            <a:r>
              <a:rPr lang="en-US"/>
              <a:t>    'Sex': ['male', 'female', 'female','male', 'female', 'female'],</a:t>
            </a:r>
            <a:endParaRPr/>
          </a:p>
          <a:p>
            <a:pPr marL="0" lvl="0" indent="0" algn="l" rtl="0">
              <a:spcBef>
                <a:spcPts val="1000"/>
              </a:spcBef>
              <a:spcAft>
                <a:spcPts val="0"/>
              </a:spcAft>
              <a:buNone/>
            </a:pPr>
            <a:r>
              <a:rPr lang="en-US"/>
              <a:t>    'Embarked': ['B', 'B', 'C','C', 'C','S'],  </a:t>
            </a:r>
            <a:endParaRPr/>
          </a:p>
          <a:p>
            <a:pPr marL="0" lvl="0" indent="0" algn="l" rtl="0">
              <a:spcBef>
                <a:spcPts val="1000"/>
              </a:spcBef>
              <a:spcAft>
                <a:spcPts val="0"/>
              </a:spcAft>
              <a:buNone/>
            </a:pPr>
            <a:r>
              <a:rPr lang="en-US"/>
              <a:t>    'Fare': [7.25, 71.83, 8.05,7.25, 71.83, 8.05]</a:t>
            </a:r>
            <a:endParaRPr/>
          </a:p>
          <a:p>
            <a:pPr marL="0" lvl="0" indent="0" algn="l" rtl="0">
              <a:spcBef>
                <a:spcPts val="1000"/>
              </a:spcBef>
              <a:spcAft>
                <a:spcPts val="0"/>
              </a:spcAft>
              <a:buNone/>
            </a:pPr>
            <a:r>
              <a:rPr lang="en-US"/>
              <a:t>})</a:t>
            </a:r>
            <a:endParaRPr/>
          </a:p>
          <a:p>
            <a:pPr marL="0" lvl="0" indent="0" algn="l" rtl="0">
              <a:spcBef>
                <a:spcPts val="1000"/>
              </a:spcBef>
              <a:spcAft>
                <a:spcPts val="0"/>
              </a:spcAft>
              <a:buNone/>
            </a:pPr>
            <a:endParaRPr/>
          </a:p>
          <a:p>
            <a:pPr marL="0" lvl="0" indent="0" algn="l" rtl="0">
              <a:spcBef>
                <a:spcPts val="1000"/>
              </a:spcBef>
              <a:spcAft>
                <a:spcPts val="0"/>
              </a:spcAft>
              <a:buNone/>
            </a:pPr>
            <a:r>
              <a:rPr lang="en-US"/>
              <a:t>#Apply ColumnTransformer</a:t>
            </a:r>
            <a:endParaRPr/>
          </a:p>
          <a:p>
            <a:pPr marL="0" lvl="0" indent="0" algn="l" rtl="0">
              <a:spcBef>
                <a:spcPts val="1000"/>
              </a:spcBef>
              <a:spcAft>
                <a:spcPts val="0"/>
              </a:spcAft>
              <a:buNone/>
            </a:pPr>
            <a:r>
              <a:rPr lang="en-US">
                <a:solidFill>
                  <a:srgbClr val="FF0000"/>
                </a:solidFill>
              </a:rPr>
              <a:t>preprocessor = ColumnTransformer(transformers=[</a:t>
            </a:r>
            <a:endParaRPr>
              <a:solidFill>
                <a:srgbClr val="FF0000"/>
              </a:solidFill>
            </a:endParaRPr>
          </a:p>
          <a:p>
            <a:pPr marL="0" lvl="0" indent="0" algn="l" rtl="0">
              <a:spcBef>
                <a:spcPts val="1000"/>
              </a:spcBef>
              <a:spcAft>
                <a:spcPts val="0"/>
              </a:spcAft>
              <a:buNone/>
            </a:pPr>
            <a:r>
              <a:rPr lang="en-US">
                <a:solidFill>
                  <a:srgbClr val="FF0000"/>
                </a:solidFill>
              </a:rPr>
              <a:t>    ('age_imputer', SimpleImputer(strategy='mean'), ['Age']),</a:t>
            </a:r>
            <a:endParaRPr>
              <a:solidFill>
                <a:srgbClr val="FF0000"/>
              </a:solidFill>
            </a:endParaRPr>
          </a:p>
          <a:p>
            <a:pPr marL="0" lvl="0" indent="0" algn="l" rtl="0">
              <a:spcBef>
                <a:spcPts val="1000"/>
              </a:spcBef>
              <a:spcAft>
                <a:spcPts val="0"/>
              </a:spcAft>
              <a:buNone/>
            </a:pPr>
            <a:r>
              <a:rPr lang="en-US">
                <a:solidFill>
                  <a:srgbClr val="FF0000"/>
                </a:solidFill>
              </a:rPr>
              <a:t>    ('ohe', OneHotEncoder(), ['Sex','Embarked'])</a:t>
            </a:r>
            <a:endParaRPr>
              <a:solidFill>
                <a:srgbClr val="FF0000"/>
              </a:solidFill>
            </a:endParaRPr>
          </a:p>
          <a:p>
            <a:pPr marL="0" lvl="0" indent="0" algn="l" rtl="0">
              <a:spcBef>
                <a:spcPts val="1000"/>
              </a:spcBef>
              <a:spcAft>
                <a:spcPts val="0"/>
              </a:spcAft>
              <a:buNone/>
            </a:pPr>
            <a:r>
              <a:rPr lang="en-US">
                <a:solidFill>
                  <a:srgbClr val="FF0000"/>
                </a:solidFill>
              </a:rPr>
              <a:t>], remainder='passthrough') </a:t>
            </a:r>
            <a:r>
              <a:rPr lang="en-US"/>
              <a:t> # Pass through other columns like 'Fare'</a:t>
            </a:r>
            <a:endParaRPr/>
          </a:p>
          <a:p>
            <a:pPr marL="0" lvl="0" indent="0" algn="l" rtl="0">
              <a:spcBef>
                <a:spcPts val="1000"/>
              </a:spcBef>
              <a:spcAft>
                <a:spcPts val="0"/>
              </a:spcAft>
              <a:buNone/>
            </a:pPr>
            <a:endParaRPr/>
          </a:p>
          <a:p>
            <a:pPr marL="0" lvl="0" indent="0" algn="l" rtl="0">
              <a:spcBef>
                <a:spcPts val="1000"/>
              </a:spcBef>
              <a:spcAft>
                <a:spcPts val="0"/>
              </a:spcAft>
              <a:buNone/>
            </a:pPr>
            <a:r>
              <a:rPr lang="en-US"/>
              <a:t># Transform the data</a:t>
            </a:r>
            <a:endParaRPr/>
          </a:p>
          <a:p>
            <a:pPr marL="0" lvl="0" indent="0" algn="l" rtl="0">
              <a:spcBef>
                <a:spcPts val="1000"/>
              </a:spcBef>
              <a:spcAft>
                <a:spcPts val="0"/>
              </a:spcAft>
              <a:buNone/>
            </a:pPr>
            <a:r>
              <a:rPr lang="en-US"/>
              <a:t>transformed_data = preprocessor.fit_transform(data)</a:t>
            </a:r>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340"/>
        <p:cNvGrpSpPr/>
        <p:nvPr/>
      </p:nvGrpSpPr>
      <p:grpSpPr>
        <a:xfrm>
          <a:off x="0" y="0"/>
          <a:ext cx="0" cy="0"/>
          <a:chOff x="0" y="0"/>
          <a:chExt cx="0" cy="0"/>
        </a:xfrm>
      </p:grpSpPr>
      <p:sp>
        <p:nvSpPr>
          <p:cNvPr id="341" name="Google Shape;341;g30dd930e3ce_0_0"/>
          <p:cNvSpPr txBox="1">
            <a:spLocks noGrp="1"/>
          </p:cNvSpPr>
          <p:nvPr>
            <p:ph type="title"/>
          </p:nvPr>
        </p:nvSpPr>
        <p:spPr>
          <a:xfrm>
            <a:off x="628650" y="136525"/>
            <a:ext cx="7886700" cy="741000"/>
          </a:xfrm>
          <a:prstGeom prst="rect">
            <a:avLst/>
          </a:prstGeom>
        </p:spPr>
        <p:txBody>
          <a:bodyPr spcFirstLastPara="1" wrap="square" lIns="91425" tIns="45700" rIns="91425" bIns="45700" anchor="ctr" anchorCtr="0">
            <a:normAutofit/>
          </a:bodyPr>
          <a:lstStyle/>
          <a:p>
            <a:pPr marL="0" lvl="0" indent="0" algn="l" rtl="0">
              <a:spcBef>
                <a:spcPts val="0"/>
              </a:spcBef>
              <a:spcAft>
                <a:spcPts val="0"/>
              </a:spcAft>
              <a:buNone/>
            </a:pPr>
            <a:r>
              <a:rPr lang="en-US"/>
              <a:t>Output</a:t>
            </a:r>
            <a:endParaRPr/>
          </a:p>
        </p:txBody>
      </p:sp>
      <p:sp>
        <p:nvSpPr>
          <p:cNvPr id="342" name="Google Shape;342;g30dd930e3ce_0_0"/>
          <p:cNvSpPr txBox="1">
            <a:spLocks noGrp="1"/>
          </p:cNvSpPr>
          <p:nvPr>
            <p:ph type="body" idx="1"/>
          </p:nvPr>
        </p:nvSpPr>
        <p:spPr>
          <a:xfrm>
            <a:off x="628650" y="877525"/>
            <a:ext cx="7886700" cy="5785800"/>
          </a:xfrm>
          <a:prstGeom prst="rect">
            <a:avLst/>
          </a:prstGeom>
        </p:spPr>
        <p:txBody>
          <a:bodyPr spcFirstLastPara="1" wrap="square" lIns="91425" tIns="45700" rIns="91425" bIns="45700" anchor="t" anchorCtr="0">
            <a:normAutofit fontScale="62500" lnSpcReduction="20000"/>
          </a:bodyPr>
          <a:lstStyle/>
          <a:p>
            <a:pPr marL="0" lvl="0" indent="0" algn="l" rtl="0">
              <a:spcBef>
                <a:spcPts val="1000"/>
              </a:spcBef>
              <a:spcAft>
                <a:spcPts val="0"/>
              </a:spcAft>
              <a:buNone/>
            </a:pPr>
            <a:r>
              <a:rPr lang="en-US"/>
              <a:t>Original DataFrame:</a:t>
            </a:r>
            <a:endParaRPr/>
          </a:p>
          <a:p>
            <a:pPr marL="0" lvl="0" indent="0" algn="l" rtl="0">
              <a:spcBef>
                <a:spcPts val="1000"/>
              </a:spcBef>
              <a:spcAft>
                <a:spcPts val="0"/>
              </a:spcAft>
              <a:buNone/>
            </a:pPr>
            <a:r>
              <a:rPr lang="en-US"/>
              <a:t>    Age     Sex Embarked   Fare</a:t>
            </a:r>
            <a:endParaRPr/>
          </a:p>
          <a:p>
            <a:pPr marL="0" lvl="0" indent="0" algn="l" rtl="0">
              <a:spcBef>
                <a:spcPts val="1000"/>
              </a:spcBef>
              <a:spcAft>
                <a:spcPts val="0"/>
              </a:spcAft>
              <a:buNone/>
            </a:pPr>
            <a:r>
              <a:rPr lang="en-US"/>
              <a:t>0  22.0    male        B   7.25</a:t>
            </a:r>
            <a:endParaRPr/>
          </a:p>
          <a:p>
            <a:pPr marL="0" lvl="0" indent="0" algn="l" rtl="0">
              <a:spcBef>
                <a:spcPts val="1000"/>
              </a:spcBef>
              <a:spcAft>
                <a:spcPts val="0"/>
              </a:spcAft>
              <a:buNone/>
            </a:pPr>
            <a:r>
              <a:rPr lang="en-US"/>
              <a:t>1   NaN  female        B  71.83</a:t>
            </a:r>
            <a:endParaRPr/>
          </a:p>
          <a:p>
            <a:pPr marL="0" lvl="0" indent="0" algn="l" rtl="0">
              <a:spcBef>
                <a:spcPts val="1000"/>
              </a:spcBef>
              <a:spcAft>
                <a:spcPts val="0"/>
              </a:spcAft>
              <a:buNone/>
            </a:pPr>
            <a:r>
              <a:rPr lang="en-US"/>
              <a:t>2  24.0  female        C   8.05</a:t>
            </a:r>
            <a:endParaRPr/>
          </a:p>
          <a:p>
            <a:pPr marL="0" lvl="0" indent="0" algn="l" rtl="0">
              <a:spcBef>
                <a:spcPts val="1000"/>
              </a:spcBef>
              <a:spcAft>
                <a:spcPts val="0"/>
              </a:spcAft>
              <a:buNone/>
            </a:pPr>
            <a:r>
              <a:rPr lang="en-US"/>
              <a:t>3  22.0    male        C   7.25</a:t>
            </a:r>
            <a:endParaRPr/>
          </a:p>
          <a:p>
            <a:pPr marL="0" lvl="0" indent="0" algn="l" rtl="0">
              <a:spcBef>
                <a:spcPts val="1000"/>
              </a:spcBef>
              <a:spcAft>
                <a:spcPts val="0"/>
              </a:spcAft>
              <a:buNone/>
            </a:pPr>
            <a:r>
              <a:rPr lang="en-US"/>
              <a:t>4   NaN  female        C  71.83</a:t>
            </a:r>
            <a:endParaRPr/>
          </a:p>
          <a:p>
            <a:pPr marL="0" lvl="0" indent="0" algn="l" rtl="0">
              <a:spcBef>
                <a:spcPts val="1000"/>
              </a:spcBef>
              <a:spcAft>
                <a:spcPts val="0"/>
              </a:spcAft>
              <a:buNone/>
            </a:pPr>
            <a:r>
              <a:rPr lang="en-US"/>
              <a:t>5  24.0  female        S   8.05</a:t>
            </a:r>
            <a:endParaRPr/>
          </a:p>
          <a:p>
            <a:pPr marL="0" lvl="0" indent="0" algn="l" rtl="0">
              <a:spcBef>
                <a:spcPts val="1000"/>
              </a:spcBef>
              <a:spcAft>
                <a:spcPts val="0"/>
              </a:spcAft>
              <a:buNone/>
            </a:pPr>
            <a:endParaRPr/>
          </a:p>
          <a:p>
            <a:pPr marL="0" marR="0" lvl="0" indent="0" algn="l" rtl="0">
              <a:lnSpc>
                <a:spcPct val="90000"/>
              </a:lnSpc>
              <a:spcBef>
                <a:spcPts val="1000"/>
              </a:spcBef>
              <a:spcAft>
                <a:spcPts val="0"/>
              </a:spcAft>
              <a:buNone/>
            </a:pPr>
            <a:r>
              <a:rPr lang="en-US"/>
              <a:t>Transformed Data Shape:</a:t>
            </a:r>
            <a:endParaRPr/>
          </a:p>
          <a:p>
            <a:pPr marL="0" marR="0" lvl="0" indent="0" algn="l" rtl="0">
              <a:lnSpc>
                <a:spcPct val="90000"/>
              </a:lnSpc>
              <a:spcBef>
                <a:spcPts val="1000"/>
              </a:spcBef>
              <a:spcAft>
                <a:spcPts val="0"/>
              </a:spcAft>
              <a:buNone/>
            </a:pPr>
            <a:r>
              <a:rPr lang="en-US"/>
              <a:t>(6, 7)</a:t>
            </a:r>
            <a:endParaRPr/>
          </a:p>
          <a:p>
            <a:pPr marL="0" marR="0" lvl="0" indent="0" algn="l" rtl="0">
              <a:lnSpc>
                <a:spcPct val="90000"/>
              </a:lnSpc>
              <a:spcBef>
                <a:spcPts val="1000"/>
              </a:spcBef>
              <a:spcAft>
                <a:spcPts val="0"/>
              </a:spcAft>
              <a:buNone/>
            </a:pPr>
            <a:r>
              <a:rPr lang="en-US"/>
              <a:t>[[22.    0.    1.    1.    0.    0.    7.25]</a:t>
            </a:r>
            <a:endParaRPr/>
          </a:p>
          <a:p>
            <a:pPr marL="0" marR="0" lvl="0" indent="0" algn="l" rtl="0">
              <a:lnSpc>
                <a:spcPct val="90000"/>
              </a:lnSpc>
              <a:spcBef>
                <a:spcPts val="1000"/>
              </a:spcBef>
              <a:spcAft>
                <a:spcPts val="0"/>
              </a:spcAft>
              <a:buNone/>
            </a:pPr>
            <a:r>
              <a:rPr lang="en-US"/>
              <a:t> [23.    1.    0.    1.    0.    0.   71.83]</a:t>
            </a:r>
            <a:endParaRPr/>
          </a:p>
          <a:p>
            <a:pPr marL="0" marR="0" lvl="0" indent="0" algn="l" rtl="0">
              <a:lnSpc>
                <a:spcPct val="90000"/>
              </a:lnSpc>
              <a:spcBef>
                <a:spcPts val="1000"/>
              </a:spcBef>
              <a:spcAft>
                <a:spcPts val="0"/>
              </a:spcAft>
              <a:buNone/>
            </a:pPr>
            <a:r>
              <a:rPr lang="en-US"/>
              <a:t> [24.    1.    0.    0.    1.    0.    8.05]</a:t>
            </a:r>
            <a:endParaRPr/>
          </a:p>
          <a:p>
            <a:pPr marL="0" marR="0" lvl="0" indent="0" algn="l" rtl="0">
              <a:lnSpc>
                <a:spcPct val="90000"/>
              </a:lnSpc>
              <a:spcBef>
                <a:spcPts val="1000"/>
              </a:spcBef>
              <a:spcAft>
                <a:spcPts val="0"/>
              </a:spcAft>
              <a:buNone/>
            </a:pPr>
            <a:r>
              <a:rPr lang="en-US"/>
              <a:t> [22.    0.    1.    0.    1.    0.    7.25]</a:t>
            </a:r>
            <a:endParaRPr/>
          </a:p>
          <a:p>
            <a:pPr marL="0" marR="0" lvl="0" indent="0" algn="l" rtl="0">
              <a:lnSpc>
                <a:spcPct val="90000"/>
              </a:lnSpc>
              <a:spcBef>
                <a:spcPts val="1000"/>
              </a:spcBef>
              <a:spcAft>
                <a:spcPts val="0"/>
              </a:spcAft>
              <a:buNone/>
            </a:pPr>
            <a:r>
              <a:rPr lang="en-US"/>
              <a:t> [23.    1.    0.    0.    1.    0.   71.83]</a:t>
            </a:r>
            <a:endParaRPr/>
          </a:p>
          <a:p>
            <a:pPr marL="0" marR="0" lvl="0" indent="0" algn="l" rtl="0">
              <a:lnSpc>
                <a:spcPct val="90000"/>
              </a:lnSpc>
              <a:spcBef>
                <a:spcPts val="1000"/>
              </a:spcBef>
              <a:spcAft>
                <a:spcPts val="0"/>
              </a:spcAft>
              <a:buNone/>
            </a:pPr>
            <a:r>
              <a:rPr lang="en-US"/>
              <a:t> [24.    1.    0.    0.    0.    1.    8.05]]</a:t>
            </a:r>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346"/>
        <p:cNvGrpSpPr/>
        <p:nvPr/>
      </p:nvGrpSpPr>
      <p:grpSpPr>
        <a:xfrm>
          <a:off x="0" y="0"/>
          <a:ext cx="0" cy="0"/>
          <a:chOff x="0" y="0"/>
          <a:chExt cx="0" cy="0"/>
        </a:xfrm>
      </p:grpSpPr>
      <p:sp>
        <p:nvSpPr>
          <p:cNvPr id="347" name="Google Shape;347;g30cda042f99_0_1"/>
          <p:cNvSpPr txBox="1">
            <a:spLocks noGrp="1"/>
          </p:cNvSpPr>
          <p:nvPr>
            <p:ph type="title"/>
          </p:nvPr>
        </p:nvSpPr>
        <p:spPr>
          <a:xfrm>
            <a:off x="628650" y="365126"/>
            <a:ext cx="7886700" cy="1325700"/>
          </a:xfrm>
          <a:prstGeom prst="rect">
            <a:avLst/>
          </a:prstGeom>
        </p:spPr>
        <p:txBody>
          <a:bodyPr spcFirstLastPara="1" wrap="square" lIns="91425" tIns="45700" rIns="91425" bIns="45700" anchor="ctr" anchorCtr="0">
            <a:normAutofit/>
          </a:bodyPr>
          <a:lstStyle/>
          <a:p>
            <a:pPr marL="0" lvl="0" indent="0" algn="l" rtl="0">
              <a:spcBef>
                <a:spcPts val="0"/>
              </a:spcBef>
              <a:spcAft>
                <a:spcPts val="0"/>
              </a:spcAft>
              <a:buNone/>
            </a:pPr>
            <a:r>
              <a:rPr lang="en-US"/>
              <a:t>Function Transformer</a:t>
            </a:r>
            <a:endParaRPr/>
          </a:p>
        </p:txBody>
      </p:sp>
      <p:sp>
        <p:nvSpPr>
          <p:cNvPr id="348" name="Google Shape;348;g30cda042f99_0_1"/>
          <p:cNvSpPr txBox="1">
            <a:spLocks noGrp="1"/>
          </p:cNvSpPr>
          <p:nvPr>
            <p:ph type="body" idx="1"/>
          </p:nvPr>
        </p:nvSpPr>
        <p:spPr>
          <a:xfrm>
            <a:off x="628650" y="1825625"/>
            <a:ext cx="7886700" cy="4351200"/>
          </a:xfrm>
          <a:prstGeom prst="rect">
            <a:avLst/>
          </a:prstGeom>
        </p:spPr>
        <p:txBody>
          <a:bodyPr spcFirstLastPara="1" wrap="square" lIns="91425" tIns="45700" rIns="91425" bIns="45700" anchor="t" anchorCtr="0">
            <a:normAutofit/>
          </a:bodyPr>
          <a:lstStyle/>
          <a:p>
            <a:pPr marL="0" lvl="0" indent="0" algn="l" rtl="0">
              <a:spcBef>
                <a:spcPts val="1000"/>
              </a:spcBef>
              <a:spcAft>
                <a:spcPts val="0"/>
              </a:spcAft>
              <a:buNone/>
            </a:pPr>
            <a:r>
              <a:rPr lang="en-US"/>
              <a:t>FunctionTransformer is a utility in Scikit-learn that allows you to </a:t>
            </a:r>
            <a:r>
              <a:rPr lang="en-US">
                <a:solidFill>
                  <a:srgbClr val="FF0000"/>
                </a:solidFill>
              </a:rPr>
              <a:t>create a transformer from a custom function. </a:t>
            </a:r>
            <a:endParaRPr>
              <a:solidFill>
                <a:srgbClr val="FF0000"/>
              </a:solidFill>
            </a:endParaRPr>
          </a:p>
          <a:p>
            <a:pPr marL="0" lvl="0" indent="0" algn="l" rtl="0">
              <a:spcBef>
                <a:spcPts val="1000"/>
              </a:spcBef>
              <a:spcAft>
                <a:spcPts val="0"/>
              </a:spcAft>
              <a:buNone/>
            </a:pPr>
            <a:r>
              <a:rPr lang="en-US"/>
              <a:t>It is particularly useful when you want to apply a specific function to your data during the preprocessing step. </a:t>
            </a:r>
            <a:endParaRPr/>
          </a:p>
          <a:p>
            <a:pPr marL="0" lvl="0" indent="0" algn="l" rtl="0">
              <a:spcBef>
                <a:spcPts val="1000"/>
              </a:spcBef>
              <a:spcAft>
                <a:spcPts val="0"/>
              </a:spcAft>
              <a:buNone/>
            </a:pPr>
            <a:r>
              <a:rPr lang="en-US"/>
              <a:t>This flexibility enables you to integrate custom transformations into Scikit-learn’s pipeline and ColumnTransformer workflows.</a:t>
            </a:r>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352"/>
        <p:cNvGrpSpPr/>
        <p:nvPr/>
      </p:nvGrpSpPr>
      <p:grpSpPr>
        <a:xfrm>
          <a:off x="0" y="0"/>
          <a:ext cx="0" cy="0"/>
          <a:chOff x="0" y="0"/>
          <a:chExt cx="0" cy="0"/>
        </a:xfrm>
      </p:grpSpPr>
      <p:sp>
        <p:nvSpPr>
          <p:cNvPr id="353" name="Google Shape;353;g30cda042f99_0_21"/>
          <p:cNvSpPr txBox="1">
            <a:spLocks noGrp="1"/>
          </p:cNvSpPr>
          <p:nvPr>
            <p:ph type="title"/>
          </p:nvPr>
        </p:nvSpPr>
        <p:spPr>
          <a:xfrm>
            <a:off x="628650" y="212725"/>
            <a:ext cx="7886700" cy="920100"/>
          </a:xfrm>
          <a:prstGeom prst="rect">
            <a:avLst/>
          </a:prstGeom>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1100"/>
              <a:buFont typeface="Arial"/>
              <a:buNone/>
            </a:pPr>
            <a:r>
              <a:rPr lang="en-US"/>
              <a:t>Function Transformer (Example)</a:t>
            </a:r>
            <a:endParaRPr/>
          </a:p>
        </p:txBody>
      </p:sp>
      <p:sp>
        <p:nvSpPr>
          <p:cNvPr id="354" name="Google Shape;354;g30cda042f99_0_21"/>
          <p:cNvSpPr txBox="1">
            <a:spLocks noGrp="1"/>
          </p:cNvSpPr>
          <p:nvPr>
            <p:ph type="body" idx="1"/>
          </p:nvPr>
        </p:nvSpPr>
        <p:spPr>
          <a:xfrm>
            <a:off x="628650" y="1268925"/>
            <a:ext cx="7886700" cy="5207400"/>
          </a:xfrm>
          <a:prstGeom prst="rect">
            <a:avLst/>
          </a:prstGeom>
        </p:spPr>
        <p:txBody>
          <a:bodyPr spcFirstLastPara="1" wrap="square" lIns="91425" tIns="45700" rIns="91425" bIns="45700" anchor="t" anchorCtr="0">
            <a:normAutofit fontScale="85000" lnSpcReduction="20000"/>
          </a:bodyPr>
          <a:lstStyle/>
          <a:p>
            <a:pPr marL="0" lvl="0" indent="0" algn="l" rtl="0">
              <a:spcBef>
                <a:spcPts val="1000"/>
              </a:spcBef>
              <a:spcAft>
                <a:spcPts val="0"/>
              </a:spcAft>
              <a:buClr>
                <a:schemeClr val="dk1"/>
              </a:buClr>
              <a:buSzPct val="39285"/>
              <a:buFont typeface="Arial"/>
              <a:buNone/>
            </a:pPr>
            <a:r>
              <a:rPr lang="en-US"/>
              <a:t># Sample DataFrame</a:t>
            </a:r>
            <a:endParaRPr/>
          </a:p>
          <a:p>
            <a:pPr marL="0" lvl="0" indent="0" algn="l" rtl="0">
              <a:spcBef>
                <a:spcPts val="1000"/>
              </a:spcBef>
              <a:spcAft>
                <a:spcPts val="0"/>
              </a:spcAft>
              <a:buClr>
                <a:schemeClr val="dk1"/>
              </a:buClr>
              <a:buSzPct val="39285"/>
              <a:buFont typeface="Arial"/>
              <a:buNone/>
            </a:pPr>
            <a:r>
              <a:rPr lang="en-US"/>
              <a:t>data = pd.DataFrame({</a:t>
            </a:r>
            <a:endParaRPr/>
          </a:p>
          <a:p>
            <a:pPr marL="0" lvl="0" indent="0" algn="l" rtl="0">
              <a:spcBef>
                <a:spcPts val="1000"/>
              </a:spcBef>
              <a:spcAft>
                <a:spcPts val="0"/>
              </a:spcAft>
              <a:buClr>
                <a:schemeClr val="dk1"/>
              </a:buClr>
              <a:buSzPct val="39285"/>
              <a:buFont typeface="Arial"/>
              <a:buNone/>
            </a:pPr>
            <a:r>
              <a:rPr lang="en-US"/>
              <a:t>    'Age': [22, None, 24, 22, None, 24],</a:t>
            </a:r>
            <a:endParaRPr/>
          </a:p>
          <a:p>
            <a:pPr marL="0" lvl="0" indent="0" algn="l" rtl="0">
              <a:spcBef>
                <a:spcPts val="1000"/>
              </a:spcBef>
              <a:spcAft>
                <a:spcPts val="0"/>
              </a:spcAft>
              <a:buClr>
                <a:schemeClr val="dk1"/>
              </a:buClr>
              <a:buSzPct val="39285"/>
              <a:buFont typeface="Arial"/>
              <a:buNone/>
            </a:pPr>
            <a:r>
              <a:rPr lang="en-US"/>
              <a:t>    'Sex': ['male', 'female', 'female','male', 'female', 'female'],</a:t>
            </a:r>
            <a:endParaRPr/>
          </a:p>
          <a:p>
            <a:pPr marL="0" lvl="0" indent="0" algn="l" rtl="0">
              <a:spcBef>
                <a:spcPts val="1000"/>
              </a:spcBef>
              <a:spcAft>
                <a:spcPts val="0"/>
              </a:spcAft>
              <a:buClr>
                <a:schemeClr val="dk1"/>
              </a:buClr>
              <a:buSzPct val="39285"/>
              <a:buFont typeface="Arial"/>
              <a:buNone/>
            </a:pPr>
            <a:r>
              <a:rPr lang="en-US"/>
              <a:t>    'Embarked': ['B', 'B', 'C', None, 'C','S'],</a:t>
            </a:r>
            <a:endParaRPr/>
          </a:p>
          <a:p>
            <a:pPr marL="0" lvl="0" indent="0" algn="l" rtl="0">
              <a:spcBef>
                <a:spcPts val="1000"/>
              </a:spcBef>
              <a:spcAft>
                <a:spcPts val="0"/>
              </a:spcAft>
              <a:buClr>
                <a:schemeClr val="dk1"/>
              </a:buClr>
              <a:buSzPct val="39285"/>
              <a:buFont typeface="Arial"/>
              <a:buNone/>
            </a:pPr>
            <a:r>
              <a:rPr lang="en-US"/>
              <a:t>    'Fare': [7.25, 71.83, 8.05,7.25, 71.83, 8.05]</a:t>
            </a:r>
            <a:endParaRPr/>
          </a:p>
          <a:p>
            <a:pPr marL="0" lvl="0" indent="0" algn="l" rtl="0">
              <a:spcBef>
                <a:spcPts val="1000"/>
              </a:spcBef>
              <a:spcAft>
                <a:spcPts val="0"/>
              </a:spcAft>
              <a:buNone/>
            </a:pPr>
            <a:r>
              <a:rPr lang="en-US"/>
              <a:t>})</a:t>
            </a:r>
            <a:endParaRPr/>
          </a:p>
          <a:p>
            <a:pPr marL="0" lvl="0" indent="0" algn="l" rtl="0">
              <a:spcBef>
                <a:spcPts val="1000"/>
              </a:spcBef>
              <a:spcAft>
                <a:spcPts val="0"/>
              </a:spcAft>
              <a:buNone/>
            </a:pPr>
            <a:endParaRPr/>
          </a:p>
          <a:p>
            <a:pPr marL="0" marR="0" lvl="0" indent="0" algn="l" rtl="0">
              <a:lnSpc>
                <a:spcPct val="90000"/>
              </a:lnSpc>
              <a:spcBef>
                <a:spcPts val="1000"/>
              </a:spcBef>
              <a:spcAft>
                <a:spcPts val="0"/>
              </a:spcAft>
              <a:buNone/>
            </a:pPr>
            <a:r>
              <a:rPr lang="en-US"/>
              <a:t># Custom function to impute 'Embarked'</a:t>
            </a:r>
            <a:endParaRPr/>
          </a:p>
          <a:p>
            <a:pPr marL="0" marR="0" lvl="0" indent="0" algn="l" rtl="0">
              <a:lnSpc>
                <a:spcPct val="90000"/>
              </a:lnSpc>
              <a:spcBef>
                <a:spcPts val="1000"/>
              </a:spcBef>
              <a:spcAft>
                <a:spcPts val="0"/>
              </a:spcAft>
              <a:buNone/>
            </a:pPr>
            <a:r>
              <a:rPr lang="en-US"/>
              <a:t>def impute_embarked(X):</a:t>
            </a:r>
            <a:endParaRPr/>
          </a:p>
          <a:p>
            <a:pPr marL="0" marR="0" lvl="0" indent="0" algn="l" rtl="0">
              <a:lnSpc>
                <a:spcPct val="90000"/>
              </a:lnSpc>
              <a:spcBef>
                <a:spcPts val="1000"/>
              </a:spcBef>
              <a:spcAft>
                <a:spcPts val="0"/>
              </a:spcAft>
              <a:buNone/>
            </a:pPr>
            <a:r>
              <a:rPr lang="en-US"/>
              <a:t>    X['Embarked'] = ['Embarked'].fillna(X['Embarked'].mode()[0])  </a:t>
            </a:r>
            <a:endParaRPr/>
          </a:p>
          <a:p>
            <a:pPr marL="0" marR="0" lvl="0" indent="0" algn="l" rtl="0">
              <a:lnSpc>
                <a:spcPct val="90000"/>
              </a:lnSpc>
              <a:spcBef>
                <a:spcPts val="1000"/>
              </a:spcBef>
              <a:spcAft>
                <a:spcPts val="0"/>
              </a:spcAft>
              <a:buNone/>
            </a:pPr>
            <a:r>
              <a:rPr lang="en-US"/>
              <a:t>    return X</a:t>
            </a:r>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358"/>
        <p:cNvGrpSpPr/>
        <p:nvPr/>
      </p:nvGrpSpPr>
      <p:grpSpPr>
        <a:xfrm>
          <a:off x="0" y="0"/>
          <a:ext cx="0" cy="0"/>
          <a:chOff x="0" y="0"/>
          <a:chExt cx="0" cy="0"/>
        </a:xfrm>
      </p:grpSpPr>
      <p:sp>
        <p:nvSpPr>
          <p:cNvPr id="359" name="Google Shape;359;g30cda042f99_0_39"/>
          <p:cNvSpPr txBox="1">
            <a:spLocks noGrp="1"/>
          </p:cNvSpPr>
          <p:nvPr>
            <p:ph type="title"/>
          </p:nvPr>
        </p:nvSpPr>
        <p:spPr>
          <a:xfrm>
            <a:off x="628650" y="365125"/>
            <a:ext cx="7886700" cy="954900"/>
          </a:xfrm>
          <a:prstGeom prst="rect">
            <a:avLst/>
          </a:prstGeom>
        </p:spPr>
        <p:txBody>
          <a:bodyPr spcFirstLastPara="1" wrap="square" lIns="91425" tIns="45700" rIns="91425" bIns="45700" anchor="ctr" anchorCtr="0">
            <a:normAutofit/>
          </a:bodyPr>
          <a:lstStyle/>
          <a:p>
            <a:pPr marL="0" lvl="0" indent="0" algn="l" rtl="0">
              <a:spcBef>
                <a:spcPts val="0"/>
              </a:spcBef>
              <a:spcAft>
                <a:spcPts val="0"/>
              </a:spcAft>
              <a:buNone/>
            </a:pPr>
            <a:r>
              <a:rPr lang="en-US"/>
              <a:t> Function Transformer (Contd..)</a:t>
            </a:r>
            <a:endParaRPr/>
          </a:p>
        </p:txBody>
      </p:sp>
      <p:sp>
        <p:nvSpPr>
          <p:cNvPr id="360" name="Google Shape;360;g30cda042f99_0_39"/>
          <p:cNvSpPr txBox="1">
            <a:spLocks noGrp="1"/>
          </p:cNvSpPr>
          <p:nvPr>
            <p:ph type="body" idx="1"/>
          </p:nvPr>
        </p:nvSpPr>
        <p:spPr>
          <a:xfrm>
            <a:off x="628650" y="1490150"/>
            <a:ext cx="7886700" cy="4050300"/>
          </a:xfrm>
          <a:prstGeom prst="rect">
            <a:avLst/>
          </a:prstGeom>
        </p:spPr>
        <p:txBody>
          <a:bodyPr spcFirstLastPara="1" wrap="square" lIns="91425" tIns="45700" rIns="91425" bIns="45700" anchor="t" anchorCtr="0">
            <a:normAutofit fontScale="70000" lnSpcReduction="20000"/>
          </a:bodyPr>
          <a:lstStyle/>
          <a:p>
            <a:pPr marL="0" lvl="0" indent="0" algn="l" rtl="0">
              <a:spcBef>
                <a:spcPts val="1000"/>
              </a:spcBef>
              <a:spcAft>
                <a:spcPts val="0"/>
              </a:spcAft>
              <a:buClr>
                <a:schemeClr val="dk1"/>
              </a:buClr>
              <a:buSzPct val="39285"/>
              <a:buFont typeface="Arial"/>
              <a:buNone/>
            </a:pPr>
            <a:r>
              <a:rPr lang="en-US"/>
              <a:t>#Apply ColumnTransformer</a:t>
            </a:r>
            <a:endParaRPr/>
          </a:p>
          <a:p>
            <a:pPr marL="0" lvl="0" indent="0" algn="l" rtl="0">
              <a:spcBef>
                <a:spcPts val="1000"/>
              </a:spcBef>
              <a:spcAft>
                <a:spcPts val="0"/>
              </a:spcAft>
              <a:buClr>
                <a:schemeClr val="dk1"/>
              </a:buClr>
              <a:buSzPct val="39285"/>
              <a:buFont typeface="Arial"/>
              <a:buNone/>
            </a:pPr>
            <a:r>
              <a:rPr lang="en-US">
                <a:solidFill>
                  <a:srgbClr val="FF0000"/>
                </a:solidFill>
              </a:rPr>
              <a:t>preprocessor = ColumnTransformer(transformers=[</a:t>
            </a:r>
            <a:endParaRPr>
              <a:solidFill>
                <a:srgbClr val="FF0000"/>
              </a:solidFill>
            </a:endParaRPr>
          </a:p>
          <a:p>
            <a:pPr marL="0" lvl="0" indent="0" algn="l" rtl="0">
              <a:spcBef>
                <a:spcPts val="1000"/>
              </a:spcBef>
              <a:spcAft>
                <a:spcPts val="0"/>
              </a:spcAft>
              <a:buClr>
                <a:schemeClr val="dk1"/>
              </a:buClr>
              <a:buSzPct val="39285"/>
              <a:buFont typeface="Arial"/>
              <a:buNone/>
            </a:pPr>
            <a:r>
              <a:rPr lang="en-US">
                <a:solidFill>
                  <a:srgbClr val="FF0000"/>
                </a:solidFill>
              </a:rPr>
              <a:t>    ('age_imputer', SimpleImputer(strategy='mean'), ['Age']),</a:t>
            </a:r>
            <a:endParaRPr>
              <a:solidFill>
                <a:srgbClr val="FF0000"/>
              </a:solidFill>
            </a:endParaRPr>
          </a:p>
          <a:p>
            <a:pPr marL="0" lvl="0" indent="0" algn="l" rtl="0">
              <a:lnSpc>
                <a:spcPct val="131250"/>
              </a:lnSpc>
              <a:spcBef>
                <a:spcPts val="0"/>
              </a:spcBef>
              <a:spcAft>
                <a:spcPts val="0"/>
              </a:spcAft>
              <a:buClr>
                <a:schemeClr val="dk1"/>
              </a:buClr>
              <a:buSzPct val="39285"/>
              <a:buFont typeface="Arial"/>
              <a:buNone/>
            </a:pPr>
            <a:r>
              <a:rPr lang="en-US">
                <a:solidFill>
                  <a:srgbClr val="FF0000"/>
                </a:solidFill>
              </a:rPr>
              <a:t>    ('embarked_imputer', FunctionTransformer(impute_embarked), ['Embarked']),         </a:t>
            </a:r>
            <a:endParaRPr>
              <a:solidFill>
                <a:srgbClr val="FF0000"/>
              </a:solidFill>
            </a:endParaRPr>
          </a:p>
          <a:p>
            <a:pPr marL="0" lvl="0" indent="0" algn="l" rtl="0">
              <a:lnSpc>
                <a:spcPct val="131250"/>
              </a:lnSpc>
              <a:spcBef>
                <a:spcPts val="0"/>
              </a:spcBef>
              <a:spcAft>
                <a:spcPts val="0"/>
              </a:spcAft>
              <a:buClr>
                <a:schemeClr val="dk1"/>
              </a:buClr>
              <a:buSzPct val="39285"/>
              <a:buFont typeface="Arial"/>
              <a:buNone/>
            </a:pPr>
            <a:r>
              <a:rPr lang="en-US">
                <a:solidFill>
                  <a:srgbClr val="FF0000"/>
                </a:solidFill>
              </a:rPr>
              <a:t>    ('ohe', OneHotEncoder(), ['Sex','Embarked'])</a:t>
            </a:r>
            <a:endParaRPr>
              <a:solidFill>
                <a:srgbClr val="FF0000"/>
              </a:solidFill>
            </a:endParaRPr>
          </a:p>
          <a:p>
            <a:pPr marL="0" lvl="0" indent="0" algn="l" rtl="0">
              <a:lnSpc>
                <a:spcPct val="131250"/>
              </a:lnSpc>
              <a:spcBef>
                <a:spcPts val="0"/>
              </a:spcBef>
              <a:spcAft>
                <a:spcPts val="0"/>
              </a:spcAft>
              <a:buNone/>
            </a:pPr>
            <a:r>
              <a:rPr lang="en-US">
                <a:solidFill>
                  <a:srgbClr val="FF0000"/>
                </a:solidFill>
              </a:rPr>
              <a:t>], remainder='passthrough') </a:t>
            </a:r>
            <a:r>
              <a:rPr lang="en-US"/>
              <a:t> # Pass through other columns like 'Fare'</a:t>
            </a:r>
            <a:endParaRPr/>
          </a:p>
          <a:p>
            <a:pPr marL="0" lvl="0" indent="0" algn="l" rtl="0">
              <a:lnSpc>
                <a:spcPct val="131250"/>
              </a:lnSpc>
              <a:spcBef>
                <a:spcPts val="0"/>
              </a:spcBef>
              <a:spcAft>
                <a:spcPts val="0"/>
              </a:spcAft>
              <a:buNone/>
            </a:pPr>
            <a:endParaRPr/>
          </a:p>
          <a:p>
            <a:pPr marL="0" lvl="0" indent="0" algn="l" rtl="0">
              <a:spcBef>
                <a:spcPts val="1000"/>
              </a:spcBef>
              <a:spcAft>
                <a:spcPts val="0"/>
              </a:spcAft>
              <a:buClr>
                <a:schemeClr val="dk1"/>
              </a:buClr>
              <a:buSzPct val="39285"/>
              <a:buFont typeface="Arial"/>
              <a:buNone/>
            </a:pPr>
            <a:r>
              <a:rPr lang="en-US"/>
              <a:t># Transform the data</a:t>
            </a:r>
            <a:endParaRPr/>
          </a:p>
          <a:p>
            <a:pPr marL="0" lvl="0" indent="0" algn="l" rtl="0">
              <a:spcBef>
                <a:spcPts val="1000"/>
              </a:spcBef>
              <a:spcAft>
                <a:spcPts val="0"/>
              </a:spcAft>
              <a:buClr>
                <a:schemeClr val="dk1"/>
              </a:buClr>
              <a:buSzPct val="39285"/>
              <a:buFont typeface="Arial"/>
              <a:buNone/>
            </a:pPr>
            <a:r>
              <a:rPr lang="en-US"/>
              <a:t>transformed_data = preprocessor.fit_transform(data)</a:t>
            </a:r>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p:cNvPicPr>
            <a:picLocks noChangeAspect="1"/>
          </p:cNvPicPr>
          <p:nvPr/>
        </p:nvPicPr>
        <p:blipFill>
          <a:blip r:embed="rId2"/>
          <a:stretch>
            <a:fillRect/>
          </a:stretch>
        </p:blipFill>
        <p:spPr>
          <a:xfrm>
            <a:off x="0" y="109182"/>
            <a:ext cx="9144000" cy="6771094"/>
          </a:xfrm>
          <a:prstGeom prst="rect">
            <a:avLst/>
          </a:prstGeom>
        </p:spPr>
      </p:pic>
    </p:spTree>
    <p:extLst>
      <p:ext uri="{BB962C8B-B14F-4D97-AF65-F5344CB8AC3E}">
        <p14:creationId xmlns:p14="http://schemas.microsoft.com/office/powerpoint/2010/main" val="396193481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370"/>
        <p:cNvGrpSpPr/>
        <p:nvPr/>
      </p:nvGrpSpPr>
      <p:grpSpPr>
        <a:xfrm>
          <a:off x="0" y="0"/>
          <a:ext cx="0" cy="0"/>
          <a:chOff x="0" y="0"/>
          <a:chExt cx="0" cy="0"/>
        </a:xfrm>
      </p:grpSpPr>
      <p:sp>
        <p:nvSpPr>
          <p:cNvPr id="371" name="Google Shape;371;p19"/>
          <p:cNvSpPr txBox="1">
            <a:spLocks noGrp="1"/>
          </p:cNvSpPr>
          <p:nvPr>
            <p:ph type="title"/>
          </p:nvPr>
        </p:nvSpPr>
        <p:spPr>
          <a:xfrm>
            <a:off x="628650" y="365125"/>
            <a:ext cx="7886700" cy="8529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a:t>Pipeline</a:t>
            </a:r>
            <a:endParaRPr/>
          </a:p>
        </p:txBody>
      </p:sp>
      <p:sp>
        <p:nvSpPr>
          <p:cNvPr id="372" name="Google Shape;372;p19"/>
          <p:cNvSpPr txBox="1">
            <a:spLocks noGrp="1"/>
          </p:cNvSpPr>
          <p:nvPr>
            <p:ph type="body" idx="1"/>
          </p:nvPr>
        </p:nvSpPr>
        <p:spPr>
          <a:xfrm>
            <a:off x="628650" y="1218025"/>
            <a:ext cx="7886700" cy="4959000"/>
          </a:xfrm>
          <a:prstGeom prst="rect">
            <a:avLst/>
          </a:prstGeom>
          <a:noFill/>
          <a:ln>
            <a:noFill/>
          </a:ln>
        </p:spPr>
        <p:txBody>
          <a:bodyPr spcFirstLastPara="1" wrap="square" lIns="91425" tIns="45700" rIns="91425" bIns="45700" anchor="t" anchorCtr="0">
            <a:normAutofit lnSpcReduction="10000"/>
          </a:bodyPr>
          <a:lstStyle/>
          <a:p>
            <a:pPr marL="228600" lvl="0" indent="-241934" algn="l" rtl="0">
              <a:lnSpc>
                <a:spcPct val="90000"/>
              </a:lnSpc>
              <a:spcBef>
                <a:spcPts val="0"/>
              </a:spcBef>
              <a:spcAft>
                <a:spcPts val="0"/>
              </a:spcAft>
              <a:buClr>
                <a:schemeClr val="dk1"/>
              </a:buClr>
              <a:buSzPts val="2800"/>
              <a:buChar char="•"/>
            </a:pPr>
            <a:r>
              <a:rPr lang="en-US"/>
              <a:t>In scikit-learn (sklearn), a pipeline is a sequence of data processing steps combined into a single object. </a:t>
            </a:r>
            <a:endParaRPr/>
          </a:p>
          <a:p>
            <a:pPr marL="228600" lvl="0" indent="-241934" algn="l" rtl="0">
              <a:lnSpc>
                <a:spcPct val="90000"/>
              </a:lnSpc>
              <a:spcBef>
                <a:spcPts val="1000"/>
              </a:spcBef>
              <a:spcAft>
                <a:spcPts val="0"/>
              </a:spcAft>
              <a:buClr>
                <a:schemeClr val="dk1"/>
              </a:buClr>
              <a:buSzPts val="2800"/>
              <a:buChar char="•"/>
            </a:pPr>
            <a:r>
              <a:rPr lang="en-US"/>
              <a:t>Pipeline allows you to sequentially apply a list of transformers to preprocess the data and, if desired, conclude the sequence with a final predictor for predictive modeling.</a:t>
            </a:r>
            <a:endParaRPr/>
          </a:p>
          <a:p>
            <a:pPr marL="228600" lvl="0" indent="-241934" algn="l" rtl="0">
              <a:lnSpc>
                <a:spcPct val="90000"/>
              </a:lnSpc>
              <a:spcBef>
                <a:spcPts val="1000"/>
              </a:spcBef>
              <a:spcAft>
                <a:spcPts val="0"/>
              </a:spcAft>
              <a:buClr>
                <a:schemeClr val="dk1"/>
              </a:buClr>
              <a:buSzPts val="2800"/>
              <a:buChar char="•"/>
            </a:pPr>
            <a:r>
              <a:rPr lang="en-US"/>
              <a:t>Pipelines are useful for encapsulating multiple preprocessing steps and modeling steps into a single entity, making it easier to manage and apply the entire workflow consistently. </a:t>
            </a:r>
            <a:endParaRPr/>
          </a:p>
          <a:p>
            <a:pPr marL="228600" lvl="0" indent="-241934" algn="l" rtl="0">
              <a:lnSpc>
                <a:spcPct val="90000"/>
              </a:lnSpc>
              <a:spcBef>
                <a:spcPts val="1000"/>
              </a:spcBef>
              <a:spcAft>
                <a:spcPts val="0"/>
              </a:spcAft>
              <a:buClr>
                <a:schemeClr val="dk1"/>
              </a:buClr>
              <a:buSzPts val="2800"/>
              <a:buChar char="•"/>
            </a:pPr>
            <a:r>
              <a:rPr lang="en-US"/>
              <a:t>This can include feature encoding, feature scaling, feature selection, model training, and prediction.</a:t>
            </a:r>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376"/>
        <p:cNvGrpSpPr/>
        <p:nvPr/>
      </p:nvGrpSpPr>
      <p:grpSpPr>
        <a:xfrm>
          <a:off x="0" y="0"/>
          <a:ext cx="0" cy="0"/>
          <a:chOff x="0" y="0"/>
          <a:chExt cx="0" cy="0"/>
        </a:xfrm>
      </p:grpSpPr>
      <p:sp>
        <p:nvSpPr>
          <p:cNvPr id="377" name="Google Shape;377;g30cda042f99_0_28"/>
          <p:cNvSpPr txBox="1">
            <a:spLocks noGrp="1"/>
          </p:cNvSpPr>
          <p:nvPr>
            <p:ph type="title"/>
          </p:nvPr>
        </p:nvSpPr>
        <p:spPr>
          <a:xfrm>
            <a:off x="628650" y="288925"/>
            <a:ext cx="7886700" cy="1005900"/>
          </a:xfrm>
          <a:prstGeom prst="rect">
            <a:avLst/>
          </a:prstGeom>
        </p:spPr>
        <p:txBody>
          <a:bodyPr spcFirstLastPara="1" wrap="square" lIns="91425" tIns="45700" rIns="91425" bIns="45700" anchor="ctr" anchorCtr="0">
            <a:normAutofit/>
          </a:bodyPr>
          <a:lstStyle/>
          <a:p>
            <a:pPr marL="0" lvl="0" indent="0" algn="l" rtl="0">
              <a:spcBef>
                <a:spcPts val="0"/>
              </a:spcBef>
              <a:spcAft>
                <a:spcPts val="0"/>
              </a:spcAft>
              <a:buNone/>
            </a:pPr>
            <a:r>
              <a:rPr lang="en-US"/>
              <a:t>Pipeline (Example)</a:t>
            </a:r>
            <a:endParaRPr/>
          </a:p>
        </p:txBody>
      </p:sp>
      <p:sp>
        <p:nvSpPr>
          <p:cNvPr id="378" name="Google Shape;378;g30cda042f99_0_28"/>
          <p:cNvSpPr txBox="1">
            <a:spLocks noGrp="1"/>
          </p:cNvSpPr>
          <p:nvPr>
            <p:ph type="body" idx="1"/>
          </p:nvPr>
        </p:nvSpPr>
        <p:spPr>
          <a:xfrm>
            <a:off x="628650" y="1371025"/>
            <a:ext cx="7886700" cy="5156400"/>
          </a:xfrm>
          <a:prstGeom prst="rect">
            <a:avLst/>
          </a:prstGeom>
        </p:spPr>
        <p:txBody>
          <a:bodyPr spcFirstLastPara="1" wrap="square" lIns="91425" tIns="45700" rIns="91425" bIns="45700" anchor="t" anchorCtr="0">
            <a:normAutofit fontScale="77500" lnSpcReduction="20000"/>
          </a:bodyPr>
          <a:lstStyle/>
          <a:p>
            <a:pPr marL="0" lvl="0" indent="0" algn="l" rtl="0">
              <a:spcBef>
                <a:spcPts val="1000"/>
              </a:spcBef>
              <a:spcAft>
                <a:spcPts val="0"/>
              </a:spcAft>
              <a:buClr>
                <a:schemeClr val="dk1"/>
              </a:buClr>
              <a:buSzPct val="39285"/>
              <a:buFont typeface="Arial"/>
              <a:buNone/>
            </a:pPr>
            <a:r>
              <a:rPr lang="en-US"/>
              <a:t># Sample DataFrame</a:t>
            </a:r>
            <a:endParaRPr/>
          </a:p>
          <a:p>
            <a:pPr marL="0" lvl="0" indent="0" algn="l" rtl="0">
              <a:spcBef>
                <a:spcPts val="1000"/>
              </a:spcBef>
              <a:spcAft>
                <a:spcPts val="0"/>
              </a:spcAft>
              <a:buClr>
                <a:schemeClr val="dk1"/>
              </a:buClr>
              <a:buSzPct val="39285"/>
              <a:buFont typeface="Arial"/>
              <a:buNone/>
            </a:pPr>
            <a:r>
              <a:rPr lang="en-US"/>
              <a:t>data = pd.DataFrame({</a:t>
            </a:r>
            <a:endParaRPr/>
          </a:p>
          <a:p>
            <a:pPr marL="0" lvl="0" indent="0" algn="l" rtl="0">
              <a:spcBef>
                <a:spcPts val="1000"/>
              </a:spcBef>
              <a:spcAft>
                <a:spcPts val="0"/>
              </a:spcAft>
              <a:buClr>
                <a:schemeClr val="dk1"/>
              </a:buClr>
              <a:buSzPct val="39285"/>
              <a:buFont typeface="Arial"/>
              <a:buNone/>
            </a:pPr>
            <a:r>
              <a:rPr lang="en-US"/>
              <a:t>    'Age': [22, None, 24, 22, None, 24],</a:t>
            </a:r>
            <a:endParaRPr/>
          </a:p>
          <a:p>
            <a:pPr marL="0" lvl="0" indent="0" algn="l" rtl="0">
              <a:spcBef>
                <a:spcPts val="1000"/>
              </a:spcBef>
              <a:spcAft>
                <a:spcPts val="0"/>
              </a:spcAft>
              <a:buClr>
                <a:schemeClr val="dk1"/>
              </a:buClr>
              <a:buSzPct val="39285"/>
              <a:buFont typeface="Arial"/>
              <a:buNone/>
            </a:pPr>
            <a:r>
              <a:rPr lang="en-US"/>
              <a:t>    'Sex': ['male', 'female', 'female','male', 'female', 'female'],</a:t>
            </a:r>
            <a:endParaRPr/>
          </a:p>
          <a:p>
            <a:pPr marL="0" lvl="0" indent="0" algn="l" rtl="0">
              <a:spcBef>
                <a:spcPts val="1000"/>
              </a:spcBef>
              <a:spcAft>
                <a:spcPts val="0"/>
              </a:spcAft>
              <a:buClr>
                <a:schemeClr val="dk1"/>
              </a:buClr>
              <a:buSzPct val="39285"/>
              <a:buFont typeface="Arial"/>
              <a:buNone/>
            </a:pPr>
            <a:r>
              <a:rPr lang="en-US"/>
              <a:t>    'Embarked': ['B', 'B', 'C',None, 'C','S'],  </a:t>
            </a:r>
            <a:endParaRPr/>
          </a:p>
          <a:p>
            <a:pPr marL="0" lvl="0" indent="0" algn="l" rtl="0">
              <a:spcBef>
                <a:spcPts val="1000"/>
              </a:spcBef>
              <a:spcAft>
                <a:spcPts val="0"/>
              </a:spcAft>
              <a:buClr>
                <a:schemeClr val="dk1"/>
              </a:buClr>
              <a:buSzPct val="39285"/>
              <a:buFont typeface="Arial"/>
              <a:buNone/>
            </a:pPr>
            <a:r>
              <a:rPr lang="en-US"/>
              <a:t>    'Fare': [7.25, 71.83, 8.05,7.25, 71.83, 8.05]</a:t>
            </a:r>
            <a:endParaRPr/>
          </a:p>
          <a:p>
            <a:pPr marL="0" lvl="0" indent="0" algn="l" rtl="0">
              <a:spcBef>
                <a:spcPts val="1000"/>
              </a:spcBef>
              <a:spcAft>
                <a:spcPts val="0"/>
              </a:spcAft>
              <a:buNone/>
            </a:pPr>
            <a:r>
              <a:rPr lang="en-US"/>
              <a:t>})</a:t>
            </a:r>
            <a:endParaRPr/>
          </a:p>
          <a:p>
            <a:pPr marL="0" lvl="0" indent="0" algn="l" rtl="0">
              <a:spcBef>
                <a:spcPts val="1000"/>
              </a:spcBef>
              <a:spcAft>
                <a:spcPts val="0"/>
              </a:spcAft>
              <a:buClr>
                <a:schemeClr val="dk1"/>
              </a:buClr>
              <a:buSzPct val="39285"/>
              <a:buFont typeface="Arial"/>
              <a:buNone/>
            </a:pPr>
            <a:endParaRPr/>
          </a:p>
          <a:p>
            <a:pPr marL="0" lvl="0" indent="0" algn="l" rtl="0">
              <a:spcBef>
                <a:spcPts val="1000"/>
              </a:spcBef>
              <a:spcAft>
                <a:spcPts val="0"/>
              </a:spcAft>
              <a:buClr>
                <a:schemeClr val="dk1"/>
              </a:buClr>
              <a:buSzPct val="39285"/>
              <a:buFont typeface="Arial"/>
              <a:buNone/>
            </a:pPr>
            <a:r>
              <a:rPr lang="en-US"/>
              <a:t># Custom function to impute 'Embarked'</a:t>
            </a:r>
            <a:endParaRPr/>
          </a:p>
          <a:p>
            <a:pPr marL="0" lvl="0" indent="0" algn="l" rtl="0">
              <a:spcBef>
                <a:spcPts val="1000"/>
              </a:spcBef>
              <a:spcAft>
                <a:spcPts val="0"/>
              </a:spcAft>
              <a:buClr>
                <a:schemeClr val="dk1"/>
              </a:buClr>
              <a:buSzPct val="39285"/>
              <a:buFont typeface="Arial"/>
              <a:buNone/>
            </a:pPr>
            <a:r>
              <a:rPr lang="en-US"/>
              <a:t>def impute_embarked(X):</a:t>
            </a:r>
            <a:endParaRPr/>
          </a:p>
          <a:p>
            <a:pPr marL="0" lvl="0" indent="0" algn="l" rtl="0">
              <a:spcBef>
                <a:spcPts val="1000"/>
              </a:spcBef>
              <a:spcAft>
                <a:spcPts val="0"/>
              </a:spcAft>
              <a:buClr>
                <a:schemeClr val="dk1"/>
              </a:buClr>
              <a:buSzPct val="39285"/>
              <a:buFont typeface="Arial"/>
              <a:buNone/>
            </a:pPr>
            <a:r>
              <a:rPr lang="en-US"/>
              <a:t>    X['Embarked'] = X['Embarked'].fillna(X['Embarked'].mode()[0])  </a:t>
            </a:r>
            <a:endParaRPr/>
          </a:p>
          <a:p>
            <a:pPr marL="0" lvl="0" indent="0" algn="l" rtl="0">
              <a:spcBef>
                <a:spcPts val="1000"/>
              </a:spcBef>
              <a:spcAft>
                <a:spcPts val="0"/>
              </a:spcAft>
              <a:buClr>
                <a:schemeClr val="dk1"/>
              </a:buClr>
              <a:buSzPct val="39285"/>
              <a:buFont typeface="Arial"/>
              <a:buNone/>
            </a:pPr>
            <a:r>
              <a:rPr lang="en-US"/>
              <a:t>    return X</a:t>
            </a:r>
            <a:endParaRPr/>
          </a:p>
          <a:p>
            <a:pPr marL="0" lvl="0" indent="0" algn="l" rtl="0">
              <a:spcBef>
                <a:spcPts val="1000"/>
              </a:spcBef>
              <a:spcAft>
                <a:spcPts val="0"/>
              </a:spcAft>
              <a:buClr>
                <a:schemeClr val="dk1"/>
              </a:buClr>
              <a:buSzPct val="39285"/>
              <a:buFont typeface="Arial"/>
              <a:buNone/>
            </a:pPr>
            <a:r>
              <a:rPr lang="en-US"/>
              <a:t>#Apply ColumnTransformer</a:t>
            </a:r>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382"/>
        <p:cNvGrpSpPr/>
        <p:nvPr/>
      </p:nvGrpSpPr>
      <p:grpSpPr>
        <a:xfrm>
          <a:off x="0" y="0"/>
          <a:ext cx="0" cy="0"/>
          <a:chOff x="0" y="0"/>
          <a:chExt cx="0" cy="0"/>
        </a:xfrm>
      </p:grpSpPr>
      <p:sp>
        <p:nvSpPr>
          <p:cNvPr id="383" name="Google Shape;383;g30cda042f99_0_34"/>
          <p:cNvSpPr txBox="1">
            <a:spLocks noGrp="1"/>
          </p:cNvSpPr>
          <p:nvPr>
            <p:ph type="title"/>
          </p:nvPr>
        </p:nvSpPr>
        <p:spPr>
          <a:xfrm>
            <a:off x="628650" y="212725"/>
            <a:ext cx="7886700" cy="988800"/>
          </a:xfrm>
          <a:prstGeom prst="rect">
            <a:avLst/>
          </a:prstGeom>
        </p:spPr>
        <p:txBody>
          <a:bodyPr spcFirstLastPara="1" wrap="square" lIns="91425" tIns="45700" rIns="91425" bIns="45700" anchor="ctr" anchorCtr="0">
            <a:normAutofit/>
          </a:bodyPr>
          <a:lstStyle/>
          <a:p>
            <a:pPr marL="0" lvl="0" indent="0" algn="l" rtl="0">
              <a:spcBef>
                <a:spcPts val="0"/>
              </a:spcBef>
              <a:spcAft>
                <a:spcPts val="0"/>
              </a:spcAft>
              <a:buNone/>
            </a:pPr>
            <a:r>
              <a:rPr lang="en-US"/>
              <a:t>Pipeline Example (Contd..)</a:t>
            </a:r>
            <a:endParaRPr/>
          </a:p>
        </p:txBody>
      </p:sp>
      <p:sp>
        <p:nvSpPr>
          <p:cNvPr id="384" name="Google Shape;384;g30cda042f99_0_34"/>
          <p:cNvSpPr txBox="1">
            <a:spLocks noGrp="1"/>
          </p:cNvSpPr>
          <p:nvPr>
            <p:ph type="body" idx="1"/>
          </p:nvPr>
        </p:nvSpPr>
        <p:spPr>
          <a:xfrm>
            <a:off x="628650" y="1201525"/>
            <a:ext cx="7886700" cy="5394000"/>
          </a:xfrm>
          <a:prstGeom prst="rect">
            <a:avLst/>
          </a:prstGeom>
        </p:spPr>
        <p:txBody>
          <a:bodyPr spcFirstLastPara="1" wrap="square" lIns="91425" tIns="45700" rIns="91425" bIns="45700" anchor="t" anchorCtr="0">
            <a:normAutofit fontScale="85000" lnSpcReduction="10000"/>
          </a:bodyPr>
          <a:lstStyle/>
          <a:p>
            <a:pPr marL="0" lvl="0" indent="0" algn="l" rtl="0">
              <a:lnSpc>
                <a:spcPct val="131250"/>
              </a:lnSpc>
              <a:spcBef>
                <a:spcPts val="0"/>
              </a:spcBef>
              <a:spcAft>
                <a:spcPts val="0"/>
              </a:spcAft>
              <a:buClr>
                <a:schemeClr val="dk1"/>
              </a:buClr>
              <a:buSzPct val="39285"/>
              <a:buFont typeface="Arial"/>
              <a:buNone/>
            </a:pPr>
            <a:r>
              <a:rPr lang="en-US">
                <a:solidFill>
                  <a:srgbClr val="FF0000"/>
                </a:solidFill>
              </a:rPr>
              <a:t>preprocessor = ColumnTransformer(transformers=[</a:t>
            </a:r>
            <a:endParaRPr>
              <a:solidFill>
                <a:srgbClr val="FF0000"/>
              </a:solidFill>
            </a:endParaRPr>
          </a:p>
          <a:p>
            <a:pPr marL="0" lvl="0" indent="0" algn="l" rtl="0">
              <a:lnSpc>
                <a:spcPct val="131250"/>
              </a:lnSpc>
              <a:spcBef>
                <a:spcPts val="0"/>
              </a:spcBef>
              <a:spcAft>
                <a:spcPts val="0"/>
              </a:spcAft>
              <a:buClr>
                <a:schemeClr val="dk1"/>
              </a:buClr>
              <a:buSzPct val="39285"/>
              <a:buFont typeface="Arial"/>
              <a:buNone/>
            </a:pPr>
            <a:r>
              <a:rPr lang="en-US">
                <a:solidFill>
                  <a:srgbClr val="FF0000"/>
                </a:solidFill>
              </a:rPr>
              <a:t>    ('age_imputer', SimpleImputer(strategy='mean'), ['Age']),</a:t>
            </a:r>
            <a:endParaRPr>
              <a:solidFill>
                <a:srgbClr val="FF0000"/>
              </a:solidFill>
            </a:endParaRPr>
          </a:p>
          <a:p>
            <a:pPr marL="0" lvl="0" indent="0" algn="l" rtl="0">
              <a:lnSpc>
                <a:spcPct val="131250"/>
              </a:lnSpc>
              <a:spcBef>
                <a:spcPts val="0"/>
              </a:spcBef>
              <a:spcAft>
                <a:spcPts val="0"/>
              </a:spcAft>
              <a:buClr>
                <a:schemeClr val="dk1"/>
              </a:buClr>
              <a:buSzPct val="39285"/>
              <a:buFont typeface="Arial"/>
              <a:buNone/>
            </a:pPr>
            <a:r>
              <a:rPr lang="en-US">
                <a:solidFill>
                  <a:srgbClr val="FF0000"/>
                </a:solidFill>
              </a:rPr>
              <a:t>    ('embarked_encoder', Pipeline(steps=[</a:t>
            </a:r>
            <a:endParaRPr>
              <a:solidFill>
                <a:srgbClr val="FF0000"/>
              </a:solidFill>
            </a:endParaRPr>
          </a:p>
          <a:p>
            <a:pPr marL="0" lvl="0" indent="0" algn="l" rtl="0">
              <a:lnSpc>
                <a:spcPct val="131250"/>
              </a:lnSpc>
              <a:spcBef>
                <a:spcPts val="0"/>
              </a:spcBef>
              <a:spcAft>
                <a:spcPts val="0"/>
              </a:spcAft>
              <a:buClr>
                <a:schemeClr val="dk1"/>
              </a:buClr>
              <a:buSzPct val="39285"/>
              <a:buFont typeface="Arial"/>
              <a:buNone/>
            </a:pPr>
            <a:r>
              <a:rPr lang="en-US">
                <a:solidFill>
                  <a:srgbClr val="FF0000"/>
                </a:solidFill>
              </a:rPr>
              <a:t>        ('imputer', FunctionTransformer(impute_embarked)), </a:t>
            </a:r>
            <a:endParaRPr>
              <a:solidFill>
                <a:srgbClr val="FF0000"/>
              </a:solidFill>
            </a:endParaRPr>
          </a:p>
          <a:p>
            <a:pPr marL="0" lvl="0" indent="0" algn="l" rtl="0">
              <a:lnSpc>
                <a:spcPct val="131250"/>
              </a:lnSpc>
              <a:spcBef>
                <a:spcPts val="0"/>
              </a:spcBef>
              <a:spcAft>
                <a:spcPts val="0"/>
              </a:spcAft>
              <a:buClr>
                <a:schemeClr val="dk1"/>
              </a:buClr>
              <a:buSzPct val="39285"/>
              <a:buFont typeface="Arial"/>
              <a:buNone/>
            </a:pPr>
            <a:r>
              <a:rPr lang="en-US">
                <a:solidFill>
                  <a:srgbClr val="FF0000"/>
                </a:solidFill>
              </a:rPr>
              <a:t>        ('onehot', OneHotEncoder())            </a:t>
            </a:r>
            <a:endParaRPr>
              <a:solidFill>
                <a:srgbClr val="FF0000"/>
              </a:solidFill>
            </a:endParaRPr>
          </a:p>
          <a:p>
            <a:pPr marL="0" lvl="0" indent="0" algn="l" rtl="0">
              <a:lnSpc>
                <a:spcPct val="131250"/>
              </a:lnSpc>
              <a:spcBef>
                <a:spcPts val="0"/>
              </a:spcBef>
              <a:spcAft>
                <a:spcPts val="0"/>
              </a:spcAft>
              <a:buClr>
                <a:schemeClr val="dk1"/>
              </a:buClr>
              <a:buSzPct val="39285"/>
              <a:buFont typeface="Arial"/>
              <a:buNone/>
            </a:pPr>
            <a:r>
              <a:rPr lang="en-US">
                <a:solidFill>
                  <a:srgbClr val="FF0000"/>
                </a:solidFill>
              </a:rPr>
              <a:t>    ]), ['Embarked']),</a:t>
            </a:r>
            <a:endParaRPr>
              <a:solidFill>
                <a:srgbClr val="FF0000"/>
              </a:solidFill>
            </a:endParaRPr>
          </a:p>
          <a:p>
            <a:pPr marL="0" lvl="0" indent="0" algn="l" rtl="0">
              <a:lnSpc>
                <a:spcPct val="131250"/>
              </a:lnSpc>
              <a:spcBef>
                <a:spcPts val="0"/>
              </a:spcBef>
              <a:spcAft>
                <a:spcPts val="0"/>
              </a:spcAft>
              <a:buClr>
                <a:schemeClr val="dk1"/>
              </a:buClr>
              <a:buSzPct val="39285"/>
              <a:buFont typeface="Arial"/>
              <a:buNone/>
            </a:pPr>
            <a:r>
              <a:rPr lang="en-US">
                <a:solidFill>
                  <a:srgbClr val="FF0000"/>
                </a:solidFill>
              </a:rPr>
              <a:t>    ('ohe', OneHotEncoder(), ['Sex'])</a:t>
            </a:r>
            <a:endParaRPr>
              <a:solidFill>
                <a:srgbClr val="FF0000"/>
              </a:solidFill>
            </a:endParaRPr>
          </a:p>
          <a:p>
            <a:pPr marL="0" lvl="0" indent="0" algn="l" rtl="0">
              <a:lnSpc>
                <a:spcPct val="131250"/>
              </a:lnSpc>
              <a:spcBef>
                <a:spcPts val="0"/>
              </a:spcBef>
              <a:spcAft>
                <a:spcPts val="0"/>
              </a:spcAft>
              <a:buClr>
                <a:schemeClr val="dk1"/>
              </a:buClr>
              <a:buSzPct val="39285"/>
              <a:buFont typeface="Arial"/>
              <a:buNone/>
            </a:pPr>
            <a:r>
              <a:rPr lang="en-US">
                <a:solidFill>
                  <a:srgbClr val="FF0000"/>
                </a:solidFill>
              </a:rPr>
              <a:t>], remainder='passthrough')</a:t>
            </a:r>
            <a:r>
              <a:rPr lang="en-US"/>
              <a:t>  # Pass through other columns like 'Fare'</a:t>
            </a:r>
            <a:endParaRPr/>
          </a:p>
          <a:p>
            <a:pPr marL="0" lvl="0" indent="0" algn="l" rtl="0">
              <a:lnSpc>
                <a:spcPct val="131250"/>
              </a:lnSpc>
              <a:spcBef>
                <a:spcPts val="0"/>
              </a:spcBef>
              <a:spcAft>
                <a:spcPts val="0"/>
              </a:spcAft>
              <a:buClr>
                <a:schemeClr val="dk1"/>
              </a:buClr>
              <a:buSzPct val="39285"/>
              <a:buFont typeface="Arial"/>
              <a:buNone/>
            </a:pPr>
            <a:endParaRPr>
              <a:solidFill>
                <a:srgbClr val="FF0000"/>
              </a:solidFill>
            </a:endParaRPr>
          </a:p>
          <a:p>
            <a:pPr marL="0" lvl="0" indent="0" algn="l" rtl="0">
              <a:spcBef>
                <a:spcPts val="1000"/>
              </a:spcBef>
              <a:spcAft>
                <a:spcPts val="0"/>
              </a:spcAft>
              <a:buClr>
                <a:schemeClr val="dk1"/>
              </a:buClr>
              <a:buSzPct val="39285"/>
              <a:buFont typeface="Arial"/>
              <a:buNone/>
            </a:pPr>
            <a:r>
              <a:rPr lang="en-US"/>
              <a:t># Transform the data</a:t>
            </a:r>
            <a:endParaRPr/>
          </a:p>
          <a:p>
            <a:pPr marL="0" lvl="0" indent="0" algn="l" rtl="0">
              <a:spcBef>
                <a:spcPts val="1000"/>
              </a:spcBef>
              <a:spcAft>
                <a:spcPts val="0"/>
              </a:spcAft>
              <a:buClr>
                <a:schemeClr val="dk1"/>
              </a:buClr>
              <a:buSzPct val="39285"/>
              <a:buFont typeface="Arial"/>
              <a:buNone/>
            </a:pPr>
            <a:r>
              <a:rPr lang="en-US"/>
              <a:t>transformed_data = preprocessor.fit_transform(data)</a:t>
            </a:r>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388"/>
        <p:cNvGrpSpPr/>
        <p:nvPr/>
      </p:nvGrpSpPr>
      <p:grpSpPr>
        <a:xfrm>
          <a:off x="0" y="0"/>
          <a:ext cx="0" cy="0"/>
          <a:chOff x="0" y="0"/>
          <a:chExt cx="0" cy="0"/>
        </a:xfrm>
      </p:grpSpPr>
      <p:sp>
        <p:nvSpPr>
          <p:cNvPr id="389" name="Google Shape;389;g30dd930e3ce_0_18"/>
          <p:cNvSpPr txBox="1">
            <a:spLocks noGrp="1"/>
          </p:cNvSpPr>
          <p:nvPr>
            <p:ph type="title"/>
          </p:nvPr>
        </p:nvSpPr>
        <p:spPr>
          <a:xfrm>
            <a:off x="628650" y="60325"/>
            <a:ext cx="7886700" cy="716700"/>
          </a:xfrm>
          <a:prstGeom prst="rect">
            <a:avLst/>
          </a:prstGeom>
        </p:spPr>
        <p:txBody>
          <a:bodyPr spcFirstLastPara="1" wrap="square" lIns="91425" tIns="45700" rIns="91425" bIns="45700" anchor="ctr" anchorCtr="0">
            <a:normAutofit/>
          </a:bodyPr>
          <a:lstStyle/>
          <a:p>
            <a:pPr marL="0" lvl="0" indent="0" algn="l" rtl="0">
              <a:spcBef>
                <a:spcPts val="0"/>
              </a:spcBef>
              <a:spcAft>
                <a:spcPts val="0"/>
              </a:spcAft>
              <a:buNone/>
            </a:pPr>
            <a:r>
              <a:rPr lang="en-US"/>
              <a:t>Output</a:t>
            </a:r>
            <a:endParaRPr/>
          </a:p>
        </p:txBody>
      </p:sp>
      <p:sp>
        <p:nvSpPr>
          <p:cNvPr id="390" name="Google Shape;390;g30dd930e3ce_0_18"/>
          <p:cNvSpPr txBox="1">
            <a:spLocks noGrp="1"/>
          </p:cNvSpPr>
          <p:nvPr>
            <p:ph type="body" idx="1"/>
          </p:nvPr>
        </p:nvSpPr>
        <p:spPr>
          <a:xfrm>
            <a:off x="628650" y="853225"/>
            <a:ext cx="7886700" cy="5844300"/>
          </a:xfrm>
          <a:prstGeom prst="rect">
            <a:avLst/>
          </a:prstGeom>
        </p:spPr>
        <p:txBody>
          <a:bodyPr spcFirstLastPara="1" wrap="square" lIns="91425" tIns="45700" rIns="91425" bIns="45700" anchor="t" anchorCtr="0">
            <a:normAutofit fontScale="62500" lnSpcReduction="20000"/>
          </a:bodyPr>
          <a:lstStyle/>
          <a:p>
            <a:pPr marL="0" marR="0" lvl="0" indent="0" algn="l" rtl="0">
              <a:lnSpc>
                <a:spcPct val="90000"/>
              </a:lnSpc>
              <a:spcBef>
                <a:spcPts val="1000"/>
              </a:spcBef>
              <a:spcAft>
                <a:spcPts val="0"/>
              </a:spcAft>
              <a:buNone/>
            </a:pPr>
            <a:r>
              <a:rPr lang="en-US"/>
              <a:t>Original DataFrame:</a:t>
            </a:r>
            <a:endParaRPr/>
          </a:p>
          <a:p>
            <a:pPr marL="0" marR="0" lvl="0" indent="0" algn="l" rtl="0">
              <a:lnSpc>
                <a:spcPct val="90000"/>
              </a:lnSpc>
              <a:spcBef>
                <a:spcPts val="1000"/>
              </a:spcBef>
              <a:spcAft>
                <a:spcPts val="0"/>
              </a:spcAft>
              <a:buNone/>
            </a:pPr>
            <a:r>
              <a:rPr lang="en-US"/>
              <a:t>    Age     Sex Embarked   Fare</a:t>
            </a:r>
            <a:endParaRPr/>
          </a:p>
          <a:p>
            <a:pPr marL="0" marR="0" lvl="0" indent="0" algn="l" rtl="0">
              <a:lnSpc>
                <a:spcPct val="90000"/>
              </a:lnSpc>
              <a:spcBef>
                <a:spcPts val="1000"/>
              </a:spcBef>
              <a:spcAft>
                <a:spcPts val="0"/>
              </a:spcAft>
              <a:buNone/>
            </a:pPr>
            <a:r>
              <a:rPr lang="en-US"/>
              <a:t>0  22.0    male        B   7.25</a:t>
            </a:r>
            <a:endParaRPr/>
          </a:p>
          <a:p>
            <a:pPr marL="0" marR="0" lvl="0" indent="0" algn="l" rtl="0">
              <a:lnSpc>
                <a:spcPct val="90000"/>
              </a:lnSpc>
              <a:spcBef>
                <a:spcPts val="1000"/>
              </a:spcBef>
              <a:spcAft>
                <a:spcPts val="0"/>
              </a:spcAft>
              <a:buNone/>
            </a:pPr>
            <a:r>
              <a:rPr lang="en-US"/>
              <a:t>1   NaN  female        B  71.83</a:t>
            </a:r>
            <a:endParaRPr/>
          </a:p>
          <a:p>
            <a:pPr marL="0" marR="0" lvl="0" indent="0" algn="l" rtl="0">
              <a:lnSpc>
                <a:spcPct val="90000"/>
              </a:lnSpc>
              <a:spcBef>
                <a:spcPts val="1000"/>
              </a:spcBef>
              <a:spcAft>
                <a:spcPts val="0"/>
              </a:spcAft>
              <a:buNone/>
            </a:pPr>
            <a:r>
              <a:rPr lang="en-US"/>
              <a:t>2  24.0  female        C   8.05</a:t>
            </a:r>
            <a:endParaRPr/>
          </a:p>
          <a:p>
            <a:pPr marL="0" marR="0" lvl="0" indent="0" algn="l" rtl="0">
              <a:lnSpc>
                <a:spcPct val="90000"/>
              </a:lnSpc>
              <a:spcBef>
                <a:spcPts val="1000"/>
              </a:spcBef>
              <a:spcAft>
                <a:spcPts val="0"/>
              </a:spcAft>
              <a:buNone/>
            </a:pPr>
            <a:r>
              <a:rPr lang="en-US"/>
              <a:t>3  22.0    male        C   7.25</a:t>
            </a:r>
            <a:endParaRPr/>
          </a:p>
          <a:p>
            <a:pPr marL="0" marR="0" lvl="0" indent="0" algn="l" rtl="0">
              <a:lnSpc>
                <a:spcPct val="90000"/>
              </a:lnSpc>
              <a:spcBef>
                <a:spcPts val="1000"/>
              </a:spcBef>
              <a:spcAft>
                <a:spcPts val="0"/>
              </a:spcAft>
              <a:buNone/>
            </a:pPr>
            <a:r>
              <a:rPr lang="en-US"/>
              <a:t>4   NaN  female        C  71.83</a:t>
            </a:r>
            <a:endParaRPr/>
          </a:p>
          <a:p>
            <a:pPr marL="0" marR="0" lvl="0" indent="0" algn="l" rtl="0">
              <a:lnSpc>
                <a:spcPct val="90000"/>
              </a:lnSpc>
              <a:spcBef>
                <a:spcPts val="1000"/>
              </a:spcBef>
              <a:spcAft>
                <a:spcPts val="0"/>
              </a:spcAft>
              <a:buNone/>
            </a:pPr>
            <a:r>
              <a:rPr lang="en-US"/>
              <a:t>5  24.0  female        S   8.05</a:t>
            </a:r>
            <a:endParaRPr/>
          </a:p>
          <a:p>
            <a:pPr marL="0" marR="0" lvl="0" indent="0" algn="l" rtl="0">
              <a:lnSpc>
                <a:spcPct val="90000"/>
              </a:lnSpc>
              <a:spcBef>
                <a:spcPts val="1000"/>
              </a:spcBef>
              <a:spcAft>
                <a:spcPts val="0"/>
              </a:spcAft>
              <a:buNone/>
            </a:pPr>
            <a:endParaRPr/>
          </a:p>
          <a:p>
            <a:pPr marL="0" marR="0" lvl="0" indent="0" algn="l" rtl="0">
              <a:lnSpc>
                <a:spcPct val="90000"/>
              </a:lnSpc>
              <a:spcBef>
                <a:spcPts val="1000"/>
              </a:spcBef>
              <a:spcAft>
                <a:spcPts val="0"/>
              </a:spcAft>
              <a:buNone/>
            </a:pPr>
            <a:r>
              <a:rPr lang="en-US"/>
              <a:t>Transformed Data Shape:</a:t>
            </a:r>
            <a:endParaRPr/>
          </a:p>
          <a:p>
            <a:pPr marL="0" marR="0" lvl="0" indent="0" algn="l" rtl="0">
              <a:lnSpc>
                <a:spcPct val="90000"/>
              </a:lnSpc>
              <a:spcBef>
                <a:spcPts val="1000"/>
              </a:spcBef>
              <a:spcAft>
                <a:spcPts val="0"/>
              </a:spcAft>
              <a:buNone/>
            </a:pPr>
            <a:r>
              <a:rPr lang="en-US"/>
              <a:t>(6, 7)</a:t>
            </a:r>
            <a:endParaRPr/>
          </a:p>
          <a:p>
            <a:pPr marL="0" marR="0" lvl="0" indent="0" algn="l" rtl="0">
              <a:lnSpc>
                <a:spcPct val="90000"/>
              </a:lnSpc>
              <a:spcBef>
                <a:spcPts val="1000"/>
              </a:spcBef>
              <a:spcAft>
                <a:spcPts val="0"/>
              </a:spcAft>
              <a:buNone/>
            </a:pPr>
            <a:r>
              <a:rPr lang="en-US"/>
              <a:t>[[22.    1.    0.    0.    0.    1.    7.25]</a:t>
            </a:r>
            <a:endParaRPr/>
          </a:p>
          <a:p>
            <a:pPr marL="0" marR="0" lvl="0" indent="0" algn="l" rtl="0">
              <a:lnSpc>
                <a:spcPct val="90000"/>
              </a:lnSpc>
              <a:spcBef>
                <a:spcPts val="1000"/>
              </a:spcBef>
              <a:spcAft>
                <a:spcPts val="0"/>
              </a:spcAft>
              <a:buNone/>
            </a:pPr>
            <a:r>
              <a:rPr lang="en-US"/>
              <a:t> [23.    1.    0.    0.    1.    0.   71.83]</a:t>
            </a:r>
            <a:endParaRPr/>
          </a:p>
          <a:p>
            <a:pPr marL="0" marR="0" lvl="0" indent="0" algn="l" rtl="0">
              <a:lnSpc>
                <a:spcPct val="90000"/>
              </a:lnSpc>
              <a:spcBef>
                <a:spcPts val="1000"/>
              </a:spcBef>
              <a:spcAft>
                <a:spcPts val="0"/>
              </a:spcAft>
              <a:buNone/>
            </a:pPr>
            <a:r>
              <a:rPr lang="en-US"/>
              <a:t> [24.    0.    1.    0.    1.    0.    8.05]</a:t>
            </a:r>
            <a:endParaRPr/>
          </a:p>
          <a:p>
            <a:pPr marL="0" marR="0" lvl="0" indent="0" algn="l" rtl="0">
              <a:lnSpc>
                <a:spcPct val="90000"/>
              </a:lnSpc>
              <a:spcBef>
                <a:spcPts val="1000"/>
              </a:spcBef>
              <a:spcAft>
                <a:spcPts val="0"/>
              </a:spcAft>
              <a:buNone/>
            </a:pPr>
            <a:r>
              <a:rPr lang="en-US"/>
              <a:t> [22.    0.    1.    0.    0.    1.    7.25]</a:t>
            </a:r>
            <a:endParaRPr/>
          </a:p>
          <a:p>
            <a:pPr marL="0" marR="0" lvl="0" indent="0" algn="l" rtl="0">
              <a:lnSpc>
                <a:spcPct val="90000"/>
              </a:lnSpc>
              <a:spcBef>
                <a:spcPts val="1000"/>
              </a:spcBef>
              <a:spcAft>
                <a:spcPts val="0"/>
              </a:spcAft>
              <a:buNone/>
            </a:pPr>
            <a:r>
              <a:rPr lang="en-US"/>
              <a:t> [23.    0.    1.    0.    1.    0.   71.83]</a:t>
            </a:r>
            <a:endParaRPr/>
          </a:p>
          <a:p>
            <a:pPr marL="0" marR="0" lvl="0" indent="0" algn="l" rtl="0">
              <a:lnSpc>
                <a:spcPct val="90000"/>
              </a:lnSpc>
              <a:spcBef>
                <a:spcPts val="1000"/>
              </a:spcBef>
              <a:spcAft>
                <a:spcPts val="0"/>
              </a:spcAft>
              <a:buNone/>
            </a:pPr>
            <a:r>
              <a:rPr lang="en-US"/>
              <a:t> [24.    0.    0.    1.    1.    0.    8.05]]</a:t>
            </a:r>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395"/>
        <p:cNvGrpSpPr/>
        <p:nvPr/>
      </p:nvGrpSpPr>
      <p:grpSpPr>
        <a:xfrm>
          <a:off x="0" y="0"/>
          <a:ext cx="0" cy="0"/>
          <a:chOff x="0" y="0"/>
          <a:chExt cx="0" cy="0"/>
        </a:xfrm>
      </p:grpSpPr>
      <p:sp>
        <p:nvSpPr>
          <p:cNvPr id="396" name="Google Shape;396;g30dd930e3ce_0_25"/>
          <p:cNvSpPr txBox="1">
            <a:spLocks noGrp="1"/>
          </p:cNvSpPr>
          <p:nvPr>
            <p:ph type="title"/>
          </p:nvPr>
        </p:nvSpPr>
        <p:spPr>
          <a:xfrm>
            <a:off x="457200" y="76200"/>
            <a:ext cx="8229600" cy="7332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000"/>
              <a:buFont typeface="Calibri"/>
              <a:buNone/>
            </a:pPr>
            <a:r>
              <a:rPr lang="en-US" sz="4000"/>
              <a:t>Today’s Lecture</a:t>
            </a:r>
            <a:endParaRPr/>
          </a:p>
        </p:txBody>
      </p:sp>
      <p:sp>
        <p:nvSpPr>
          <p:cNvPr id="397" name="Google Shape;397;g30dd930e3ce_0_25"/>
          <p:cNvSpPr txBox="1">
            <a:spLocks noGrp="1"/>
          </p:cNvSpPr>
          <p:nvPr>
            <p:ph type="body" idx="1"/>
          </p:nvPr>
        </p:nvSpPr>
        <p:spPr>
          <a:xfrm>
            <a:off x="457200" y="894525"/>
            <a:ext cx="8229600" cy="5856900"/>
          </a:xfrm>
          <a:prstGeom prst="rect">
            <a:avLst/>
          </a:prstGeom>
          <a:noFill/>
          <a:ln>
            <a:noFill/>
          </a:ln>
        </p:spPr>
        <p:txBody>
          <a:bodyPr spcFirstLastPara="1" wrap="square" lIns="91425" tIns="45700" rIns="91425" bIns="45700" anchor="t" anchorCtr="0">
            <a:normAutofit fontScale="92500" lnSpcReduction="10000"/>
          </a:bodyPr>
          <a:lstStyle/>
          <a:p>
            <a:pPr marL="342900" lvl="0" indent="-342900" algn="l" rtl="0">
              <a:spcBef>
                <a:spcPts val="0"/>
              </a:spcBef>
              <a:spcAft>
                <a:spcPts val="0"/>
              </a:spcAft>
              <a:buClr>
                <a:schemeClr val="dk1"/>
              </a:buClr>
              <a:buSzPct val="100000"/>
              <a:buChar char="•"/>
            </a:pPr>
            <a:r>
              <a:rPr lang="en-US"/>
              <a:t>Exploratory Data Analysis (EDA)</a:t>
            </a:r>
            <a:endParaRPr/>
          </a:p>
          <a:p>
            <a:pPr marL="342900" marR="0" lvl="0" indent="-342900" algn="l" rtl="0">
              <a:lnSpc>
                <a:spcPct val="90000"/>
              </a:lnSpc>
              <a:spcBef>
                <a:spcPts val="0"/>
              </a:spcBef>
              <a:spcAft>
                <a:spcPts val="0"/>
              </a:spcAft>
              <a:buSzPct val="100000"/>
              <a:buChar char="•"/>
            </a:pPr>
            <a:r>
              <a:rPr lang="en-US"/>
              <a:t>EDA and Machine Learning Pipeline</a:t>
            </a:r>
            <a:endParaRPr/>
          </a:p>
          <a:p>
            <a:pPr marL="342900" marR="0" lvl="0" indent="-342900" algn="l" rtl="0">
              <a:lnSpc>
                <a:spcPct val="90000"/>
              </a:lnSpc>
              <a:spcBef>
                <a:spcPts val="0"/>
              </a:spcBef>
              <a:spcAft>
                <a:spcPts val="0"/>
              </a:spcAft>
              <a:buSzPct val="100000"/>
              <a:buChar char="•"/>
            </a:pPr>
            <a:r>
              <a:rPr lang="en-US"/>
              <a:t>EDA Steps</a:t>
            </a:r>
            <a:endParaRPr/>
          </a:p>
          <a:p>
            <a:pPr marL="742950" lvl="1" indent="-279876" algn="l" rtl="0">
              <a:spcBef>
                <a:spcPts val="518"/>
              </a:spcBef>
              <a:spcAft>
                <a:spcPts val="0"/>
              </a:spcAft>
              <a:buClr>
                <a:schemeClr val="dk1"/>
              </a:buClr>
              <a:buSzPct val="112500"/>
              <a:buChar char="•"/>
            </a:pPr>
            <a:r>
              <a:rPr lang="en-US"/>
              <a:t>Data Analysis</a:t>
            </a:r>
            <a:endParaRPr/>
          </a:p>
          <a:p>
            <a:pPr marL="1143000" lvl="2" indent="-255269" algn="l" rtl="0">
              <a:spcBef>
                <a:spcPts val="500"/>
              </a:spcBef>
              <a:spcAft>
                <a:spcPts val="0"/>
              </a:spcAft>
              <a:buSzPct val="120000"/>
              <a:buChar char="•"/>
            </a:pPr>
            <a:r>
              <a:rPr lang="en-US"/>
              <a:t>Data Understanding</a:t>
            </a:r>
            <a:endParaRPr/>
          </a:p>
          <a:p>
            <a:pPr marL="1143000" lvl="2" indent="-255269" algn="l" rtl="0">
              <a:spcBef>
                <a:spcPts val="500"/>
              </a:spcBef>
              <a:spcAft>
                <a:spcPts val="0"/>
              </a:spcAft>
              <a:buSzPct val="120000"/>
              <a:buChar char="•"/>
            </a:pPr>
            <a:r>
              <a:rPr lang="en-US"/>
              <a:t>Univariate Analysis</a:t>
            </a:r>
            <a:endParaRPr/>
          </a:p>
          <a:p>
            <a:pPr marL="1143000" lvl="2" indent="-255269" algn="l" rtl="0">
              <a:spcBef>
                <a:spcPts val="500"/>
              </a:spcBef>
              <a:spcAft>
                <a:spcPts val="0"/>
              </a:spcAft>
              <a:buSzPct val="120000"/>
              <a:buChar char="•"/>
            </a:pPr>
            <a:r>
              <a:rPr lang="en-US"/>
              <a:t>Bivariate Analysis</a:t>
            </a:r>
            <a:endParaRPr/>
          </a:p>
          <a:p>
            <a:pPr marL="1143000" lvl="2" indent="-255269" algn="l" rtl="0">
              <a:spcBef>
                <a:spcPts val="500"/>
              </a:spcBef>
              <a:spcAft>
                <a:spcPts val="0"/>
              </a:spcAft>
              <a:buSzPct val="120000"/>
              <a:buChar char="•"/>
            </a:pPr>
            <a:r>
              <a:rPr lang="en-US"/>
              <a:t>Multivariate Analysis</a:t>
            </a:r>
            <a:endParaRPr/>
          </a:p>
          <a:p>
            <a:pPr marL="1143000" lvl="2" indent="-255269" algn="l" rtl="0">
              <a:spcBef>
                <a:spcPts val="500"/>
              </a:spcBef>
              <a:spcAft>
                <a:spcPts val="0"/>
              </a:spcAft>
              <a:buSzPct val="120000"/>
              <a:buChar char="•"/>
            </a:pPr>
            <a:r>
              <a:rPr lang="en-US"/>
              <a:t>Pandas Profiler (ydata-Profiling)</a:t>
            </a:r>
            <a:endParaRPr/>
          </a:p>
          <a:p>
            <a:pPr marL="742950" lvl="1" indent="-279876" algn="l" rtl="0">
              <a:spcBef>
                <a:spcPts val="518"/>
              </a:spcBef>
              <a:spcAft>
                <a:spcPts val="0"/>
              </a:spcAft>
              <a:buClr>
                <a:schemeClr val="dk1"/>
              </a:buClr>
              <a:buSzPct val="112500"/>
              <a:buChar char="•"/>
            </a:pPr>
            <a:r>
              <a:rPr lang="en-US"/>
              <a:t>Data Preparation</a:t>
            </a:r>
            <a:endParaRPr/>
          </a:p>
          <a:p>
            <a:pPr marL="1143000" lvl="2" indent="-255269" algn="l" rtl="0">
              <a:spcBef>
                <a:spcPts val="500"/>
              </a:spcBef>
              <a:spcAft>
                <a:spcPts val="0"/>
              </a:spcAft>
              <a:buSzPct val="120000"/>
              <a:buChar char="•"/>
            </a:pPr>
            <a:r>
              <a:rPr lang="en-US"/>
              <a:t>Data Imputation</a:t>
            </a:r>
            <a:endParaRPr/>
          </a:p>
          <a:p>
            <a:pPr marL="1143000" lvl="2" indent="-255269" algn="l" rtl="0">
              <a:spcBef>
                <a:spcPts val="500"/>
              </a:spcBef>
              <a:spcAft>
                <a:spcPts val="0"/>
              </a:spcAft>
              <a:buSzPct val="120000"/>
              <a:buChar char="•"/>
            </a:pPr>
            <a:r>
              <a:rPr lang="en-US" sz="2000"/>
              <a:t>Feature Transformation</a:t>
            </a:r>
            <a:endParaRPr sz="2000"/>
          </a:p>
          <a:p>
            <a:pPr marL="1600200" lvl="3" indent="-220027" algn="l" rtl="0">
              <a:spcBef>
                <a:spcPts val="500"/>
              </a:spcBef>
              <a:spcAft>
                <a:spcPts val="0"/>
              </a:spcAft>
              <a:buSzPct val="100000"/>
              <a:buChar char="•"/>
            </a:pPr>
            <a:r>
              <a:rPr lang="en-US"/>
              <a:t>Feature Encoding</a:t>
            </a:r>
            <a:endParaRPr/>
          </a:p>
          <a:p>
            <a:pPr marL="1600200" lvl="3" indent="-220027" algn="l" rtl="0">
              <a:spcBef>
                <a:spcPts val="500"/>
              </a:spcBef>
              <a:spcAft>
                <a:spcPts val="0"/>
              </a:spcAft>
              <a:buSzPct val="100000"/>
              <a:buChar char="•"/>
            </a:pPr>
            <a:r>
              <a:rPr lang="en-US"/>
              <a:t>Feature Scaling</a:t>
            </a:r>
            <a:endParaRPr/>
          </a:p>
          <a:p>
            <a:pPr marL="1143000" lvl="2" indent="-255269" algn="l" rtl="0">
              <a:spcBef>
                <a:spcPts val="500"/>
              </a:spcBef>
              <a:spcAft>
                <a:spcPts val="0"/>
              </a:spcAft>
              <a:buSzPct val="120000"/>
              <a:buChar char="•"/>
            </a:pPr>
            <a:r>
              <a:rPr lang="en-US" sz="2000"/>
              <a:t>Feature Creation</a:t>
            </a:r>
            <a:endParaRPr sz="2000"/>
          </a:p>
          <a:p>
            <a:pPr marL="1143000" lvl="2" indent="-255269" algn="l" rtl="0">
              <a:spcBef>
                <a:spcPts val="500"/>
              </a:spcBef>
              <a:spcAft>
                <a:spcPts val="0"/>
              </a:spcAft>
              <a:buSzPct val="120000"/>
              <a:buChar char="•"/>
            </a:pPr>
            <a:r>
              <a:rPr lang="en-US" sz="2000"/>
              <a:t>Feature Selection</a:t>
            </a:r>
            <a:endParaRPr/>
          </a:p>
          <a:p>
            <a:pPr marL="342900" marR="0" lvl="0" indent="-342900" algn="l" rtl="0">
              <a:lnSpc>
                <a:spcPct val="90000"/>
              </a:lnSpc>
              <a:spcBef>
                <a:spcPts val="0"/>
              </a:spcBef>
              <a:spcAft>
                <a:spcPts val="0"/>
              </a:spcAft>
              <a:buSzPct val="100000"/>
              <a:buChar char="•"/>
            </a:pPr>
            <a:r>
              <a:rPr lang="en-US"/>
              <a:t>Column</a:t>
            </a:r>
            <a:r>
              <a:rPr lang="en-US" sz="2800"/>
              <a:t> Transformer</a:t>
            </a:r>
            <a:endParaRPr/>
          </a:p>
          <a:p>
            <a:pPr marL="342900" marR="0" lvl="0" indent="-342900" algn="l" rtl="0">
              <a:lnSpc>
                <a:spcPct val="90000"/>
              </a:lnSpc>
              <a:spcBef>
                <a:spcPts val="0"/>
              </a:spcBef>
              <a:spcAft>
                <a:spcPts val="0"/>
              </a:spcAft>
              <a:buSzPct val="100000"/>
              <a:buChar char="•"/>
            </a:pPr>
            <a:r>
              <a:rPr lang="en-US" sz="2800"/>
              <a:t>Function Transformer</a:t>
            </a:r>
            <a:endParaRPr/>
          </a:p>
          <a:p>
            <a:pPr marL="342900" marR="0" lvl="0" indent="-342900" algn="l" rtl="0">
              <a:lnSpc>
                <a:spcPct val="90000"/>
              </a:lnSpc>
              <a:spcBef>
                <a:spcPts val="0"/>
              </a:spcBef>
              <a:spcAft>
                <a:spcPts val="0"/>
              </a:spcAft>
              <a:buSzPct val="100000"/>
              <a:buChar char="•"/>
            </a:pPr>
            <a:r>
              <a:rPr lang="en-US" sz="2800"/>
              <a:t>Sklearn Pipeline</a:t>
            </a:r>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Shape 401"/>
        <p:cNvGrpSpPr/>
        <p:nvPr/>
      </p:nvGrpSpPr>
      <p:grpSpPr>
        <a:xfrm>
          <a:off x="0" y="0"/>
          <a:ext cx="0" cy="0"/>
          <a:chOff x="0" y="0"/>
          <a:chExt cx="0" cy="0"/>
        </a:xfrm>
      </p:grpSpPr>
      <p:sp>
        <p:nvSpPr>
          <p:cNvPr id="402" name="Google Shape;402;p20"/>
          <p:cNvSpPr txBox="1">
            <a:spLocks noGrp="1"/>
          </p:cNvSpPr>
          <p:nvPr>
            <p:ph type="title"/>
          </p:nvPr>
        </p:nvSpPr>
        <p:spPr>
          <a:xfrm>
            <a:off x="628650" y="365126"/>
            <a:ext cx="78867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a:t>References</a:t>
            </a:r>
            <a:endParaRPr/>
          </a:p>
        </p:txBody>
      </p:sp>
      <p:sp>
        <p:nvSpPr>
          <p:cNvPr id="403" name="Google Shape;403;p20"/>
          <p:cNvSpPr txBox="1">
            <a:spLocks noGrp="1"/>
          </p:cNvSpPr>
          <p:nvPr>
            <p:ph type="body" idx="1"/>
          </p:nvPr>
        </p:nvSpPr>
        <p:spPr>
          <a:xfrm>
            <a:off x="628650" y="1825625"/>
            <a:ext cx="7886700" cy="4351338"/>
          </a:xfrm>
          <a:prstGeom prst="rect">
            <a:avLst/>
          </a:prstGeom>
          <a:noFill/>
          <a:ln>
            <a:noFill/>
          </a:ln>
        </p:spPr>
        <p:txBody>
          <a:bodyPr spcFirstLastPara="1" wrap="square" lIns="91425" tIns="45700" rIns="91425" bIns="45700" anchor="t" anchorCtr="0">
            <a:normAutofit fontScale="85000" lnSpcReduction="20000"/>
          </a:bodyPr>
          <a:lstStyle/>
          <a:p>
            <a:pPr marL="228600" lvl="0" indent="-228600" algn="l" rtl="0">
              <a:lnSpc>
                <a:spcPct val="90000"/>
              </a:lnSpc>
              <a:spcBef>
                <a:spcPts val="0"/>
              </a:spcBef>
              <a:spcAft>
                <a:spcPts val="0"/>
              </a:spcAft>
              <a:buClr>
                <a:schemeClr val="dk1"/>
              </a:buClr>
              <a:buSzPts val="2800"/>
              <a:buChar char="•"/>
            </a:pPr>
            <a:r>
              <a:rPr lang="en-US" u="sng">
                <a:solidFill>
                  <a:schemeClr val="hlink"/>
                </a:solidFill>
                <a:hlinkClick r:id="rId3"/>
              </a:rPr>
              <a:t>https://pypi.org/project/pandas-profiling/</a:t>
            </a:r>
            <a:endParaRPr/>
          </a:p>
          <a:p>
            <a:pPr marL="228600" lvl="0" indent="-228600" algn="l" rtl="0">
              <a:lnSpc>
                <a:spcPct val="90000"/>
              </a:lnSpc>
              <a:spcBef>
                <a:spcPts val="1000"/>
              </a:spcBef>
              <a:spcAft>
                <a:spcPts val="0"/>
              </a:spcAft>
              <a:buClr>
                <a:schemeClr val="dk1"/>
              </a:buClr>
              <a:buSzPts val="2800"/>
              <a:buChar char="•"/>
            </a:pPr>
            <a:r>
              <a:rPr lang="en-US" u="sng">
                <a:solidFill>
                  <a:schemeClr val="hlink"/>
                </a:solidFill>
                <a:hlinkClick r:id="rId4"/>
              </a:rPr>
              <a:t>https://scikit-learn.org/stable/modules/generated/sklearn.pipeline.Pipeline.html#:~:text=Pipeline%20allows%20you%20to%20sequentially,implement%20fit%20and%20transform%20methods</a:t>
            </a:r>
            <a:r>
              <a:rPr lang="en-US"/>
              <a:t>.</a:t>
            </a:r>
            <a:endParaRPr/>
          </a:p>
          <a:p>
            <a:pPr marL="228600" lvl="0" indent="-165100" algn="l" rtl="0">
              <a:lnSpc>
                <a:spcPct val="90000"/>
              </a:lnSpc>
              <a:spcBef>
                <a:spcPts val="1000"/>
              </a:spcBef>
              <a:spcAft>
                <a:spcPts val="0"/>
              </a:spcAft>
              <a:buSzPts val="1800"/>
              <a:buChar char="•"/>
            </a:pPr>
            <a:r>
              <a:rPr lang="en-US" u="sng">
                <a:solidFill>
                  <a:schemeClr val="hlink"/>
                </a:solidFill>
                <a:hlinkClick r:id="rId5"/>
              </a:rPr>
              <a:t>https://scikit-learn.org/1.5/modules/generated/sklearn.compose.ColumnTransformer.html</a:t>
            </a:r>
            <a:endParaRPr/>
          </a:p>
          <a:p>
            <a:pPr marL="228600" lvl="0" indent="-165100" algn="l" rtl="0">
              <a:lnSpc>
                <a:spcPct val="90000"/>
              </a:lnSpc>
              <a:spcBef>
                <a:spcPts val="1000"/>
              </a:spcBef>
              <a:spcAft>
                <a:spcPts val="0"/>
              </a:spcAft>
              <a:buSzPts val="1800"/>
              <a:buChar char="•"/>
            </a:pPr>
            <a:r>
              <a:rPr lang="en-US" u="sng">
                <a:solidFill>
                  <a:schemeClr val="hlink"/>
                </a:solidFill>
                <a:hlinkClick r:id="rId6"/>
              </a:rPr>
              <a:t>https://scikit-learn.org/dev/modules/generated/sklearn.preprocessing.FunctionTransformer.html</a:t>
            </a:r>
            <a:endParaRPr/>
          </a:p>
          <a:p>
            <a:pPr marL="228600" lvl="0" indent="-165100" algn="l" rtl="0">
              <a:lnSpc>
                <a:spcPct val="90000"/>
              </a:lnSpc>
              <a:spcBef>
                <a:spcPts val="1000"/>
              </a:spcBef>
              <a:spcAft>
                <a:spcPts val="0"/>
              </a:spcAft>
              <a:buSzPts val="1800"/>
              <a:buChar char="•"/>
            </a:pPr>
            <a:r>
              <a:rPr lang="en-US" u="sng">
                <a:solidFill>
                  <a:schemeClr val="hlink"/>
                </a:solidFill>
                <a:hlinkClick r:id="rId7"/>
              </a:rPr>
              <a:t>https://scikit-learn.org/1.5/modules/generated/sklearn.pipeline.Pipeline.html</a:t>
            </a:r>
            <a:endParaRPr/>
          </a:p>
          <a:p>
            <a:pPr marL="228600" lvl="0" indent="0" algn="l" rtl="0">
              <a:lnSpc>
                <a:spcPct val="90000"/>
              </a:lnSpc>
              <a:spcBef>
                <a:spcPts val="1000"/>
              </a:spcBef>
              <a:spcAft>
                <a:spcPts val="0"/>
              </a:spcAft>
              <a:buNone/>
            </a:pPr>
            <a:endParaRPr/>
          </a:p>
        </p:txBody>
      </p:sp>
    </p:spTree>
  </p:cSld>
  <p:clrMapOvr>
    <a:masterClrMapping/>
  </p:clrMapOvr>
</p:sld>
</file>

<file path=ppt/theme/theme1.xml><?xml version="1.0" encoding="utf-8"?>
<a:theme xmlns:a="http://schemas.openxmlformats.org/drawingml/2006/main" name="Office Theme">
  <a:themeElements>
    <a:clrScheme name="Office Them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BC842EB5B25AA94681E01C533BC4E547" ma:contentTypeVersion="3" ma:contentTypeDescription="Create a new document." ma:contentTypeScope="" ma:versionID="5e8853d87939594dd11300b895153a60">
  <xsd:schema xmlns:xsd="http://www.w3.org/2001/XMLSchema" xmlns:xs="http://www.w3.org/2001/XMLSchema" xmlns:p="http://schemas.microsoft.com/office/2006/metadata/properties" xmlns:ns2="b1cd9ac4-537d-4700-ace9-c3dc8aafaf16" targetNamespace="http://schemas.microsoft.com/office/2006/metadata/properties" ma:root="true" ma:fieldsID="cc6f7d3b10a75145a31d85fa157930a3" ns2:_="">
    <xsd:import namespace="b1cd9ac4-537d-4700-ace9-c3dc8aafaf16"/>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b1cd9ac4-537d-4700-ace9-c3dc8aafaf16"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256057CF-9E35-4BDA-9C1C-8C5837D54B50}"/>
</file>

<file path=customXml/itemProps2.xml><?xml version="1.0" encoding="utf-8"?>
<ds:datastoreItem xmlns:ds="http://schemas.openxmlformats.org/officeDocument/2006/customXml" ds:itemID="{5B0FAF59-C7F9-4D63-8D50-F46E31D7CF97}"/>
</file>

<file path=customXml/itemProps3.xml><?xml version="1.0" encoding="utf-8"?>
<ds:datastoreItem xmlns:ds="http://schemas.openxmlformats.org/officeDocument/2006/customXml" ds:itemID="{92B3BC02-B601-4581-886B-520C626B411B}"/>
</file>

<file path=docProps/app.xml><?xml version="1.0" encoding="utf-8"?>
<Properties xmlns="http://schemas.openxmlformats.org/officeDocument/2006/extended-properties" xmlns:vt="http://schemas.openxmlformats.org/officeDocument/2006/docPropsVTypes">
  <TotalTime>144</TotalTime>
  <Words>3677</Words>
  <Application>Microsoft Office PowerPoint</Application>
  <PresentationFormat>On-screen Show (4:3)</PresentationFormat>
  <Paragraphs>405</Paragraphs>
  <Slides>52</Slides>
  <Notes>50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52</vt:i4>
      </vt:variant>
    </vt:vector>
  </HeadingPairs>
  <TitlesOfParts>
    <vt:vector size="56" baseType="lpstr">
      <vt:lpstr>Arial</vt:lpstr>
      <vt:lpstr>Calibri</vt:lpstr>
      <vt:lpstr>Courier New</vt:lpstr>
      <vt:lpstr>Office Theme</vt:lpstr>
      <vt:lpstr>Programming for AI</vt:lpstr>
      <vt:lpstr>Today’s Lecture</vt:lpstr>
      <vt:lpstr>Exploratory Data Analysis (EDA)</vt:lpstr>
      <vt:lpstr>EDA and Machine Learning Pipeline</vt:lpstr>
      <vt:lpstr>EDA Steps</vt:lpstr>
      <vt:lpstr>Data Reading</vt:lpstr>
      <vt:lpstr>Data Understanding</vt:lpstr>
      <vt:lpstr>Data Understanding</vt:lpstr>
      <vt:lpstr>Data Understanding</vt:lpstr>
      <vt:lpstr>Data Understanding</vt:lpstr>
      <vt:lpstr>Data Understanding</vt:lpstr>
      <vt:lpstr>Data Understanding</vt:lpstr>
      <vt:lpstr>Univariate Analysis</vt:lpstr>
      <vt:lpstr>Univariate Analysis (Categorical Data)</vt:lpstr>
      <vt:lpstr>Univariate Analysis (Categorical Data)</vt:lpstr>
      <vt:lpstr>Univariate Analysis (Numerical Data)</vt:lpstr>
      <vt:lpstr>Univariate Analysis (Numerical Data)</vt:lpstr>
      <vt:lpstr>Univariate Analysis (Numerical Data)</vt:lpstr>
      <vt:lpstr>How to Interpret a Boxplot? </vt:lpstr>
      <vt:lpstr>Bivariate Analysis</vt:lpstr>
      <vt:lpstr>Bivariate Analysis</vt:lpstr>
      <vt:lpstr>Bivariate Analysis</vt:lpstr>
      <vt:lpstr>Bivariate Analysis</vt:lpstr>
      <vt:lpstr>Bivariate Analysis</vt:lpstr>
      <vt:lpstr>Multivariate Analysis</vt:lpstr>
      <vt:lpstr>Pandas Profiling</vt:lpstr>
      <vt:lpstr>Pandas Profiling</vt:lpstr>
      <vt:lpstr>Pandas Profiling</vt:lpstr>
      <vt:lpstr>Data Preparation</vt:lpstr>
      <vt:lpstr>Data Imputation</vt:lpstr>
      <vt:lpstr>Data Imputation</vt:lpstr>
      <vt:lpstr>Data Imputation Techniques</vt:lpstr>
      <vt:lpstr>Feature Transformation</vt:lpstr>
      <vt:lpstr>Feature Encoding</vt:lpstr>
      <vt:lpstr>Ordinal Encoding</vt:lpstr>
      <vt:lpstr>One-Hot Encoding</vt:lpstr>
      <vt:lpstr>Label Encoding</vt:lpstr>
      <vt:lpstr>Feature Scaling</vt:lpstr>
      <vt:lpstr>Feature Creation</vt:lpstr>
      <vt:lpstr>Column Transformer</vt:lpstr>
      <vt:lpstr>Column Transformer (Example)</vt:lpstr>
      <vt:lpstr>Output</vt:lpstr>
      <vt:lpstr>Function Transformer</vt:lpstr>
      <vt:lpstr>Function Transformer (Example)</vt:lpstr>
      <vt:lpstr> Function Transformer (Contd..)</vt:lpstr>
      <vt:lpstr>PowerPoint Presentation</vt:lpstr>
      <vt:lpstr>Pipeline</vt:lpstr>
      <vt:lpstr>Pipeline (Example)</vt:lpstr>
      <vt:lpstr>Pipeline Example (Contd..)</vt:lpstr>
      <vt:lpstr>Output</vt:lpstr>
      <vt:lpstr>Today’s Lecture</vt:lpstr>
      <vt:lpstr>References</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Programming for AI</dc:title>
  <dc:creator>Administrator</dc:creator>
  <cp:lastModifiedBy>admin</cp:lastModifiedBy>
  <cp:revision>3</cp:revision>
  <dcterms:created xsi:type="dcterms:W3CDTF">2024-04-14T14:21:13Z</dcterms:created>
  <dcterms:modified xsi:type="dcterms:W3CDTF">2025-02-19T09:11:32Z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0x010100BC842EB5B25AA94681E01C533BC4E547</vt:lpwstr>
  </property>
</Properties>
</file>