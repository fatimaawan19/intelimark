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8" r:id="rId7"/>
    <p:sldId id="261" r:id="rId8"/>
    <p:sldId id="269" r:id="rId9"/>
    <p:sldId id="270" r:id="rId10"/>
    <p:sldId id="271" r:id="rId11"/>
    <p:sldId id="272" r:id="rId12"/>
    <p:sldId id="274" r:id="rId13"/>
    <p:sldId id="273" r:id="rId14"/>
    <p:sldId id="275" r:id="rId15"/>
    <p:sldId id="276" r:id="rId16"/>
    <p:sldId id="280" r:id="rId17"/>
    <p:sldId id="334" r:id="rId18"/>
    <p:sldId id="305" r:id="rId19"/>
    <p:sldId id="335" r:id="rId20"/>
    <p:sldId id="289" r:id="rId21"/>
    <p:sldId id="281" r:id="rId22"/>
    <p:sldId id="306" r:id="rId23"/>
    <p:sldId id="307" r:id="rId24"/>
    <p:sldId id="263" r:id="rId25"/>
    <p:sldId id="314" r:id="rId26"/>
    <p:sldId id="315" r:id="rId27"/>
    <p:sldId id="317" r:id="rId28"/>
    <p:sldId id="339" r:id="rId29"/>
    <p:sldId id="318" r:id="rId30"/>
    <p:sldId id="336" r:id="rId31"/>
    <p:sldId id="337" r:id="rId32"/>
    <p:sldId id="338" r:id="rId33"/>
    <p:sldId id="312" r:id="rId34"/>
    <p:sldId id="313"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B1FB95-5575-48E2-998D-0667E93C1E65}" type="datetimeFigureOut">
              <a:rPr lang="LID4096" smtClean="0"/>
              <a:t>09/11/2024</a:t>
            </a:fld>
            <a:endParaRPr lang="LID4096"/>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F283ED-3A1D-4BAD-ABA5-77E4CDDF88F2}" type="slidenum">
              <a:rPr lang="LID4096" smtClean="0"/>
              <a:t>‹#›</a:t>
            </a:fld>
            <a:endParaRPr lang="LID4096"/>
          </a:p>
        </p:txBody>
      </p:sp>
    </p:spTree>
    <p:extLst>
      <p:ext uri="{BB962C8B-B14F-4D97-AF65-F5344CB8AC3E}">
        <p14:creationId xmlns:p14="http://schemas.microsoft.com/office/powerpoint/2010/main" val="4267720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DC177C0D-3203-1A2A-974E-07201EE2F84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fld id="{51D669B0-3BD4-43B3-A25D-0CA1EC287ABC}" type="slidenum">
              <a:rPr lang="en-US" altLang="LID4096" sz="1200" b="0">
                <a:latin typeface="Arial" panose="020B0604020202020204" pitchFamily="34" charset="0"/>
              </a:rPr>
              <a:pPr/>
              <a:t>16</a:t>
            </a:fld>
            <a:endParaRPr lang="en-US" altLang="LID4096" sz="1200" b="0">
              <a:latin typeface="Arial" panose="020B0604020202020204" pitchFamily="34" charset="0"/>
            </a:endParaRPr>
          </a:p>
        </p:txBody>
      </p:sp>
      <p:sp>
        <p:nvSpPr>
          <p:cNvPr id="34819" name="Rectangle 2">
            <a:extLst>
              <a:ext uri="{FF2B5EF4-FFF2-40B4-BE49-F238E27FC236}">
                <a16:creationId xmlns:a16="http://schemas.microsoft.com/office/drawing/2014/main" id="{2627B0F0-4B26-A54A-A56D-08ECDDD128DB}"/>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8B8ABCEF-911A-3C3C-40A8-BB10A6D7CD3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LID4096" altLang="LID4096"/>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02B07F02-05EF-1CCE-3681-59B3FEFD079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fld id="{922B4B60-BD49-406F-B3BA-CC5FEB892C0D}" type="slidenum">
              <a:rPr lang="en-US" altLang="LID4096" sz="1200" b="0">
                <a:latin typeface="Arial" panose="020B0604020202020204" pitchFamily="34" charset="0"/>
              </a:rPr>
              <a:pPr/>
              <a:t>17</a:t>
            </a:fld>
            <a:endParaRPr lang="en-US" altLang="LID4096" sz="1200" b="0">
              <a:latin typeface="Arial" panose="020B0604020202020204" pitchFamily="34" charset="0"/>
            </a:endParaRPr>
          </a:p>
        </p:txBody>
      </p:sp>
      <p:sp>
        <p:nvSpPr>
          <p:cNvPr id="36867" name="Rectangle 2">
            <a:extLst>
              <a:ext uri="{FF2B5EF4-FFF2-40B4-BE49-F238E27FC236}">
                <a16:creationId xmlns:a16="http://schemas.microsoft.com/office/drawing/2014/main" id="{3E1F0EF8-642E-2C2C-ECA3-EF7D841A0CB0}"/>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76E9B934-0B8A-096B-486F-9C6A437DE8C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LID4096" altLang="LID4096"/>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6634CEA9-1AEC-AE8B-2B04-BF7214D0389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fld id="{D51458D4-A2FC-4FAA-8B57-97BEEA983085}" type="slidenum">
              <a:rPr lang="en-US" altLang="LID4096" sz="1200" b="0">
                <a:latin typeface="Arial" panose="020B0604020202020204" pitchFamily="34" charset="0"/>
              </a:rPr>
              <a:pPr/>
              <a:t>18</a:t>
            </a:fld>
            <a:endParaRPr lang="en-US" altLang="LID4096" sz="1200" b="0">
              <a:latin typeface="Arial" panose="020B0604020202020204" pitchFamily="34" charset="0"/>
            </a:endParaRPr>
          </a:p>
        </p:txBody>
      </p:sp>
      <p:sp>
        <p:nvSpPr>
          <p:cNvPr id="38915" name="Rectangle 2">
            <a:extLst>
              <a:ext uri="{FF2B5EF4-FFF2-40B4-BE49-F238E27FC236}">
                <a16:creationId xmlns:a16="http://schemas.microsoft.com/office/drawing/2014/main" id="{E920ABAE-E5E3-5A8B-5628-207C35DA0BCE}"/>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C3C6D607-5DFD-342C-FFA9-28481AB9DFA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LID4096" altLang="LID4096"/>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8F57F3A7-4B12-7EE0-EA43-37A80C9AAFF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fld id="{98FFE030-FAB4-43E5-83B2-775B96EA6674}" type="slidenum">
              <a:rPr lang="en-US" altLang="LID4096" sz="1200" b="0">
                <a:latin typeface="Arial" panose="020B0604020202020204" pitchFamily="34" charset="0"/>
              </a:rPr>
              <a:pPr/>
              <a:t>19</a:t>
            </a:fld>
            <a:endParaRPr lang="en-US" altLang="LID4096" sz="1200" b="0">
              <a:latin typeface="Arial" panose="020B0604020202020204" pitchFamily="34" charset="0"/>
            </a:endParaRPr>
          </a:p>
        </p:txBody>
      </p:sp>
      <p:sp>
        <p:nvSpPr>
          <p:cNvPr id="40963" name="Rectangle 2">
            <a:extLst>
              <a:ext uri="{FF2B5EF4-FFF2-40B4-BE49-F238E27FC236}">
                <a16:creationId xmlns:a16="http://schemas.microsoft.com/office/drawing/2014/main" id="{0A23579C-F9E5-BACE-9EB5-500344E1E94A}"/>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4BA20247-09F7-D66A-A4DC-5ECB2571938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LID4096" altLang="LID4096"/>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441FF616-2FDD-B54C-5595-E81D65B9EE3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fld id="{B2AA2C89-4A4F-446C-A80C-F1E4ADEC16D7}" type="slidenum">
              <a:rPr lang="en-US" altLang="LID4096" sz="1200" b="0">
                <a:latin typeface="Arial" panose="020B0604020202020204" pitchFamily="34" charset="0"/>
              </a:rPr>
              <a:pPr/>
              <a:t>20</a:t>
            </a:fld>
            <a:endParaRPr lang="en-US" altLang="LID4096" sz="1200" b="0">
              <a:latin typeface="Arial" panose="020B0604020202020204" pitchFamily="34" charset="0"/>
            </a:endParaRPr>
          </a:p>
        </p:txBody>
      </p:sp>
      <p:sp>
        <p:nvSpPr>
          <p:cNvPr id="43011" name="Rectangle 2">
            <a:extLst>
              <a:ext uri="{FF2B5EF4-FFF2-40B4-BE49-F238E27FC236}">
                <a16:creationId xmlns:a16="http://schemas.microsoft.com/office/drawing/2014/main" id="{BD8D64C3-D3DF-318E-A947-581BBF9A1518}"/>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4C2AE2F1-A171-5C2A-02B8-94C57294477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LID4096" altLang="LID4096"/>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3EB09C20-FD77-8750-A982-B9F158B0CEE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fld id="{A4F6FCF0-E63D-49CF-A4AC-20B4D9B8BCF6}" type="slidenum">
              <a:rPr lang="en-US" altLang="LID4096" sz="1200" b="0">
                <a:latin typeface="Arial" panose="020B0604020202020204" pitchFamily="34" charset="0"/>
              </a:rPr>
              <a:pPr/>
              <a:t>21</a:t>
            </a:fld>
            <a:endParaRPr lang="en-US" altLang="LID4096" sz="1200" b="0">
              <a:latin typeface="Arial" panose="020B0604020202020204" pitchFamily="34" charset="0"/>
            </a:endParaRPr>
          </a:p>
        </p:txBody>
      </p:sp>
      <p:sp>
        <p:nvSpPr>
          <p:cNvPr id="45059" name="Rectangle 2">
            <a:extLst>
              <a:ext uri="{FF2B5EF4-FFF2-40B4-BE49-F238E27FC236}">
                <a16:creationId xmlns:a16="http://schemas.microsoft.com/office/drawing/2014/main" id="{8FAD5B5C-72B2-C14B-49A8-C4AC079C9A47}"/>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362A1918-A4C8-1FD0-742B-2070169FB0F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LID4096" altLang="LID4096"/>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7347C1E5-ACF6-4DA1-3C2D-FE788344D63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fld id="{1DEA9F7D-B4BB-4791-9930-85BDC2FBCA9B}" type="slidenum">
              <a:rPr lang="en-US" altLang="LID4096" sz="1200" b="0">
                <a:latin typeface="Arial" panose="020B0604020202020204" pitchFamily="34" charset="0"/>
              </a:rPr>
              <a:pPr/>
              <a:t>22</a:t>
            </a:fld>
            <a:endParaRPr lang="en-US" altLang="LID4096" sz="1200" b="0">
              <a:latin typeface="Arial" panose="020B0604020202020204" pitchFamily="34" charset="0"/>
            </a:endParaRPr>
          </a:p>
        </p:txBody>
      </p:sp>
      <p:sp>
        <p:nvSpPr>
          <p:cNvPr id="47107" name="Rectangle 2">
            <a:extLst>
              <a:ext uri="{FF2B5EF4-FFF2-40B4-BE49-F238E27FC236}">
                <a16:creationId xmlns:a16="http://schemas.microsoft.com/office/drawing/2014/main" id="{00B23A02-239B-E7A9-A4E3-8B6C994AE6C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DA7E6C34-B600-F285-1D29-0F6320985FC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LID4096" altLang="LID4096"/>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9AD6B9C4-3A0B-A985-3E7F-6B5B5F00400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fld id="{D604FEBF-B549-4CCB-90D5-48D0385FFB11}" type="slidenum">
              <a:rPr lang="en-US" altLang="LID4096" sz="1200" b="0">
                <a:latin typeface="Arial" panose="020B0604020202020204" pitchFamily="34" charset="0"/>
              </a:rPr>
              <a:pPr/>
              <a:t>23</a:t>
            </a:fld>
            <a:endParaRPr lang="en-US" altLang="LID4096" sz="1200" b="0">
              <a:latin typeface="Arial" panose="020B0604020202020204" pitchFamily="34" charset="0"/>
            </a:endParaRPr>
          </a:p>
        </p:txBody>
      </p:sp>
      <p:sp>
        <p:nvSpPr>
          <p:cNvPr id="49155" name="Rectangle 2">
            <a:extLst>
              <a:ext uri="{FF2B5EF4-FFF2-40B4-BE49-F238E27FC236}">
                <a16:creationId xmlns:a16="http://schemas.microsoft.com/office/drawing/2014/main" id="{D61D4A8B-C9BA-EE13-B384-BA78E78F72A8}"/>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30C5D67A-60F4-2367-7CCB-9787ACE72A3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LID4096" altLang="LID4096"/>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00A9F642-0CAA-310C-6155-5B531DEEC4E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fld id="{0175900D-AB7C-4E1F-B4B7-32090438E3A9}" type="slidenum">
              <a:rPr lang="en-US" altLang="LID4096" sz="1200" b="0">
                <a:latin typeface="Arial" panose="020B0604020202020204" pitchFamily="34" charset="0"/>
              </a:rPr>
              <a:pPr/>
              <a:t>24</a:t>
            </a:fld>
            <a:endParaRPr lang="en-US" altLang="LID4096" sz="1200" b="0">
              <a:latin typeface="Arial" panose="020B0604020202020204" pitchFamily="34" charset="0"/>
            </a:endParaRPr>
          </a:p>
        </p:txBody>
      </p:sp>
      <p:sp>
        <p:nvSpPr>
          <p:cNvPr id="51203" name="Rectangle 2">
            <a:extLst>
              <a:ext uri="{FF2B5EF4-FFF2-40B4-BE49-F238E27FC236}">
                <a16:creationId xmlns:a16="http://schemas.microsoft.com/office/drawing/2014/main" id="{DC44C887-9813-4418-01B1-165ABCB9881E}"/>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E10B287E-0472-3739-6ED4-EE68D9D24D6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LID4096" altLang="LID4096"/>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389A8C-57B6-4724-8913-7DBEBDF53303}" type="datetime1">
              <a:rPr lang="en-US" smtClean="0"/>
              <a:t>9/11/2024</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E1642E-AE74-4AE4-9BC7-39C3E44FFBBF}" type="datetime1">
              <a:rPr lang="en-US" smtClean="0"/>
              <a:t>9/11/2024</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3C101E-6275-4FF0-80C1-58482B54C2B1}" type="datetime1">
              <a:rPr lang="en-US" smtClean="0"/>
              <a:t>9/11/2024</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83F443-4C0D-4B77-A497-A1A68D049B83}" type="datetime1">
              <a:rPr lang="en-US" smtClean="0"/>
              <a:t>9/11/2024</a:t>
            </a:fld>
            <a:endParaRPr lang="en-US"/>
          </a:p>
        </p:txBody>
      </p:sp>
      <p:sp>
        <p:nvSpPr>
          <p:cNvPr id="6" name="Footer Placeholder 5"/>
          <p:cNvSpPr>
            <a:spLocks noGrp="1"/>
          </p:cNvSpPr>
          <p:nvPr>
            <p:ph type="ftr" sz="quarter" idx="11"/>
          </p:nvPr>
        </p:nvSpPr>
        <p:spPr/>
        <p:txBody>
          <a:bodyPr/>
          <a:lstStyle/>
          <a:p>
            <a:r>
              <a:rPr lang="en-GB"/>
              <a:t>Department of Computer Science, COMSATS University, Islamabad.</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69B041-9D82-4377-8F0F-842F3791A31C}" type="datetime1">
              <a:rPr lang="en-US" smtClean="0"/>
              <a:t>9/11/2024</a:t>
            </a:fld>
            <a:endParaRPr lang="en-US"/>
          </a:p>
        </p:txBody>
      </p:sp>
      <p:sp>
        <p:nvSpPr>
          <p:cNvPr id="8" name="Footer Placeholder 7"/>
          <p:cNvSpPr>
            <a:spLocks noGrp="1"/>
          </p:cNvSpPr>
          <p:nvPr>
            <p:ph type="ftr" sz="quarter" idx="11"/>
          </p:nvPr>
        </p:nvSpPr>
        <p:spPr/>
        <p:txBody>
          <a:bodyPr/>
          <a:lstStyle/>
          <a:p>
            <a:r>
              <a:rPr lang="en-GB"/>
              <a:t>Department of Computer Science, COMSATS University, Islamabad.</a:t>
            </a:r>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5540F4-BE38-4B05-B1A2-89E2E52A6C58}" type="datetime1">
              <a:rPr lang="en-US" smtClean="0"/>
              <a:t>9/11/2024</a:t>
            </a:fld>
            <a:endParaRPr lang="en-US"/>
          </a:p>
        </p:txBody>
      </p:sp>
      <p:sp>
        <p:nvSpPr>
          <p:cNvPr id="4" name="Footer Placeholder 3"/>
          <p:cNvSpPr>
            <a:spLocks noGrp="1"/>
          </p:cNvSpPr>
          <p:nvPr>
            <p:ph type="ftr" sz="quarter" idx="11"/>
          </p:nvPr>
        </p:nvSpPr>
        <p:spPr/>
        <p:txBody>
          <a:bodyPr/>
          <a:lstStyle/>
          <a:p>
            <a:r>
              <a:rPr lang="en-GB"/>
              <a:t>Department of Computer Science, COMSATS University, Islamabad.</a:t>
            </a:r>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85C984-11F6-4930-B7E0-BFC2B2F76403}" type="datetime1">
              <a:rPr lang="en-US" smtClean="0"/>
              <a:t>9/11/2024</a:t>
            </a:fld>
            <a:endParaRPr lang="en-US"/>
          </a:p>
        </p:txBody>
      </p:sp>
      <p:sp>
        <p:nvSpPr>
          <p:cNvPr id="3" name="Footer Placeholder 2"/>
          <p:cNvSpPr>
            <a:spLocks noGrp="1"/>
          </p:cNvSpPr>
          <p:nvPr>
            <p:ph type="ftr" sz="quarter" idx="11"/>
          </p:nvPr>
        </p:nvSpPr>
        <p:spPr/>
        <p:txBody>
          <a:bodyPr/>
          <a:lstStyle/>
          <a:p>
            <a:r>
              <a:rPr lang="en-GB"/>
              <a:t>Department of Computer Science, COMSATS University, Islamabad.</a:t>
            </a:r>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6CCB2C-5E67-4147-AA40-66BBD031923B}" type="datetime1">
              <a:rPr lang="en-US" smtClean="0"/>
              <a:t>9/11/2024</a:t>
            </a:fld>
            <a:endParaRPr lang="en-US"/>
          </a:p>
        </p:txBody>
      </p:sp>
      <p:sp>
        <p:nvSpPr>
          <p:cNvPr id="6" name="Footer Placeholder 5"/>
          <p:cNvSpPr>
            <a:spLocks noGrp="1"/>
          </p:cNvSpPr>
          <p:nvPr>
            <p:ph type="ftr" sz="quarter" idx="11"/>
          </p:nvPr>
        </p:nvSpPr>
        <p:spPr/>
        <p:txBody>
          <a:bodyPr/>
          <a:lstStyle/>
          <a:p>
            <a:r>
              <a:rPr lang="en-GB"/>
              <a:t>Department of Computer Science, COMSATS University, Islamabad.</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C0E8E1-3B26-4AC3-9360-A88F51A11877}" type="datetime1">
              <a:rPr lang="en-US" smtClean="0"/>
              <a:t>9/11/2024</a:t>
            </a:fld>
            <a:endParaRPr lang="en-US"/>
          </a:p>
        </p:txBody>
      </p:sp>
      <p:sp>
        <p:nvSpPr>
          <p:cNvPr id="6" name="Footer Placeholder 5"/>
          <p:cNvSpPr>
            <a:spLocks noGrp="1"/>
          </p:cNvSpPr>
          <p:nvPr>
            <p:ph type="ftr" sz="quarter" idx="11"/>
          </p:nvPr>
        </p:nvSpPr>
        <p:spPr/>
        <p:txBody>
          <a:bodyPr/>
          <a:lstStyle/>
          <a:p>
            <a:r>
              <a:rPr lang="en-GB"/>
              <a:t>Department of Computer Science, COMSATS University, Islamabad.</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1A0219-D668-49C9-A019-4328E5EBC5A1}" type="datetime1">
              <a:rPr lang="en-US" smtClean="0"/>
              <a:t>9/11/2024</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BDE655-5AEF-462E-BD47-B6D2F9CBF32A}" type="datetime1">
              <a:rPr lang="en-US" smtClean="0"/>
              <a:t>9/11/2024</a:t>
            </a:fld>
            <a:endParaRPr lang="en-US"/>
          </a:p>
        </p:txBody>
      </p:sp>
      <p:sp>
        <p:nvSpPr>
          <p:cNvPr id="5" name="Footer Placeholder 4"/>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2729C0-AE61-40A3-9A9E-CAC629B18D8D}" type="datetime1">
              <a:rPr lang="en-US" smtClean="0"/>
              <a:t>9/11/2024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Department of Computer Science, COMSATS University, Islamabad.</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42283"/>
            <a:ext cx="7772400" cy="1470025"/>
          </a:xfrm>
        </p:spPr>
        <p:txBody>
          <a:bodyPr/>
          <a:lstStyle/>
          <a:p>
            <a:r>
              <a:rPr dirty="0"/>
              <a:t>Introduction to Statistics</a:t>
            </a:r>
          </a:p>
        </p:txBody>
      </p:sp>
      <p:sp>
        <p:nvSpPr>
          <p:cNvPr id="3" name="Subtitle 2"/>
          <p:cNvSpPr>
            <a:spLocks noGrp="1"/>
          </p:cNvSpPr>
          <p:nvPr>
            <p:ph type="subTitle" idx="1"/>
          </p:nvPr>
        </p:nvSpPr>
        <p:spPr>
          <a:xfrm>
            <a:off x="1371600" y="3143250"/>
            <a:ext cx="6400800" cy="1752600"/>
          </a:xfrm>
        </p:spPr>
        <p:txBody>
          <a:bodyPr>
            <a:normAutofit/>
          </a:bodyPr>
          <a:lstStyle/>
          <a:p>
            <a:r>
              <a:rPr lang="en-GB" sz="2000" dirty="0"/>
              <a:t>By: </a:t>
            </a:r>
          </a:p>
          <a:p>
            <a:r>
              <a:rPr lang="en-GB" sz="2000" dirty="0"/>
              <a:t>Dr. Basharat Mahmood</a:t>
            </a:r>
          </a:p>
        </p:txBody>
      </p:sp>
      <p:sp>
        <p:nvSpPr>
          <p:cNvPr id="4" name="Footer Placeholder 3">
            <a:extLst>
              <a:ext uri="{FF2B5EF4-FFF2-40B4-BE49-F238E27FC236}">
                <a16:creationId xmlns:a16="http://schemas.microsoft.com/office/drawing/2014/main" id="{84A37E21-D65C-5A26-6070-09C20F2EDDA5}"/>
              </a:ext>
            </a:extLst>
          </p:cNvPr>
          <p:cNvSpPr>
            <a:spLocks noGrp="1"/>
          </p:cNvSpPr>
          <p:nvPr>
            <p:ph type="ftr" sz="quarter" idx="11"/>
          </p:nvPr>
        </p:nvSpPr>
        <p:spPr/>
        <p:txBody>
          <a:bodyPr/>
          <a:lstStyle/>
          <a:p>
            <a:r>
              <a:rPr lang="en-GB" dirty="0"/>
              <a:t>Department of Computer Science, COMSATS University, Islamabad.</a:t>
            </a:r>
            <a:endParaRPr lang="en-US" dirty="0"/>
          </a:p>
        </p:txBody>
      </p:sp>
      <p:sp>
        <p:nvSpPr>
          <p:cNvPr id="5" name="Slide Number Placeholder 4">
            <a:extLst>
              <a:ext uri="{FF2B5EF4-FFF2-40B4-BE49-F238E27FC236}">
                <a16:creationId xmlns:a16="http://schemas.microsoft.com/office/drawing/2014/main" id="{77BE192B-B361-2E12-1AFD-3D06FE8408E2}"/>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Overview of Statistics</a:t>
            </a:r>
          </a:p>
        </p:txBody>
      </p:sp>
      <p:sp>
        <p:nvSpPr>
          <p:cNvPr id="3" name="Content Placeholder 2"/>
          <p:cNvSpPr>
            <a:spLocks noGrp="1"/>
          </p:cNvSpPr>
          <p:nvPr>
            <p:ph idx="1"/>
          </p:nvPr>
        </p:nvSpPr>
        <p:spPr/>
        <p:txBody>
          <a:bodyPr/>
          <a:lstStyle/>
          <a:p>
            <a:r>
              <a:t>Statistics is the science of collecting, organizing, presenting, analyzing, and interpreting data.</a:t>
            </a:r>
          </a:p>
          <a:p>
            <a:endParaRPr/>
          </a:p>
          <a:p>
            <a:r>
              <a:t>Importance of Statistics:</a:t>
            </a:r>
          </a:p>
          <a:p>
            <a:r>
              <a:t>- Provides tools for making informed decisions based on data.</a:t>
            </a:r>
          </a:p>
        </p:txBody>
      </p:sp>
      <p:sp>
        <p:nvSpPr>
          <p:cNvPr id="4" name="Footer Placeholder 3">
            <a:extLst>
              <a:ext uri="{FF2B5EF4-FFF2-40B4-BE49-F238E27FC236}">
                <a16:creationId xmlns:a16="http://schemas.microsoft.com/office/drawing/2014/main" id="{8533875B-57EE-3F0E-D745-66692416C97D}"/>
              </a:ext>
            </a:extLst>
          </p:cNvPr>
          <p:cNvSpPr>
            <a:spLocks noGrp="1"/>
          </p:cNvSpPr>
          <p:nvPr>
            <p:ph type="ftr" sz="quarter" idx="11"/>
          </p:nvPr>
        </p:nvSpPr>
        <p:spPr/>
        <p:txBody>
          <a:bodyPr/>
          <a:lstStyle/>
          <a:p>
            <a:r>
              <a:rPr lang="en-GB"/>
              <a:t>Department of Computer Science, COMSATS University, Islamabad.</a:t>
            </a:r>
            <a:endParaRPr lang="en-US"/>
          </a:p>
        </p:txBody>
      </p:sp>
      <p:sp>
        <p:nvSpPr>
          <p:cNvPr id="5" name="Slide Number Placeholder 4">
            <a:extLst>
              <a:ext uri="{FF2B5EF4-FFF2-40B4-BE49-F238E27FC236}">
                <a16:creationId xmlns:a16="http://schemas.microsoft.com/office/drawing/2014/main" id="{77DB177A-996B-F316-9FF7-E389F8F0A499}"/>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Usage of Statistics in Different Domains</a:t>
            </a:r>
          </a:p>
        </p:txBody>
      </p:sp>
      <p:sp>
        <p:nvSpPr>
          <p:cNvPr id="3" name="Content Placeholder 2"/>
          <p:cNvSpPr>
            <a:spLocks noGrp="1"/>
          </p:cNvSpPr>
          <p:nvPr>
            <p:ph idx="1"/>
          </p:nvPr>
        </p:nvSpPr>
        <p:spPr/>
        <p:txBody>
          <a:bodyPr>
            <a:normAutofit/>
          </a:bodyPr>
          <a:lstStyle/>
          <a:p>
            <a:r>
              <a:rPr dirty="0"/>
              <a:t>Business and Economics:</a:t>
            </a:r>
          </a:p>
          <a:p>
            <a:pPr lvl="1"/>
            <a:r>
              <a:rPr dirty="0"/>
              <a:t>Market analysis</a:t>
            </a:r>
          </a:p>
          <a:p>
            <a:pPr lvl="1"/>
            <a:r>
              <a:rPr dirty="0"/>
              <a:t>Financial forecasting</a:t>
            </a:r>
          </a:p>
          <a:p>
            <a:r>
              <a:rPr dirty="0"/>
              <a:t>Healthcare:</a:t>
            </a:r>
          </a:p>
          <a:p>
            <a:pPr lvl="1"/>
            <a:r>
              <a:rPr dirty="0"/>
              <a:t>Clinical trials</a:t>
            </a:r>
          </a:p>
          <a:p>
            <a:r>
              <a:rPr dirty="0"/>
              <a:t>Government:</a:t>
            </a:r>
          </a:p>
          <a:p>
            <a:pPr lvl="1"/>
            <a:r>
              <a:rPr dirty="0"/>
              <a:t>Policy-making</a:t>
            </a:r>
          </a:p>
          <a:p>
            <a:pPr lvl="1"/>
            <a:r>
              <a:rPr dirty="0"/>
              <a:t>Census data analysis</a:t>
            </a:r>
          </a:p>
        </p:txBody>
      </p:sp>
      <p:sp>
        <p:nvSpPr>
          <p:cNvPr id="4" name="Footer Placeholder 3">
            <a:extLst>
              <a:ext uri="{FF2B5EF4-FFF2-40B4-BE49-F238E27FC236}">
                <a16:creationId xmlns:a16="http://schemas.microsoft.com/office/drawing/2014/main" id="{B4D858D7-3592-7D55-D9B1-BB8E1A1D184D}"/>
              </a:ext>
            </a:extLst>
          </p:cNvPr>
          <p:cNvSpPr>
            <a:spLocks noGrp="1"/>
          </p:cNvSpPr>
          <p:nvPr>
            <p:ph type="ftr" sz="quarter" idx="11"/>
          </p:nvPr>
        </p:nvSpPr>
        <p:spPr/>
        <p:txBody>
          <a:bodyPr/>
          <a:lstStyle/>
          <a:p>
            <a:r>
              <a:rPr lang="en-GB"/>
              <a:t>Department of Computer Science, COMSATS University, Islamabad.</a:t>
            </a:r>
            <a:endParaRPr lang="en-US"/>
          </a:p>
        </p:txBody>
      </p:sp>
      <p:sp>
        <p:nvSpPr>
          <p:cNvPr id="5" name="Slide Number Placeholder 4">
            <a:extLst>
              <a:ext uri="{FF2B5EF4-FFF2-40B4-BE49-F238E27FC236}">
                <a16:creationId xmlns:a16="http://schemas.microsoft.com/office/drawing/2014/main" id="{B780DA05-477F-4E77-C009-494CC7458111}"/>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7519" y="741391"/>
            <a:ext cx="2591866" cy="1616203"/>
          </a:xfrm>
        </p:spPr>
        <p:txBody>
          <a:bodyPr anchor="b">
            <a:normAutofit/>
          </a:bodyPr>
          <a:lstStyle/>
          <a:p>
            <a:r>
              <a:rPr lang="en-GB" sz="2800"/>
              <a:t>Significance of Statistics in Data Science</a:t>
            </a:r>
          </a:p>
        </p:txBody>
      </p:sp>
      <p:sp>
        <p:nvSpPr>
          <p:cNvPr id="3" name="Content Placeholder 2"/>
          <p:cNvSpPr>
            <a:spLocks noGrp="1"/>
          </p:cNvSpPr>
          <p:nvPr>
            <p:ph idx="1"/>
          </p:nvPr>
        </p:nvSpPr>
        <p:spPr>
          <a:xfrm>
            <a:off x="657519" y="2533476"/>
            <a:ext cx="2591866" cy="3447832"/>
          </a:xfrm>
        </p:spPr>
        <p:txBody>
          <a:bodyPr anchor="t">
            <a:normAutofit/>
          </a:bodyPr>
          <a:lstStyle/>
          <a:p>
            <a:r>
              <a:rPr lang="en-GB" sz="1700"/>
              <a:t>Statistics plays a crucial role in data science:</a:t>
            </a:r>
          </a:p>
          <a:p>
            <a:pPr lvl="1"/>
            <a:r>
              <a:rPr lang="en-GB" sz="1700"/>
              <a:t>Data cleaning and preprocessing</a:t>
            </a:r>
          </a:p>
          <a:p>
            <a:pPr lvl="1"/>
            <a:r>
              <a:rPr lang="en-GB" sz="1700"/>
              <a:t>Exploratory data analysis</a:t>
            </a:r>
          </a:p>
          <a:p>
            <a:pPr lvl="1"/>
            <a:r>
              <a:rPr lang="en-GB" sz="1700"/>
              <a:t>Model selection and validation</a:t>
            </a:r>
          </a:p>
        </p:txBody>
      </p:sp>
      <p:pic>
        <p:nvPicPr>
          <p:cNvPr id="6" name="Picture 5">
            <a:extLst>
              <a:ext uri="{FF2B5EF4-FFF2-40B4-BE49-F238E27FC236}">
                <a16:creationId xmlns:a16="http://schemas.microsoft.com/office/drawing/2014/main" id="{9D1BF2FF-5C7C-6A52-F38E-D069E030BC18}"/>
              </a:ext>
            </a:extLst>
          </p:cNvPr>
          <p:cNvPicPr>
            <a:picLocks noChangeAspect="1"/>
          </p:cNvPicPr>
          <p:nvPr/>
        </p:nvPicPr>
        <p:blipFill>
          <a:blip r:embed="rId2"/>
          <a:stretch>
            <a:fillRect/>
          </a:stretch>
        </p:blipFill>
        <p:spPr>
          <a:xfrm>
            <a:off x="3740754" y="1456951"/>
            <a:ext cx="4792009" cy="3953407"/>
          </a:xfrm>
          <a:prstGeom prst="rect">
            <a:avLst/>
          </a:prstGeom>
        </p:spPr>
      </p:pic>
      <p:grpSp>
        <p:nvGrpSpPr>
          <p:cNvPr id="16" name="Group 15">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051478" y="0"/>
            <a:ext cx="92522" cy="6858000"/>
            <a:chOff x="12068638" y="0"/>
            <a:chExt cx="123362" cy="6858000"/>
          </a:xfrm>
        </p:grpSpPr>
        <p:sp>
          <p:nvSpPr>
            <p:cNvPr id="17" name="Rectangle 16">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Footer Placeholder 6">
            <a:extLst>
              <a:ext uri="{FF2B5EF4-FFF2-40B4-BE49-F238E27FC236}">
                <a16:creationId xmlns:a16="http://schemas.microsoft.com/office/drawing/2014/main" id="{EBA895E0-0571-7059-5B83-B7963E53D04A}"/>
              </a:ext>
            </a:extLst>
          </p:cNvPr>
          <p:cNvSpPr>
            <a:spLocks noGrp="1"/>
          </p:cNvSpPr>
          <p:nvPr>
            <p:ph type="ftr" sz="quarter" idx="11"/>
          </p:nvPr>
        </p:nvSpPr>
        <p:spPr/>
        <p:txBody>
          <a:bodyPr/>
          <a:lstStyle/>
          <a:p>
            <a:r>
              <a:rPr lang="en-GB"/>
              <a:t>Department of Computer Science, COMSATS University, Islamabad.</a:t>
            </a:r>
            <a:endParaRPr lang="en-US"/>
          </a:p>
        </p:txBody>
      </p:sp>
      <p:sp>
        <p:nvSpPr>
          <p:cNvPr id="8" name="Slide Number Placeholder 7">
            <a:extLst>
              <a:ext uri="{FF2B5EF4-FFF2-40B4-BE49-F238E27FC236}">
                <a16:creationId xmlns:a16="http://schemas.microsoft.com/office/drawing/2014/main" id="{13989D0D-D4E0-52BB-1877-C5ABAB76065B}"/>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Statistical Terminologies</a:t>
            </a:r>
          </a:p>
        </p:txBody>
      </p:sp>
      <p:sp>
        <p:nvSpPr>
          <p:cNvPr id="3" name="Content Placeholder 2"/>
          <p:cNvSpPr>
            <a:spLocks noGrp="1"/>
          </p:cNvSpPr>
          <p:nvPr>
            <p:ph idx="1"/>
          </p:nvPr>
        </p:nvSpPr>
        <p:spPr/>
        <p:txBody>
          <a:bodyPr>
            <a:normAutofit fontScale="77500" lnSpcReduction="20000"/>
          </a:bodyPr>
          <a:lstStyle/>
          <a:p>
            <a:r>
              <a:rPr b="1" dirty="0"/>
              <a:t>Population vs. Sample</a:t>
            </a:r>
            <a:endParaRPr lang="en-GB" b="1" dirty="0"/>
          </a:p>
          <a:p>
            <a:pPr lvl="1"/>
            <a:r>
              <a:rPr lang="LID4096" altLang="LID4096" dirty="0"/>
              <a:t>Population: The complete set of items or individuals that you are interested in studying.</a:t>
            </a:r>
            <a:endParaRPr lang="en-GB" altLang="LID4096" dirty="0"/>
          </a:p>
          <a:p>
            <a:pPr lvl="1"/>
            <a:r>
              <a:rPr lang="LID4096" altLang="LID4096" dirty="0"/>
              <a:t>Sample: A subset of the population that is selected to represent the whole population. </a:t>
            </a:r>
            <a:endParaRPr lang="en-GB" altLang="LID4096" dirty="0"/>
          </a:p>
          <a:p>
            <a:r>
              <a:rPr lang="en-GB" altLang="LID4096" b="1" dirty="0"/>
              <a:t>Parameter vs. Statistic</a:t>
            </a:r>
          </a:p>
          <a:p>
            <a:pPr lvl="1"/>
            <a:r>
              <a:rPr lang="en-GB" altLang="LID4096" b="1" dirty="0"/>
              <a:t>Parameter:</a:t>
            </a:r>
            <a:r>
              <a:rPr lang="en-GB" altLang="LID4096" dirty="0"/>
              <a:t> numerical characteristic of a population</a:t>
            </a:r>
          </a:p>
          <a:p>
            <a:pPr lvl="1"/>
            <a:r>
              <a:rPr lang="en-GB" altLang="LID4096" b="1" dirty="0"/>
              <a:t>Statistic:</a:t>
            </a:r>
            <a:r>
              <a:rPr lang="en-GB" altLang="LID4096" dirty="0"/>
              <a:t> numerical characteristic of a sample</a:t>
            </a:r>
          </a:p>
          <a:p>
            <a:r>
              <a:rPr lang="de-DE" b="1" dirty="0"/>
              <a:t>Descriptive vs. Inferential Statistics</a:t>
            </a:r>
          </a:p>
          <a:p>
            <a:pPr marR="0" lvl="1" fontAlgn="base">
              <a:lnSpc>
                <a:spcPct val="100000"/>
              </a:lnSpc>
              <a:spcAft>
                <a:spcPct val="0"/>
              </a:spcAft>
              <a:buClrTx/>
              <a:buSzTx/>
              <a:tabLst/>
            </a:pPr>
            <a:r>
              <a:rPr lang="LID4096" altLang="LID4096" dirty="0"/>
              <a:t>Descriptive Statistics: Methods used to summarize and describe the important characteristics of a data set.</a:t>
            </a:r>
          </a:p>
          <a:p>
            <a:pPr marR="0" lvl="1" fontAlgn="base">
              <a:lnSpc>
                <a:spcPct val="100000"/>
              </a:lnSpc>
              <a:spcAft>
                <a:spcPct val="0"/>
              </a:spcAft>
              <a:buClrTx/>
              <a:buSzTx/>
              <a:tabLst/>
            </a:pPr>
            <a:r>
              <a:rPr lang="LID4096" altLang="LID4096" dirty="0"/>
              <a:t>Inferential Statistics: Methods used to make inferences or predictions about a population based on sample data. </a:t>
            </a:r>
            <a:endParaRPr dirty="0"/>
          </a:p>
        </p:txBody>
      </p:sp>
      <p:sp>
        <p:nvSpPr>
          <p:cNvPr id="6" name="Footer Placeholder 5">
            <a:extLst>
              <a:ext uri="{FF2B5EF4-FFF2-40B4-BE49-F238E27FC236}">
                <a16:creationId xmlns:a16="http://schemas.microsoft.com/office/drawing/2014/main" id="{1BE255F6-4569-B478-C303-094B4AABB5CA}"/>
              </a:ext>
            </a:extLst>
          </p:cNvPr>
          <p:cNvSpPr>
            <a:spLocks noGrp="1"/>
          </p:cNvSpPr>
          <p:nvPr>
            <p:ph type="ftr" sz="quarter" idx="11"/>
          </p:nvPr>
        </p:nvSpPr>
        <p:spPr/>
        <p:txBody>
          <a:bodyPr/>
          <a:lstStyle/>
          <a:p>
            <a:r>
              <a:rPr lang="en-GB"/>
              <a:t>Department of Computer Science, COMSATS University, Islamabad.</a:t>
            </a:r>
            <a:endParaRPr lang="en-US"/>
          </a:p>
        </p:txBody>
      </p:sp>
      <p:sp>
        <p:nvSpPr>
          <p:cNvPr id="7" name="Slide Number Placeholder 6">
            <a:extLst>
              <a:ext uri="{FF2B5EF4-FFF2-40B4-BE49-F238E27FC236}">
                <a16:creationId xmlns:a16="http://schemas.microsoft.com/office/drawing/2014/main" id="{BDE8A8AC-5C35-D13C-AB27-4A6E4570AB39}"/>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Statistical Terminologies</a:t>
            </a:r>
          </a:p>
        </p:txBody>
      </p:sp>
      <p:sp>
        <p:nvSpPr>
          <p:cNvPr id="3" name="Content Placeholder 2"/>
          <p:cNvSpPr>
            <a:spLocks noGrp="1"/>
          </p:cNvSpPr>
          <p:nvPr>
            <p:ph idx="1"/>
          </p:nvPr>
        </p:nvSpPr>
        <p:spPr/>
        <p:txBody>
          <a:bodyPr>
            <a:normAutofit fontScale="92500" lnSpcReduction="20000"/>
          </a:bodyPr>
          <a:lstStyle/>
          <a:p>
            <a:r>
              <a:rPr b="1" dirty="0"/>
              <a:t>Variables: </a:t>
            </a:r>
            <a:r>
              <a:rPr lang="de-DE" dirty="0"/>
              <a:t>characteristics or attributes</a:t>
            </a:r>
            <a:endParaRPr lang="en-GB" dirty="0"/>
          </a:p>
          <a:p>
            <a:pPr lvl="1"/>
            <a:r>
              <a:rPr b="1" dirty="0"/>
              <a:t>Numerical</a:t>
            </a:r>
            <a:r>
              <a:rPr lang="en-GB" b="1" dirty="0"/>
              <a:t>: </a:t>
            </a:r>
            <a:r>
              <a:rPr lang="en-GB" dirty="0"/>
              <a:t>measurable quantities and can be expressed as numbers. Discrete (children in a family), Continues (age, salary)</a:t>
            </a:r>
            <a:endParaRPr lang="en-US" dirty="0"/>
          </a:p>
          <a:p>
            <a:pPr lvl="1"/>
            <a:r>
              <a:rPr lang="de-DE" b="1" dirty="0"/>
              <a:t>Categorical: </a:t>
            </a:r>
            <a:r>
              <a:rPr lang="de-DE" dirty="0"/>
              <a:t>represent categories or groups. Binary(true/false), Nominal (Ethnicity), Ordinal (level of Education) </a:t>
            </a:r>
            <a:endParaRPr lang="en-US" dirty="0"/>
          </a:p>
          <a:p>
            <a:pPr lvl="1"/>
            <a:r>
              <a:rPr dirty="0"/>
              <a:t> </a:t>
            </a:r>
            <a:r>
              <a:rPr b="1" dirty="0"/>
              <a:t>Independent</a:t>
            </a:r>
            <a:r>
              <a:rPr lang="en-GB" b="1" dirty="0"/>
              <a:t>: </a:t>
            </a:r>
            <a:r>
              <a:rPr lang="en-GB" dirty="0"/>
              <a:t>variables that are manipulated or controlled in a study. They are inputs to a statistical model (income)</a:t>
            </a:r>
          </a:p>
          <a:p>
            <a:pPr lvl="1"/>
            <a:r>
              <a:rPr b="1" dirty="0"/>
              <a:t>Dependent</a:t>
            </a:r>
            <a:r>
              <a:rPr lang="en-GB" b="1" dirty="0"/>
              <a:t>: </a:t>
            </a:r>
            <a:r>
              <a:rPr lang="en-GB" dirty="0"/>
              <a:t>variables that are measured or observed in a study (Expenditures)</a:t>
            </a:r>
            <a:endParaRPr b="1" dirty="0"/>
          </a:p>
        </p:txBody>
      </p:sp>
      <p:sp>
        <p:nvSpPr>
          <p:cNvPr id="5" name="Footer Placeholder 4">
            <a:extLst>
              <a:ext uri="{FF2B5EF4-FFF2-40B4-BE49-F238E27FC236}">
                <a16:creationId xmlns:a16="http://schemas.microsoft.com/office/drawing/2014/main" id="{AF6E54DD-BD8E-735D-B9FB-FD2367C3A0C5}"/>
              </a:ext>
            </a:extLst>
          </p:cNvPr>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a:extLst>
              <a:ext uri="{FF2B5EF4-FFF2-40B4-BE49-F238E27FC236}">
                <a16:creationId xmlns:a16="http://schemas.microsoft.com/office/drawing/2014/main" id="{8C62D8A3-E946-F361-D21C-273A0D731EFB}"/>
              </a:ext>
            </a:extLst>
          </p:cNvPr>
          <p:cNvSpPr>
            <a:spLocks noGrp="1"/>
          </p:cNvSpPr>
          <p:nvPr>
            <p:ph type="sldNum" sz="quarter" idx="12"/>
          </p:nvPr>
        </p:nvSpPr>
        <p:spPr/>
        <p:txBody>
          <a:bodyPr/>
          <a:lstStyle/>
          <a:p>
            <a:fld id="{C1FF6DA9-008F-8B48-92A6-B652298478BF}" type="slidenum">
              <a:rPr lang="en-US" smtClean="0"/>
              <a:t>6</a:t>
            </a:fld>
            <a:endParaRPr lang="en-US"/>
          </a:p>
        </p:txBody>
      </p:sp>
    </p:spTree>
    <p:extLst>
      <p:ext uri="{BB962C8B-B14F-4D97-AF65-F5344CB8AC3E}">
        <p14:creationId xmlns:p14="http://schemas.microsoft.com/office/powerpoint/2010/main" val="1936660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Steps in the Statistical Process</a:t>
            </a:r>
          </a:p>
        </p:txBody>
      </p:sp>
      <p:sp>
        <p:nvSpPr>
          <p:cNvPr id="3" name="Content Placeholder 2"/>
          <p:cNvSpPr>
            <a:spLocks noGrp="1"/>
          </p:cNvSpPr>
          <p:nvPr>
            <p:ph idx="1"/>
          </p:nvPr>
        </p:nvSpPr>
        <p:spPr/>
        <p:txBody>
          <a:bodyPr>
            <a:normAutofit/>
          </a:bodyPr>
          <a:lstStyle/>
          <a:p>
            <a:r>
              <a:rPr sz="2800" b="1" dirty="0"/>
              <a:t>Define the Problem: </a:t>
            </a:r>
            <a:r>
              <a:rPr sz="2800" dirty="0"/>
              <a:t>Formulate research questions/hypotheses</a:t>
            </a:r>
          </a:p>
          <a:p>
            <a:r>
              <a:rPr sz="2800" b="1" dirty="0"/>
              <a:t>Design the Study: </a:t>
            </a:r>
            <a:r>
              <a:rPr sz="2800" dirty="0"/>
              <a:t>Select appropriate methods and data collection techniques</a:t>
            </a:r>
          </a:p>
          <a:p>
            <a:r>
              <a:rPr sz="2800" b="1" dirty="0"/>
              <a:t>Collect Data: </a:t>
            </a:r>
            <a:r>
              <a:rPr sz="2800" dirty="0"/>
              <a:t>Methods of data collection</a:t>
            </a:r>
          </a:p>
          <a:p>
            <a:r>
              <a:rPr sz="2800" b="1" dirty="0"/>
              <a:t>Analyze Data: </a:t>
            </a:r>
            <a:r>
              <a:rPr sz="2800" dirty="0"/>
              <a:t>Descriptive and inferential statistics</a:t>
            </a:r>
          </a:p>
          <a:p>
            <a:r>
              <a:rPr sz="2800" b="1" dirty="0"/>
              <a:t>Interpret Results: </a:t>
            </a:r>
            <a:r>
              <a:rPr sz="2800" dirty="0"/>
              <a:t>Draw conclusions based on data analysis</a:t>
            </a:r>
          </a:p>
          <a:p>
            <a:r>
              <a:rPr sz="2800" b="1" dirty="0"/>
              <a:t>Report Findings: </a:t>
            </a:r>
            <a:r>
              <a:rPr sz="2800" dirty="0"/>
              <a:t>Communicate results effectively</a:t>
            </a:r>
          </a:p>
        </p:txBody>
      </p:sp>
      <p:sp>
        <p:nvSpPr>
          <p:cNvPr id="4" name="Footer Placeholder 3">
            <a:extLst>
              <a:ext uri="{FF2B5EF4-FFF2-40B4-BE49-F238E27FC236}">
                <a16:creationId xmlns:a16="http://schemas.microsoft.com/office/drawing/2014/main" id="{61B4A0F1-7ADE-4D54-EE05-9E1F7C200109}"/>
              </a:ext>
            </a:extLst>
          </p:cNvPr>
          <p:cNvSpPr>
            <a:spLocks noGrp="1"/>
          </p:cNvSpPr>
          <p:nvPr>
            <p:ph type="ftr" sz="quarter" idx="11"/>
          </p:nvPr>
        </p:nvSpPr>
        <p:spPr/>
        <p:txBody>
          <a:bodyPr/>
          <a:lstStyle/>
          <a:p>
            <a:r>
              <a:rPr lang="en-GB"/>
              <a:t>Department of Computer Science, COMSATS University, Islamabad.</a:t>
            </a:r>
            <a:endParaRPr lang="en-US"/>
          </a:p>
        </p:txBody>
      </p:sp>
      <p:sp>
        <p:nvSpPr>
          <p:cNvPr id="5" name="Slide Number Placeholder 4">
            <a:extLst>
              <a:ext uri="{FF2B5EF4-FFF2-40B4-BE49-F238E27FC236}">
                <a16:creationId xmlns:a16="http://schemas.microsoft.com/office/drawing/2014/main" id="{804A9339-5D84-0FFF-4D1F-55BE90FC43ED}"/>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74B4-812F-FE2F-68ED-1C0A5DC9E74F}"/>
              </a:ext>
            </a:extLst>
          </p:cNvPr>
          <p:cNvSpPr>
            <a:spLocks noGrp="1"/>
          </p:cNvSpPr>
          <p:nvPr>
            <p:ph type="title"/>
          </p:nvPr>
        </p:nvSpPr>
        <p:spPr/>
        <p:txBody>
          <a:bodyPr/>
          <a:lstStyle/>
          <a:p>
            <a:r>
              <a:rPr lang="de-DE" sz="4400" b="1" dirty="0"/>
              <a:t>1. Problem Definition</a:t>
            </a:r>
            <a:endParaRPr lang="LID4096" dirty="0"/>
          </a:p>
        </p:txBody>
      </p:sp>
      <p:sp>
        <p:nvSpPr>
          <p:cNvPr id="3" name="Content Placeholder 2">
            <a:extLst>
              <a:ext uri="{FF2B5EF4-FFF2-40B4-BE49-F238E27FC236}">
                <a16:creationId xmlns:a16="http://schemas.microsoft.com/office/drawing/2014/main" id="{DA3B61A7-FA8B-070C-4868-6834219CD124}"/>
              </a:ext>
            </a:extLst>
          </p:cNvPr>
          <p:cNvSpPr>
            <a:spLocks noGrp="1"/>
          </p:cNvSpPr>
          <p:nvPr>
            <p:ph idx="1"/>
          </p:nvPr>
        </p:nvSpPr>
        <p:spPr/>
        <p:txBody>
          <a:bodyPr>
            <a:normAutofit/>
          </a:bodyPr>
          <a:lstStyle/>
          <a:p>
            <a:pPr defTabSz="914400" eaLnBrk="0" fontAlgn="base" hangingPunct="0">
              <a:spcBef>
                <a:spcPct val="0"/>
              </a:spcBef>
              <a:spcAft>
                <a:spcPct val="0"/>
              </a:spcAft>
            </a:pPr>
            <a:r>
              <a:rPr kumimoji="0" lang="LID4096" altLang="LID4096" sz="2800" b="0" i="0" u="none" strike="noStrike" cap="none" normalizeH="0" baseline="0" dirty="0">
                <a:ln>
                  <a:noFill/>
                </a:ln>
                <a:solidFill>
                  <a:schemeClr val="tx1"/>
                </a:solidFill>
                <a:effectLst/>
                <a:latin typeface="Arial" panose="020B0604020202020204" pitchFamily="34" charset="0"/>
              </a:rPr>
              <a:t>Process of clearly defining the research problem or question</a:t>
            </a:r>
          </a:p>
          <a:p>
            <a:pPr defTabSz="914400" eaLnBrk="0" fontAlgn="base" hangingPunct="0">
              <a:spcBef>
                <a:spcPct val="0"/>
              </a:spcBef>
              <a:spcAft>
                <a:spcPct val="0"/>
              </a:spcAft>
            </a:pPr>
            <a:r>
              <a:rPr kumimoji="0" lang="LID4096" altLang="LID4096" sz="2800" b="0" i="0" u="none" strike="noStrike" cap="none" normalizeH="0" baseline="0" dirty="0">
                <a:ln>
                  <a:noFill/>
                </a:ln>
                <a:solidFill>
                  <a:schemeClr val="tx1"/>
                </a:solidFill>
                <a:effectLst/>
                <a:latin typeface="Arial" panose="020B0604020202020204" pitchFamily="34" charset="0"/>
              </a:rPr>
              <a:t>Establishes the scope and objectives of the study</a:t>
            </a:r>
            <a:endParaRPr kumimoji="0" lang="en-GB" altLang="LID4096" sz="2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pPr>
            <a:r>
              <a:rPr lang="en-GB" altLang="LID4096" sz="2800" dirty="0">
                <a:latin typeface="Arial" panose="020B0604020202020204" pitchFamily="34" charset="0"/>
              </a:rPr>
              <a:t>Steps:</a:t>
            </a:r>
            <a:endParaRPr kumimoji="0" lang="en-GB" altLang="LID4096" sz="2800" b="0" i="0" u="none" strike="noStrike" cap="none" normalizeH="0" baseline="0" dirty="0">
              <a:ln>
                <a:noFill/>
              </a:ln>
              <a:solidFill>
                <a:schemeClr val="tx1"/>
              </a:solidFill>
              <a:effectLst/>
              <a:latin typeface="Arial" panose="020B0604020202020204" pitchFamily="34" charset="0"/>
            </a:endParaRPr>
          </a:p>
          <a:p>
            <a:pPr marL="914400" lvl="1" indent="-457200">
              <a:buFont typeface="+mj-lt"/>
              <a:buAutoNum type="arabicPeriod"/>
            </a:pPr>
            <a:r>
              <a:rPr lang="en-GB" sz="2400" dirty="0"/>
              <a:t>Identify the Research Area</a:t>
            </a:r>
          </a:p>
          <a:p>
            <a:pPr marL="914400" lvl="1" indent="-457200">
              <a:buFont typeface="+mj-lt"/>
              <a:buAutoNum type="arabicPeriod"/>
            </a:pPr>
            <a:r>
              <a:rPr lang="en-GB" sz="2400" dirty="0"/>
              <a:t>Review Existing Literature</a:t>
            </a:r>
          </a:p>
          <a:p>
            <a:pPr marL="914400" lvl="1" indent="-457200">
              <a:buFont typeface="+mj-lt"/>
              <a:buAutoNum type="arabicPeriod"/>
            </a:pPr>
            <a:r>
              <a:rPr lang="en-GB" sz="2400" dirty="0"/>
              <a:t>Define the Research Problem</a:t>
            </a:r>
          </a:p>
          <a:p>
            <a:pPr marL="914400" lvl="1" indent="-457200">
              <a:buFont typeface="+mj-lt"/>
              <a:buAutoNum type="arabicPeriod"/>
            </a:pPr>
            <a:r>
              <a:rPr lang="en-GB" sz="2400" dirty="0"/>
              <a:t>Formulate Research Questions or Hypotheses</a:t>
            </a:r>
          </a:p>
          <a:p>
            <a:pPr marL="914400" lvl="1" indent="-457200">
              <a:buFont typeface="+mj-lt"/>
              <a:buAutoNum type="arabicPeriod"/>
            </a:pPr>
            <a:r>
              <a:rPr lang="en-GB" sz="2400" dirty="0"/>
              <a:t>Justify the Importance of the Study</a:t>
            </a:r>
          </a:p>
          <a:p>
            <a:pPr defTabSz="914400" eaLnBrk="0" fontAlgn="base" hangingPunct="0">
              <a:spcBef>
                <a:spcPct val="0"/>
              </a:spcBef>
              <a:spcAft>
                <a:spcPct val="0"/>
              </a:spcAft>
            </a:pPr>
            <a:endParaRPr kumimoji="0" lang="LID4096" altLang="LID4096" sz="3200" b="0" i="0" u="none" strike="noStrike" cap="none" normalizeH="0" baseline="0" dirty="0">
              <a:ln>
                <a:noFill/>
              </a:ln>
              <a:solidFill>
                <a:schemeClr val="tx1"/>
              </a:solidFill>
              <a:effectLst/>
              <a:latin typeface="Arial" panose="020B0604020202020204" pitchFamily="34" charset="0"/>
            </a:endParaRPr>
          </a:p>
          <a:p>
            <a:endParaRPr lang="LID4096" dirty="0"/>
          </a:p>
        </p:txBody>
      </p:sp>
      <p:sp>
        <p:nvSpPr>
          <p:cNvPr id="8" name="Rectangle 1">
            <a:extLst>
              <a:ext uri="{FF2B5EF4-FFF2-40B4-BE49-F238E27FC236}">
                <a16:creationId xmlns:a16="http://schemas.microsoft.com/office/drawing/2014/main" id="{3240B1C9-702B-8526-972A-B895FF3B5C1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9" name="Footer Placeholder 8">
            <a:extLst>
              <a:ext uri="{FF2B5EF4-FFF2-40B4-BE49-F238E27FC236}">
                <a16:creationId xmlns:a16="http://schemas.microsoft.com/office/drawing/2014/main" id="{84E37476-9880-99E8-42A8-47F0D72D6EB8}"/>
              </a:ext>
            </a:extLst>
          </p:cNvPr>
          <p:cNvSpPr>
            <a:spLocks noGrp="1"/>
          </p:cNvSpPr>
          <p:nvPr>
            <p:ph type="ftr" sz="quarter" idx="11"/>
          </p:nvPr>
        </p:nvSpPr>
        <p:spPr/>
        <p:txBody>
          <a:bodyPr/>
          <a:lstStyle/>
          <a:p>
            <a:r>
              <a:rPr lang="en-GB"/>
              <a:t>Department of Computer Science, COMSATS University, Islamabad.</a:t>
            </a:r>
            <a:endParaRPr lang="en-US"/>
          </a:p>
        </p:txBody>
      </p:sp>
      <p:sp>
        <p:nvSpPr>
          <p:cNvPr id="10" name="Slide Number Placeholder 9">
            <a:extLst>
              <a:ext uri="{FF2B5EF4-FFF2-40B4-BE49-F238E27FC236}">
                <a16:creationId xmlns:a16="http://schemas.microsoft.com/office/drawing/2014/main" id="{7619D819-8BC0-EBA8-CF3A-27E9B356EA68}"/>
              </a:ext>
            </a:extLst>
          </p:cNvPr>
          <p:cNvSpPr>
            <a:spLocks noGrp="1"/>
          </p:cNvSpPr>
          <p:nvPr>
            <p:ph type="sldNum" sz="quarter" idx="12"/>
          </p:nvPr>
        </p:nvSpPr>
        <p:spPr/>
        <p:txBody>
          <a:bodyPr/>
          <a:lstStyle/>
          <a:p>
            <a:fld id="{C1FF6DA9-008F-8B48-92A6-B652298478BF}" type="slidenum">
              <a:rPr lang="en-US" smtClean="0"/>
              <a:t>8</a:t>
            </a:fld>
            <a:endParaRPr lang="en-US"/>
          </a:p>
        </p:txBody>
      </p:sp>
    </p:spTree>
    <p:extLst>
      <p:ext uri="{BB962C8B-B14F-4D97-AF65-F5344CB8AC3E}">
        <p14:creationId xmlns:p14="http://schemas.microsoft.com/office/powerpoint/2010/main" val="647865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74B4-812F-FE2F-68ED-1C0A5DC9E74F}"/>
              </a:ext>
            </a:extLst>
          </p:cNvPr>
          <p:cNvSpPr>
            <a:spLocks noGrp="1"/>
          </p:cNvSpPr>
          <p:nvPr>
            <p:ph type="title"/>
          </p:nvPr>
        </p:nvSpPr>
        <p:spPr/>
        <p:txBody>
          <a:bodyPr/>
          <a:lstStyle/>
          <a:p>
            <a:r>
              <a:rPr lang="de-DE" sz="4400" b="1" dirty="0"/>
              <a:t>1. Problem Definition...</a:t>
            </a:r>
            <a:endParaRPr lang="LID4096" dirty="0"/>
          </a:p>
        </p:txBody>
      </p:sp>
      <p:sp>
        <p:nvSpPr>
          <p:cNvPr id="3" name="Content Placeholder 2">
            <a:extLst>
              <a:ext uri="{FF2B5EF4-FFF2-40B4-BE49-F238E27FC236}">
                <a16:creationId xmlns:a16="http://schemas.microsoft.com/office/drawing/2014/main" id="{DA3B61A7-FA8B-070C-4868-6834219CD124}"/>
              </a:ext>
            </a:extLst>
          </p:cNvPr>
          <p:cNvSpPr>
            <a:spLocks noGrp="1"/>
          </p:cNvSpPr>
          <p:nvPr>
            <p:ph idx="1"/>
          </p:nvPr>
        </p:nvSpPr>
        <p:spPr/>
        <p:txBody>
          <a:bodyPr>
            <a:normAutofit/>
          </a:bodyPr>
          <a:lstStyle/>
          <a:p>
            <a:r>
              <a:rPr lang="en-GB" sz="2800" b="1" dirty="0">
                <a:latin typeface="+mj-lt"/>
              </a:rPr>
              <a:t>Example Project: </a:t>
            </a:r>
            <a:r>
              <a:rPr lang="en-GB" sz="2800" dirty="0">
                <a:latin typeface="+mj-lt"/>
              </a:rPr>
              <a:t>Teaching ratings</a:t>
            </a:r>
          </a:p>
          <a:p>
            <a:pPr marL="0" indent="0">
              <a:buNone/>
            </a:pPr>
            <a:r>
              <a:rPr lang="en-GB" sz="2800" b="1" dirty="0">
                <a:latin typeface="+mj-lt"/>
              </a:rPr>
              <a:t>Research Problem</a:t>
            </a:r>
          </a:p>
          <a:p>
            <a:pPr defTabSz="914400" eaLnBrk="0" fontAlgn="base" hangingPunct="0">
              <a:spcBef>
                <a:spcPct val="0"/>
              </a:spcBef>
              <a:spcAft>
                <a:spcPct val="0"/>
              </a:spcAft>
            </a:pPr>
            <a:r>
              <a:rPr lang="en-GB" sz="2400" dirty="0"/>
              <a:t>Investigate factors influencing teaching ratings among university professors</a:t>
            </a:r>
          </a:p>
          <a:p>
            <a:pPr marL="0" indent="0" fontAlgn="base">
              <a:spcAft>
                <a:spcPct val="0"/>
              </a:spcAft>
              <a:buNone/>
            </a:pPr>
            <a:r>
              <a:rPr lang="en-GB" sz="2800" b="1" dirty="0">
                <a:latin typeface="+mj-lt"/>
              </a:rPr>
              <a:t>Main Research Question</a:t>
            </a:r>
          </a:p>
          <a:p>
            <a:pPr defTabSz="914400" eaLnBrk="0" fontAlgn="base" hangingPunct="0">
              <a:spcBef>
                <a:spcPct val="0"/>
              </a:spcBef>
              <a:spcAft>
                <a:spcPct val="0"/>
              </a:spcAft>
            </a:pPr>
            <a:r>
              <a:rPr lang="en-GB" sz="2400" dirty="0"/>
              <a:t>What factors contribute to variations in teaching ratings among university professors?</a:t>
            </a:r>
          </a:p>
          <a:p>
            <a:pPr marL="0" indent="0" fontAlgn="base">
              <a:spcAft>
                <a:spcPct val="0"/>
              </a:spcAft>
              <a:buNone/>
            </a:pPr>
            <a:endParaRPr lang="en-US" altLang="LID4096" sz="2800" b="1" dirty="0">
              <a:latin typeface="+mj-lt"/>
            </a:endParaRPr>
          </a:p>
          <a:p>
            <a:pPr marL="0" indent="0" fontAlgn="base">
              <a:spcAft>
                <a:spcPct val="0"/>
              </a:spcAft>
              <a:buNone/>
            </a:pPr>
            <a:endParaRPr lang="en-US" altLang="LID4096" sz="2800" b="1" dirty="0">
              <a:latin typeface="+mj-lt"/>
            </a:endParaRPr>
          </a:p>
          <a:p>
            <a:pPr marL="0" indent="0" fontAlgn="base">
              <a:spcAft>
                <a:spcPct val="0"/>
              </a:spcAft>
              <a:buNone/>
            </a:pPr>
            <a:endParaRPr lang="LID4096" altLang="LID4096" sz="2800" b="1" dirty="0">
              <a:latin typeface="+mj-lt"/>
            </a:endParaRPr>
          </a:p>
          <a:p>
            <a:endParaRPr lang="LID4096" dirty="0"/>
          </a:p>
        </p:txBody>
      </p:sp>
      <p:sp>
        <p:nvSpPr>
          <p:cNvPr id="8" name="Rectangle 1">
            <a:extLst>
              <a:ext uri="{FF2B5EF4-FFF2-40B4-BE49-F238E27FC236}">
                <a16:creationId xmlns:a16="http://schemas.microsoft.com/office/drawing/2014/main" id="{3240B1C9-702B-8526-972A-B895FF3B5C1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5" name="Footer Placeholder 4">
            <a:extLst>
              <a:ext uri="{FF2B5EF4-FFF2-40B4-BE49-F238E27FC236}">
                <a16:creationId xmlns:a16="http://schemas.microsoft.com/office/drawing/2014/main" id="{770B60DC-77B3-5A16-FFBC-4220D51D0E28}"/>
              </a:ext>
            </a:extLst>
          </p:cNvPr>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a:extLst>
              <a:ext uri="{FF2B5EF4-FFF2-40B4-BE49-F238E27FC236}">
                <a16:creationId xmlns:a16="http://schemas.microsoft.com/office/drawing/2014/main" id="{D25BC153-E624-947C-C338-D13C6E6FD093}"/>
              </a:ext>
            </a:extLst>
          </p:cNvPr>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2366618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74B4-812F-FE2F-68ED-1C0A5DC9E74F}"/>
              </a:ext>
            </a:extLst>
          </p:cNvPr>
          <p:cNvSpPr>
            <a:spLocks noGrp="1"/>
          </p:cNvSpPr>
          <p:nvPr>
            <p:ph type="title"/>
          </p:nvPr>
        </p:nvSpPr>
        <p:spPr/>
        <p:txBody>
          <a:bodyPr/>
          <a:lstStyle/>
          <a:p>
            <a:r>
              <a:rPr lang="de-DE" b="1" dirty="0"/>
              <a:t>1</a:t>
            </a:r>
            <a:r>
              <a:rPr lang="de-DE" sz="4400" b="1" dirty="0"/>
              <a:t>. Problem Definition...</a:t>
            </a:r>
            <a:endParaRPr lang="LID4096" dirty="0"/>
          </a:p>
        </p:txBody>
      </p:sp>
      <p:sp>
        <p:nvSpPr>
          <p:cNvPr id="3" name="Content Placeholder 2">
            <a:extLst>
              <a:ext uri="{FF2B5EF4-FFF2-40B4-BE49-F238E27FC236}">
                <a16:creationId xmlns:a16="http://schemas.microsoft.com/office/drawing/2014/main" id="{DA3B61A7-FA8B-070C-4868-6834219CD124}"/>
              </a:ext>
            </a:extLst>
          </p:cNvPr>
          <p:cNvSpPr>
            <a:spLocks noGrp="1"/>
          </p:cNvSpPr>
          <p:nvPr>
            <p:ph idx="1"/>
          </p:nvPr>
        </p:nvSpPr>
        <p:spPr/>
        <p:txBody>
          <a:bodyPr>
            <a:normAutofit/>
          </a:bodyPr>
          <a:lstStyle/>
          <a:p>
            <a:pPr marL="0" indent="0" fontAlgn="base">
              <a:spcAft>
                <a:spcPct val="0"/>
              </a:spcAft>
              <a:buNone/>
            </a:pPr>
            <a:r>
              <a:rPr lang="en-US" altLang="LID4096" sz="2800" b="1" dirty="0">
                <a:latin typeface="+mj-lt"/>
              </a:rPr>
              <a:t>Subsidiary Research Questions</a:t>
            </a:r>
          </a:p>
          <a:p>
            <a:pPr marR="0" lvl="0" defTabSz="914400" eaLnBrk="0" fontAlgn="base" hangingPunct="0">
              <a:lnSpc>
                <a:spcPct val="100000"/>
              </a:lnSpc>
              <a:spcBef>
                <a:spcPct val="0"/>
              </a:spcBef>
              <a:spcAft>
                <a:spcPct val="0"/>
              </a:spcAft>
              <a:buClrTx/>
              <a:buSzTx/>
              <a:tabLst/>
            </a:pPr>
            <a:r>
              <a:rPr lang="LID4096" altLang="LID4096" sz="2400" dirty="0"/>
              <a:t>How does teaching experience influence student ratings of professors?</a:t>
            </a:r>
          </a:p>
          <a:p>
            <a:pPr marR="0" lvl="0" defTabSz="914400" eaLnBrk="0" fontAlgn="base" hangingPunct="0">
              <a:lnSpc>
                <a:spcPct val="100000"/>
              </a:lnSpc>
              <a:spcBef>
                <a:spcPct val="0"/>
              </a:spcBef>
              <a:spcAft>
                <a:spcPct val="0"/>
              </a:spcAft>
              <a:buClrTx/>
              <a:buSzTx/>
              <a:tabLst/>
            </a:pPr>
            <a:r>
              <a:rPr lang="LID4096" altLang="LID4096" sz="2400" dirty="0"/>
              <a:t>Is there a correlation between professor accessibility outside of class and teaching ratings?</a:t>
            </a:r>
          </a:p>
          <a:p>
            <a:pPr marR="0" lvl="0" defTabSz="914400" eaLnBrk="0" fontAlgn="base" hangingPunct="0">
              <a:lnSpc>
                <a:spcPct val="100000"/>
              </a:lnSpc>
              <a:spcBef>
                <a:spcPct val="0"/>
              </a:spcBef>
              <a:spcAft>
                <a:spcPct val="0"/>
              </a:spcAft>
              <a:buClrTx/>
              <a:buSzTx/>
              <a:tabLst/>
            </a:pPr>
            <a:r>
              <a:rPr lang="LID4096" altLang="LID4096" sz="2400" dirty="0"/>
              <a:t>Do student demographics (e.g., age, major) affect perceptions of teaching quality?</a:t>
            </a:r>
          </a:p>
          <a:p>
            <a:pPr marR="0" lvl="0" defTabSz="914400" eaLnBrk="0" fontAlgn="base" hangingPunct="0">
              <a:lnSpc>
                <a:spcPct val="100000"/>
              </a:lnSpc>
              <a:spcBef>
                <a:spcPct val="0"/>
              </a:spcBef>
              <a:spcAft>
                <a:spcPct val="0"/>
              </a:spcAft>
              <a:buClrTx/>
              <a:buSzTx/>
              <a:tabLst/>
            </a:pPr>
            <a:r>
              <a:rPr lang="LID4096" altLang="LID4096" sz="2400" dirty="0"/>
              <a:t>Are there differences in teaching ratings across different disciplines or departments?</a:t>
            </a:r>
          </a:p>
          <a:p>
            <a:pPr marR="0" lvl="0" defTabSz="914400" eaLnBrk="0" fontAlgn="base" hangingPunct="0">
              <a:lnSpc>
                <a:spcPct val="100000"/>
              </a:lnSpc>
              <a:spcBef>
                <a:spcPct val="0"/>
              </a:spcBef>
              <a:spcAft>
                <a:spcPct val="0"/>
              </a:spcAft>
              <a:buClrTx/>
              <a:buSzTx/>
              <a:tabLst/>
            </a:pPr>
            <a:r>
              <a:rPr lang="LID4096" altLang="LID4096" sz="2400" dirty="0"/>
              <a:t>How does the use of technology in teaching impact student evaluations? </a:t>
            </a:r>
          </a:p>
          <a:p>
            <a:pPr marL="0" indent="0" fontAlgn="base">
              <a:spcAft>
                <a:spcPct val="0"/>
              </a:spcAft>
              <a:buNone/>
            </a:pPr>
            <a:endParaRPr lang="en-US" altLang="LID4096" sz="2800" b="1" dirty="0">
              <a:latin typeface="+mj-lt"/>
            </a:endParaRPr>
          </a:p>
          <a:p>
            <a:pPr marL="0" indent="0" fontAlgn="base">
              <a:spcAft>
                <a:spcPct val="0"/>
              </a:spcAft>
              <a:buNone/>
            </a:pPr>
            <a:endParaRPr lang="en-US" altLang="LID4096" sz="2800" b="1" dirty="0">
              <a:latin typeface="+mj-lt"/>
            </a:endParaRPr>
          </a:p>
          <a:p>
            <a:pPr marL="0" indent="0" fontAlgn="base">
              <a:spcAft>
                <a:spcPct val="0"/>
              </a:spcAft>
              <a:buNone/>
            </a:pPr>
            <a:endParaRPr lang="LID4096" altLang="LID4096" sz="2800" b="1" dirty="0">
              <a:latin typeface="+mj-lt"/>
            </a:endParaRPr>
          </a:p>
          <a:p>
            <a:endParaRPr lang="LID4096" dirty="0"/>
          </a:p>
        </p:txBody>
      </p:sp>
      <p:sp>
        <p:nvSpPr>
          <p:cNvPr id="8" name="Rectangle 1">
            <a:extLst>
              <a:ext uri="{FF2B5EF4-FFF2-40B4-BE49-F238E27FC236}">
                <a16:creationId xmlns:a16="http://schemas.microsoft.com/office/drawing/2014/main" id="{3240B1C9-702B-8526-972A-B895FF3B5C1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4" name="Footer Placeholder 3">
            <a:extLst>
              <a:ext uri="{FF2B5EF4-FFF2-40B4-BE49-F238E27FC236}">
                <a16:creationId xmlns:a16="http://schemas.microsoft.com/office/drawing/2014/main" id="{A9D7E8B6-CFD9-29F9-CA91-62495BCC0F4D}"/>
              </a:ext>
            </a:extLst>
          </p:cNvPr>
          <p:cNvSpPr>
            <a:spLocks noGrp="1"/>
          </p:cNvSpPr>
          <p:nvPr>
            <p:ph type="ftr" sz="quarter" idx="11"/>
          </p:nvPr>
        </p:nvSpPr>
        <p:spPr/>
        <p:txBody>
          <a:bodyPr/>
          <a:lstStyle/>
          <a:p>
            <a:r>
              <a:rPr lang="en-GB"/>
              <a:t>Department of Computer Science, COMSATS University, Islamabad.</a:t>
            </a:r>
            <a:endParaRPr lang="en-US"/>
          </a:p>
        </p:txBody>
      </p:sp>
      <p:sp>
        <p:nvSpPr>
          <p:cNvPr id="5" name="Slide Number Placeholder 4">
            <a:extLst>
              <a:ext uri="{FF2B5EF4-FFF2-40B4-BE49-F238E27FC236}">
                <a16:creationId xmlns:a16="http://schemas.microsoft.com/office/drawing/2014/main" id="{6E388A16-6ECC-0216-A894-113081749613}"/>
              </a:ext>
            </a:extLst>
          </p:cNvPr>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2579101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4E04E-BBAB-C3BC-A45B-AF558432D4BC}"/>
              </a:ext>
            </a:extLst>
          </p:cNvPr>
          <p:cNvSpPr>
            <a:spLocks noGrp="1"/>
          </p:cNvSpPr>
          <p:nvPr>
            <p:ph type="title"/>
          </p:nvPr>
        </p:nvSpPr>
        <p:spPr/>
        <p:txBody>
          <a:bodyPr/>
          <a:lstStyle/>
          <a:p>
            <a:r>
              <a:rPr lang="en-GB" b="1" dirty="0"/>
              <a:t>2. Study Desing</a:t>
            </a:r>
            <a:endParaRPr lang="LID4096" b="1" dirty="0"/>
          </a:p>
        </p:txBody>
      </p:sp>
      <p:sp>
        <p:nvSpPr>
          <p:cNvPr id="3" name="Content Placeholder 2">
            <a:extLst>
              <a:ext uri="{FF2B5EF4-FFF2-40B4-BE49-F238E27FC236}">
                <a16:creationId xmlns:a16="http://schemas.microsoft.com/office/drawing/2014/main" id="{455CE38D-E826-0731-E62A-A793318F710B}"/>
              </a:ext>
            </a:extLst>
          </p:cNvPr>
          <p:cNvSpPr>
            <a:spLocks noGrp="1"/>
          </p:cNvSpPr>
          <p:nvPr>
            <p:ph idx="1"/>
          </p:nvPr>
        </p:nvSpPr>
        <p:spPr>
          <a:xfrm>
            <a:off x="457200" y="1417638"/>
            <a:ext cx="8229600" cy="4708525"/>
          </a:xfrm>
        </p:spPr>
        <p:txBody>
          <a:bodyPr>
            <a:normAutofit fontScale="92500" lnSpcReduction="10000"/>
          </a:bodyPr>
          <a:lstStyle/>
          <a:p>
            <a:r>
              <a:rPr lang="en-GB" dirty="0"/>
              <a:t>The structure or plan that guides the collection and analysis of data</a:t>
            </a:r>
          </a:p>
          <a:p>
            <a:r>
              <a:rPr lang="en-GB" dirty="0"/>
              <a:t>Determines how research questions are answered, and conclusions drawn</a:t>
            </a:r>
          </a:p>
          <a:p>
            <a:r>
              <a:rPr lang="en-GB" b="1" dirty="0">
                <a:latin typeface="+mj-lt"/>
              </a:rPr>
              <a:t>Types of Study Desing:</a:t>
            </a:r>
          </a:p>
          <a:p>
            <a:pPr lvl="1"/>
            <a:r>
              <a:rPr kumimoji="0" lang="LID4096" altLang="LID4096" sz="2600" b="1" i="0" u="none" strike="noStrike" cap="none" normalizeH="0" baseline="0" dirty="0">
                <a:ln>
                  <a:noFill/>
                </a:ln>
                <a:solidFill>
                  <a:schemeClr val="tx1"/>
                </a:solidFill>
                <a:effectLst/>
              </a:rPr>
              <a:t>Cross-sectional Study:</a:t>
            </a:r>
            <a:r>
              <a:rPr kumimoji="0" lang="en-GB" altLang="LID4096" sz="2600" b="1" i="0" u="none" strike="noStrike" cap="none" normalizeH="0" baseline="0" dirty="0">
                <a:ln>
                  <a:noFill/>
                </a:ln>
                <a:solidFill>
                  <a:schemeClr val="tx1"/>
                </a:solidFill>
                <a:effectLst/>
              </a:rPr>
              <a:t> </a:t>
            </a:r>
            <a:r>
              <a:rPr kumimoji="0" lang="LID4096" altLang="LID4096" sz="2600" b="0" i="0" u="none" strike="noStrike" cap="none" normalizeH="0" baseline="0" dirty="0">
                <a:ln>
                  <a:noFill/>
                </a:ln>
                <a:solidFill>
                  <a:schemeClr val="tx1"/>
                </a:solidFill>
                <a:effectLst/>
              </a:rPr>
              <a:t>Collect data at a single point in time to analyze relationships</a:t>
            </a:r>
          </a:p>
          <a:p>
            <a:pPr lvl="1" defTabSz="914400" eaLnBrk="0" fontAlgn="base" hangingPunct="0">
              <a:spcBef>
                <a:spcPct val="0"/>
              </a:spcBef>
              <a:spcAft>
                <a:spcPct val="0"/>
              </a:spcAft>
            </a:pPr>
            <a:r>
              <a:rPr kumimoji="0" lang="LID4096" altLang="LID4096" sz="2600" b="1" i="0" u="none" strike="noStrike" cap="none" normalizeH="0" baseline="0" dirty="0">
                <a:ln>
                  <a:noFill/>
                </a:ln>
                <a:solidFill>
                  <a:schemeClr val="tx1"/>
                </a:solidFill>
                <a:effectLst/>
              </a:rPr>
              <a:t>Longitudinal Study:</a:t>
            </a:r>
            <a:r>
              <a:rPr kumimoji="0" lang="en-GB" altLang="LID4096" sz="2600" b="1" i="0" u="none" strike="noStrike" cap="none" normalizeH="0" baseline="0" dirty="0">
                <a:ln>
                  <a:noFill/>
                </a:ln>
                <a:solidFill>
                  <a:schemeClr val="tx1"/>
                </a:solidFill>
                <a:effectLst/>
              </a:rPr>
              <a:t> </a:t>
            </a:r>
            <a:r>
              <a:rPr kumimoji="0" lang="LID4096" altLang="LID4096" sz="2600" b="0" i="0" u="none" strike="noStrike" cap="none" normalizeH="0" baseline="0" dirty="0">
                <a:ln>
                  <a:noFill/>
                </a:ln>
                <a:solidFill>
                  <a:schemeClr val="tx1"/>
                </a:solidFill>
                <a:effectLst/>
              </a:rPr>
              <a:t>Follows participants over an extended period to observe changes over time</a:t>
            </a:r>
          </a:p>
          <a:p>
            <a:pPr lvl="1" defTabSz="914400" eaLnBrk="0" fontAlgn="base" hangingPunct="0">
              <a:spcBef>
                <a:spcPct val="0"/>
              </a:spcBef>
              <a:spcAft>
                <a:spcPct val="0"/>
              </a:spcAft>
            </a:pPr>
            <a:r>
              <a:rPr kumimoji="0" lang="LID4096" altLang="LID4096" sz="2600" b="1" i="0" u="none" strike="noStrike" cap="none" normalizeH="0" baseline="0" dirty="0">
                <a:ln>
                  <a:noFill/>
                </a:ln>
                <a:solidFill>
                  <a:schemeClr val="tx1"/>
                </a:solidFill>
                <a:effectLst/>
              </a:rPr>
              <a:t>Experimental Study:</a:t>
            </a:r>
            <a:r>
              <a:rPr kumimoji="0" lang="en-GB" altLang="LID4096" sz="2600" b="1" i="0" u="none" strike="noStrike" cap="none" normalizeH="0" baseline="0" dirty="0">
                <a:ln>
                  <a:noFill/>
                </a:ln>
                <a:solidFill>
                  <a:schemeClr val="tx1"/>
                </a:solidFill>
                <a:effectLst/>
              </a:rPr>
              <a:t> </a:t>
            </a:r>
            <a:r>
              <a:rPr kumimoji="0" lang="LID4096" altLang="LID4096" sz="2600" b="0" i="0" u="none" strike="noStrike" cap="none" normalizeH="0" baseline="0" dirty="0">
                <a:ln>
                  <a:noFill/>
                </a:ln>
                <a:solidFill>
                  <a:schemeClr val="tx1"/>
                </a:solidFill>
                <a:effectLst/>
              </a:rPr>
              <a:t>Manipulates variables to observe cause-and-effect relationships</a:t>
            </a:r>
          </a:p>
          <a:p>
            <a:endParaRPr lang="en-GB" dirty="0"/>
          </a:p>
          <a:p>
            <a:endParaRPr lang="LID4096" dirty="0"/>
          </a:p>
        </p:txBody>
      </p:sp>
      <p:sp>
        <p:nvSpPr>
          <p:cNvPr id="120" name="Footer Placeholder 119">
            <a:extLst>
              <a:ext uri="{FF2B5EF4-FFF2-40B4-BE49-F238E27FC236}">
                <a16:creationId xmlns:a16="http://schemas.microsoft.com/office/drawing/2014/main" id="{9F1D172E-3C82-0B79-365F-7F67490350A2}"/>
              </a:ext>
            </a:extLst>
          </p:cNvPr>
          <p:cNvSpPr>
            <a:spLocks noGrp="1"/>
          </p:cNvSpPr>
          <p:nvPr>
            <p:ph type="ftr" sz="quarter" idx="11"/>
          </p:nvPr>
        </p:nvSpPr>
        <p:spPr/>
        <p:txBody>
          <a:bodyPr/>
          <a:lstStyle/>
          <a:p>
            <a:r>
              <a:rPr lang="en-GB"/>
              <a:t>Department of Computer Science, COMSATS University, Islamabad.</a:t>
            </a:r>
            <a:endParaRPr lang="en-US"/>
          </a:p>
        </p:txBody>
      </p:sp>
      <p:sp>
        <p:nvSpPr>
          <p:cNvPr id="121" name="Slide Number Placeholder 120">
            <a:extLst>
              <a:ext uri="{FF2B5EF4-FFF2-40B4-BE49-F238E27FC236}">
                <a16:creationId xmlns:a16="http://schemas.microsoft.com/office/drawing/2014/main" id="{246D6C2E-FE42-F5D4-51AE-B0A9ED5D74EA}"/>
              </a:ext>
            </a:extLst>
          </p:cNvPr>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2794978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4E04E-BBAB-C3BC-A45B-AF558432D4BC}"/>
              </a:ext>
            </a:extLst>
          </p:cNvPr>
          <p:cNvSpPr>
            <a:spLocks noGrp="1"/>
          </p:cNvSpPr>
          <p:nvPr>
            <p:ph type="title"/>
          </p:nvPr>
        </p:nvSpPr>
        <p:spPr/>
        <p:txBody>
          <a:bodyPr/>
          <a:lstStyle/>
          <a:p>
            <a:r>
              <a:rPr lang="en-GB" b="1" dirty="0"/>
              <a:t>2. Study Desing …</a:t>
            </a:r>
            <a:endParaRPr lang="LID4096" b="1" dirty="0"/>
          </a:p>
        </p:txBody>
      </p:sp>
      <p:sp>
        <p:nvSpPr>
          <p:cNvPr id="3" name="Content Placeholder 2">
            <a:extLst>
              <a:ext uri="{FF2B5EF4-FFF2-40B4-BE49-F238E27FC236}">
                <a16:creationId xmlns:a16="http://schemas.microsoft.com/office/drawing/2014/main" id="{455CE38D-E826-0731-E62A-A793318F710B}"/>
              </a:ext>
            </a:extLst>
          </p:cNvPr>
          <p:cNvSpPr>
            <a:spLocks noGrp="1"/>
          </p:cNvSpPr>
          <p:nvPr>
            <p:ph idx="1"/>
          </p:nvPr>
        </p:nvSpPr>
        <p:spPr>
          <a:xfrm>
            <a:off x="457200" y="1417638"/>
            <a:ext cx="8229600" cy="4708525"/>
          </a:xfrm>
        </p:spPr>
        <p:txBody>
          <a:bodyPr>
            <a:normAutofit fontScale="92500" lnSpcReduction="20000"/>
          </a:bodyPr>
          <a:lstStyle/>
          <a:p>
            <a:pPr>
              <a:buFont typeface="Arial" panose="020B0604020202020204" pitchFamily="34" charset="0"/>
              <a:buChar char="•"/>
            </a:pPr>
            <a:r>
              <a:rPr lang="en-GB" sz="2800" b="1" dirty="0">
                <a:latin typeface="+mj-lt"/>
              </a:rPr>
              <a:t>Sampling Strategy</a:t>
            </a:r>
          </a:p>
          <a:p>
            <a:pPr lvl="1">
              <a:buFont typeface="Arial" panose="020B0604020202020204" pitchFamily="34" charset="0"/>
              <a:buChar char="•"/>
            </a:pPr>
            <a:r>
              <a:rPr lang="en-GB" sz="2400" dirty="0"/>
              <a:t>Define the target population (e.g., university professors)</a:t>
            </a:r>
          </a:p>
          <a:p>
            <a:pPr lvl="1">
              <a:buFont typeface="Arial" panose="020B0604020202020204" pitchFamily="34" charset="0"/>
              <a:buChar char="•"/>
            </a:pPr>
            <a:r>
              <a:rPr lang="en-GB" sz="2400" dirty="0"/>
              <a:t>Select a representative sample to generalize findings to the population</a:t>
            </a:r>
          </a:p>
          <a:p>
            <a:pPr>
              <a:buFont typeface="Arial" panose="020B0604020202020204" pitchFamily="34" charset="0"/>
              <a:buChar char="•"/>
            </a:pPr>
            <a:r>
              <a:rPr lang="en-GB" sz="2800" b="1" dirty="0">
                <a:latin typeface="+mj-lt"/>
              </a:rPr>
              <a:t>Data Collection Methods</a:t>
            </a:r>
          </a:p>
          <a:p>
            <a:pPr lvl="1">
              <a:buFont typeface="Arial" panose="020B0604020202020204" pitchFamily="34" charset="0"/>
              <a:buChar char="•"/>
            </a:pPr>
            <a:r>
              <a:rPr lang="en-GB" sz="2400" dirty="0"/>
              <a:t>Survey</a:t>
            </a:r>
          </a:p>
          <a:p>
            <a:pPr lvl="1">
              <a:buFont typeface="Arial" panose="020B0604020202020204" pitchFamily="34" charset="0"/>
              <a:buChar char="•"/>
            </a:pPr>
            <a:r>
              <a:rPr lang="en-GB" sz="2400" dirty="0"/>
              <a:t>Interviews </a:t>
            </a:r>
          </a:p>
          <a:p>
            <a:pPr lvl="1">
              <a:buFont typeface="Arial" panose="020B0604020202020204" pitchFamily="34" charset="0"/>
              <a:buChar char="•"/>
            </a:pPr>
            <a:r>
              <a:rPr lang="en-US" sz="2400" dirty="0"/>
              <a:t>Extraction of data from records </a:t>
            </a:r>
          </a:p>
          <a:p>
            <a:r>
              <a:rPr lang="en-GB" b="1" dirty="0"/>
              <a:t>Variables:</a:t>
            </a:r>
            <a:endParaRPr lang="en-GB" dirty="0"/>
          </a:p>
          <a:p>
            <a:pPr lvl="1">
              <a:buFont typeface="Arial" panose="020B0604020202020204" pitchFamily="34" charset="0"/>
              <a:buChar char="•"/>
            </a:pPr>
            <a:r>
              <a:rPr lang="en-GB" b="1" dirty="0"/>
              <a:t>Independent variables: </a:t>
            </a:r>
            <a:r>
              <a:rPr lang="en-GB" dirty="0"/>
              <a:t>Teaching experience, accessibility, use of technology.</a:t>
            </a:r>
          </a:p>
          <a:p>
            <a:pPr lvl="1">
              <a:buFont typeface="Arial" panose="020B0604020202020204" pitchFamily="34" charset="0"/>
              <a:buChar char="•"/>
            </a:pPr>
            <a:r>
              <a:rPr lang="en-GB" b="1" dirty="0"/>
              <a:t>Dependent variable: </a:t>
            </a:r>
            <a:r>
              <a:rPr lang="en-GB" dirty="0"/>
              <a:t>Teaching ratings by students.</a:t>
            </a:r>
          </a:p>
          <a:p>
            <a:pPr lvl="1">
              <a:buFont typeface="Arial" panose="020B0604020202020204" pitchFamily="34" charset="0"/>
              <a:buChar char="•"/>
            </a:pPr>
            <a:endParaRPr lang="en-GB" dirty="0"/>
          </a:p>
          <a:p>
            <a:endParaRPr lang="LID4096" dirty="0"/>
          </a:p>
        </p:txBody>
      </p:sp>
      <p:sp>
        <p:nvSpPr>
          <p:cNvPr id="4" name="Footer Placeholder 3">
            <a:extLst>
              <a:ext uri="{FF2B5EF4-FFF2-40B4-BE49-F238E27FC236}">
                <a16:creationId xmlns:a16="http://schemas.microsoft.com/office/drawing/2014/main" id="{7B9F23F2-B4D8-77ED-B122-09E805A577C0}"/>
              </a:ext>
            </a:extLst>
          </p:cNvPr>
          <p:cNvSpPr>
            <a:spLocks noGrp="1"/>
          </p:cNvSpPr>
          <p:nvPr>
            <p:ph type="ftr" sz="quarter" idx="11"/>
          </p:nvPr>
        </p:nvSpPr>
        <p:spPr/>
        <p:txBody>
          <a:bodyPr/>
          <a:lstStyle/>
          <a:p>
            <a:r>
              <a:rPr lang="en-GB"/>
              <a:t>Department of Computer Science, COMSATS University, Islamabad.</a:t>
            </a:r>
            <a:endParaRPr lang="en-US"/>
          </a:p>
        </p:txBody>
      </p:sp>
      <p:sp>
        <p:nvSpPr>
          <p:cNvPr id="5" name="Slide Number Placeholder 4">
            <a:extLst>
              <a:ext uri="{FF2B5EF4-FFF2-40B4-BE49-F238E27FC236}">
                <a16:creationId xmlns:a16="http://schemas.microsoft.com/office/drawing/2014/main" id="{E90D58C4-DF24-B627-DDC3-1B6F182F0FEE}"/>
              </a:ext>
            </a:extLst>
          </p:cNvPr>
          <p:cNvSpPr>
            <a:spLocks noGrp="1"/>
          </p:cNvSpPr>
          <p:nvPr>
            <p:ph type="sldNum" sz="quarter" idx="12"/>
          </p:nvPr>
        </p:nvSpPr>
        <p:spPr/>
        <p:txBody>
          <a:bodyPr/>
          <a:lstStyle/>
          <a:p>
            <a:fld id="{C1FF6DA9-008F-8B48-92A6-B652298478BF}" type="slidenum">
              <a:rPr lang="en-US" smtClean="0"/>
              <a:t>12</a:t>
            </a:fld>
            <a:endParaRPr lang="en-US"/>
          </a:p>
        </p:txBody>
      </p:sp>
    </p:spTree>
    <p:extLst>
      <p:ext uri="{BB962C8B-B14F-4D97-AF65-F5344CB8AC3E}">
        <p14:creationId xmlns:p14="http://schemas.microsoft.com/office/powerpoint/2010/main" val="1657138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4E04E-BBAB-C3BC-A45B-AF558432D4BC}"/>
              </a:ext>
            </a:extLst>
          </p:cNvPr>
          <p:cNvSpPr>
            <a:spLocks noGrp="1"/>
          </p:cNvSpPr>
          <p:nvPr>
            <p:ph type="title"/>
          </p:nvPr>
        </p:nvSpPr>
        <p:spPr/>
        <p:txBody>
          <a:bodyPr/>
          <a:lstStyle/>
          <a:p>
            <a:r>
              <a:rPr lang="en-GB" b="1" dirty="0"/>
              <a:t>3. Study Desing …</a:t>
            </a:r>
            <a:endParaRPr lang="LID4096" b="1" dirty="0"/>
          </a:p>
        </p:txBody>
      </p:sp>
      <p:sp>
        <p:nvSpPr>
          <p:cNvPr id="3" name="Content Placeholder 2">
            <a:extLst>
              <a:ext uri="{FF2B5EF4-FFF2-40B4-BE49-F238E27FC236}">
                <a16:creationId xmlns:a16="http://schemas.microsoft.com/office/drawing/2014/main" id="{455CE38D-E826-0731-E62A-A793318F710B}"/>
              </a:ext>
            </a:extLst>
          </p:cNvPr>
          <p:cNvSpPr>
            <a:spLocks noGrp="1"/>
          </p:cNvSpPr>
          <p:nvPr>
            <p:ph idx="1"/>
          </p:nvPr>
        </p:nvSpPr>
        <p:spPr>
          <a:xfrm>
            <a:off x="457200" y="1417638"/>
            <a:ext cx="8229600" cy="4708525"/>
          </a:xfrm>
        </p:spPr>
        <p:txBody>
          <a:bodyPr>
            <a:normAutofit/>
          </a:bodyPr>
          <a:lstStyle/>
          <a:p>
            <a:pPr>
              <a:buFont typeface="Arial" panose="020B0604020202020204" pitchFamily="34" charset="0"/>
              <a:buChar char="•"/>
            </a:pPr>
            <a:r>
              <a:rPr lang="en-GB" b="1" dirty="0"/>
              <a:t>Data Analysis Plan:</a:t>
            </a:r>
          </a:p>
          <a:p>
            <a:pPr lvl="1">
              <a:buFont typeface="Arial" panose="020B0604020202020204" pitchFamily="34" charset="0"/>
              <a:buChar char="•"/>
            </a:pPr>
            <a:r>
              <a:rPr lang="en-GB" dirty="0"/>
              <a:t>Perform descriptive statistics to summarize data (mean, standard deviation)</a:t>
            </a:r>
          </a:p>
          <a:p>
            <a:pPr lvl="1">
              <a:buFont typeface="Arial" panose="020B0604020202020204" pitchFamily="34" charset="0"/>
              <a:buChar char="•"/>
            </a:pPr>
            <a:r>
              <a:rPr lang="en-GB" dirty="0"/>
              <a:t>Conduct correlation analysis to identify relationships between variables</a:t>
            </a:r>
          </a:p>
          <a:p>
            <a:pPr lvl="1">
              <a:buFont typeface="Arial" panose="020B0604020202020204" pitchFamily="34" charset="0"/>
              <a:buChar char="•"/>
            </a:pPr>
            <a:r>
              <a:rPr lang="en-GB" dirty="0"/>
              <a:t>Use regression analysis to assess the impact of independent variables on teaching ratings</a:t>
            </a:r>
          </a:p>
          <a:p>
            <a:pPr lvl="1">
              <a:buFont typeface="Arial" panose="020B0604020202020204" pitchFamily="34" charset="0"/>
              <a:buChar char="•"/>
            </a:pPr>
            <a:endParaRPr lang="en-GB" dirty="0"/>
          </a:p>
          <a:p>
            <a:endParaRPr lang="LID4096" dirty="0"/>
          </a:p>
        </p:txBody>
      </p:sp>
      <p:sp>
        <p:nvSpPr>
          <p:cNvPr id="6" name="Footer Placeholder 5">
            <a:extLst>
              <a:ext uri="{FF2B5EF4-FFF2-40B4-BE49-F238E27FC236}">
                <a16:creationId xmlns:a16="http://schemas.microsoft.com/office/drawing/2014/main" id="{5174C582-1174-4E34-E496-1E6D0903AB8D}"/>
              </a:ext>
            </a:extLst>
          </p:cNvPr>
          <p:cNvSpPr>
            <a:spLocks noGrp="1"/>
          </p:cNvSpPr>
          <p:nvPr>
            <p:ph type="ftr" sz="quarter" idx="11"/>
          </p:nvPr>
        </p:nvSpPr>
        <p:spPr/>
        <p:txBody>
          <a:bodyPr/>
          <a:lstStyle/>
          <a:p>
            <a:r>
              <a:rPr lang="en-GB"/>
              <a:t>Department of Computer Science, COMSATS University, Islamabad.</a:t>
            </a:r>
            <a:endParaRPr lang="en-US"/>
          </a:p>
        </p:txBody>
      </p:sp>
      <p:sp>
        <p:nvSpPr>
          <p:cNvPr id="7" name="Slide Number Placeholder 6">
            <a:extLst>
              <a:ext uri="{FF2B5EF4-FFF2-40B4-BE49-F238E27FC236}">
                <a16:creationId xmlns:a16="http://schemas.microsoft.com/office/drawing/2014/main" id="{672B8C17-8D7C-922B-B59D-59CA4B311E7B}"/>
              </a:ext>
            </a:extLst>
          </p:cNvPr>
          <p:cNvSpPr>
            <a:spLocks noGrp="1"/>
          </p:cNvSpPr>
          <p:nvPr>
            <p:ph type="sldNum" sz="quarter" idx="12"/>
          </p:nvPr>
        </p:nvSpPr>
        <p:spPr/>
        <p:txBody>
          <a:bodyPr/>
          <a:lstStyle/>
          <a:p>
            <a:fld id="{C1FF6DA9-008F-8B48-92A6-B652298478BF}" type="slidenum">
              <a:rPr lang="en-US" smtClean="0"/>
              <a:t>13</a:t>
            </a:fld>
            <a:endParaRPr lang="en-US"/>
          </a:p>
        </p:txBody>
      </p:sp>
    </p:spTree>
    <p:extLst>
      <p:ext uri="{BB962C8B-B14F-4D97-AF65-F5344CB8AC3E}">
        <p14:creationId xmlns:p14="http://schemas.microsoft.com/office/powerpoint/2010/main" val="1067859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77360-50FE-A41A-13F9-957E132E15A0}"/>
              </a:ext>
            </a:extLst>
          </p:cNvPr>
          <p:cNvSpPr>
            <a:spLocks noGrp="1"/>
          </p:cNvSpPr>
          <p:nvPr>
            <p:ph type="title"/>
          </p:nvPr>
        </p:nvSpPr>
        <p:spPr/>
        <p:txBody>
          <a:bodyPr/>
          <a:lstStyle/>
          <a:p>
            <a:r>
              <a:rPr lang="en-GB" b="1" dirty="0"/>
              <a:t>3. Data Collection</a:t>
            </a:r>
            <a:endParaRPr lang="LID4096" b="1" dirty="0"/>
          </a:p>
        </p:txBody>
      </p:sp>
      <p:sp>
        <p:nvSpPr>
          <p:cNvPr id="3" name="Content Placeholder 2">
            <a:extLst>
              <a:ext uri="{FF2B5EF4-FFF2-40B4-BE49-F238E27FC236}">
                <a16:creationId xmlns:a16="http://schemas.microsoft.com/office/drawing/2014/main" id="{010969C3-3120-D24F-D229-1B9785A00AAD}"/>
              </a:ext>
            </a:extLst>
          </p:cNvPr>
          <p:cNvSpPr>
            <a:spLocks noGrp="1"/>
          </p:cNvSpPr>
          <p:nvPr>
            <p:ph idx="1"/>
          </p:nvPr>
        </p:nvSpPr>
        <p:spPr/>
        <p:txBody>
          <a:bodyPr>
            <a:normAutofit/>
          </a:bodyPr>
          <a:lstStyle/>
          <a:p>
            <a:r>
              <a:rPr lang="en-GB" sz="2800" dirty="0"/>
              <a:t>Process of gathering information on variables</a:t>
            </a:r>
          </a:p>
          <a:p>
            <a:r>
              <a:rPr lang="en-GB" sz="2800" dirty="0"/>
              <a:t>Ensures data quality and reliability for analysis</a:t>
            </a:r>
          </a:p>
          <a:p>
            <a:r>
              <a:rPr lang="en-GB" sz="2800" dirty="0"/>
              <a:t>For this project, we will use the following dataset collected in University of Texas</a:t>
            </a:r>
          </a:p>
          <a:p>
            <a:pPr lvl="1"/>
            <a:r>
              <a:rPr lang="en-GB" sz="2400" dirty="0"/>
              <a:t>teachingratings.csv</a:t>
            </a:r>
          </a:p>
          <a:p>
            <a:pPr lvl="1"/>
            <a:endParaRPr lang="LID4096" sz="2400" dirty="0"/>
          </a:p>
        </p:txBody>
      </p:sp>
      <p:sp>
        <p:nvSpPr>
          <p:cNvPr id="5" name="Footer Placeholder 4">
            <a:extLst>
              <a:ext uri="{FF2B5EF4-FFF2-40B4-BE49-F238E27FC236}">
                <a16:creationId xmlns:a16="http://schemas.microsoft.com/office/drawing/2014/main" id="{D9D8F9B7-66FE-B54F-74F7-37FD25D3332C}"/>
              </a:ext>
            </a:extLst>
          </p:cNvPr>
          <p:cNvSpPr>
            <a:spLocks noGrp="1"/>
          </p:cNvSpPr>
          <p:nvPr>
            <p:ph type="ftr" sz="quarter" idx="11"/>
          </p:nvPr>
        </p:nvSpPr>
        <p:spPr/>
        <p:txBody>
          <a:bodyPr/>
          <a:lstStyle/>
          <a:p>
            <a:r>
              <a:rPr lang="en-GB"/>
              <a:t>Department of Computer Science, COMSATS University, Islamabad.</a:t>
            </a:r>
            <a:endParaRPr lang="en-US"/>
          </a:p>
        </p:txBody>
      </p:sp>
      <p:sp>
        <p:nvSpPr>
          <p:cNvPr id="6" name="Slide Number Placeholder 5">
            <a:extLst>
              <a:ext uri="{FF2B5EF4-FFF2-40B4-BE49-F238E27FC236}">
                <a16:creationId xmlns:a16="http://schemas.microsoft.com/office/drawing/2014/main" id="{CD8547C0-DF3A-5115-6CAF-F6F2A660E695}"/>
              </a:ext>
            </a:extLst>
          </p:cNvPr>
          <p:cNvSpPr>
            <a:spLocks noGrp="1"/>
          </p:cNvSpPr>
          <p:nvPr>
            <p:ph type="sldNum" sz="quarter" idx="12"/>
          </p:nvPr>
        </p:nvSpPr>
        <p:spPr/>
        <p:txBody>
          <a:bodyPr/>
          <a:lstStyle/>
          <a:p>
            <a:fld id="{C1FF6DA9-008F-8B48-92A6-B652298478BF}" type="slidenum">
              <a:rPr lang="en-US" smtClean="0"/>
              <a:t>14</a:t>
            </a:fld>
            <a:endParaRPr lang="en-US"/>
          </a:p>
        </p:txBody>
      </p:sp>
    </p:spTree>
    <p:extLst>
      <p:ext uri="{BB962C8B-B14F-4D97-AF65-F5344CB8AC3E}">
        <p14:creationId xmlns:p14="http://schemas.microsoft.com/office/powerpoint/2010/main" val="826324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C6E74-1BDC-A62A-7664-FFF1EA1453B6}"/>
              </a:ext>
            </a:extLst>
          </p:cNvPr>
          <p:cNvSpPr>
            <a:spLocks noGrp="1"/>
          </p:cNvSpPr>
          <p:nvPr>
            <p:ph type="title"/>
          </p:nvPr>
        </p:nvSpPr>
        <p:spPr/>
        <p:txBody>
          <a:bodyPr/>
          <a:lstStyle/>
          <a:p>
            <a:r>
              <a:rPr lang="en-GB" b="1" dirty="0"/>
              <a:t>4. Data Analysis</a:t>
            </a:r>
            <a:endParaRPr lang="LID4096" b="1" dirty="0"/>
          </a:p>
        </p:txBody>
      </p:sp>
      <p:sp>
        <p:nvSpPr>
          <p:cNvPr id="3" name="Content Placeholder 2">
            <a:extLst>
              <a:ext uri="{FF2B5EF4-FFF2-40B4-BE49-F238E27FC236}">
                <a16:creationId xmlns:a16="http://schemas.microsoft.com/office/drawing/2014/main" id="{9C7134E7-EA06-2593-F3EF-BC32CDF6B090}"/>
              </a:ext>
            </a:extLst>
          </p:cNvPr>
          <p:cNvSpPr>
            <a:spLocks noGrp="1"/>
          </p:cNvSpPr>
          <p:nvPr>
            <p:ph idx="1"/>
          </p:nvPr>
        </p:nvSpPr>
        <p:spPr/>
        <p:txBody>
          <a:bodyPr/>
          <a:lstStyle/>
          <a:p>
            <a:r>
              <a:rPr lang="en-GB" dirty="0"/>
              <a:t>Measures of Central Tendency</a:t>
            </a:r>
          </a:p>
          <a:p>
            <a:r>
              <a:rPr lang="en-GB" dirty="0"/>
              <a:t>Measures of Dispersion</a:t>
            </a:r>
          </a:p>
          <a:p>
            <a:r>
              <a:rPr lang="en-GB" dirty="0"/>
              <a:t>Shape of the Distribution</a:t>
            </a:r>
          </a:p>
        </p:txBody>
      </p:sp>
      <p:sp>
        <p:nvSpPr>
          <p:cNvPr id="4" name="Footer Placeholder 3">
            <a:extLst>
              <a:ext uri="{FF2B5EF4-FFF2-40B4-BE49-F238E27FC236}">
                <a16:creationId xmlns:a16="http://schemas.microsoft.com/office/drawing/2014/main" id="{58A69F26-66F2-F6D3-8166-0B4EAE61730B}"/>
              </a:ext>
            </a:extLst>
          </p:cNvPr>
          <p:cNvSpPr>
            <a:spLocks noGrp="1"/>
          </p:cNvSpPr>
          <p:nvPr>
            <p:ph type="ftr" sz="quarter" idx="11"/>
          </p:nvPr>
        </p:nvSpPr>
        <p:spPr/>
        <p:txBody>
          <a:bodyPr/>
          <a:lstStyle/>
          <a:p>
            <a:r>
              <a:rPr lang="en-GB"/>
              <a:t>Department of Computer Science, COMSATS University, Islamabad.</a:t>
            </a:r>
            <a:endParaRPr lang="en-US"/>
          </a:p>
        </p:txBody>
      </p:sp>
      <p:sp>
        <p:nvSpPr>
          <p:cNvPr id="5" name="Slide Number Placeholder 4">
            <a:extLst>
              <a:ext uri="{FF2B5EF4-FFF2-40B4-BE49-F238E27FC236}">
                <a16:creationId xmlns:a16="http://schemas.microsoft.com/office/drawing/2014/main" id="{6C112108-07EA-E9F9-0BB4-E900E79A95FE}"/>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309508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058B2BE7-B674-9809-B781-84C235709C2C}"/>
              </a:ext>
            </a:extLst>
          </p:cNvPr>
          <p:cNvSpPr>
            <a:spLocks noGrp="1" noChangeArrowheads="1"/>
          </p:cNvSpPr>
          <p:nvPr>
            <p:ph type="title"/>
          </p:nvPr>
        </p:nvSpPr>
        <p:spPr/>
        <p:txBody>
          <a:bodyPr/>
          <a:lstStyle/>
          <a:p>
            <a:pPr eaLnBrk="1" hangingPunct="1"/>
            <a:r>
              <a:rPr lang="en-US" altLang="LID4096" sz="3397" dirty="0"/>
              <a:t>Measures of Central Tendency</a:t>
            </a:r>
          </a:p>
        </p:txBody>
      </p:sp>
      <p:sp>
        <p:nvSpPr>
          <p:cNvPr id="33795" name="Text Box 4">
            <a:extLst>
              <a:ext uri="{FF2B5EF4-FFF2-40B4-BE49-F238E27FC236}">
                <a16:creationId xmlns:a16="http://schemas.microsoft.com/office/drawing/2014/main" id="{7F155192-33F8-4FE5-D78F-6825B05F5A13}"/>
              </a:ext>
            </a:extLst>
          </p:cNvPr>
          <p:cNvSpPr txBox="1">
            <a:spLocks noChangeArrowheads="1"/>
          </p:cNvSpPr>
          <p:nvPr/>
        </p:nvSpPr>
        <p:spPr bwMode="auto">
          <a:xfrm>
            <a:off x="537107" y="2515439"/>
            <a:ext cx="8314040" cy="369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dirty="0"/>
              <a:t>Commonly used methods</a:t>
            </a:r>
            <a:r>
              <a:rPr lang="en-US" altLang="LID4096" sz="1799" b="0" dirty="0"/>
              <a:t> are </a:t>
            </a:r>
            <a:r>
              <a:rPr lang="en-US" altLang="LID4096" sz="1799" dirty="0"/>
              <a:t>mean</a:t>
            </a:r>
            <a:r>
              <a:rPr lang="en-US" altLang="LID4096" sz="1799" b="0" dirty="0"/>
              <a:t>, </a:t>
            </a:r>
            <a:r>
              <a:rPr lang="en-US" altLang="LID4096" sz="1799" dirty="0"/>
              <a:t>median</a:t>
            </a:r>
            <a:r>
              <a:rPr lang="en-US" altLang="LID4096" sz="1799" b="0" dirty="0"/>
              <a:t>, </a:t>
            </a:r>
            <a:r>
              <a:rPr lang="en-US" altLang="LID4096" sz="1799" dirty="0"/>
              <a:t>mode </a:t>
            </a:r>
            <a:r>
              <a:rPr lang="en-US" altLang="LID4096" sz="1799" b="0" dirty="0"/>
              <a:t>etc.</a:t>
            </a:r>
          </a:p>
        </p:txBody>
      </p:sp>
      <p:sp>
        <p:nvSpPr>
          <p:cNvPr id="33796" name="Text Box 5">
            <a:extLst>
              <a:ext uri="{FF2B5EF4-FFF2-40B4-BE49-F238E27FC236}">
                <a16:creationId xmlns:a16="http://schemas.microsoft.com/office/drawing/2014/main" id="{9FF0E712-2731-A39A-6DE7-17C1C6292115}"/>
              </a:ext>
            </a:extLst>
          </p:cNvPr>
          <p:cNvSpPr txBox="1">
            <a:spLocks noChangeArrowheads="1"/>
          </p:cNvSpPr>
          <p:nvPr/>
        </p:nvSpPr>
        <p:spPr bwMode="auto">
          <a:xfrm>
            <a:off x="537104" y="3200611"/>
            <a:ext cx="8298181"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a:t>Mean</a:t>
            </a:r>
            <a:r>
              <a:rPr lang="en-US" altLang="LID4096" sz="1799" b="0"/>
              <a:t>: Summing up all the observation and dividing by number of observations. Mean of 20, 30, 40 is (20+30+40)/3 = 30. </a:t>
            </a:r>
          </a:p>
        </p:txBody>
      </p:sp>
      <p:graphicFrame>
        <p:nvGraphicFramePr>
          <p:cNvPr id="33797" name="Object 6">
            <a:extLst>
              <a:ext uri="{FF2B5EF4-FFF2-40B4-BE49-F238E27FC236}">
                <a16:creationId xmlns:a16="http://schemas.microsoft.com/office/drawing/2014/main" id="{0B359F29-6378-40CF-2677-2CB3AF788B05}"/>
              </a:ext>
            </a:extLst>
          </p:cNvPr>
          <p:cNvGraphicFramePr>
            <a:graphicFrameLocks noGrp="1" noChangeAspect="1"/>
          </p:cNvGraphicFramePr>
          <p:nvPr>
            <p:ph idx="1"/>
          </p:nvPr>
        </p:nvGraphicFramePr>
        <p:xfrm>
          <a:off x="1070017" y="3885780"/>
          <a:ext cx="6623319" cy="2052341"/>
        </p:xfrm>
        <a:graphic>
          <a:graphicData uri="http://schemas.openxmlformats.org/presentationml/2006/ole">
            <mc:AlternateContent xmlns:mc="http://schemas.openxmlformats.org/markup-compatibility/2006">
              <mc:Choice xmlns:v="urn:schemas-microsoft-com:vml" Requires="v">
                <p:oleObj name="Equation" r:id="rId3" imgW="3403600" imgH="1079500" progId="Equation.3">
                  <p:embed/>
                </p:oleObj>
              </mc:Choice>
              <mc:Fallback>
                <p:oleObj name="Equation" r:id="rId3" imgW="3403600" imgH="1079500" progId="Equation.3">
                  <p:embed/>
                  <p:pic>
                    <p:nvPicPr>
                      <p:cNvPr id="33797" name="Object 6">
                        <a:extLst>
                          <a:ext uri="{FF2B5EF4-FFF2-40B4-BE49-F238E27FC236}">
                            <a16:creationId xmlns:a16="http://schemas.microsoft.com/office/drawing/2014/main" id="{0B359F29-6378-40CF-2677-2CB3AF788B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0017" y="3885780"/>
                        <a:ext cx="6623319" cy="2052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8" name="Text Box 8">
            <a:extLst>
              <a:ext uri="{FF2B5EF4-FFF2-40B4-BE49-F238E27FC236}">
                <a16:creationId xmlns:a16="http://schemas.microsoft.com/office/drawing/2014/main" id="{174CB5A9-20BD-B324-8BC9-B5BC8234E014}"/>
              </a:ext>
            </a:extLst>
          </p:cNvPr>
          <p:cNvSpPr txBox="1">
            <a:spLocks noChangeArrowheads="1"/>
          </p:cNvSpPr>
          <p:nvPr/>
        </p:nvSpPr>
        <p:spPr bwMode="auto">
          <a:xfrm>
            <a:off x="673505" y="1785860"/>
            <a:ext cx="8237911" cy="369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endParaRPr lang="LID4096" altLang="LID4096" sz="1799" b="0"/>
          </a:p>
        </p:txBody>
      </p:sp>
      <p:sp>
        <p:nvSpPr>
          <p:cNvPr id="33799" name="Text Box 9">
            <a:extLst>
              <a:ext uri="{FF2B5EF4-FFF2-40B4-BE49-F238E27FC236}">
                <a16:creationId xmlns:a16="http://schemas.microsoft.com/office/drawing/2014/main" id="{77439658-14A5-F8CD-6A83-18442FD35C41}"/>
              </a:ext>
            </a:extLst>
          </p:cNvPr>
          <p:cNvSpPr txBox="1">
            <a:spLocks noChangeArrowheads="1"/>
          </p:cNvSpPr>
          <p:nvPr/>
        </p:nvSpPr>
        <p:spPr bwMode="auto">
          <a:xfrm>
            <a:off x="537104" y="1754139"/>
            <a:ext cx="8298181"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a:t>Center measurement</a:t>
            </a:r>
            <a:r>
              <a:rPr lang="en-US" altLang="LID4096" sz="1799" b="0"/>
              <a:t> is a summary measure of the overall level of a dataset </a:t>
            </a:r>
          </a:p>
        </p:txBody>
      </p:sp>
      <p:sp>
        <p:nvSpPr>
          <p:cNvPr id="2" name="Slide Number Placeholder 1">
            <a:extLst>
              <a:ext uri="{FF2B5EF4-FFF2-40B4-BE49-F238E27FC236}">
                <a16:creationId xmlns:a16="http://schemas.microsoft.com/office/drawing/2014/main" id="{B6DCD7E9-9710-DF96-B939-3422317AB2A3}"/>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16</a:t>
            </a:fld>
            <a:r>
              <a:rPr lang="en-PK" spc="-119"/>
              <a:t> </a:t>
            </a:r>
            <a:r>
              <a:rPr lang="en-PK" spc="297"/>
              <a:t>/</a:t>
            </a:r>
            <a:r>
              <a:rPr lang="en-PK" spc="-119"/>
              <a:t> </a:t>
            </a:r>
            <a:r>
              <a:rPr lang="en-PK" spc="-50"/>
              <a:t>47</a:t>
            </a:r>
            <a:endParaRPr lang="en-PK" spc="-50" dirty="0"/>
          </a:p>
        </p:txBody>
      </p:sp>
      <p:sp>
        <p:nvSpPr>
          <p:cNvPr id="3" name="Footer Placeholder 2">
            <a:extLst>
              <a:ext uri="{FF2B5EF4-FFF2-40B4-BE49-F238E27FC236}">
                <a16:creationId xmlns:a16="http://schemas.microsoft.com/office/drawing/2014/main" id="{1B691DD7-047D-0008-794C-0EAC5E37CBF6}"/>
              </a:ext>
            </a:extLst>
          </p:cNvPr>
          <p:cNvSpPr>
            <a:spLocks noGrp="1"/>
          </p:cNvSpPr>
          <p:nvPr>
            <p:ph type="ftr" sz="quarter" idx="11"/>
          </p:nvPr>
        </p:nvSpPr>
        <p:spPr/>
        <p:txBody>
          <a:bodyPr/>
          <a:lstStyle/>
          <a:p>
            <a:r>
              <a:rPr lang="en-GB"/>
              <a:t>Department of Computer Science, COMSATS University, Islamabad.</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DD460B02-C70D-3820-F135-8705722992D3}"/>
              </a:ext>
            </a:extLst>
          </p:cNvPr>
          <p:cNvSpPr>
            <a:spLocks noGrp="1" noChangeArrowheads="1"/>
          </p:cNvSpPr>
          <p:nvPr>
            <p:ph type="title"/>
          </p:nvPr>
        </p:nvSpPr>
        <p:spPr/>
        <p:txBody>
          <a:bodyPr/>
          <a:lstStyle/>
          <a:p>
            <a:pPr eaLnBrk="1" hangingPunct="1"/>
            <a:r>
              <a:rPr lang="en-US" altLang="LID4096" sz="3397"/>
              <a:t>Methods of Center Measurement</a:t>
            </a:r>
          </a:p>
        </p:txBody>
      </p:sp>
      <p:sp>
        <p:nvSpPr>
          <p:cNvPr id="35843" name="Text Box 7">
            <a:extLst>
              <a:ext uri="{FF2B5EF4-FFF2-40B4-BE49-F238E27FC236}">
                <a16:creationId xmlns:a16="http://schemas.microsoft.com/office/drawing/2014/main" id="{9725222D-24A8-F6A5-C94D-41327BB5ACDD}"/>
              </a:ext>
            </a:extLst>
          </p:cNvPr>
          <p:cNvSpPr txBox="1">
            <a:spLocks noChangeArrowheads="1"/>
          </p:cNvSpPr>
          <p:nvPr/>
        </p:nvSpPr>
        <p:spPr bwMode="auto">
          <a:xfrm>
            <a:off x="384844" y="1982527"/>
            <a:ext cx="7993661" cy="2584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a:t>Median</a:t>
            </a:r>
            <a:r>
              <a:rPr lang="en-US" altLang="LID4096" sz="1799" b="0"/>
              <a:t>: The middle value in an ordered sequence of observations. That is, to find the median we need to order the data set and then find the middle value. In case of an even number of observations the average of the two middle most values is the median. For example, to find the median of {9, 3, 6, 7, 5}, we first sort the data giving {3, 5, 6, 7, 9}, then choose the middle value 6. If the number of observations is even, e.g., {9, 3, 6, 7, 5, 2}, then the median is the average of the two middle values from the sorted sequence, in this case, (5 + 6) / 2 = 5.5.</a:t>
            </a:r>
          </a:p>
        </p:txBody>
      </p:sp>
      <p:sp>
        <p:nvSpPr>
          <p:cNvPr id="35844" name="Rectangle 8">
            <a:extLst>
              <a:ext uri="{FF2B5EF4-FFF2-40B4-BE49-F238E27FC236}">
                <a16:creationId xmlns:a16="http://schemas.microsoft.com/office/drawing/2014/main" id="{EA36FB9D-AF42-ADE8-1603-59816CA50CCC}"/>
              </a:ext>
            </a:extLst>
          </p:cNvPr>
          <p:cNvSpPr>
            <a:spLocks noChangeArrowheads="1"/>
          </p:cNvSpPr>
          <p:nvPr/>
        </p:nvSpPr>
        <p:spPr bwMode="auto">
          <a:xfrm>
            <a:off x="384846" y="4737486"/>
            <a:ext cx="7917530"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a:t>Mode</a:t>
            </a:r>
            <a:r>
              <a:rPr lang="en-US" altLang="LID4096" sz="1799" b="0"/>
              <a:t>: The value that is observed most frequently. The mode is undefined for sequences in which no observation is repeated.</a:t>
            </a:r>
          </a:p>
        </p:txBody>
      </p:sp>
      <p:sp>
        <p:nvSpPr>
          <p:cNvPr id="2" name="Slide Number Placeholder 1">
            <a:extLst>
              <a:ext uri="{FF2B5EF4-FFF2-40B4-BE49-F238E27FC236}">
                <a16:creationId xmlns:a16="http://schemas.microsoft.com/office/drawing/2014/main" id="{EB98F429-BF7E-FCD8-5223-9B0D50075F0E}"/>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17</a:t>
            </a:fld>
            <a:r>
              <a:rPr lang="en-PK" spc="-119"/>
              <a:t> </a:t>
            </a:r>
            <a:r>
              <a:rPr lang="en-PK" spc="297"/>
              <a:t>/</a:t>
            </a:r>
            <a:r>
              <a:rPr lang="en-PK" spc="-119"/>
              <a:t> </a:t>
            </a:r>
            <a:r>
              <a:rPr lang="en-PK" spc="-50"/>
              <a:t>47</a:t>
            </a:r>
            <a:endParaRPr lang="en-PK" spc="-50" dirty="0"/>
          </a:p>
        </p:txBody>
      </p:sp>
      <p:sp>
        <p:nvSpPr>
          <p:cNvPr id="3" name="Footer Placeholder 2">
            <a:extLst>
              <a:ext uri="{FF2B5EF4-FFF2-40B4-BE49-F238E27FC236}">
                <a16:creationId xmlns:a16="http://schemas.microsoft.com/office/drawing/2014/main" id="{EB3A559D-5F47-DF87-EAEE-7AB29BE9FA4C}"/>
              </a:ext>
            </a:extLst>
          </p:cNvPr>
          <p:cNvSpPr>
            <a:spLocks noGrp="1"/>
          </p:cNvSpPr>
          <p:nvPr>
            <p:ph type="ftr" sz="quarter" idx="11"/>
          </p:nvPr>
        </p:nvSpPr>
        <p:spPr/>
        <p:txBody>
          <a:bodyPr/>
          <a:lstStyle/>
          <a:p>
            <a:r>
              <a:rPr lang="en-GB"/>
              <a:t>Department of Computer Science, COMSATS University, Islamabad.</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26">
            <a:extLst>
              <a:ext uri="{FF2B5EF4-FFF2-40B4-BE49-F238E27FC236}">
                <a16:creationId xmlns:a16="http://schemas.microsoft.com/office/drawing/2014/main" id="{1924E76F-0C6E-BDE6-52B8-F6EE14813514}"/>
              </a:ext>
            </a:extLst>
          </p:cNvPr>
          <p:cNvSpPr>
            <a:spLocks noGrp="1" noChangeArrowheads="1"/>
          </p:cNvSpPr>
          <p:nvPr>
            <p:ph type="title"/>
          </p:nvPr>
        </p:nvSpPr>
        <p:spPr/>
        <p:txBody>
          <a:bodyPr/>
          <a:lstStyle/>
          <a:p>
            <a:pPr eaLnBrk="1" hangingPunct="1"/>
            <a:r>
              <a:rPr lang="en-US" altLang="LID4096"/>
              <a:t>Mean or Median</a:t>
            </a:r>
          </a:p>
        </p:txBody>
      </p:sp>
      <p:sp>
        <p:nvSpPr>
          <p:cNvPr id="37891" name="Text Box 1028">
            <a:extLst>
              <a:ext uri="{FF2B5EF4-FFF2-40B4-BE49-F238E27FC236}">
                <a16:creationId xmlns:a16="http://schemas.microsoft.com/office/drawing/2014/main" id="{69A12E5C-3F26-70BE-B06E-5B855FB12F19}"/>
              </a:ext>
            </a:extLst>
          </p:cNvPr>
          <p:cNvSpPr txBox="1">
            <a:spLocks noChangeArrowheads="1"/>
          </p:cNvSpPr>
          <p:nvPr/>
        </p:nvSpPr>
        <p:spPr bwMode="auto">
          <a:xfrm>
            <a:off x="460975" y="1678010"/>
            <a:ext cx="8222050" cy="2307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lgn="just">
              <a:spcBef>
                <a:spcPct val="50000"/>
              </a:spcBef>
            </a:pPr>
            <a:r>
              <a:rPr lang="en-US" altLang="LID4096" sz="1799" b="0"/>
              <a:t>The median is less sensitive to outliers (extreme scores) than the mean and thus a better measure than the mean for highly skewed distributions, e.g. family income. For example mean of 20, 30, 40, and 990 is (20+30+40+990)/4 =270. The median of these four observations is (30+40)/2 =35. Here 3 observations out of 4 lie between 20-40.  So, the mean 270 really fails to give a realistic picture of the major part of the data. It is influenced by extreme value 990. </a:t>
            </a:r>
          </a:p>
        </p:txBody>
      </p:sp>
      <p:sp>
        <p:nvSpPr>
          <p:cNvPr id="2" name="Slide Number Placeholder 1">
            <a:extLst>
              <a:ext uri="{FF2B5EF4-FFF2-40B4-BE49-F238E27FC236}">
                <a16:creationId xmlns:a16="http://schemas.microsoft.com/office/drawing/2014/main" id="{A7348CE3-E622-F02F-3387-61D8FE59D589}"/>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18</a:t>
            </a:fld>
            <a:r>
              <a:rPr lang="en-PK" spc="-119"/>
              <a:t> </a:t>
            </a:r>
            <a:r>
              <a:rPr lang="en-PK" spc="297"/>
              <a:t>/</a:t>
            </a:r>
            <a:r>
              <a:rPr lang="en-PK" spc="-119"/>
              <a:t> </a:t>
            </a:r>
            <a:r>
              <a:rPr lang="en-PK" spc="-50"/>
              <a:t>47</a:t>
            </a:r>
            <a:endParaRPr lang="en-PK" spc="-50" dirty="0"/>
          </a:p>
        </p:txBody>
      </p:sp>
      <p:sp>
        <p:nvSpPr>
          <p:cNvPr id="3" name="Footer Placeholder 2">
            <a:extLst>
              <a:ext uri="{FF2B5EF4-FFF2-40B4-BE49-F238E27FC236}">
                <a16:creationId xmlns:a16="http://schemas.microsoft.com/office/drawing/2014/main" id="{07F33003-7B84-958E-D155-0C8281062F20}"/>
              </a:ext>
            </a:extLst>
          </p:cNvPr>
          <p:cNvSpPr>
            <a:spLocks noGrp="1"/>
          </p:cNvSpPr>
          <p:nvPr>
            <p:ph type="ftr" sz="quarter" idx="11"/>
          </p:nvPr>
        </p:nvSpPr>
        <p:spPr/>
        <p:txBody>
          <a:bodyPr/>
          <a:lstStyle/>
          <a:p>
            <a:r>
              <a:rPr lang="en-GB"/>
              <a:t>Department of Computer Science, COMSATS University, Islamabad.</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9">
            <a:extLst>
              <a:ext uri="{FF2B5EF4-FFF2-40B4-BE49-F238E27FC236}">
                <a16:creationId xmlns:a16="http://schemas.microsoft.com/office/drawing/2014/main" id="{120E1848-F915-70A4-C478-DA1F324EB004}"/>
              </a:ext>
            </a:extLst>
          </p:cNvPr>
          <p:cNvSpPr>
            <a:spLocks noGrp="1" noChangeArrowheads="1"/>
          </p:cNvSpPr>
          <p:nvPr>
            <p:ph type="title"/>
          </p:nvPr>
        </p:nvSpPr>
        <p:spPr/>
        <p:txBody>
          <a:bodyPr/>
          <a:lstStyle/>
          <a:p>
            <a:pPr eaLnBrk="1" hangingPunct="1"/>
            <a:r>
              <a:rPr lang="en-US" altLang="LID4096" sz="3397" dirty="0"/>
              <a:t>Measures of Central Tendency</a:t>
            </a:r>
          </a:p>
        </p:txBody>
      </p:sp>
      <p:sp>
        <p:nvSpPr>
          <p:cNvPr id="39939" name="Text Box 4">
            <a:extLst>
              <a:ext uri="{FF2B5EF4-FFF2-40B4-BE49-F238E27FC236}">
                <a16:creationId xmlns:a16="http://schemas.microsoft.com/office/drawing/2014/main" id="{EF4C43E7-1E1C-A469-1A3A-E71CEB4FED34}"/>
              </a:ext>
            </a:extLst>
          </p:cNvPr>
          <p:cNvSpPr txBox="1">
            <a:spLocks noChangeArrowheads="1"/>
          </p:cNvSpPr>
          <p:nvPr/>
        </p:nvSpPr>
        <p:spPr bwMode="auto">
          <a:xfrm>
            <a:off x="613236" y="2819959"/>
            <a:ext cx="8374310"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a:t>Commonly used methods</a:t>
            </a:r>
            <a:r>
              <a:rPr lang="en-US" altLang="LID4096" sz="1799" b="0"/>
              <a:t>: </a:t>
            </a:r>
            <a:r>
              <a:rPr lang="en-US" altLang="LID4096" sz="1799" b="0" i="1"/>
              <a:t>range</a:t>
            </a:r>
            <a:r>
              <a:rPr lang="en-US" altLang="LID4096" sz="1799" b="0"/>
              <a:t>, </a:t>
            </a:r>
            <a:r>
              <a:rPr lang="en-US" altLang="LID4096" sz="1799" b="0" i="1"/>
              <a:t>variance</a:t>
            </a:r>
            <a:r>
              <a:rPr lang="en-US" altLang="LID4096" sz="1799" b="0"/>
              <a:t>, </a:t>
            </a:r>
            <a:r>
              <a:rPr lang="en-US" altLang="LID4096" sz="1799" b="0" i="1"/>
              <a:t>standard deviation</a:t>
            </a:r>
            <a:r>
              <a:rPr lang="en-US" altLang="LID4096" sz="1799" b="0"/>
              <a:t>, </a:t>
            </a:r>
            <a:r>
              <a:rPr lang="en-US" altLang="LID4096" sz="1799" b="0" i="1"/>
              <a:t>interquartile range</a:t>
            </a:r>
            <a:r>
              <a:rPr lang="en-US" altLang="LID4096" sz="1799" b="0"/>
              <a:t>, </a:t>
            </a:r>
            <a:r>
              <a:rPr lang="en-US" altLang="LID4096" sz="1799" b="0" i="1"/>
              <a:t>coefficient of variation etc</a:t>
            </a:r>
            <a:r>
              <a:rPr lang="en-US" altLang="LID4096" sz="1799" b="0"/>
              <a:t>.</a:t>
            </a:r>
          </a:p>
        </p:txBody>
      </p:sp>
      <p:sp>
        <p:nvSpPr>
          <p:cNvPr id="39940" name="Text Box 5">
            <a:extLst>
              <a:ext uri="{FF2B5EF4-FFF2-40B4-BE49-F238E27FC236}">
                <a16:creationId xmlns:a16="http://schemas.microsoft.com/office/drawing/2014/main" id="{B6CA449E-7F70-1A3F-59CD-A81295278F0E}"/>
              </a:ext>
            </a:extLst>
          </p:cNvPr>
          <p:cNvSpPr txBox="1">
            <a:spLocks noChangeArrowheads="1"/>
          </p:cNvSpPr>
          <p:nvPr/>
        </p:nvSpPr>
        <p:spPr bwMode="auto">
          <a:xfrm>
            <a:off x="613236" y="3657391"/>
            <a:ext cx="8314040" cy="92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a:t>Range</a:t>
            </a:r>
            <a:r>
              <a:rPr lang="en-US" altLang="LID4096" sz="1799" b="0"/>
              <a:t>: The difference between the largest and the smallest observations. The range of 10, 5, 2, 100 is (100-2)=98. It’s a crude measure of variability.</a:t>
            </a:r>
          </a:p>
        </p:txBody>
      </p:sp>
      <p:sp>
        <p:nvSpPr>
          <p:cNvPr id="39941" name="Text Box 21">
            <a:extLst>
              <a:ext uri="{FF2B5EF4-FFF2-40B4-BE49-F238E27FC236}">
                <a16:creationId xmlns:a16="http://schemas.microsoft.com/office/drawing/2014/main" id="{FF3CA633-585F-B380-D07E-1AF9B17BCFED}"/>
              </a:ext>
            </a:extLst>
          </p:cNvPr>
          <p:cNvSpPr txBox="1">
            <a:spLocks noChangeArrowheads="1"/>
          </p:cNvSpPr>
          <p:nvPr/>
        </p:nvSpPr>
        <p:spPr bwMode="auto">
          <a:xfrm>
            <a:off x="613236" y="2058659"/>
            <a:ext cx="8374310"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spcBef>
                <a:spcPct val="50000"/>
              </a:spcBef>
            </a:pPr>
            <a:r>
              <a:rPr lang="en-US" altLang="LID4096" sz="1799"/>
              <a:t>Variability (or dispersion) </a:t>
            </a:r>
            <a:r>
              <a:rPr lang="en-US" altLang="LID4096" sz="1799" b="0"/>
              <a:t>measures the amount of scatter in a dataset. </a:t>
            </a:r>
          </a:p>
        </p:txBody>
      </p:sp>
      <p:sp>
        <p:nvSpPr>
          <p:cNvPr id="2" name="Slide Number Placeholder 1">
            <a:extLst>
              <a:ext uri="{FF2B5EF4-FFF2-40B4-BE49-F238E27FC236}">
                <a16:creationId xmlns:a16="http://schemas.microsoft.com/office/drawing/2014/main" id="{3F5A2C4F-4A51-4B13-340D-C6D168635F85}"/>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19</a:t>
            </a:fld>
            <a:r>
              <a:rPr lang="en-PK" spc="-119"/>
              <a:t> </a:t>
            </a:r>
            <a:r>
              <a:rPr lang="en-PK" spc="297"/>
              <a:t>/</a:t>
            </a:r>
            <a:r>
              <a:rPr lang="en-PK" spc="-119"/>
              <a:t> </a:t>
            </a:r>
            <a:r>
              <a:rPr lang="en-PK" spc="-50"/>
              <a:t>47</a:t>
            </a:r>
            <a:endParaRPr lang="en-PK" spc="-50" dirty="0"/>
          </a:p>
        </p:txBody>
      </p:sp>
      <p:sp>
        <p:nvSpPr>
          <p:cNvPr id="3" name="Footer Placeholder 2">
            <a:extLst>
              <a:ext uri="{FF2B5EF4-FFF2-40B4-BE49-F238E27FC236}">
                <a16:creationId xmlns:a16="http://schemas.microsoft.com/office/drawing/2014/main" id="{DC8758E3-2847-7666-9B77-4C2A1FD3DCBB}"/>
              </a:ext>
            </a:extLst>
          </p:cNvPr>
          <p:cNvSpPr>
            <a:spLocks noGrp="1"/>
          </p:cNvSpPr>
          <p:nvPr>
            <p:ph type="ftr" sz="quarter" idx="11"/>
          </p:nvPr>
        </p:nvSpPr>
        <p:spPr/>
        <p:txBody>
          <a:bodyPr/>
          <a:lstStyle/>
          <a:p>
            <a:r>
              <a:rPr lang="en-GB"/>
              <a:t>Department of Computer Science, COMSATS University, Islamabad.</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8">
            <a:extLst>
              <a:ext uri="{FF2B5EF4-FFF2-40B4-BE49-F238E27FC236}">
                <a16:creationId xmlns:a16="http://schemas.microsoft.com/office/drawing/2014/main" id="{83243962-EC60-A0E0-0695-BAC757231F4A}"/>
              </a:ext>
            </a:extLst>
          </p:cNvPr>
          <p:cNvSpPr>
            <a:spLocks noGrp="1" noChangeArrowheads="1"/>
          </p:cNvSpPr>
          <p:nvPr>
            <p:ph type="title"/>
          </p:nvPr>
        </p:nvSpPr>
        <p:spPr/>
        <p:txBody>
          <a:bodyPr/>
          <a:lstStyle/>
          <a:p>
            <a:pPr eaLnBrk="1" hangingPunct="1"/>
            <a:r>
              <a:rPr lang="en-US" altLang="LID4096" sz="3397"/>
              <a:t>Methods of Variability Measurement</a:t>
            </a:r>
          </a:p>
        </p:txBody>
      </p:sp>
      <p:sp>
        <p:nvSpPr>
          <p:cNvPr id="41987" name="Text Box 4">
            <a:extLst>
              <a:ext uri="{FF2B5EF4-FFF2-40B4-BE49-F238E27FC236}">
                <a16:creationId xmlns:a16="http://schemas.microsoft.com/office/drawing/2014/main" id="{2EC1F59E-39CF-2291-674E-0732DAF4A642}"/>
              </a:ext>
            </a:extLst>
          </p:cNvPr>
          <p:cNvSpPr txBox="1">
            <a:spLocks noChangeArrowheads="1"/>
          </p:cNvSpPr>
          <p:nvPr/>
        </p:nvSpPr>
        <p:spPr bwMode="auto">
          <a:xfrm>
            <a:off x="308716" y="1906399"/>
            <a:ext cx="8314040" cy="92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a:t>Variance</a:t>
            </a:r>
            <a:r>
              <a:rPr lang="en-US" altLang="LID4096" sz="1799" b="0"/>
              <a:t>: The variance of a set of observations is the average of the squares of the deviations of the observations from their mean.  In symbols, the variance of the n observations x</a:t>
            </a:r>
            <a:r>
              <a:rPr lang="en-US" altLang="LID4096" sz="1799" b="0" baseline="-25000"/>
              <a:t>1</a:t>
            </a:r>
            <a:r>
              <a:rPr lang="en-US" altLang="LID4096" sz="1799" b="0"/>
              <a:t>, x</a:t>
            </a:r>
            <a:r>
              <a:rPr lang="en-US" altLang="LID4096" sz="1799" b="0" baseline="-25000"/>
              <a:t>2</a:t>
            </a:r>
            <a:r>
              <a:rPr lang="en-US" altLang="LID4096" sz="1799" b="0"/>
              <a:t>,…x</a:t>
            </a:r>
            <a:r>
              <a:rPr lang="en-US" altLang="LID4096" sz="1799" b="0" baseline="-25000"/>
              <a:t>n</a:t>
            </a:r>
            <a:r>
              <a:rPr lang="en-US" altLang="LID4096" sz="1799" b="0"/>
              <a:t> is</a:t>
            </a:r>
          </a:p>
        </p:txBody>
      </p:sp>
      <p:sp>
        <p:nvSpPr>
          <p:cNvPr id="41988" name="Text Box 5">
            <a:extLst>
              <a:ext uri="{FF2B5EF4-FFF2-40B4-BE49-F238E27FC236}">
                <a16:creationId xmlns:a16="http://schemas.microsoft.com/office/drawing/2014/main" id="{062727A5-C6A9-D636-7352-A3C8A271C913}"/>
              </a:ext>
            </a:extLst>
          </p:cNvPr>
          <p:cNvSpPr txBox="1">
            <a:spLocks noChangeArrowheads="1"/>
          </p:cNvSpPr>
          <p:nvPr/>
        </p:nvSpPr>
        <p:spPr bwMode="auto">
          <a:xfrm>
            <a:off x="537107" y="3733521"/>
            <a:ext cx="8314040" cy="369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b="0"/>
              <a:t>Variance of 5, 7, 3?  Mean is (5+7+3)/3 = 5 and the variance is  </a:t>
            </a:r>
          </a:p>
        </p:txBody>
      </p:sp>
      <p:graphicFrame>
        <p:nvGraphicFramePr>
          <p:cNvPr id="41989" name="Object 6">
            <a:extLst>
              <a:ext uri="{FF2B5EF4-FFF2-40B4-BE49-F238E27FC236}">
                <a16:creationId xmlns:a16="http://schemas.microsoft.com/office/drawing/2014/main" id="{72010374-E7E7-5F71-8175-389751F98B60}"/>
              </a:ext>
            </a:extLst>
          </p:cNvPr>
          <p:cNvGraphicFramePr>
            <a:graphicFrameLocks noChangeAspect="1"/>
          </p:cNvGraphicFramePr>
          <p:nvPr/>
        </p:nvGraphicFramePr>
        <p:xfrm>
          <a:off x="3734569" y="4342562"/>
          <a:ext cx="3692310" cy="812055"/>
        </p:xfrm>
        <a:graphic>
          <a:graphicData uri="http://schemas.openxmlformats.org/presentationml/2006/ole">
            <mc:AlternateContent xmlns:mc="http://schemas.openxmlformats.org/markup-compatibility/2006">
              <mc:Choice xmlns:v="urn:schemas-microsoft-com:vml" Requires="v">
                <p:oleObj name="Equation" r:id="rId3" imgW="1905000" imgH="419100" progId="Equation.3">
                  <p:embed/>
                </p:oleObj>
              </mc:Choice>
              <mc:Fallback>
                <p:oleObj name="Equation" r:id="rId3" imgW="1905000" imgH="419100" progId="Equation.3">
                  <p:embed/>
                  <p:pic>
                    <p:nvPicPr>
                      <p:cNvPr id="41989" name="Object 6">
                        <a:extLst>
                          <a:ext uri="{FF2B5EF4-FFF2-40B4-BE49-F238E27FC236}">
                            <a16:creationId xmlns:a16="http://schemas.microsoft.com/office/drawing/2014/main" id="{72010374-E7E7-5F71-8175-389751F98B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4569" y="4342562"/>
                        <a:ext cx="3692310" cy="8120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90" name="Object 7">
            <a:extLst>
              <a:ext uri="{FF2B5EF4-FFF2-40B4-BE49-F238E27FC236}">
                <a16:creationId xmlns:a16="http://schemas.microsoft.com/office/drawing/2014/main" id="{23D02446-7DC1-98E7-9D36-9481DC19EC39}"/>
              </a:ext>
            </a:extLst>
          </p:cNvPr>
          <p:cNvGraphicFramePr>
            <a:graphicFrameLocks noGrp="1" noChangeAspect="1"/>
          </p:cNvGraphicFramePr>
          <p:nvPr>
            <p:ph idx="1"/>
          </p:nvPr>
        </p:nvGraphicFramePr>
        <p:xfrm>
          <a:off x="3430048" y="2896091"/>
          <a:ext cx="3121335" cy="710547"/>
        </p:xfrm>
        <a:graphic>
          <a:graphicData uri="http://schemas.openxmlformats.org/presentationml/2006/ole">
            <mc:AlternateContent xmlns:mc="http://schemas.openxmlformats.org/markup-compatibility/2006">
              <mc:Choice xmlns:v="urn:schemas-microsoft-com:vml" Requires="v">
                <p:oleObj name="Equation" r:id="rId5" imgW="1841500" imgH="419100" progId="Equation.3">
                  <p:embed/>
                </p:oleObj>
              </mc:Choice>
              <mc:Fallback>
                <p:oleObj name="Equation" r:id="rId5" imgW="1841500" imgH="419100" progId="Equation.3">
                  <p:embed/>
                  <p:pic>
                    <p:nvPicPr>
                      <p:cNvPr id="41990" name="Object 7">
                        <a:extLst>
                          <a:ext uri="{FF2B5EF4-FFF2-40B4-BE49-F238E27FC236}">
                            <a16:creationId xmlns:a16="http://schemas.microsoft.com/office/drawing/2014/main" id="{23D02446-7DC1-98E7-9D36-9481DC19EC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0048" y="2896091"/>
                        <a:ext cx="3121335" cy="7105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1" name="Text Box 10">
            <a:extLst>
              <a:ext uri="{FF2B5EF4-FFF2-40B4-BE49-F238E27FC236}">
                <a16:creationId xmlns:a16="http://schemas.microsoft.com/office/drawing/2014/main" id="{77D0C097-444C-D886-50E4-1867D940022E}"/>
              </a:ext>
            </a:extLst>
          </p:cNvPr>
          <p:cNvSpPr txBox="1">
            <a:spLocks noChangeArrowheads="1"/>
          </p:cNvSpPr>
          <p:nvPr/>
        </p:nvSpPr>
        <p:spPr bwMode="auto">
          <a:xfrm>
            <a:off x="460976" y="5256122"/>
            <a:ext cx="8450441"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dirty="0"/>
              <a:t>Standard Deviation</a:t>
            </a:r>
            <a:r>
              <a:rPr lang="en-US" altLang="LID4096" sz="1799" b="0" dirty="0"/>
              <a:t>: Square root of the variance. The standard deviation of the above example is 2.</a:t>
            </a:r>
          </a:p>
        </p:txBody>
      </p:sp>
      <p:sp>
        <p:nvSpPr>
          <p:cNvPr id="2" name="Slide Number Placeholder 1">
            <a:extLst>
              <a:ext uri="{FF2B5EF4-FFF2-40B4-BE49-F238E27FC236}">
                <a16:creationId xmlns:a16="http://schemas.microsoft.com/office/drawing/2014/main" id="{242712D2-2BF8-84A0-B5E9-C9896E76AD69}"/>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20</a:t>
            </a:fld>
            <a:r>
              <a:rPr lang="en-PK" spc="-119"/>
              <a:t> </a:t>
            </a:r>
            <a:r>
              <a:rPr lang="en-PK" spc="297"/>
              <a:t>/</a:t>
            </a:r>
            <a:r>
              <a:rPr lang="en-PK" spc="-119"/>
              <a:t> </a:t>
            </a:r>
            <a:r>
              <a:rPr lang="en-PK" spc="-50"/>
              <a:t>47</a:t>
            </a:r>
            <a:endParaRPr lang="en-PK" spc="-50" dirty="0"/>
          </a:p>
        </p:txBody>
      </p:sp>
      <p:sp>
        <p:nvSpPr>
          <p:cNvPr id="3" name="Footer Placeholder 2">
            <a:extLst>
              <a:ext uri="{FF2B5EF4-FFF2-40B4-BE49-F238E27FC236}">
                <a16:creationId xmlns:a16="http://schemas.microsoft.com/office/drawing/2014/main" id="{BB01F105-70D8-6E96-DD64-3CBF98B7E560}"/>
              </a:ext>
            </a:extLst>
          </p:cNvPr>
          <p:cNvSpPr>
            <a:spLocks noGrp="1"/>
          </p:cNvSpPr>
          <p:nvPr>
            <p:ph type="ftr" sz="quarter" idx="11"/>
          </p:nvPr>
        </p:nvSpPr>
        <p:spPr/>
        <p:txBody>
          <a:bodyPr/>
          <a:lstStyle/>
          <a:p>
            <a:r>
              <a:rPr lang="en-GB"/>
              <a:t>Department of Computer Science, COMSATS University, Islamabad.</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9962D1D1-B59A-6B75-464E-55E60159B83D}"/>
              </a:ext>
            </a:extLst>
          </p:cNvPr>
          <p:cNvSpPr>
            <a:spLocks noGrp="1" noChangeArrowheads="1"/>
          </p:cNvSpPr>
          <p:nvPr>
            <p:ph type="title"/>
          </p:nvPr>
        </p:nvSpPr>
        <p:spPr/>
        <p:txBody>
          <a:bodyPr/>
          <a:lstStyle/>
          <a:p>
            <a:pPr eaLnBrk="1" hangingPunct="1"/>
            <a:r>
              <a:rPr lang="en-US" altLang="LID4096" sz="3397"/>
              <a:t>Methods of Variability Measurement</a:t>
            </a:r>
          </a:p>
        </p:txBody>
      </p:sp>
      <p:sp>
        <p:nvSpPr>
          <p:cNvPr id="44035" name="Text Box 5">
            <a:extLst>
              <a:ext uri="{FF2B5EF4-FFF2-40B4-BE49-F238E27FC236}">
                <a16:creationId xmlns:a16="http://schemas.microsoft.com/office/drawing/2014/main" id="{B37EEC28-7E6A-2AB3-04C4-851223A27A98}"/>
              </a:ext>
            </a:extLst>
          </p:cNvPr>
          <p:cNvSpPr txBox="1">
            <a:spLocks noChangeArrowheads="1"/>
          </p:cNvSpPr>
          <p:nvPr/>
        </p:nvSpPr>
        <p:spPr bwMode="auto">
          <a:xfrm>
            <a:off x="460976" y="1982529"/>
            <a:ext cx="8374310" cy="92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a:t>Quartiles</a:t>
            </a:r>
            <a:r>
              <a:rPr lang="en-US" altLang="LID4096" sz="1799" b="0"/>
              <a:t>: Data can be divided into four regions that cover the total range of observed values. Cut points for these regions are known as quartiles.</a:t>
            </a:r>
          </a:p>
        </p:txBody>
      </p:sp>
      <p:sp>
        <p:nvSpPr>
          <p:cNvPr id="44036" name="Text Box 6">
            <a:extLst>
              <a:ext uri="{FF2B5EF4-FFF2-40B4-BE49-F238E27FC236}">
                <a16:creationId xmlns:a16="http://schemas.microsoft.com/office/drawing/2014/main" id="{085BB0CB-48E4-20B3-597C-EF3CAAB5F73C}"/>
              </a:ext>
            </a:extLst>
          </p:cNvPr>
          <p:cNvSpPr txBox="1">
            <a:spLocks noChangeArrowheads="1"/>
          </p:cNvSpPr>
          <p:nvPr/>
        </p:nvSpPr>
        <p:spPr bwMode="auto">
          <a:xfrm>
            <a:off x="460976" y="3885782"/>
            <a:ext cx="8374310" cy="1476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lgn="just"/>
            <a:r>
              <a:rPr lang="en-US" altLang="LID4096" sz="1799" b="0"/>
              <a:t>The first quartile (Q1) is the first 25% of the data. The second quartile (Q2) is between the 25</a:t>
            </a:r>
            <a:r>
              <a:rPr lang="en-US" altLang="LID4096" sz="1799" b="0" baseline="30000"/>
              <a:t>th</a:t>
            </a:r>
            <a:r>
              <a:rPr lang="en-US" altLang="LID4096" sz="1799" b="0"/>
              <a:t> and 50</a:t>
            </a:r>
            <a:r>
              <a:rPr lang="en-US" altLang="LID4096" sz="1799" b="0" baseline="30000"/>
              <a:t>th</a:t>
            </a:r>
            <a:r>
              <a:rPr lang="en-US" altLang="LID4096" sz="1799" b="0"/>
              <a:t> percentage points in the data. The upper bound of Q2 is the median. The third quartile (Q3) is the 25% of the data lying between the median and the 75% cut point in the data.</a:t>
            </a:r>
          </a:p>
        </p:txBody>
      </p:sp>
      <p:sp>
        <p:nvSpPr>
          <p:cNvPr id="44037" name="Text Box 7">
            <a:extLst>
              <a:ext uri="{FF2B5EF4-FFF2-40B4-BE49-F238E27FC236}">
                <a16:creationId xmlns:a16="http://schemas.microsoft.com/office/drawing/2014/main" id="{E59BE908-3DB1-8DCF-1261-56F5EDF4FB62}"/>
              </a:ext>
            </a:extLst>
          </p:cNvPr>
          <p:cNvSpPr txBox="1">
            <a:spLocks noChangeArrowheads="1"/>
          </p:cNvSpPr>
          <p:nvPr/>
        </p:nvSpPr>
        <p:spPr bwMode="auto">
          <a:xfrm>
            <a:off x="460976" y="5376662"/>
            <a:ext cx="8374310"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lgn="just"/>
            <a:r>
              <a:rPr lang="en-US" altLang="LID4096" sz="1799" b="0"/>
              <a:t>Q1 is the median of the first half of the ordered observations and Q3 is the median of the second half of the ordered observations.</a:t>
            </a:r>
          </a:p>
        </p:txBody>
      </p:sp>
      <p:sp>
        <p:nvSpPr>
          <p:cNvPr id="44038" name="Text Box 9">
            <a:extLst>
              <a:ext uri="{FF2B5EF4-FFF2-40B4-BE49-F238E27FC236}">
                <a16:creationId xmlns:a16="http://schemas.microsoft.com/office/drawing/2014/main" id="{C24C1BA7-55FD-CC62-79E6-D3C0C555B704}"/>
              </a:ext>
            </a:extLst>
          </p:cNvPr>
          <p:cNvSpPr txBox="1">
            <a:spLocks noChangeArrowheads="1"/>
          </p:cNvSpPr>
          <p:nvPr/>
        </p:nvSpPr>
        <p:spPr bwMode="auto">
          <a:xfrm>
            <a:off x="460976" y="2896090"/>
            <a:ext cx="8374310" cy="92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spcBef>
                <a:spcPct val="50000"/>
              </a:spcBef>
            </a:pPr>
            <a:r>
              <a:rPr lang="en-US" altLang="LID4096" sz="1799" b="0"/>
              <a:t>In notations, quartiles of a data is the ((n+1)/4)q</a:t>
            </a:r>
            <a:r>
              <a:rPr lang="en-US" altLang="LID4096" sz="1799" b="0" baseline="30000"/>
              <a:t>th</a:t>
            </a:r>
            <a:r>
              <a:rPr lang="en-US" altLang="LID4096" sz="1799" b="0"/>
              <a:t> observation of the data, where q is the desired quartile and n is the number of observations of data. </a:t>
            </a:r>
          </a:p>
        </p:txBody>
      </p:sp>
      <p:sp>
        <p:nvSpPr>
          <p:cNvPr id="2" name="Slide Number Placeholder 1">
            <a:extLst>
              <a:ext uri="{FF2B5EF4-FFF2-40B4-BE49-F238E27FC236}">
                <a16:creationId xmlns:a16="http://schemas.microsoft.com/office/drawing/2014/main" id="{B1BFC72A-8A9F-9B40-5DCF-98988907B3DD}"/>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21</a:t>
            </a:fld>
            <a:r>
              <a:rPr lang="en-PK" spc="-119"/>
              <a:t> </a:t>
            </a:r>
            <a:r>
              <a:rPr lang="en-PK" spc="297"/>
              <a:t>/</a:t>
            </a:r>
            <a:r>
              <a:rPr lang="en-PK" spc="-119"/>
              <a:t> </a:t>
            </a:r>
            <a:r>
              <a:rPr lang="en-PK" spc="-50"/>
              <a:t>47</a:t>
            </a:r>
            <a:endParaRPr lang="en-PK" spc="-50" dirty="0"/>
          </a:p>
        </p:txBody>
      </p:sp>
      <p:sp>
        <p:nvSpPr>
          <p:cNvPr id="3" name="Footer Placeholder 2">
            <a:extLst>
              <a:ext uri="{FF2B5EF4-FFF2-40B4-BE49-F238E27FC236}">
                <a16:creationId xmlns:a16="http://schemas.microsoft.com/office/drawing/2014/main" id="{2948BAB1-6C86-4962-49E9-7ACDF8003115}"/>
              </a:ext>
            </a:extLst>
          </p:cNvPr>
          <p:cNvSpPr>
            <a:spLocks noGrp="1"/>
          </p:cNvSpPr>
          <p:nvPr>
            <p:ph type="ftr" sz="quarter" idx="11"/>
          </p:nvPr>
        </p:nvSpPr>
        <p:spPr/>
        <p:txBody>
          <a:bodyPr/>
          <a:lstStyle/>
          <a:p>
            <a:r>
              <a:rPr lang="en-GB"/>
              <a:t>Department of Computer Science, COMSATS University, Islamabad.</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26">
            <a:extLst>
              <a:ext uri="{FF2B5EF4-FFF2-40B4-BE49-F238E27FC236}">
                <a16:creationId xmlns:a16="http://schemas.microsoft.com/office/drawing/2014/main" id="{DE8367F0-05AF-F16E-B39B-58947D2D6BAC}"/>
              </a:ext>
            </a:extLst>
          </p:cNvPr>
          <p:cNvSpPr>
            <a:spLocks noGrp="1" noChangeArrowheads="1"/>
          </p:cNvSpPr>
          <p:nvPr>
            <p:ph type="title"/>
          </p:nvPr>
        </p:nvSpPr>
        <p:spPr/>
        <p:txBody>
          <a:bodyPr/>
          <a:lstStyle/>
          <a:p>
            <a:pPr eaLnBrk="1" hangingPunct="1"/>
            <a:r>
              <a:rPr lang="en-US" altLang="LID4096" sz="3397"/>
              <a:t>Methods of Variability Measurement</a:t>
            </a:r>
          </a:p>
        </p:txBody>
      </p:sp>
      <p:sp>
        <p:nvSpPr>
          <p:cNvPr id="46083" name="Text Box 1028">
            <a:extLst>
              <a:ext uri="{FF2B5EF4-FFF2-40B4-BE49-F238E27FC236}">
                <a16:creationId xmlns:a16="http://schemas.microsoft.com/office/drawing/2014/main" id="{CA4E0078-6377-76A5-87EA-5BE1A67018F1}"/>
              </a:ext>
            </a:extLst>
          </p:cNvPr>
          <p:cNvSpPr txBox="1">
            <a:spLocks noChangeArrowheads="1"/>
          </p:cNvSpPr>
          <p:nvPr/>
        </p:nvSpPr>
        <p:spPr bwMode="auto">
          <a:xfrm>
            <a:off x="384846" y="2591571"/>
            <a:ext cx="8466300" cy="1476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b="0"/>
              <a:t>An example with 15 numbers</a:t>
            </a:r>
          </a:p>
          <a:p>
            <a:r>
              <a:rPr lang="en-US" altLang="LID4096" sz="1799" b="0"/>
              <a:t>               3 6 7 11 13 22 30 40 44 50 52 61 68 80 94                                       		 Q1              Q2              Q3</a:t>
            </a:r>
          </a:p>
          <a:p>
            <a:r>
              <a:rPr lang="en-US" altLang="LID4096" sz="1799" b="0"/>
              <a:t>The first quartile is   Q1=11. The second quartile is  Q2=40  (This is also the Median.)  The third quartile is Q3=61. </a:t>
            </a:r>
          </a:p>
        </p:txBody>
      </p:sp>
      <p:sp>
        <p:nvSpPr>
          <p:cNvPr id="46084" name="Text Box 1029">
            <a:extLst>
              <a:ext uri="{FF2B5EF4-FFF2-40B4-BE49-F238E27FC236}">
                <a16:creationId xmlns:a16="http://schemas.microsoft.com/office/drawing/2014/main" id="{7435765D-9973-D862-C6EE-6B7C4BB2C623}"/>
              </a:ext>
            </a:extLst>
          </p:cNvPr>
          <p:cNvSpPr txBox="1">
            <a:spLocks noChangeArrowheads="1"/>
          </p:cNvSpPr>
          <p:nvPr/>
        </p:nvSpPr>
        <p:spPr bwMode="auto">
          <a:xfrm>
            <a:off x="460976" y="4342562"/>
            <a:ext cx="8678830" cy="92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lgn="just">
              <a:spcBef>
                <a:spcPct val="50000"/>
              </a:spcBef>
            </a:pPr>
            <a:r>
              <a:rPr lang="en-US" altLang="LID4096" sz="1799"/>
              <a:t>Inter-quartile Range</a:t>
            </a:r>
            <a:r>
              <a:rPr lang="en-US" altLang="LID4096" sz="1799" b="0"/>
              <a:t>: Difference between Q3 and Q1. Inter-quartile range of the previous example is 61- 40=21. The middle half of the ordered data lie between 40 and 61.</a:t>
            </a:r>
          </a:p>
        </p:txBody>
      </p:sp>
      <p:sp>
        <p:nvSpPr>
          <p:cNvPr id="46085" name="Text Box 1032">
            <a:extLst>
              <a:ext uri="{FF2B5EF4-FFF2-40B4-BE49-F238E27FC236}">
                <a16:creationId xmlns:a16="http://schemas.microsoft.com/office/drawing/2014/main" id="{9DF4013F-4557-3467-4F31-028F0E0453D0}"/>
              </a:ext>
            </a:extLst>
          </p:cNvPr>
          <p:cNvSpPr txBox="1">
            <a:spLocks noChangeArrowheads="1"/>
          </p:cNvSpPr>
          <p:nvPr/>
        </p:nvSpPr>
        <p:spPr bwMode="auto">
          <a:xfrm>
            <a:off x="384844" y="1754138"/>
            <a:ext cx="8907222"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spcBef>
                <a:spcPct val="50000"/>
              </a:spcBef>
            </a:pPr>
            <a:r>
              <a:rPr lang="en-US" altLang="LID4096" sz="1799" b="0" dirty="0"/>
              <a:t>In the following example Q1= ((15+1)/4)1 =4</a:t>
            </a:r>
            <a:r>
              <a:rPr lang="en-US" altLang="LID4096" sz="1799" b="0" baseline="30000" dirty="0"/>
              <a:t>th</a:t>
            </a:r>
            <a:r>
              <a:rPr lang="en-US" altLang="LID4096" sz="1799" b="0" dirty="0"/>
              <a:t> observation of the data. The 4</a:t>
            </a:r>
            <a:r>
              <a:rPr lang="en-US" altLang="LID4096" sz="1799" b="0" baseline="30000" dirty="0"/>
              <a:t>th</a:t>
            </a:r>
            <a:r>
              <a:rPr lang="en-US" altLang="LID4096" sz="1799" b="0" dirty="0"/>
              <a:t> observation is 11. So Q1 is of this data is 11.   </a:t>
            </a:r>
          </a:p>
        </p:txBody>
      </p:sp>
      <p:sp>
        <p:nvSpPr>
          <p:cNvPr id="2" name="Slide Number Placeholder 1">
            <a:extLst>
              <a:ext uri="{FF2B5EF4-FFF2-40B4-BE49-F238E27FC236}">
                <a16:creationId xmlns:a16="http://schemas.microsoft.com/office/drawing/2014/main" id="{7636C1F0-CFD1-0961-4A9D-1EE1865FB018}"/>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22</a:t>
            </a:fld>
            <a:r>
              <a:rPr lang="en-PK" spc="-119"/>
              <a:t> </a:t>
            </a:r>
            <a:r>
              <a:rPr lang="en-PK" spc="297"/>
              <a:t>/</a:t>
            </a:r>
            <a:r>
              <a:rPr lang="en-PK" spc="-119"/>
              <a:t> </a:t>
            </a:r>
            <a:r>
              <a:rPr lang="en-PK" spc="-50"/>
              <a:t>47</a:t>
            </a:r>
            <a:endParaRPr lang="en-PK" spc="-50" dirty="0"/>
          </a:p>
        </p:txBody>
      </p:sp>
      <p:sp>
        <p:nvSpPr>
          <p:cNvPr id="3" name="Footer Placeholder 2">
            <a:extLst>
              <a:ext uri="{FF2B5EF4-FFF2-40B4-BE49-F238E27FC236}">
                <a16:creationId xmlns:a16="http://schemas.microsoft.com/office/drawing/2014/main" id="{939DB19E-6984-8F27-B2D6-EC8F0C8103A8}"/>
              </a:ext>
            </a:extLst>
          </p:cNvPr>
          <p:cNvSpPr>
            <a:spLocks noGrp="1"/>
          </p:cNvSpPr>
          <p:nvPr>
            <p:ph type="ftr" sz="quarter" idx="11"/>
          </p:nvPr>
        </p:nvSpPr>
        <p:spPr/>
        <p:txBody>
          <a:bodyPr/>
          <a:lstStyle/>
          <a:p>
            <a:r>
              <a:rPr lang="en-GB"/>
              <a:t>Department of Computer Science, COMSATS University, Islamabad.</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48522EC6-5879-C863-FC1C-3D8AF272B832}"/>
              </a:ext>
            </a:extLst>
          </p:cNvPr>
          <p:cNvSpPr>
            <a:spLocks noGrp="1" noChangeArrowheads="1"/>
          </p:cNvSpPr>
          <p:nvPr>
            <p:ph type="title"/>
          </p:nvPr>
        </p:nvSpPr>
        <p:spPr/>
        <p:txBody>
          <a:bodyPr/>
          <a:lstStyle/>
          <a:p>
            <a:pPr eaLnBrk="1" hangingPunct="1"/>
            <a:r>
              <a:rPr lang="en-US" altLang="LID4096"/>
              <a:t>Deciles and Percentiles</a:t>
            </a:r>
          </a:p>
        </p:txBody>
      </p:sp>
      <p:sp>
        <p:nvSpPr>
          <p:cNvPr id="48131" name="Text Box 4">
            <a:extLst>
              <a:ext uri="{FF2B5EF4-FFF2-40B4-BE49-F238E27FC236}">
                <a16:creationId xmlns:a16="http://schemas.microsoft.com/office/drawing/2014/main" id="{54828DFC-714A-0EAC-A7E8-4D85F8B7AD1D}"/>
              </a:ext>
            </a:extLst>
          </p:cNvPr>
          <p:cNvSpPr txBox="1">
            <a:spLocks noChangeArrowheads="1"/>
          </p:cNvSpPr>
          <p:nvPr/>
        </p:nvSpPr>
        <p:spPr bwMode="auto">
          <a:xfrm>
            <a:off x="460976" y="2439310"/>
            <a:ext cx="8145921" cy="92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spcBef>
                <a:spcPct val="50000"/>
              </a:spcBef>
            </a:pPr>
            <a:r>
              <a:rPr lang="en-US" altLang="LID4096" sz="1799"/>
              <a:t>Percentiles</a:t>
            </a:r>
            <a:r>
              <a:rPr lang="en-US" altLang="LID4096" sz="1799" b="0"/>
              <a:t>: If data is ordered and divided into 100 parts, then cut points are called Percentiles. 25</a:t>
            </a:r>
            <a:r>
              <a:rPr lang="en-US" altLang="LID4096" sz="1799" b="0" baseline="30000"/>
              <a:t>th</a:t>
            </a:r>
            <a:r>
              <a:rPr lang="en-US" altLang="LID4096" sz="1799" b="0"/>
              <a:t> percentile is the Q1, 50</a:t>
            </a:r>
            <a:r>
              <a:rPr lang="en-US" altLang="LID4096" sz="1799" b="0" baseline="30000"/>
              <a:t>th</a:t>
            </a:r>
            <a:r>
              <a:rPr lang="en-US" altLang="LID4096" sz="1799" b="0"/>
              <a:t> percentile is the Median (Q2) and the 75</a:t>
            </a:r>
            <a:r>
              <a:rPr lang="en-US" altLang="LID4096" sz="1799" b="0" baseline="30000"/>
              <a:t>th</a:t>
            </a:r>
            <a:r>
              <a:rPr lang="en-US" altLang="LID4096" sz="1799" b="0"/>
              <a:t> percentile of the data is Q3.</a:t>
            </a:r>
          </a:p>
        </p:txBody>
      </p:sp>
      <p:sp>
        <p:nvSpPr>
          <p:cNvPr id="48132" name="Text Box 5">
            <a:extLst>
              <a:ext uri="{FF2B5EF4-FFF2-40B4-BE49-F238E27FC236}">
                <a16:creationId xmlns:a16="http://schemas.microsoft.com/office/drawing/2014/main" id="{411C4DA7-5EC6-B01B-FEF2-D2FA52821BED}"/>
              </a:ext>
            </a:extLst>
          </p:cNvPr>
          <p:cNvSpPr txBox="1">
            <a:spLocks noChangeArrowheads="1"/>
          </p:cNvSpPr>
          <p:nvPr/>
        </p:nvSpPr>
        <p:spPr bwMode="auto">
          <a:xfrm>
            <a:off x="460976" y="1830270"/>
            <a:ext cx="8145921"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spcBef>
                <a:spcPct val="50000"/>
              </a:spcBef>
            </a:pPr>
            <a:r>
              <a:rPr lang="en-US" altLang="LID4096" sz="1799"/>
              <a:t>Deciles</a:t>
            </a:r>
            <a:r>
              <a:rPr lang="en-US" altLang="LID4096" sz="1799" b="0"/>
              <a:t>: If data is ordered and divided into 10 parts, then cut points are called Deciles</a:t>
            </a:r>
          </a:p>
        </p:txBody>
      </p:sp>
      <p:sp>
        <p:nvSpPr>
          <p:cNvPr id="48133" name="Text Box 9">
            <a:extLst>
              <a:ext uri="{FF2B5EF4-FFF2-40B4-BE49-F238E27FC236}">
                <a16:creationId xmlns:a16="http://schemas.microsoft.com/office/drawing/2014/main" id="{52D5D3D4-7A45-0317-9629-A827EE0CEE27}"/>
              </a:ext>
            </a:extLst>
          </p:cNvPr>
          <p:cNvSpPr txBox="1">
            <a:spLocks noChangeArrowheads="1"/>
          </p:cNvSpPr>
          <p:nvPr/>
        </p:nvSpPr>
        <p:spPr bwMode="auto">
          <a:xfrm>
            <a:off x="460976" y="3657391"/>
            <a:ext cx="8450441" cy="92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spcBef>
                <a:spcPct val="50000"/>
              </a:spcBef>
            </a:pPr>
            <a:r>
              <a:rPr lang="en-US" altLang="LID4096" sz="1799" b="0"/>
              <a:t>In notations, percentiles of a data is the ((n+1)/100)p th observation of the data, where p is the desired percentile and n is the number of observations of data. </a:t>
            </a:r>
          </a:p>
        </p:txBody>
      </p:sp>
      <p:sp>
        <p:nvSpPr>
          <p:cNvPr id="48134" name="Text Box 13">
            <a:extLst>
              <a:ext uri="{FF2B5EF4-FFF2-40B4-BE49-F238E27FC236}">
                <a16:creationId xmlns:a16="http://schemas.microsoft.com/office/drawing/2014/main" id="{0393C2B8-C0CD-FE75-347B-4D936E7D47A3}"/>
              </a:ext>
            </a:extLst>
          </p:cNvPr>
          <p:cNvSpPr txBox="1">
            <a:spLocks noChangeArrowheads="1"/>
          </p:cNvSpPr>
          <p:nvPr/>
        </p:nvSpPr>
        <p:spPr bwMode="auto">
          <a:xfrm>
            <a:off x="460976" y="4799342"/>
            <a:ext cx="8678830"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a:t>Coefficient of Variation</a:t>
            </a:r>
            <a:r>
              <a:rPr lang="en-US" altLang="LID4096" sz="1799" b="0"/>
              <a:t>: The standard deviation of data divided by it’s mean. It is usually expressed in percent. </a:t>
            </a:r>
          </a:p>
        </p:txBody>
      </p:sp>
      <p:graphicFrame>
        <p:nvGraphicFramePr>
          <p:cNvPr id="48135" name="Object 14">
            <a:extLst>
              <a:ext uri="{FF2B5EF4-FFF2-40B4-BE49-F238E27FC236}">
                <a16:creationId xmlns:a16="http://schemas.microsoft.com/office/drawing/2014/main" id="{6CD3F1C1-8642-FC29-2816-BF75528DD48A}"/>
              </a:ext>
            </a:extLst>
          </p:cNvPr>
          <p:cNvGraphicFramePr>
            <a:graphicFrameLocks noGrp="1" noChangeAspect="1"/>
          </p:cNvGraphicFramePr>
          <p:nvPr>
            <p:ph idx="1"/>
          </p:nvPr>
        </p:nvGraphicFramePr>
        <p:xfrm>
          <a:off x="4026401" y="5730794"/>
          <a:ext cx="1015067" cy="788263"/>
        </p:xfrm>
        <a:graphic>
          <a:graphicData uri="http://schemas.openxmlformats.org/presentationml/2006/ole">
            <mc:AlternateContent xmlns:mc="http://schemas.openxmlformats.org/markup-compatibility/2006">
              <mc:Choice xmlns:v="urn:schemas-microsoft-com:vml" Requires="v">
                <p:oleObj name="Equation" r:id="rId3" imgW="507780" imgH="393529" progId="Equation.3">
                  <p:embed/>
                </p:oleObj>
              </mc:Choice>
              <mc:Fallback>
                <p:oleObj name="Equation" r:id="rId3" imgW="507780" imgH="393529" progId="Equation.3">
                  <p:embed/>
                  <p:pic>
                    <p:nvPicPr>
                      <p:cNvPr id="48135" name="Object 14">
                        <a:extLst>
                          <a:ext uri="{FF2B5EF4-FFF2-40B4-BE49-F238E27FC236}">
                            <a16:creationId xmlns:a16="http://schemas.microsoft.com/office/drawing/2014/main" id="{6CD3F1C1-8642-FC29-2816-BF75528DD4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6401" y="5730794"/>
                        <a:ext cx="1015067" cy="788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6" name="Text Box 15">
            <a:extLst>
              <a:ext uri="{FF2B5EF4-FFF2-40B4-BE49-F238E27FC236}">
                <a16:creationId xmlns:a16="http://schemas.microsoft.com/office/drawing/2014/main" id="{4F6A7DDB-3A51-0BD7-6391-7643B8537A70}"/>
              </a:ext>
            </a:extLst>
          </p:cNvPr>
          <p:cNvSpPr txBox="1">
            <a:spLocks noChangeArrowheads="1"/>
          </p:cNvSpPr>
          <p:nvPr/>
        </p:nvSpPr>
        <p:spPr bwMode="auto">
          <a:xfrm>
            <a:off x="421413" y="5577846"/>
            <a:ext cx="4020676" cy="646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endParaRPr lang="en-US" altLang="LID4096" sz="1799" b="0" dirty="0"/>
          </a:p>
          <a:p>
            <a:r>
              <a:rPr lang="en-US" altLang="LID4096" sz="1799" b="0" dirty="0"/>
              <a:t>= Coefficient of Variation =</a:t>
            </a:r>
          </a:p>
        </p:txBody>
      </p:sp>
      <p:sp>
        <p:nvSpPr>
          <p:cNvPr id="2" name="Slide Number Placeholder 1">
            <a:extLst>
              <a:ext uri="{FF2B5EF4-FFF2-40B4-BE49-F238E27FC236}">
                <a16:creationId xmlns:a16="http://schemas.microsoft.com/office/drawing/2014/main" id="{1A80F7AE-0BB8-4AB0-890F-855A3B4D340C}"/>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23</a:t>
            </a:fld>
            <a:r>
              <a:rPr lang="en-PK" spc="-119"/>
              <a:t> </a:t>
            </a:r>
            <a:r>
              <a:rPr lang="en-PK" spc="297"/>
              <a:t>/</a:t>
            </a:r>
            <a:r>
              <a:rPr lang="en-PK" spc="-119"/>
              <a:t> </a:t>
            </a:r>
            <a:r>
              <a:rPr lang="en-PK" spc="-50"/>
              <a:t>47</a:t>
            </a:r>
            <a:endParaRPr lang="en-PK" spc="-50" dirty="0"/>
          </a:p>
        </p:txBody>
      </p:sp>
      <p:sp>
        <p:nvSpPr>
          <p:cNvPr id="3" name="Footer Placeholder 2">
            <a:extLst>
              <a:ext uri="{FF2B5EF4-FFF2-40B4-BE49-F238E27FC236}">
                <a16:creationId xmlns:a16="http://schemas.microsoft.com/office/drawing/2014/main" id="{BF6EF57F-C170-1EDE-007D-D8DD167409CC}"/>
              </a:ext>
            </a:extLst>
          </p:cNvPr>
          <p:cNvSpPr>
            <a:spLocks noGrp="1"/>
          </p:cNvSpPr>
          <p:nvPr>
            <p:ph type="ftr" sz="quarter" idx="11"/>
          </p:nvPr>
        </p:nvSpPr>
        <p:spPr/>
        <p:txBody>
          <a:bodyPr/>
          <a:lstStyle/>
          <a:p>
            <a:r>
              <a:rPr lang="en-GB"/>
              <a:t>Department of Computer Science, COMSATS University, Islamabad.</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D7E64F4-BA91-68AF-96FB-381A3BA24EF8}"/>
              </a:ext>
            </a:extLst>
          </p:cNvPr>
          <p:cNvSpPr>
            <a:spLocks noGrp="1" noChangeArrowheads="1"/>
          </p:cNvSpPr>
          <p:nvPr>
            <p:ph type="title"/>
          </p:nvPr>
        </p:nvSpPr>
        <p:spPr/>
        <p:txBody>
          <a:bodyPr/>
          <a:lstStyle/>
          <a:p>
            <a:pPr eaLnBrk="1" hangingPunct="1"/>
            <a:r>
              <a:rPr lang="en-US" altLang="LID4096"/>
              <a:t>Five Number Summary</a:t>
            </a:r>
          </a:p>
        </p:txBody>
      </p:sp>
      <p:sp>
        <p:nvSpPr>
          <p:cNvPr id="50179" name="Text Box 4">
            <a:extLst>
              <a:ext uri="{FF2B5EF4-FFF2-40B4-BE49-F238E27FC236}">
                <a16:creationId xmlns:a16="http://schemas.microsoft.com/office/drawing/2014/main" id="{023AB3C3-5458-1382-CA03-6B2C4287C8AC}"/>
              </a:ext>
            </a:extLst>
          </p:cNvPr>
          <p:cNvSpPr txBox="1">
            <a:spLocks noChangeArrowheads="1"/>
          </p:cNvSpPr>
          <p:nvPr/>
        </p:nvSpPr>
        <p:spPr bwMode="auto">
          <a:xfrm>
            <a:off x="376915" y="1616978"/>
            <a:ext cx="8390171" cy="1199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r>
              <a:rPr lang="en-US" altLang="LID4096" sz="1799" dirty="0"/>
              <a:t>Five Number Summary</a:t>
            </a:r>
            <a:r>
              <a:rPr lang="en-US" altLang="LID4096" sz="1799" b="0" dirty="0"/>
              <a:t>: The five number summary of a distribution consists of the smallest (Minimum) observation, the first quartile (Q1),</a:t>
            </a:r>
          </a:p>
          <a:p>
            <a:r>
              <a:rPr lang="en-US" altLang="LID4096" sz="1799" b="0" dirty="0"/>
              <a:t>The median(Q2), the third quartile, and the largest (Maximum) observation written in order from smallest to largest.  </a:t>
            </a:r>
          </a:p>
        </p:txBody>
      </p:sp>
      <p:sp>
        <p:nvSpPr>
          <p:cNvPr id="50181" name="Text Box 9">
            <a:extLst>
              <a:ext uri="{FF2B5EF4-FFF2-40B4-BE49-F238E27FC236}">
                <a16:creationId xmlns:a16="http://schemas.microsoft.com/office/drawing/2014/main" id="{02C9BDA4-5CE8-B32B-D879-B299B4E96414}"/>
              </a:ext>
            </a:extLst>
          </p:cNvPr>
          <p:cNvSpPr txBox="1">
            <a:spLocks noChangeArrowheads="1"/>
          </p:cNvSpPr>
          <p:nvPr/>
        </p:nvSpPr>
        <p:spPr bwMode="auto">
          <a:xfrm>
            <a:off x="917757" y="5408382"/>
            <a:ext cx="184731" cy="369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endParaRPr lang="LID4096" altLang="LID4096" sz="1799" b="0"/>
          </a:p>
        </p:txBody>
      </p:sp>
      <p:sp>
        <p:nvSpPr>
          <p:cNvPr id="50182" name="Text Box 10">
            <a:extLst>
              <a:ext uri="{FF2B5EF4-FFF2-40B4-BE49-F238E27FC236}">
                <a16:creationId xmlns:a16="http://schemas.microsoft.com/office/drawing/2014/main" id="{ED5E2039-3D39-C289-7C68-34D3B84E51A4}"/>
              </a:ext>
            </a:extLst>
          </p:cNvPr>
          <p:cNvSpPr txBox="1">
            <a:spLocks noChangeArrowheads="1"/>
          </p:cNvSpPr>
          <p:nvPr/>
        </p:nvSpPr>
        <p:spPr bwMode="auto">
          <a:xfrm>
            <a:off x="613235" y="5408382"/>
            <a:ext cx="4643937" cy="369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Verdana" panose="020B0604030504040204" pitchFamily="34" charset="0"/>
              </a:defRPr>
            </a:lvl1pPr>
            <a:lvl2pPr marL="742950" indent="-285750">
              <a:defRPr sz="2400" b="1">
                <a:solidFill>
                  <a:schemeClr val="tx1"/>
                </a:solidFill>
                <a:latin typeface="Verdana" panose="020B0604030504040204" pitchFamily="34" charset="0"/>
              </a:defRPr>
            </a:lvl2pPr>
            <a:lvl3pPr marL="1143000" indent="-228600">
              <a:defRPr sz="2400" b="1">
                <a:solidFill>
                  <a:schemeClr val="tx1"/>
                </a:solidFill>
                <a:latin typeface="Verdana" panose="020B0604030504040204" pitchFamily="34" charset="0"/>
              </a:defRPr>
            </a:lvl3pPr>
            <a:lvl4pPr marL="1600200" indent="-228600">
              <a:defRPr sz="2400" b="1">
                <a:solidFill>
                  <a:schemeClr val="tx1"/>
                </a:solidFill>
                <a:latin typeface="Verdana" panose="020B0604030504040204" pitchFamily="34" charset="0"/>
              </a:defRPr>
            </a:lvl4pPr>
            <a:lvl5pPr marL="2057400" indent="-228600">
              <a:defRPr sz="2400" b="1">
                <a:solidFill>
                  <a:schemeClr val="tx1"/>
                </a:solidFill>
                <a:latin typeface="Verdana" panose="020B0604030504040204" pitchFamily="34" charset="0"/>
              </a:defRPr>
            </a:lvl5pPr>
            <a:lvl6pPr marL="2514600" indent="-228600" eaLnBrk="0" fontAlgn="base" hangingPunct="0">
              <a:spcBef>
                <a:spcPct val="0"/>
              </a:spcBef>
              <a:spcAft>
                <a:spcPct val="0"/>
              </a:spcAft>
              <a:defRPr sz="2400" b="1">
                <a:solidFill>
                  <a:schemeClr val="tx1"/>
                </a:solidFill>
                <a:latin typeface="Verdana" panose="020B0604030504040204" pitchFamily="34" charset="0"/>
              </a:defRPr>
            </a:lvl6pPr>
            <a:lvl7pPr marL="2971800" indent="-228600" eaLnBrk="0" fontAlgn="base" hangingPunct="0">
              <a:spcBef>
                <a:spcPct val="0"/>
              </a:spcBef>
              <a:spcAft>
                <a:spcPct val="0"/>
              </a:spcAft>
              <a:defRPr sz="2400" b="1">
                <a:solidFill>
                  <a:schemeClr val="tx1"/>
                </a:solidFill>
                <a:latin typeface="Verdana" panose="020B0604030504040204" pitchFamily="34" charset="0"/>
              </a:defRPr>
            </a:lvl7pPr>
            <a:lvl8pPr marL="3429000" indent="-228600" eaLnBrk="0" fontAlgn="base" hangingPunct="0">
              <a:spcBef>
                <a:spcPct val="0"/>
              </a:spcBef>
              <a:spcAft>
                <a:spcPct val="0"/>
              </a:spcAft>
              <a:defRPr sz="2400" b="1">
                <a:solidFill>
                  <a:schemeClr val="tx1"/>
                </a:solidFill>
                <a:latin typeface="Verdana" panose="020B0604030504040204" pitchFamily="34" charset="0"/>
              </a:defRPr>
            </a:lvl8pPr>
            <a:lvl9pPr marL="3886200" indent="-228600" eaLnBrk="0" fontAlgn="base" hangingPunct="0">
              <a:spcBef>
                <a:spcPct val="0"/>
              </a:spcBef>
              <a:spcAft>
                <a:spcPct val="0"/>
              </a:spcAft>
              <a:defRPr sz="2400" b="1">
                <a:solidFill>
                  <a:schemeClr val="tx1"/>
                </a:solidFill>
                <a:latin typeface="Verdana" panose="020B0604030504040204" pitchFamily="34" charset="0"/>
              </a:defRPr>
            </a:lvl9pPr>
          </a:lstStyle>
          <a:p>
            <a:pPr>
              <a:spcBef>
                <a:spcPct val="50000"/>
              </a:spcBef>
            </a:pPr>
            <a:endParaRPr lang="LID4096" altLang="LID4096" sz="1799" b="0"/>
          </a:p>
        </p:txBody>
      </p:sp>
      <p:sp>
        <p:nvSpPr>
          <p:cNvPr id="2" name="Slide Number Placeholder 1">
            <a:extLst>
              <a:ext uri="{FF2B5EF4-FFF2-40B4-BE49-F238E27FC236}">
                <a16:creationId xmlns:a16="http://schemas.microsoft.com/office/drawing/2014/main" id="{0127B382-4A18-9E80-5F16-F8A0E6C9784E}"/>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24</a:t>
            </a:fld>
            <a:r>
              <a:rPr lang="en-PK" spc="-119"/>
              <a:t> </a:t>
            </a:r>
            <a:r>
              <a:rPr lang="en-PK" spc="297"/>
              <a:t>/</a:t>
            </a:r>
            <a:r>
              <a:rPr lang="en-PK" spc="-119"/>
              <a:t> </a:t>
            </a:r>
            <a:r>
              <a:rPr lang="en-PK" spc="-50"/>
              <a:t>47</a:t>
            </a:r>
            <a:endParaRPr lang="en-PK" spc="-50" dirty="0"/>
          </a:p>
        </p:txBody>
      </p:sp>
      <p:sp>
        <p:nvSpPr>
          <p:cNvPr id="3" name="Footer Placeholder 2">
            <a:extLst>
              <a:ext uri="{FF2B5EF4-FFF2-40B4-BE49-F238E27FC236}">
                <a16:creationId xmlns:a16="http://schemas.microsoft.com/office/drawing/2014/main" id="{D8CB9596-1AC4-3C47-5D3F-4A92D985C49F}"/>
              </a:ext>
            </a:extLst>
          </p:cNvPr>
          <p:cNvSpPr>
            <a:spLocks noGrp="1"/>
          </p:cNvSpPr>
          <p:nvPr>
            <p:ph type="ftr" sz="quarter" idx="11"/>
          </p:nvPr>
        </p:nvSpPr>
        <p:spPr/>
        <p:txBody>
          <a:bodyPr/>
          <a:lstStyle/>
          <a:p>
            <a:r>
              <a:rPr lang="en-GB"/>
              <a:t>Department of Computer Science, COMSATS University, Islamabad.</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C46D5-3328-EB25-7E54-CAEC4FD3D0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14E4C-C4F6-D66F-0486-720FB145D58A}"/>
              </a:ext>
            </a:extLst>
          </p:cNvPr>
          <p:cNvSpPr>
            <a:spLocks noGrp="1"/>
          </p:cNvSpPr>
          <p:nvPr>
            <p:ph type="title"/>
          </p:nvPr>
        </p:nvSpPr>
        <p:spPr/>
        <p:txBody>
          <a:bodyPr/>
          <a:lstStyle/>
          <a:p>
            <a:r>
              <a:rPr lang="en-GB" dirty="0"/>
              <a:t>Skewness</a:t>
            </a:r>
            <a:endParaRPr lang="LID4096" dirty="0"/>
          </a:p>
        </p:txBody>
      </p:sp>
      <p:sp>
        <p:nvSpPr>
          <p:cNvPr id="3" name="Content Placeholder 2">
            <a:extLst>
              <a:ext uri="{FF2B5EF4-FFF2-40B4-BE49-F238E27FC236}">
                <a16:creationId xmlns:a16="http://schemas.microsoft.com/office/drawing/2014/main" id="{225BEFDF-5C45-AA13-A10D-B49CEEBA98D2}"/>
              </a:ext>
            </a:extLst>
          </p:cNvPr>
          <p:cNvSpPr>
            <a:spLocks noGrp="1"/>
          </p:cNvSpPr>
          <p:nvPr>
            <p:ph idx="1"/>
          </p:nvPr>
        </p:nvSpPr>
        <p:spPr>
          <a:xfrm>
            <a:off x="632268" y="1465976"/>
            <a:ext cx="7879464" cy="4351338"/>
          </a:xfrm>
        </p:spPr>
        <p:txBody>
          <a:bodyPr>
            <a:normAutofit fontScale="92500" lnSpcReduction="10000"/>
          </a:bodyPr>
          <a:lstStyle/>
          <a:p>
            <a:pPr algn="l"/>
            <a:r>
              <a:rPr lang="en-GB" b="1" i="0" dirty="0">
                <a:solidFill>
                  <a:srgbClr val="0D0D0D"/>
                </a:solidFill>
                <a:effectLst/>
                <a:latin typeface="+mj-lt"/>
              </a:rPr>
              <a:t>Skewness</a:t>
            </a:r>
            <a:r>
              <a:rPr lang="en-GB" b="0" i="0" dirty="0">
                <a:solidFill>
                  <a:srgbClr val="0D0D0D"/>
                </a:solidFill>
                <a:effectLst/>
                <a:latin typeface="+mj-lt"/>
              </a:rPr>
              <a:t> is a measure of the asymmetry of a probability distribution or a set of data points around its mean. </a:t>
            </a:r>
          </a:p>
          <a:p>
            <a:pPr algn="l"/>
            <a:r>
              <a:rPr lang="en-GB" b="0" i="0" dirty="0">
                <a:solidFill>
                  <a:srgbClr val="0D0D0D"/>
                </a:solidFill>
                <a:effectLst/>
                <a:latin typeface="+mj-lt"/>
              </a:rPr>
              <a:t>It indicates whether the distribution is symmetric or skewed to one side. </a:t>
            </a:r>
          </a:p>
          <a:p>
            <a:pPr lvl="1"/>
            <a:r>
              <a:rPr lang="en-GB" b="0" i="0" dirty="0">
                <a:solidFill>
                  <a:srgbClr val="0D0D0D"/>
                </a:solidFill>
                <a:effectLst/>
                <a:latin typeface="+mj-lt"/>
              </a:rPr>
              <a:t>A symmetric distribution has a skewness of zero, while a distribution that is skewed to the right (positively skewed) has a positive skewness value, and a distribution skewed to the left (negatively skewed) has a negative skewness value.</a:t>
            </a:r>
          </a:p>
          <a:p>
            <a:pPr algn="l"/>
            <a:endParaRPr lang="en-GB" b="0" i="0" dirty="0">
              <a:solidFill>
                <a:srgbClr val="0D0D0D"/>
              </a:solidFill>
              <a:effectLst/>
              <a:latin typeface="Söhne"/>
            </a:endParaRPr>
          </a:p>
          <a:p>
            <a:endParaRPr lang="LID4096" dirty="0"/>
          </a:p>
        </p:txBody>
      </p:sp>
      <p:sp>
        <p:nvSpPr>
          <p:cNvPr id="4" name="Slide Number Placeholder 3">
            <a:extLst>
              <a:ext uri="{FF2B5EF4-FFF2-40B4-BE49-F238E27FC236}">
                <a16:creationId xmlns:a16="http://schemas.microsoft.com/office/drawing/2014/main" id="{B4392EAF-2B9B-F85E-90B9-A8047DD1A402}"/>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25</a:t>
            </a:fld>
            <a:r>
              <a:rPr lang="en-PK" spc="-119"/>
              <a:t> </a:t>
            </a:r>
            <a:r>
              <a:rPr lang="en-PK" spc="297"/>
              <a:t>/</a:t>
            </a:r>
            <a:r>
              <a:rPr lang="en-PK" spc="-119"/>
              <a:t> </a:t>
            </a:r>
            <a:r>
              <a:rPr lang="en-PK" spc="-50"/>
              <a:t>47</a:t>
            </a:r>
            <a:endParaRPr lang="en-PK" spc="-50" dirty="0"/>
          </a:p>
        </p:txBody>
      </p:sp>
      <p:sp>
        <p:nvSpPr>
          <p:cNvPr id="5" name="Footer Placeholder 4">
            <a:extLst>
              <a:ext uri="{FF2B5EF4-FFF2-40B4-BE49-F238E27FC236}">
                <a16:creationId xmlns:a16="http://schemas.microsoft.com/office/drawing/2014/main" id="{C5C4C604-8A74-F7E4-13D8-7F8D3DDF2D1E}"/>
              </a:ext>
            </a:extLst>
          </p:cNvPr>
          <p:cNvSpPr>
            <a:spLocks noGrp="1"/>
          </p:cNvSpPr>
          <p:nvPr>
            <p:ph type="ftr" sz="quarter" idx="11"/>
          </p:nvPr>
        </p:nvSpPr>
        <p:spPr/>
        <p:txBody>
          <a:bodyPr/>
          <a:lstStyle/>
          <a:p>
            <a:r>
              <a:rPr lang="en-GB"/>
              <a:t>Department of Computer Science, COMSATS University, Islamabad.</a:t>
            </a:r>
            <a:endParaRPr lang="en-US"/>
          </a:p>
        </p:txBody>
      </p:sp>
    </p:spTree>
    <p:extLst>
      <p:ext uri="{BB962C8B-B14F-4D97-AF65-F5344CB8AC3E}">
        <p14:creationId xmlns:p14="http://schemas.microsoft.com/office/powerpoint/2010/main" val="3726615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09E66-B23A-C6D0-20A6-5E1C383C8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8B633-D2D8-C0D0-FE82-69534E01E921}"/>
              </a:ext>
            </a:extLst>
          </p:cNvPr>
          <p:cNvSpPr>
            <a:spLocks noGrp="1"/>
          </p:cNvSpPr>
          <p:nvPr>
            <p:ph type="title"/>
          </p:nvPr>
        </p:nvSpPr>
        <p:spPr/>
        <p:txBody>
          <a:bodyPr/>
          <a:lstStyle/>
          <a:p>
            <a:r>
              <a:rPr lang="en-GB" dirty="0"/>
              <a:t>Skewness…</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4BE0D2-6441-BBB4-E301-AA9F51A882E6}"/>
                  </a:ext>
                </a:extLst>
              </p:cNvPr>
              <p:cNvSpPr>
                <a:spLocks noGrp="1"/>
              </p:cNvSpPr>
              <p:nvPr>
                <p:ph idx="1"/>
              </p:nvPr>
            </p:nvSpPr>
            <p:spPr>
              <a:xfrm>
                <a:off x="632268" y="1465976"/>
                <a:ext cx="7879464" cy="4351338"/>
              </a:xfrm>
            </p:spPr>
            <p:txBody>
              <a:bodyPr>
                <a:normAutofit fontScale="92500" lnSpcReduction="10000"/>
              </a:bodyPr>
              <a:lstStyle/>
              <a:p>
                <a:pPr marL="0" indent="0">
                  <a:buNone/>
                </a:pPr>
                <a:r>
                  <a:rPr lang="en-GB" dirty="0">
                    <a:solidFill>
                      <a:srgbClr val="0D0D0D"/>
                    </a:solidFill>
                    <a:latin typeface="Söhne"/>
                  </a:rPr>
                  <a:t>For Sample data:</a:t>
                </a:r>
              </a:p>
              <a:p>
                <a:pPr marL="0" indent="0">
                  <a:buNone/>
                </a:pPr>
                <a14:m>
                  <m:oMathPara xmlns:m="http://schemas.openxmlformats.org/officeDocument/2006/math">
                    <m:oMathParaPr>
                      <m:jc m:val="centerGroup"/>
                    </m:oMathParaPr>
                    <m:oMath xmlns:m="http://schemas.openxmlformats.org/officeDocument/2006/math">
                      <m:r>
                        <a:rPr lang="en-GB" b="0" i="1" smtClean="0">
                          <a:solidFill>
                            <a:srgbClr val="0D0D0D"/>
                          </a:solidFill>
                          <a:effectLst/>
                          <a:latin typeface="Cambria Math" panose="02040503050406030204" pitchFamily="18" charset="0"/>
                        </a:rPr>
                        <m:t>𝑆𝐾</m:t>
                      </m:r>
                      <m:r>
                        <a:rPr lang="en-GB" b="0" i="1" smtClean="0">
                          <a:solidFill>
                            <a:srgbClr val="0D0D0D"/>
                          </a:solidFill>
                          <a:effectLst/>
                          <a:latin typeface="Cambria Math" panose="02040503050406030204" pitchFamily="18" charset="0"/>
                        </a:rPr>
                        <m:t>=</m:t>
                      </m:r>
                      <m:f>
                        <m:fPr>
                          <m:ctrlPr>
                            <a:rPr lang="en-GB" b="0" i="1" smtClean="0">
                              <a:solidFill>
                                <a:srgbClr val="0D0D0D"/>
                              </a:solidFill>
                              <a:effectLst/>
                              <a:latin typeface="Cambria Math" panose="02040503050406030204" pitchFamily="18" charset="0"/>
                            </a:rPr>
                          </m:ctrlPr>
                        </m:fPr>
                        <m:num>
                          <m:r>
                            <a:rPr lang="en-GB" b="0" i="1" smtClean="0">
                              <a:solidFill>
                                <a:srgbClr val="0D0D0D"/>
                              </a:solidFill>
                              <a:effectLst/>
                              <a:latin typeface="Cambria Math" panose="02040503050406030204" pitchFamily="18" charset="0"/>
                            </a:rPr>
                            <m:t>3</m:t>
                          </m:r>
                          <m:d>
                            <m:dPr>
                              <m:ctrlPr>
                                <a:rPr lang="en-GB" b="0" i="1" smtClean="0">
                                  <a:solidFill>
                                    <a:srgbClr val="0D0D0D"/>
                                  </a:solidFill>
                                  <a:effectLst/>
                                  <a:latin typeface="Cambria Math" panose="02040503050406030204" pitchFamily="18" charset="0"/>
                                </a:rPr>
                              </m:ctrlPr>
                            </m:dPr>
                            <m:e>
                              <m:acc>
                                <m:accPr>
                                  <m:chr m:val="̅"/>
                                  <m:ctrlPr>
                                    <a:rPr lang="en-GB" b="0" i="1" smtClean="0">
                                      <a:solidFill>
                                        <a:srgbClr val="0D0D0D"/>
                                      </a:solidFill>
                                      <a:effectLst/>
                                      <a:latin typeface="Cambria Math" panose="02040503050406030204" pitchFamily="18" charset="0"/>
                                    </a:rPr>
                                  </m:ctrlPr>
                                </m:accPr>
                                <m:e>
                                  <m:r>
                                    <a:rPr lang="en-GB" b="0" i="1" smtClean="0">
                                      <a:solidFill>
                                        <a:srgbClr val="0D0D0D"/>
                                      </a:solidFill>
                                      <a:effectLst/>
                                      <a:latin typeface="Cambria Math" panose="02040503050406030204" pitchFamily="18" charset="0"/>
                                    </a:rPr>
                                    <m:t>𝑋</m:t>
                                  </m:r>
                                </m:e>
                              </m:acc>
                              <m:r>
                                <a:rPr lang="en-GB" b="0" i="1" smtClean="0">
                                  <a:solidFill>
                                    <a:srgbClr val="0D0D0D"/>
                                  </a:solidFill>
                                  <a:effectLst/>
                                  <a:latin typeface="Cambria Math" panose="02040503050406030204" pitchFamily="18" charset="0"/>
                                </a:rPr>
                                <m:t> −</m:t>
                              </m:r>
                              <m:acc>
                                <m:accPr>
                                  <m:chr m:val="̃"/>
                                  <m:ctrlPr>
                                    <a:rPr lang="en-GB" b="0" i="1" smtClean="0">
                                      <a:solidFill>
                                        <a:srgbClr val="0D0D0D"/>
                                      </a:solidFill>
                                      <a:effectLst/>
                                      <a:latin typeface="Cambria Math" panose="02040503050406030204" pitchFamily="18" charset="0"/>
                                    </a:rPr>
                                  </m:ctrlPr>
                                </m:accPr>
                                <m:e>
                                  <m:r>
                                    <a:rPr lang="en-GB" b="0" i="1" smtClean="0">
                                      <a:solidFill>
                                        <a:srgbClr val="0D0D0D"/>
                                      </a:solidFill>
                                      <a:effectLst/>
                                      <a:latin typeface="Cambria Math" panose="02040503050406030204" pitchFamily="18" charset="0"/>
                                    </a:rPr>
                                    <m:t>𝑋</m:t>
                                  </m:r>
                                </m:e>
                              </m:acc>
                            </m:e>
                          </m:d>
                        </m:num>
                        <m:den>
                          <m:r>
                            <a:rPr lang="en-GB" b="0" i="1" smtClean="0">
                              <a:solidFill>
                                <a:srgbClr val="0D0D0D"/>
                              </a:solidFill>
                              <a:effectLst/>
                              <a:latin typeface="Cambria Math" panose="02040503050406030204" pitchFamily="18" charset="0"/>
                            </a:rPr>
                            <m:t>𝑠</m:t>
                          </m:r>
                        </m:den>
                      </m:f>
                    </m:oMath>
                  </m:oMathPara>
                </a14:m>
                <a:endParaRPr lang="en-GB" b="0" i="0" dirty="0">
                  <a:solidFill>
                    <a:srgbClr val="0D0D0D"/>
                  </a:solidFill>
                  <a:effectLst/>
                  <a:latin typeface="Söhne"/>
                </a:endParaRPr>
              </a:p>
              <a:p>
                <a:pPr marL="0" indent="0">
                  <a:buNone/>
                </a:pPr>
                <a:r>
                  <a:rPr lang="en-GB" dirty="0">
                    <a:solidFill>
                      <a:srgbClr val="0D0D0D"/>
                    </a:solidFill>
                    <a:latin typeface="Söhne"/>
                  </a:rPr>
                  <a:t>For Population:</a:t>
                </a:r>
              </a:p>
              <a:p>
                <a:pPr marL="0" indent="0">
                  <a:buNone/>
                </a:pPr>
                <a14:m>
                  <m:oMathPara xmlns:m="http://schemas.openxmlformats.org/officeDocument/2006/math">
                    <m:oMathParaPr>
                      <m:jc m:val="centerGroup"/>
                    </m:oMathParaPr>
                    <m:oMath xmlns:m="http://schemas.openxmlformats.org/officeDocument/2006/math">
                      <m:r>
                        <a:rPr lang="en-GB" b="0" i="1" smtClean="0">
                          <a:solidFill>
                            <a:srgbClr val="0D0D0D"/>
                          </a:solidFill>
                          <a:effectLst/>
                          <a:latin typeface="Cambria Math" panose="02040503050406030204" pitchFamily="18" charset="0"/>
                        </a:rPr>
                        <m:t>𝑆𝐾</m:t>
                      </m:r>
                      <m:r>
                        <a:rPr lang="en-GB" b="0" i="1" smtClean="0">
                          <a:solidFill>
                            <a:srgbClr val="0D0D0D"/>
                          </a:solidFill>
                          <a:effectLst/>
                          <a:latin typeface="Cambria Math" panose="02040503050406030204" pitchFamily="18" charset="0"/>
                        </a:rPr>
                        <m:t>=</m:t>
                      </m:r>
                      <m:f>
                        <m:fPr>
                          <m:ctrlPr>
                            <a:rPr lang="en-GB" b="0" i="1" smtClean="0">
                              <a:solidFill>
                                <a:srgbClr val="0D0D0D"/>
                              </a:solidFill>
                              <a:effectLst/>
                              <a:latin typeface="Cambria Math" panose="02040503050406030204" pitchFamily="18" charset="0"/>
                            </a:rPr>
                          </m:ctrlPr>
                        </m:fPr>
                        <m:num>
                          <m:r>
                            <a:rPr lang="en-GB" b="0" i="1" smtClean="0">
                              <a:solidFill>
                                <a:srgbClr val="0D0D0D"/>
                              </a:solidFill>
                              <a:effectLst/>
                              <a:latin typeface="Cambria Math" panose="02040503050406030204" pitchFamily="18" charset="0"/>
                            </a:rPr>
                            <m:t>3</m:t>
                          </m:r>
                          <m:d>
                            <m:dPr>
                              <m:ctrlPr>
                                <a:rPr lang="en-GB" b="0" i="1" smtClean="0">
                                  <a:solidFill>
                                    <a:srgbClr val="0D0D0D"/>
                                  </a:solidFill>
                                  <a:effectLst/>
                                  <a:latin typeface="Cambria Math" panose="02040503050406030204" pitchFamily="18" charset="0"/>
                                </a:rPr>
                              </m:ctrlPr>
                            </m:dPr>
                            <m:e>
                              <m:acc>
                                <m:accPr>
                                  <m:chr m:val="̅"/>
                                  <m:ctrlPr>
                                    <a:rPr lang="en-GB" b="0" i="1" smtClean="0">
                                      <a:solidFill>
                                        <a:srgbClr val="0D0D0D"/>
                                      </a:solidFill>
                                      <a:effectLst/>
                                      <a:latin typeface="Cambria Math" panose="02040503050406030204" pitchFamily="18" charset="0"/>
                                    </a:rPr>
                                  </m:ctrlPr>
                                </m:accPr>
                                <m:e>
                                  <m:r>
                                    <a:rPr lang="en-GB" b="0" i="1" smtClean="0">
                                      <a:solidFill>
                                        <a:srgbClr val="0D0D0D"/>
                                      </a:solidFill>
                                      <a:effectLst/>
                                      <a:latin typeface="Cambria Math" panose="02040503050406030204" pitchFamily="18" charset="0"/>
                                      <a:ea typeface="Cambria Math" panose="02040503050406030204" pitchFamily="18" charset="0"/>
                                    </a:rPr>
                                    <m:t>𝜇</m:t>
                                  </m:r>
                                </m:e>
                              </m:acc>
                              <m:r>
                                <a:rPr lang="en-GB" b="0" i="1" smtClean="0">
                                  <a:solidFill>
                                    <a:srgbClr val="0D0D0D"/>
                                  </a:solidFill>
                                  <a:effectLst/>
                                  <a:latin typeface="Cambria Math" panose="02040503050406030204" pitchFamily="18" charset="0"/>
                                </a:rPr>
                                <m:t> −</m:t>
                              </m:r>
                              <m:acc>
                                <m:accPr>
                                  <m:chr m:val="̃"/>
                                  <m:ctrlPr>
                                    <a:rPr lang="en-GB" b="0" i="1" smtClean="0">
                                      <a:solidFill>
                                        <a:srgbClr val="0D0D0D"/>
                                      </a:solidFill>
                                      <a:effectLst/>
                                      <a:latin typeface="Cambria Math" panose="02040503050406030204" pitchFamily="18" charset="0"/>
                                    </a:rPr>
                                  </m:ctrlPr>
                                </m:accPr>
                                <m:e>
                                  <m:r>
                                    <a:rPr lang="en-GB" b="0" i="1" smtClean="0">
                                      <a:solidFill>
                                        <a:srgbClr val="0D0D0D"/>
                                      </a:solidFill>
                                      <a:effectLst/>
                                      <a:latin typeface="Cambria Math" panose="02040503050406030204" pitchFamily="18" charset="0"/>
                                      <a:ea typeface="Cambria Math" panose="02040503050406030204" pitchFamily="18" charset="0"/>
                                    </a:rPr>
                                    <m:t>𝜇</m:t>
                                  </m:r>
                                </m:e>
                              </m:acc>
                            </m:e>
                          </m:d>
                        </m:num>
                        <m:den>
                          <m:r>
                            <a:rPr lang="en-GB" b="0" i="1" smtClean="0">
                              <a:solidFill>
                                <a:srgbClr val="0D0D0D"/>
                              </a:solidFill>
                              <a:effectLst/>
                              <a:latin typeface="Cambria Math" panose="02040503050406030204" pitchFamily="18" charset="0"/>
                              <a:ea typeface="Cambria Math" panose="02040503050406030204" pitchFamily="18" charset="0"/>
                            </a:rPr>
                            <m:t>𝜎</m:t>
                          </m:r>
                        </m:den>
                      </m:f>
                    </m:oMath>
                  </m:oMathPara>
                </a14:m>
                <a:endParaRPr lang="en-GB" b="0" i="0" dirty="0">
                  <a:solidFill>
                    <a:srgbClr val="0D0D0D"/>
                  </a:solidFill>
                  <a:effectLst/>
                  <a:latin typeface="Söhne"/>
                </a:endParaRPr>
              </a:p>
              <a:p>
                <a:r>
                  <a:rPr lang="en-GB" dirty="0"/>
                  <a:t>If SK = 0 then Distribution is symmetric</a:t>
                </a:r>
              </a:p>
              <a:p>
                <a:r>
                  <a:rPr lang="en-GB" dirty="0"/>
                  <a:t>If SK &gt; 0 then Distribution is positively skewed</a:t>
                </a:r>
              </a:p>
              <a:p>
                <a:r>
                  <a:rPr lang="en-GB" dirty="0"/>
                  <a:t>If SK&lt; 0  then Distribution is negatively skewed</a:t>
                </a:r>
                <a:endParaRPr lang="LID4096" dirty="0"/>
              </a:p>
            </p:txBody>
          </p:sp>
        </mc:Choice>
        <mc:Fallback xmlns="">
          <p:sp>
            <p:nvSpPr>
              <p:cNvPr id="3" name="Content Placeholder 2">
                <a:extLst>
                  <a:ext uri="{FF2B5EF4-FFF2-40B4-BE49-F238E27FC236}">
                    <a16:creationId xmlns:a16="http://schemas.microsoft.com/office/drawing/2014/main" id="{DD4BE0D2-6441-BBB4-E301-AA9F51A882E6}"/>
                  </a:ext>
                </a:extLst>
              </p:cNvPr>
              <p:cNvSpPr>
                <a:spLocks noGrp="1" noRot="1" noChangeAspect="1" noMove="1" noResize="1" noEditPoints="1" noAdjustHandles="1" noChangeArrowheads="1" noChangeShapeType="1" noTextEdit="1"/>
              </p:cNvSpPr>
              <p:nvPr>
                <p:ph idx="1"/>
              </p:nvPr>
            </p:nvSpPr>
            <p:spPr>
              <a:xfrm>
                <a:off x="632268" y="1465976"/>
                <a:ext cx="7879464" cy="4351338"/>
              </a:xfrm>
              <a:blipFill>
                <a:blip r:embed="rId2"/>
                <a:stretch>
                  <a:fillRect l="-1858" t="-2801" b="-4202"/>
                </a:stretch>
              </a:blipFill>
            </p:spPr>
            <p:txBody>
              <a:bodyPr/>
              <a:lstStyle/>
              <a:p>
                <a:r>
                  <a:rPr lang="LID4096">
                    <a:noFill/>
                  </a:rPr>
                  <a:t> </a:t>
                </a:r>
              </a:p>
            </p:txBody>
          </p:sp>
        </mc:Fallback>
      </mc:AlternateContent>
      <p:sp>
        <p:nvSpPr>
          <p:cNvPr id="4" name="Slide Number Placeholder 3">
            <a:extLst>
              <a:ext uri="{FF2B5EF4-FFF2-40B4-BE49-F238E27FC236}">
                <a16:creationId xmlns:a16="http://schemas.microsoft.com/office/drawing/2014/main" id="{FD0DC78A-222C-54FE-F8AD-47D7B915D0D0}"/>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26</a:t>
            </a:fld>
            <a:r>
              <a:rPr lang="en-PK" spc="-119"/>
              <a:t> </a:t>
            </a:r>
            <a:r>
              <a:rPr lang="en-PK" spc="297"/>
              <a:t>/</a:t>
            </a:r>
            <a:r>
              <a:rPr lang="en-PK" spc="-119"/>
              <a:t> </a:t>
            </a:r>
            <a:r>
              <a:rPr lang="en-PK" spc="-50"/>
              <a:t>47</a:t>
            </a:r>
            <a:endParaRPr lang="en-PK" spc="-50" dirty="0"/>
          </a:p>
        </p:txBody>
      </p:sp>
      <p:sp>
        <p:nvSpPr>
          <p:cNvPr id="5" name="Footer Placeholder 4">
            <a:extLst>
              <a:ext uri="{FF2B5EF4-FFF2-40B4-BE49-F238E27FC236}">
                <a16:creationId xmlns:a16="http://schemas.microsoft.com/office/drawing/2014/main" id="{1BACB955-0585-093E-A29D-9E30E19A85F5}"/>
              </a:ext>
            </a:extLst>
          </p:cNvPr>
          <p:cNvSpPr>
            <a:spLocks noGrp="1"/>
          </p:cNvSpPr>
          <p:nvPr>
            <p:ph type="ftr" sz="quarter" idx="11"/>
          </p:nvPr>
        </p:nvSpPr>
        <p:spPr/>
        <p:txBody>
          <a:bodyPr/>
          <a:lstStyle/>
          <a:p>
            <a:r>
              <a:rPr lang="en-GB"/>
              <a:t>Department of Computer Science, COMSATS University, Islamabad.</a:t>
            </a:r>
            <a:endParaRPr lang="en-US"/>
          </a:p>
        </p:txBody>
      </p:sp>
    </p:spTree>
    <p:extLst>
      <p:ext uri="{BB962C8B-B14F-4D97-AF65-F5344CB8AC3E}">
        <p14:creationId xmlns:p14="http://schemas.microsoft.com/office/powerpoint/2010/main" val="3322991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321E41-9254-BAE0-782E-35CF55636E5E}"/>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2D54AC-3A3B-C5C1-71F3-6FF3394BD880}"/>
              </a:ext>
            </a:extLst>
          </p:cNvPr>
          <p:cNvSpPr>
            <a:spLocks noGrp="1"/>
          </p:cNvSpPr>
          <p:nvPr>
            <p:ph type="title"/>
          </p:nvPr>
        </p:nvSpPr>
        <p:spPr>
          <a:xfrm>
            <a:off x="479160" y="670218"/>
            <a:ext cx="8182230" cy="1065836"/>
          </a:xfrm>
        </p:spPr>
        <p:txBody>
          <a:bodyPr vert="horz" lIns="91440" tIns="45720" rIns="91440" bIns="45720" rtlCol="0" anchor="ctr">
            <a:normAutofit/>
          </a:bodyPr>
          <a:lstStyle/>
          <a:p>
            <a:pPr defTabSz="914400">
              <a:lnSpc>
                <a:spcPct val="90000"/>
              </a:lnSpc>
            </a:pPr>
            <a:r>
              <a:rPr lang="en-US" sz="5700"/>
              <a:t>Skewness…</a:t>
            </a:r>
          </a:p>
        </p:txBody>
      </p:sp>
      <p:sp>
        <p:nvSpPr>
          <p:cNvPr id="20"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2032" y="1800088"/>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a number of people&#10;&#10;Description automatically generated with medium confidence">
            <a:extLst>
              <a:ext uri="{FF2B5EF4-FFF2-40B4-BE49-F238E27FC236}">
                <a16:creationId xmlns:a16="http://schemas.microsoft.com/office/drawing/2014/main" id="{AD11F04B-E50D-028E-C08B-7058F7788074}"/>
              </a:ext>
            </a:extLst>
          </p:cNvPr>
          <p:cNvPicPr>
            <a:picLocks noChangeAspect="1"/>
          </p:cNvPicPr>
          <p:nvPr/>
        </p:nvPicPr>
        <p:blipFill>
          <a:blip r:embed="rId2"/>
          <a:stretch>
            <a:fillRect/>
          </a:stretch>
        </p:blipFill>
        <p:spPr>
          <a:xfrm>
            <a:off x="219456" y="3369862"/>
            <a:ext cx="2818638" cy="2099885"/>
          </a:xfrm>
          <a:prstGeom prst="rect">
            <a:avLst/>
          </a:prstGeom>
        </p:spPr>
      </p:pic>
      <p:pic>
        <p:nvPicPr>
          <p:cNvPr id="11" name="Picture 10" descr="A graph of a number of sunspots per year&#10;&#10;Description automatically generated">
            <a:extLst>
              <a:ext uri="{FF2B5EF4-FFF2-40B4-BE49-F238E27FC236}">
                <a16:creationId xmlns:a16="http://schemas.microsoft.com/office/drawing/2014/main" id="{380F6E03-4BBC-A394-D129-CD587DA1CA19}"/>
              </a:ext>
            </a:extLst>
          </p:cNvPr>
          <p:cNvPicPr>
            <a:picLocks noChangeAspect="1"/>
          </p:cNvPicPr>
          <p:nvPr/>
        </p:nvPicPr>
        <p:blipFill>
          <a:blip r:embed="rId3"/>
          <a:stretch>
            <a:fillRect/>
          </a:stretch>
        </p:blipFill>
        <p:spPr>
          <a:xfrm>
            <a:off x="3162681" y="3408618"/>
            <a:ext cx="2818638" cy="2022372"/>
          </a:xfrm>
          <a:prstGeom prst="rect">
            <a:avLst/>
          </a:prstGeom>
        </p:spPr>
      </p:pic>
      <p:pic>
        <p:nvPicPr>
          <p:cNvPr id="13" name="Picture 12" descr="A graph of a number of individuals&#10;&#10;Description automatically generated with medium confidence">
            <a:extLst>
              <a:ext uri="{FF2B5EF4-FFF2-40B4-BE49-F238E27FC236}">
                <a16:creationId xmlns:a16="http://schemas.microsoft.com/office/drawing/2014/main" id="{EC9D5B1C-93C6-64A2-6A91-D571014FF5C1}"/>
              </a:ext>
            </a:extLst>
          </p:cNvPr>
          <p:cNvPicPr>
            <a:picLocks noChangeAspect="1"/>
          </p:cNvPicPr>
          <p:nvPr/>
        </p:nvPicPr>
        <p:blipFill>
          <a:blip r:embed="rId4"/>
          <a:stretch>
            <a:fillRect/>
          </a:stretch>
        </p:blipFill>
        <p:spPr>
          <a:xfrm>
            <a:off x="6105906" y="3440328"/>
            <a:ext cx="2818638" cy="1958953"/>
          </a:xfrm>
          <a:prstGeom prst="rect">
            <a:avLst/>
          </a:prstGeom>
        </p:spPr>
      </p:pic>
      <p:sp>
        <p:nvSpPr>
          <p:cNvPr id="5" name="Footer Placeholder 4">
            <a:extLst>
              <a:ext uri="{FF2B5EF4-FFF2-40B4-BE49-F238E27FC236}">
                <a16:creationId xmlns:a16="http://schemas.microsoft.com/office/drawing/2014/main" id="{133527F2-A29D-8B01-0E5A-0AE8D8E926A7}"/>
              </a:ext>
            </a:extLst>
          </p:cNvPr>
          <p:cNvSpPr>
            <a:spLocks noGrp="1"/>
          </p:cNvSpPr>
          <p:nvPr>
            <p:ph type="ftr" sz="quarter" idx="11"/>
          </p:nvPr>
        </p:nvSpPr>
        <p:spPr>
          <a:xfrm>
            <a:off x="3028950" y="6356350"/>
            <a:ext cx="3086100" cy="365125"/>
          </a:xfrm>
        </p:spPr>
        <p:txBody>
          <a:bodyPr vert="horz" lIns="91440" tIns="45720" rIns="91440" bIns="45720" rtlCol="0" anchor="ctr">
            <a:normAutofit fontScale="92500" lnSpcReduction="20000"/>
          </a:bodyPr>
          <a:lstStyle/>
          <a:p>
            <a:pPr defTabSz="914400">
              <a:spcAft>
                <a:spcPts val="600"/>
              </a:spcAft>
            </a:pPr>
            <a:r>
              <a:rPr lang="en-GB" kern="1200">
                <a:solidFill>
                  <a:schemeClr val="tx1">
                    <a:tint val="75000"/>
                  </a:schemeClr>
                </a:solidFill>
                <a:latin typeface="+mn-lt"/>
                <a:ea typeface="+mn-ea"/>
                <a:cs typeface="+mn-cs"/>
              </a:rPr>
              <a:t>Department of Computer Science, COMSATS University, Islamabad.</a:t>
            </a:r>
            <a:endParaRPr lang="en-US" kern="1200">
              <a:solidFill>
                <a:schemeClr val="tx1">
                  <a:tint val="75000"/>
                </a:schemeClr>
              </a:solidFill>
              <a:latin typeface="+mn-lt"/>
              <a:ea typeface="+mn-ea"/>
              <a:cs typeface="+mn-cs"/>
            </a:endParaRPr>
          </a:p>
        </p:txBody>
      </p:sp>
      <p:sp>
        <p:nvSpPr>
          <p:cNvPr id="4" name="Slide Number Placeholder 3">
            <a:extLst>
              <a:ext uri="{FF2B5EF4-FFF2-40B4-BE49-F238E27FC236}">
                <a16:creationId xmlns:a16="http://schemas.microsoft.com/office/drawing/2014/main" id="{1B96A09B-52D0-9FBF-1A66-F35B8231F6C6}"/>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1D60167-4931-47E6-BA6A-407CBD079E47}" type="slidenum">
              <a:rPr lang="en-US" spc="-59"/>
              <a:pPr defTabSz="914400">
                <a:spcAft>
                  <a:spcPts val="600"/>
                </a:spcAft>
              </a:pPr>
              <a:t>27</a:t>
            </a:fld>
            <a:r>
              <a:rPr lang="en-US" spc="-119"/>
              <a:t> </a:t>
            </a:r>
            <a:r>
              <a:rPr lang="en-US" spc="297"/>
              <a:t>/</a:t>
            </a:r>
            <a:r>
              <a:rPr lang="en-US" spc="-119"/>
              <a:t> </a:t>
            </a:r>
            <a:r>
              <a:rPr lang="en-US" spc="-50"/>
              <a:t>47</a:t>
            </a:r>
          </a:p>
        </p:txBody>
      </p:sp>
    </p:spTree>
    <p:extLst>
      <p:ext uri="{BB962C8B-B14F-4D97-AF65-F5344CB8AC3E}">
        <p14:creationId xmlns:p14="http://schemas.microsoft.com/office/powerpoint/2010/main" val="816094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21E41-9254-BAE0-782E-35CF55636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D54AC-3A3B-C5C1-71F3-6FF3394BD880}"/>
              </a:ext>
            </a:extLst>
          </p:cNvPr>
          <p:cNvSpPr>
            <a:spLocks noGrp="1"/>
          </p:cNvSpPr>
          <p:nvPr>
            <p:ph type="title"/>
          </p:nvPr>
        </p:nvSpPr>
        <p:spPr/>
        <p:txBody>
          <a:bodyPr/>
          <a:lstStyle/>
          <a:p>
            <a:r>
              <a:rPr lang="en-GB" dirty="0"/>
              <a:t>Skewness…</a:t>
            </a:r>
            <a:endParaRPr lang="LID4096" dirty="0"/>
          </a:p>
        </p:txBody>
      </p:sp>
      <p:sp>
        <p:nvSpPr>
          <p:cNvPr id="3" name="Content Placeholder 2">
            <a:extLst>
              <a:ext uri="{FF2B5EF4-FFF2-40B4-BE49-F238E27FC236}">
                <a16:creationId xmlns:a16="http://schemas.microsoft.com/office/drawing/2014/main" id="{E25F20C4-C76F-6862-FA02-48A6B1718EB9}"/>
              </a:ext>
            </a:extLst>
          </p:cNvPr>
          <p:cNvSpPr>
            <a:spLocks noGrp="1"/>
          </p:cNvSpPr>
          <p:nvPr>
            <p:ph idx="1"/>
          </p:nvPr>
        </p:nvSpPr>
        <p:spPr>
          <a:xfrm>
            <a:off x="632268" y="1465976"/>
            <a:ext cx="7879464" cy="4351338"/>
          </a:xfrm>
        </p:spPr>
        <p:txBody>
          <a:bodyPr/>
          <a:lstStyle/>
          <a:p>
            <a:pPr marL="0" indent="0">
              <a:buNone/>
            </a:pPr>
            <a:r>
              <a:rPr lang="en-GB" b="1" dirty="0">
                <a:solidFill>
                  <a:srgbClr val="0D0D0D"/>
                </a:solidFill>
                <a:latin typeface="Söhne"/>
              </a:rPr>
              <a:t>Empirical Rule:</a:t>
            </a:r>
          </a:p>
          <a:p>
            <a:r>
              <a:rPr lang="en-GB" dirty="0">
                <a:solidFill>
                  <a:srgbClr val="0D0D0D"/>
                </a:solidFill>
                <a:latin typeface="Söhne"/>
              </a:rPr>
              <a:t>68% of the observations lie within 1 standard deviation of the mean</a:t>
            </a:r>
          </a:p>
          <a:p>
            <a:r>
              <a:rPr lang="en-GB" dirty="0">
                <a:solidFill>
                  <a:srgbClr val="0D0D0D"/>
                </a:solidFill>
                <a:latin typeface="Söhne"/>
              </a:rPr>
              <a:t>95% of the observation lie within 2 standard deviations of the mean</a:t>
            </a:r>
          </a:p>
          <a:p>
            <a:r>
              <a:rPr lang="en-GB" dirty="0">
                <a:solidFill>
                  <a:srgbClr val="0D0D0D"/>
                </a:solidFill>
                <a:latin typeface="Söhne"/>
              </a:rPr>
              <a:t>99.7% of the observations lie within 3 standard deviations of the mean</a:t>
            </a:r>
            <a:endParaRPr lang="LID4096" dirty="0"/>
          </a:p>
        </p:txBody>
      </p:sp>
      <p:sp>
        <p:nvSpPr>
          <p:cNvPr id="4" name="Slide Number Placeholder 3">
            <a:extLst>
              <a:ext uri="{FF2B5EF4-FFF2-40B4-BE49-F238E27FC236}">
                <a16:creationId xmlns:a16="http://schemas.microsoft.com/office/drawing/2014/main" id="{1B96A09B-52D0-9FBF-1A66-F35B8231F6C6}"/>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28</a:t>
            </a:fld>
            <a:r>
              <a:rPr lang="en-PK" spc="-119"/>
              <a:t> </a:t>
            </a:r>
            <a:r>
              <a:rPr lang="en-PK" spc="297"/>
              <a:t>/</a:t>
            </a:r>
            <a:r>
              <a:rPr lang="en-PK" spc="-119"/>
              <a:t> </a:t>
            </a:r>
            <a:r>
              <a:rPr lang="en-PK" spc="-50"/>
              <a:t>47</a:t>
            </a:r>
            <a:endParaRPr lang="en-PK" spc="-50" dirty="0"/>
          </a:p>
        </p:txBody>
      </p:sp>
      <p:sp>
        <p:nvSpPr>
          <p:cNvPr id="5" name="Footer Placeholder 4">
            <a:extLst>
              <a:ext uri="{FF2B5EF4-FFF2-40B4-BE49-F238E27FC236}">
                <a16:creationId xmlns:a16="http://schemas.microsoft.com/office/drawing/2014/main" id="{133527F2-A29D-8B01-0E5A-0AE8D8E926A7}"/>
              </a:ext>
            </a:extLst>
          </p:cNvPr>
          <p:cNvSpPr>
            <a:spLocks noGrp="1"/>
          </p:cNvSpPr>
          <p:nvPr>
            <p:ph type="ftr" sz="quarter" idx="11"/>
          </p:nvPr>
        </p:nvSpPr>
        <p:spPr/>
        <p:txBody>
          <a:bodyPr/>
          <a:lstStyle/>
          <a:p>
            <a:r>
              <a:rPr lang="en-GB"/>
              <a:t>Department of Computer Science, COMSATS University, Islamabad.</a:t>
            </a:r>
            <a:endParaRPr lang="en-US"/>
          </a:p>
        </p:txBody>
      </p:sp>
    </p:spTree>
    <p:extLst>
      <p:ext uri="{BB962C8B-B14F-4D97-AF65-F5344CB8AC3E}">
        <p14:creationId xmlns:p14="http://schemas.microsoft.com/office/powerpoint/2010/main" val="3401929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31C50-E0C1-C108-7A6B-24AF4CC5C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FA729-5674-1C3C-C945-6EDF176C313D}"/>
              </a:ext>
            </a:extLst>
          </p:cNvPr>
          <p:cNvSpPr>
            <a:spLocks noGrp="1"/>
          </p:cNvSpPr>
          <p:nvPr>
            <p:ph type="title"/>
          </p:nvPr>
        </p:nvSpPr>
        <p:spPr/>
        <p:txBody>
          <a:bodyPr/>
          <a:lstStyle/>
          <a:p>
            <a:r>
              <a:rPr lang="en-GB" dirty="0"/>
              <a:t>Kurtosis</a:t>
            </a:r>
            <a:endParaRPr lang="LID4096" dirty="0"/>
          </a:p>
        </p:txBody>
      </p:sp>
      <p:sp>
        <p:nvSpPr>
          <p:cNvPr id="3" name="Content Placeholder 2">
            <a:extLst>
              <a:ext uri="{FF2B5EF4-FFF2-40B4-BE49-F238E27FC236}">
                <a16:creationId xmlns:a16="http://schemas.microsoft.com/office/drawing/2014/main" id="{C7D7A2C2-8E3A-611D-E833-957B3580AF60}"/>
              </a:ext>
            </a:extLst>
          </p:cNvPr>
          <p:cNvSpPr>
            <a:spLocks noGrp="1"/>
          </p:cNvSpPr>
          <p:nvPr>
            <p:ph idx="1"/>
          </p:nvPr>
        </p:nvSpPr>
        <p:spPr>
          <a:xfrm>
            <a:off x="632268" y="1465976"/>
            <a:ext cx="7879464" cy="4351338"/>
          </a:xfrm>
        </p:spPr>
        <p:txBody>
          <a:bodyPr>
            <a:normAutofit fontScale="92500" lnSpcReduction="20000"/>
          </a:bodyPr>
          <a:lstStyle/>
          <a:p>
            <a:r>
              <a:rPr lang="en-GB" b="1" i="0" dirty="0">
                <a:solidFill>
                  <a:srgbClr val="0D0D0D"/>
                </a:solidFill>
                <a:effectLst/>
                <a:latin typeface="+mj-lt"/>
              </a:rPr>
              <a:t>Kurtosis</a:t>
            </a:r>
            <a:r>
              <a:rPr lang="en-GB" b="0" i="0" dirty="0">
                <a:solidFill>
                  <a:srgbClr val="0D0D0D"/>
                </a:solidFill>
                <a:effectLst/>
                <a:latin typeface="+mj-lt"/>
              </a:rPr>
              <a:t> is a statistical measure that describes the shape of a probability distribution's tails in relation to its peak (or central tendency). </a:t>
            </a:r>
          </a:p>
          <a:p>
            <a:pPr lvl="1"/>
            <a:r>
              <a:rPr lang="en-GB" b="1" i="0" dirty="0">
                <a:solidFill>
                  <a:srgbClr val="0D0D0D"/>
                </a:solidFill>
                <a:effectLst/>
                <a:latin typeface="+mj-lt"/>
              </a:rPr>
              <a:t>Mesokurtic- </a:t>
            </a:r>
            <a:r>
              <a:rPr lang="en-GB" b="0" i="0" dirty="0">
                <a:solidFill>
                  <a:srgbClr val="0D0D0D"/>
                </a:solidFill>
                <a:effectLst/>
                <a:latin typeface="+mj-lt"/>
              </a:rPr>
              <a:t>If the kurtosis value is zero, it indicates that the distribution has the same kurtosis as the normal distribution.</a:t>
            </a:r>
          </a:p>
          <a:p>
            <a:pPr lvl="1"/>
            <a:r>
              <a:rPr lang="en-GB" b="1" i="0" dirty="0">
                <a:solidFill>
                  <a:srgbClr val="0D0D0D"/>
                </a:solidFill>
                <a:effectLst/>
                <a:latin typeface="+mj-lt"/>
              </a:rPr>
              <a:t>Leptokurtic- </a:t>
            </a:r>
            <a:r>
              <a:rPr lang="en-GB" b="0" i="0" dirty="0">
                <a:solidFill>
                  <a:srgbClr val="0D0D0D"/>
                </a:solidFill>
                <a:effectLst/>
                <a:latin typeface="+mj-lt"/>
              </a:rPr>
              <a:t>If the kurtosis value is positive, it indicates that the distribution has fatter tails and a sharper peak than the normal distribution. This implies that there are </a:t>
            </a:r>
            <a:r>
              <a:rPr lang="en-GB" b="1" i="0" dirty="0">
                <a:solidFill>
                  <a:srgbClr val="0D0D0D"/>
                </a:solidFill>
                <a:effectLst/>
                <a:latin typeface="+mj-lt"/>
              </a:rPr>
              <a:t>more extreme values </a:t>
            </a:r>
            <a:r>
              <a:rPr lang="en-GB" b="0" i="0" dirty="0">
                <a:solidFill>
                  <a:srgbClr val="0D0D0D"/>
                </a:solidFill>
                <a:effectLst/>
                <a:latin typeface="+mj-lt"/>
              </a:rPr>
              <a:t>in the dataset than would be expected under a normal distribution.</a:t>
            </a:r>
            <a:endParaRPr lang="LID4096" dirty="0">
              <a:latin typeface="+mj-lt"/>
            </a:endParaRPr>
          </a:p>
        </p:txBody>
      </p:sp>
      <p:sp>
        <p:nvSpPr>
          <p:cNvPr id="4" name="Slide Number Placeholder 3">
            <a:extLst>
              <a:ext uri="{FF2B5EF4-FFF2-40B4-BE49-F238E27FC236}">
                <a16:creationId xmlns:a16="http://schemas.microsoft.com/office/drawing/2014/main" id="{FA463F86-D44E-F5E4-491C-8470F121CF22}"/>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29</a:t>
            </a:fld>
            <a:r>
              <a:rPr lang="en-PK" spc="-119"/>
              <a:t> </a:t>
            </a:r>
            <a:r>
              <a:rPr lang="en-PK" spc="297"/>
              <a:t>/</a:t>
            </a:r>
            <a:r>
              <a:rPr lang="en-PK" spc="-119"/>
              <a:t> </a:t>
            </a:r>
            <a:r>
              <a:rPr lang="en-PK" spc="-50"/>
              <a:t>47</a:t>
            </a:r>
            <a:endParaRPr lang="en-PK" spc="-50" dirty="0"/>
          </a:p>
        </p:txBody>
      </p:sp>
      <p:sp>
        <p:nvSpPr>
          <p:cNvPr id="5" name="Footer Placeholder 4">
            <a:extLst>
              <a:ext uri="{FF2B5EF4-FFF2-40B4-BE49-F238E27FC236}">
                <a16:creationId xmlns:a16="http://schemas.microsoft.com/office/drawing/2014/main" id="{E06386A4-EF64-A3DF-5CD3-CD002414A4F2}"/>
              </a:ext>
            </a:extLst>
          </p:cNvPr>
          <p:cNvSpPr>
            <a:spLocks noGrp="1"/>
          </p:cNvSpPr>
          <p:nvPr>
            <p:ph type="ftr" sz="quarter" idx="11"/>
          </p:nvPr>
        </p:nvSpPr>
        <p:spPr/>
        <p:txBody>
          <a:bodyPr/>
          <a:lstStyle/>
          <a:p>
            <a:r>
              <a:rPr lang="en-GB"/>
              <a:t>Department of Computer Science, COMSATS University, Islamabad.</a:t>
            </a:r>
            <a:endParaRPr lang="en-US"/>
          </a:p>
        </p:txBody>
      </p:sp>
    </p:spTree>
    <p:extLst>
      <p:ext uri="{BB962C8B-B14F-4D97-AF65-F5344CB8AC3E}">
        <p14:creationId xmlns:p14="http://schemas.microsoft.com/office/powerpoint/2010/main" val="4121241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C75A7-D1B5-C529-1A2F-0C38FCE05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C3E86-9FA4-6B09-7D07-BAAD4C7AA1C4}"/>
              </a:ext>
            </a:extLst>
          </p:cNvPr>
          <p:cNvSpPr>
            <a:spLocks noGrp="1"/>
          </p:cNvSpPr>
          <p:nvPr>
            <p:ph type="title"/>
          </p:nvPr>
        </p:nvSpPr>
        <p:spPr/>
        <p:txBody>
          <a:bodyPr/>
          <a:lstStyle/>
          <a:p>
            <a:r>
              <a:rPr lang="en-GB" dirty="0"/>
              <a:t>Kurtosis…</a:t>
            </a:r>
            <a:endParaRPr lang="LID4096" dirty="0"/>
          </a:p>
        </p:txBody>
      </p:sp>
      <p:sp>
        <p:nvSpPr>
          <p:cNvPr id="3" name="Content Placeholder 2">
            <a:extLst>
              <a:ext uri="{FF2B5EF4-FFF2-40B4-BE49-F238E27FC236}">
                <a16:creationId xmlns:a16="http://schemas.microsoft.com/office/drawing/2014/main" id="{33E41B68-49BC-44E0-B274-19A6C7A5CD87}"/>
              </a:ext>
            </a:extLst>
          </p:cNvPr>
          <p:cNvSpPr>
            <a:spLocks noGrp="1"/>
          </p:cNvSpPr>
          <p:nvPr>
            <p:ph idx="1"/>
          </p:nvPr>
        </p:nvSpPr>
        <p:spPr>
          <a:xfrm>
            <a:off x="632268" y="1465976"/>
            <a:ext cx="7879464" cy="4351338"/>
          </a:xfrm>
        </p:spPr>
        <p:txBody>
          <a:bodyPr>
            <a:normAutofit/>
          </a:bodyPr>
          <a:lstStyle/>
          <a:p>
            <a:r>
              <a:rPr lang="en-GB" b="1" i="0" dirty="0">
                <a:solidFill>
                  <a:srgbClr val="0D0D0D"/>
                </a:solidFill>
                <a:effectLst/>
                <a:latin typeface="+mj-lt"/>
              </a:rPr>
              <a:t>…</a:t>
            </a:r>
            <a:endParaRPr lang="en-GB" b="0" i="0" dirty="0">
              <a:solidFill>
                <a:srgbClr val="0D0D0D"/>
              </a:solidFill>
              <a:effectLst/>
              <a:latin typeface="+mj-lt"/>
            </a:endParaRPr>
          </a:p>
          <a:p>
            <a:pPr lvl="1"/>
            <a:r>
              <a:rPr lang="en-GB" b="1" i="0" dirty="0">
                <a:solidFill>
                  <a:srgbClr val="0D0D0D"/>
                </a:solidFill>
                <a:effectLst/>
                <a:latin typeface="Söhne"/>
              </a:rPr>
              <a:t>Platykurtic-</a:t>
            </a:r>
            <a:r>
              <a:rPr lang="en-GB" b="0" i="0" dirty="0">
                <a:solidFill>
                  <a:srgbClr val="0D0D0D"/>
                </a:solidFill>
                <a:effectLst/>
                <a:latin typeface="Söhne"/>
              </a:rPr>
              <a:t> If the kurtosis value is negative (less than 3), it indicates that the distribution has thinner tails and a flatter peak than the normal distribution. This implies that extreme values are less likely to occur than in a normal distribution.</a:t>
            </a:r>
          </a:p>
          <a:p>
            <a:pPr lvl="1"/>
            <a:endParaRPr lang="en-GB" b="0" i="0" dirty="0">
              <a:solidFill>
                <a:srgbClr val="0D0D0D"/>
              </a:solidFill>
              <a:effectLst/>
              <a:latin typeface="Söhne"/>
            </a:endParaRPr>
          </a:p>
        </p:txBody>
      </p:sp>
      <p:sp>
        <p:nvSpPr>
          <p:cNvPr id="4" name="Slide Number Placeholder 3">
            <a:extLst>
              <a:ext uri="{FF2B5EF4-FFF2-40B4-BE49-F238E27FC236}">
                <a16:creationId xmlns:a16="http://schemas.microsoft.com/office/drawing/2014/main" id="{5C623732-EBC8-7520-07AF-24CA54E14A57}"/>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30</a:t>
            </a:fld>
            <a:r>
              <a:rPr lang="en-PK" spc="-119"/>
              <a:t> </a:t>
            </a:r>
            <a:r>
              <a:rPr lang="en-PK" spc="297"/>
              <a:t>/</a:t>
            </a:r>
            <a:r>
              <a:rPr lang="en-PK" spc="-119"/>
              <a:t> </a:t>
            </a:r>
            <a:r>
              <a:rPr lang="en-PK" spc="-50"/>
              <a:t>47</a:t>
            </a:r>
            <a:endParaRPr lang="en-PK" spc="-50" dirty="0"/>
          </a:p>
        </p:txBody>
      </p:sp>
      <p:sp>
        <p:nvSpPr>
          <p:cNvPr id="5" name="Footer Placeholder 4">
            <a:extLst>
              <a:ext uri="{FF2B5EF4-FFF2-40B4-BE49-F238E27FC236}">
                <a16:creationId xmlns:a16="http://schemas.microsoft.com/office/drawing/2014/main" id="{1B38C76F-9D63-40A6-C930-90EC9DC8DBA1}"/>
              </a:ext>
            </a:extLst>
          </p:cNvPr>
          <p:cNvSpPr>
            <a:spLocks noGrp="1"/>
          </p:cNvSpPr>
          <p:nvPr>
            <p:ph type="ftr" sz="quarter" idx="11"/>
          </p:nvPr>
        </p:nvSpPr>
        <p:spPr/>
        <p:txBody>
          <a:bodyPr/>
          <a:lstStyle/>
          <a:p>
            <a:r>
              <a:rPr lang="en-GB"/>
              <a:t>Department of Computer Science, COMSATS University, Islamabad.</a:t>
            </a:r>
            <a:endParaRPr lang="en-US"/>
          </a:p>
        </p:txBody>
      </p:sp>
    </p:spTree>
    <p:extLst>
      <p:ext uri="{BB962C8B-B14F-4D97-AF65-F5344CB8AC3E}">
        <p14:creationId xmlns:p14="http://schemas.microsoft.com/office/powerpoint/2010/main" val="782357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42438-2B8D-D6C4-00C5-DD8FE5F15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5D69B-981F-F88E-1F59-EFE4FA0222C9}"/>
              </a:ext>
            </a:extLst>
          </p:cNvPr>
          <p:cNvSpPr>
            <a:spLocks noGrp="1"/>
          </p:cNvSpPr>
          <p:nvPr>
            <p:ph type="title"/>
          </p:nvPr>
        </p:nvSpPr>
        <p:spPr/>
        <p:txBody>
          <a:bodyPr/>
          <a:lstStyle/>
          <a:p>
            <a:r>
              <a:rPr lang="en-GB" dirty="0"/>
              <a:t>Kurtosis…</a:t>
            </a:r>
            <a:endParaRPr lang="LID4096" dirty="0"/>
          </a:p>
        </p:txBody>
      </p:sp>
      <p:sp>
        <p:nvSpPr>
          <p:cNvPr id="3" name="Content Placeholder 2">
            <a:extLst>
              <a:ext uri="{FF2B5EF4-FFF2-40B4-BE49-F238E27FC236}">
                <a16:creationId xmlns:a16="http://schemas.microsoft.com/office/drawing/2014/main" id="{91EFFD08-CA83-DA4B-9D28-9971E600B829}"/>
              </a:ext>
            </a:extLst>
          </p:cNvPr>
          <p:cNvSpPr>
            <a:spLocks noGrp="1"/>
          </p:cNvSpPr>
          <p:nvPr>
            <p:ph idx="1"/>
          </p:nvPr>
        </p:nvSpPr>
        <p:spPr>
          <a:xfrm>
            <a:off x="632268" y="1465976"/>
            <a:ext cx="7879464" cy="4351338"/>
          </a:xfrm>
        </p:spPr>
        <p:txBody>
          <a:bodyPr>
            <a:normAutofit/>
          </a:bodyPr>
          <a:lstStyle/>
          <a:p>
            <a:r>
              <a:rPr lang="en-GB" b="1" i="0" dirty="0">
                <a:solidFill>
                  <a:srgbClr val="0D0D0D"/>
                </a:solidFill>
                <a:effectLst/>
                <a:latin typeface="+mj-lt"/>
              </a:rPr>
              <a:t>…</a:t>
            </a:r>
            <a:endParaRPr lang="en-GB" b="0" i="0" dirty="0">
              <a:solidFill>
                <a:srgbClr val="0D0D0D"/>
              </a:solidFill>
              <a:effectLst/>
              <a:latin typeface="+mj-lt"/>
            </a:endParaRPr>
          </a:p>
          <a:p>
            <a:pPr lvl="1"/>
            <a:r>
              <a:rPr lang="en-GB" b="1" i="0" dirty="0">
                <a:solidFill>
                  <a:srgbClr val="0D0D0D"/>
                </a:solidFill>
                <a:effectLst/>
                <a:latin typeface="Söhne"/>
              </a:rPr>
              <a:t>Platykurtic-</a:t>
            </a:r>
            <a:r>
              <a:rPr lang="en-GB" b="0" i="0" dirty="0">
                <a:solidFill>
                  <a:srgbClr val="0D0D0D"/>
                </a:solidFill>
                <a:effectLst/>
                <a:latin typeface="Söhne"/>
              </a:rPr>
              <a:t> If the kurtosis value is negative (less than 3), it indicates that the distribution has thinner tails and a flatter peak than the normal distribution. This implies that extreme values are less likely to occur than in a normal distribution.</a:t>
            </a:r>
          </a:p>
          <a:p>
            <a:pPr lvl="1"/>
            <a:endParaRPr lang="en-GB" b="0" i="0" dirty="0">
              <a:solidFill>
                <a:srgbClr val="0D0D0D"/>
              </a:solidFill>
              <a:effectLst/>
              <a:latin typeface="Söhne"/>
            </a:endParaRPr>
          </a:p>
        </p:txBody>
      </p:sp>
      <p:sp>
        <p:nvSpPr>
          <p:cNvPr id="4" name="Slide Number Placeholder 3">
            <a:extLst>
              <a:ext uri="{FF2B5EF4-FFF2-40B4-BE49-F238E27FC236}">
                <a16:creationId xmlns:a16="http://schemas.microsoft.com/office/drawing/2014/main" id="{010C1DF6-BDEB-5E69-44B3-E2EA26E022F9}"/>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31</a:t>
            </a:fld>
            <a:r>
              <a:rPr lang="en-PK" spc="-119"/>
              <a:t> </a:t>
            </a:r>
            <a:r>
              <a:rPr lang="en-PK" spc="297"/>
              <a:t>/</a:t>
            </a:r>
            <a:r>
              <a:rPr lang="en-PK" spc="-119"/>
              <a:t> </a:t>
            </a:r>
            <a:r>
              <a:rPr lang="en-PK" spc="-50"/>
              <a:t>47</a:t>
            </a:r>
            <a:endParaRPr lang="en-PK" spc="-50" dirty="0"/>
          </a:p>
        </p:txBody>
      </p:sp>
      <p:pic>
        <p:nvPicPr>
          <p:cNvPr id="6" name="Picture 5" descr="A diagram of a normal distribution&#10;&#10;Description automatically generated">
            <a:extLst>
              <a:ext uri="{FF2B5EF4-FFF2-40B4-BE49-F238E27FC236}">
                <a16:creationId xmlns:a16="http://schemas.microsoft.com/office/drawing/2014/main" id="{460E9E84-20DB-4A40-606D-A6A44FE98C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95" y="708469"/>
            <a:ext cx="9135611" cy="5441062"/>
          </a:xfrm>
          <a:prstGeom prst="rect">
            <a:avLst/>
          </a:prstGeom>
        </p:spPr>
      </p:pic>
      <p:sp>
        <p:nvSpPr>
          <p:cNvPr id="5" name="Footer Placeholder 4">
            <a:extLst>
              <a:ext uri="{FF2B5EF4-FFF2-40B4-BE49-F238E27FC236}">
                <a16:creationId xmlns:a16="http://schemas.microsoft.com/office/drawing/2014/main" id="{2F37EB29-1ED0-8FBA-3789-38F199D82DB3}"/>
              </a:ext>
            </a:extLst>
          </p:cNvPr>
          <p:cNvSpPr>
            <a:spLocks noGrp="1"/>
          </p:cNvSpPr>
          <p:nvPr>
            <p:ph type="ftr" sz="quarter" idx="11"/>
          </p:nvPr>
        </p:nvSpPr>
        <p:spPr/>
        <p:txBody>
          <a:bodyPr/>
          <a:lstStyle/>
          <a:p>
            <a:r>
              <a:rPr lang="en-GB"/>
              <a:t>Department of Computer Science, COMSATS University, Islamabad.</a:t>
            </a:r>
            <a:endParaRPr lang="en-US"/>
          </a:p>
        </p:txBody>
      </p:sp>
    </p:spTree>
    <p:extLst>
      <p:ext uri="{BB962C8B-B14F-4D97-AF65-F5344CB8AC3E}">
        <p14:creationId xmlns:p14="http://schemas.microsoft.com/office/powerpoint/2010/main" val="774410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39554-AD4D-EDE6-CF69-97571DC96960}"/>
              </a:ext>
            </a:extLst>
          </p:cNvPr>
          <p:cNvSpPr>
            <a:spLocks noGrp="1"/>
          </p:cNvSpPr>
          <p:nvPr>
            <p:ph type="title"/>
          </p:nvPr>
        </p:nvSpPr>
        <p:spPr/>
        <p:txBody>
          <a:bodyPr/>
          <a:lstStyle/>
          <a:p>
            <a:r>
              <a:rPr lang="en-GB" dirty="0"/>
              <a:t>Kurtosis ….</a:t>
            </a:r>
            <a:endParaRPr lang="LID4096" dirty="0"/>
          </a:p>
        </p:txBody>
      </p:sp>
      <p:sp>
        <p:nvSpPr>
          <p:cNvPr id="3" name="Content Placeholder 2">
            <a:extLst>
              <a:ext uri="{FF2B5EF4-FFF2-40B4-BE49-F238E27FC236}">
                <a16:creationId xmlns:a16="http://schemas.microsoft.com/office/drawing/2014/main" id="{DFD2BEE3-FE3C-2E23-A9AD-BB9E4E5F97FC}"/>
              </a:ext>
            </a:extLst>
          </p:cNvPr>
          <p:cNvSpPr>
            <a:spLocks noGrp="1"/>
          </p:cNvSpPr>
          <p:nvPr>
            <p:ph idx="1"/>
          </p:nvPr>
        </p:nvSpPr>
        <p:spPr>
          <a:xfrm>
            <a:off x="574586" y="3251366"/>
            <a:ext cx="8167782" cy="3245123"/>
          </a:xfrm>
        </p:spPr>
        <p:txBody>
          <a:bodyPr/>
          <a:lstStyle/>
          <a:p>
            <a:r>
              <a:rPr lang="en-GB" dirty="0"/>
              <a:t>Kurtosis = 3   (Mesokurtic, expected outliers are like normal distribution)</a:t>
            </a:r>
          </a:p>
          <a:p>
            <a:r>
              <a:rPr lang="en-GB" dirty="0"/>
              <a:t>Kurtosis &gt; 3   (Leptokurtic, more expected outliers than normal)</a:t>
            </a:r>
          </a:p>
          <a:p>
            <a:r>
              <a:rPr lang="en-GB" dirty="0"/>
              <a:t>Kurtosis &lt; 3   (Platykurtic, less outliers are expected than normal distribution)</a:t>
            </a:r>
            <a:endParaRPr lang="LID4096" dirty="0"/>
          </a:p>
        </p:txBody>
      </p:sp>
      <p:sp>
        <p:nvSpPr>
          <p:cNvPr id="4" name="Slide Number Placeholder 3">
            <a:extLst>
              <a:ext uri="{FF2B5EF4-FFF2-40B4-BE49-F238E27FC236}">
                <a16:creationId xmlns:a16="http://schemas.microsoft.com/office/drawing/2014/main" id="{A59B2956-D579-9E9D-5569-593BF51DE89C}"/>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32</a:t>
            </a:fld>
            <a:r>
              <a:rPr lang="en-PK" spc="-119"/>
              <a:t> </a:t>
            </a:r>
            <a:r>
              <a:rPr lang="en-PK" spc="297"/>
              <a:t>/</a:t>
            </a:r>
            <a:r>
              <a:rPr lang="en-PK" spc="-119"/>
              <a:t> </a:t>
            </a:r>
            <a:r>
              <a:rPr lang="en-PK" spc="-50"/>
              <a:t>47</a:t>
            </a:r>
            <a:endParaRPr lang="en-PK" spc="-50" dirty="0"/>
          </a:p>
        </p:txBody>
      </p:sp>
      <p:pic>
        <p:nvPicPr>
          <p:cNvPr id="6" name="Picture 5">
            <a:extLst>
              <a:ext uri="{FF2B5EF4-FFF2-40B4-BE49-F238E27FC236}">
                <a16:creationId xmlns:a16="http://schemas.microsoft.com/office/drawing/2014/main" id="{70067C1B-EFB6-21AA-FF88-211C08EAF23C}"/>
              </a:ext>
            </a:extLst>
          </p:cNvPr>
          <p:cNvPicPr>
            <a:picLocks noChangeAspect="1"/>
          </p:cNvPicPr>
          <p:nvPr/>
        </p:nvPicPr>
        <p:blipFill>
          <a:blip r:embed="rId2"/>
          <a:stretch>
            <a:fillRect/>
          </a:stretch>
        </p:blipFill>
        <p:spPr>
          <a:xfrm>
            <a:off x="688892" y="1923885"/>
            <a:ext cx="6795083" cy="1007957"/>
          </a:xfrm>
          <a:prstGeom prst="rect">
            <a:avLst/>
          </a:prstGeom>
        </p:spPr>
      </p:pic>
      <p:sp>
        <p:nvSpPr>
          <p:cNvPr id="5" name="Footer Placeholder 4">
            <a:extLst>
              <a:ext uri="{FF2B5EF4-FFF2-40B4-BE49-F238E27FC236}">
                <a16:creationId xmlns:a16="http://schemas.microsoft.com/office/drawing/2014/main" id="{9648DD82-5202-FF0B-5490-95F6F71054D1}"/>
              </a:ext>
            </a:extLst>
          </p:cNvPr>
          <p:cNvSpPr>
            <a:spLocks noGrp="1"/>
          </p:cNvSpPr>
          <p:nvPr>
            <p:ph type="ftr" sz="quarter" idx="11"/>
          </p:nvPr>
        </p:nvSpPr>
        <p:spPr/>
        <p:txBody>
          <a:bodyPr/>
          <a:lstStyle/>
          <a:p>
            <a:r>
              <a:rPr lang="en-GB"/>
              <a:t>Department of Computer Science, COMSATS University, Islamabad.</a:t>
            </a:r>
            <a:endParaRPr lang="en-US"/>
          </a:p>
        </p:txBody>
      </p:sp>
    </p:spTree>
    <p:extLst>
      <p:ext uri="{BB962C8B-B14F-4D97-AF65-F5344CB8AC3E}">
        <p14:creationId xmlns:p14="http://schemas.microsoft.com/office/powerpoint/2010/main" val="1757239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1F7FE-1AED-A65D-9A98-C62EA12E6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77B2A-B5FD-AEBC-27C0-B62AC58B4CD4}"/>
              </a:ext>
            </a:extLst>
          </p:cNvPr>
          <p:cNvSpPr>
            <a:spLocks noGrp="1"/>
          </p:cNvSpPr>
          <p:nvPr>
            <p:ph type="title"/>
          </p:nvPr>
        </p:nvSpPr>
        <p:spPr/>
        <p:txBody>
          <a:bodyPr/>
          <a:lstStyle/>
          <a:p>
            <a:r>
              <a:rPr lang="en-GB" dirty="0"/>
              <a:t>Moments</a:t>
            </a:r>
            <a:endParaRPr lang="LID4096" dirty="0"/>
          </a:p>
        </p:txBody>
      </p:sp>
      <p:sp>
        <p:nvSpPr>
          <p:cNvPr id="3" name="Content Placeholder 2">
            <a:extLst>
              <a:ext uri="{FF2B5EF4-FFF2-40B4-BE49-F238E27FC236}">
                <a16:creationId xmlns:a16="http://schemas.microsoft.com/office/drawing/2014/main" id="{63CE8E26-2D84-797A-810E-AEBBA08E6CD1}"/>
              </a:ext>
            </a:extLst>
          </p:cNvPr>
          <p:cNvSpPr>
            <a:spLocks noGrp="1"/>
          </p:cNvSpPr>
          <p:nvPr>
            <p:ph idx="1"/>
          </p:nvPr>
        </p:nvSpPr>
        <p:spPr/>
        <p:txBody>
          <a:bodyPr/>
          <a:lstStyle/>
          <a:p>
            <a:r>
              <a:rPr lang="en-GB" b="0" i="0" dirty="0">
                <a:solidFill>
                  <a:srgbClr val="0D0D0D"/>
                </a:solidFill>
                <a:effectLst/>
                <a:latin typeface="Söhne"/>
              </a:rPr>
              <a:t>In statistics, moments are mathematical quantities that provide information about the shape, central tendency, and variability of a probability distribution or a set of data. </a:t>
            </a:r>
          </a:p>
          <a:p>
            <a:r>
              <a:rPr lang="en-GB" b="0" i="0" dirty="0">
                <a:solidFill>
                  <a:srgbClr val="0D0D0D"/>
                </a:solidFill>
                <a:effectLst/>
                <a:latin typeface="Söhne"/>
              </a:rPr>
              <a:t>Moments are used to summarize the characteristics of a distribution and are calculated based on the values and frequencies of the data points.</a:t>
            </a:r>
            <a:endParaRPr lang="LID4096" dirty="0"/>
          </a:p>
        </p:txBody>
      </p:sp>
      <p:sp>
        <p:nvSpPr>
          <p:cNvPr id="4" name="Slide Number Placeholder 3">
            <a:extLst>
              <a:ext uri="{FF2B5EF4-FFF2-40B4-BE49-F238E27FC236}">
                <a16:creationId xmlns:a16="http://schemas.microsoft.com/office/drawing/2014/main" id="{253B4B49-A028-F56F-529F-60E6E685BC69}"/>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33</a:t>
            </a:fld>
            <a:r>
              <a:rPr lang="en-PK" spc="-119"/>
              <a:t> </a:t>
            </a:r>
            <a:r>
              <a:rPr lang="en-PK" spc="297"/>
              <a:t>/</a:t>
            </a:r>
            <a:r>
              <a:rPr lang="en-PK" spc="-119"/>
              <a:t> </a:t>
            </a:r>
            <a:r>
              <a:rPr lang="en-PK" spc="-50"/>
              <a:t>47</a:t>
            </a:r>
            <a:endParaRPr lang="en-PK" spc="-50" dirty="0"/>
          </a:p>
        </p:txBody>
      </p:sp>
      <p:sp>
        <p:nvSpPr>
          <p:cNvPr id="5" name="Footer Placeholder 4">
            <a:extLst>
              <a:ext uri="{FF2B5EF4-FFF2-40B4-BE49-F238E27FC236}">
                <a16:creationId xmlns:a16="http://schemas.microsoft.com/office/drawing/2014/main" id="{2970C02E-D9F5-BEC2-8692-3AE48D2614C3}"/>
              </a:ext>
            </a:extLst>
          </p:cNvPr>
          <p:cNvSpPr>
            <a:spLocks noGrp="1"/>
          </p:cNvSpPr>
          <p:nvPr>
            <p:ph type="ftr" sz="quarter" idx="11"/>
          </p:nvPr>
        </p:nvSpPr>
        <p:spPr/>
        <p:txBody>
          <a:bodyPr/>
          <a:lstStyle/>
          <a:p>
            <a:r>
              <a:rPr lang="en-GB"/>
              <a:t>Department of Computer Science, COMSATS University, Islamabad.</a:t>
            </a:r>
            <a:endParaRPr lang="en-US"/>
          </a:p>
        </p:txBody>
      </p:sp>
    </p:spTree>
    <p:extLst>
      <p:ext uri="{BB962C8B-B14F-4D97-AF65-F5344CB8AC3E}">
        <p14:creationId xmlns:p14="http://schemas.microsoft.com/office/powerpoint/2010/main" val="17708882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FDB7A-D1C8-4B54-6F49-437B91B3E0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01800-BA53-9D27-099A-26259B2F5906}"/>
              </a:ext>
            </a:extLst>
          </p:cNvPr>
          <p:cNvSpPr>
            <a:spLocks noGrp="1"/>
          </p:cNvSpPr>
          <p:nvPr>
            <p:ph type="title"/>
          </p:nvPr>
        </p:nvSpPr>
        <p:spPr/>
        <p:txBody>
          <a:bodyPr/>
          <a:lstStyle/>
          <a:p>
            <a:r>
              <a:rPr lang="en-GB" dirty="0"/>
              <a:t>Moments …</a:t>
            </a:r>
            <a:endParaRPr lang="LID4096" dirty="0"/>
          </a:p>
        </p:txBody>
      </p:sp>
      <p:sp>
        <p:nvSpPr>
          <p:cNvPr id="3" name="Content Placeholder 2">
            <a:extLst>
              <a:ext uri="{FF2B5EF4-FFF2-40B4-BE49-F238E27FC236}">
                <a16:creationId xmlns:a16="http://schemas.microsoft.com/office/drawing/2014/main" id="{72306FD3-AF28-2290-4C1D-A62DBF9FFF6D}"/>
              </a:ext>
            </a:extLst>
          </p:cNvPr>
          <p:cNvSpPr>
            <a:spLocks noGrp="1"/>
          </p:cNvSpPr>
          <p:nvPr>
            <p:ph idx="1"/>
          </p:nvPr>
        </p:nvSpPr>
        <p:spPr>
          <a:xfrm>
            <a:off x="632268" y="1598582"/>
            <a:ext cx="7879464" cy="4351338"/>
          </a:xfrm>
        </p:spPr>
        <p:txBody>
          <a:bodyPr>
            <a:normAutofit fontScale="77500" lnSpcReduction="20000"/>
          </a:bodyPr>
          <a:lstStyle/>
          <a:p>
            <a:pPr algn="l"/>
            <a:r>
              <a:rPr lang="en-GB" b="1" i="0" dirty="0">
                <a:solidFill>
                  <a:srgbClr val="0D0D0D"/>
                </a:solidFill>
                <a:effectLst/>
                <a:latin typeface="+mj-lt"/>
              </a:rPr>
              <a:t>Zeroth Moment (Mean)</a:t>
            </a:r>
            <a:r>
              <a:rPr lang="en-GB" b="0" i="0" dirty="0">
                <a:solidFill>
                  <a:srgbClr val="0D0D0D"/>
                </a:solidFill>
                <a:effectLst/>
                <a:latin typeface="+mj-lt"/>
              </a:rPr>
              <a:t>: The zeroth moment, also known as the mean, is the average value of a set of data points.</a:t>
            </a:r>
          </a:p>
          <a:p>
            <a:pPr algn="l"/>
            <a:r>
              <a:rPr lang="en-GB" b="1" i="0" dirty="0">
                <a:solidFill>
                  <a:srgbClr val="0D0D0D"/>
                </a:solidFill>
                <a:effectLst/>
                <a:latin typeface="+mj-lt"/>
              </a:rPr>
              <a:t>First Moment (Variance)</a:t>
            </a:r>
            <a:r>
              <a:rPr lang="en-GB" b="0" i="0" dirty="0">
                <a:solidFill>
                  <a:srgbClr val="0D0D0D"/>
                </a:solidFill>
                <a:effectLst/>
                <a:latin typeface="+mj-lt"/>
              </a:rPr>
              <a:t>: The first moment, also known as the variance, measures the dispersion or spread of the data points around the mean.</a:t>
            </a:r>
          </a:p>
          <a:p>
            <a:pPr algn="l"/>
            <a:r>
              <a:rPr lang="en-GB" b="1" i="0" dirty="0">
                <a:solidFill>
                  <a:srgbClr val="0D0D0D"/>
                </a:solidFill>
                <a:effectLst/>
                <a:latin typeface="+mj-lt"/>
              </a:rPr>
              <a:t>Second Moment (Skewness)</a:t>
            </a:r>
            <a:r>
              <a:rPr lang="en-GB" b="0" i="0" dirty="0">
                <a:solidFill>
                  <a:srgbClr val="0D0D0D"/>
                </a:solidFill>
                <a:effectLst/>
                <a:latin typeface="+mj-lt"/>
              </a:rPr>
              <a:t>: The second moment, also known as skewness, measures the asymmetry of the distribution.</a:t>
            </a:r>
          </a:p>
          <a:p>
            <a:pPr algn="l"/>
            <a:r>
              <a:rPr lang="en-GB" b="1" i="0" dirty="0">
                <a:solidFill>
                  <a:srgbClr val="0D0D0D"/>
                </a:solidFill>
                <a:effectLst/>
                <a:latin typeface="+mj-lt"/>
              </a:rPr>
              <a:t>Third Moment (Kurtosis)</a:t>
            </a:r>
            <a:r>
              <a:rPr lang="en-GB" b="0" i="0" dirty="0">
                <a:solidFill>
                  <a:srgbClr val="0D0D0D"/>
                </a:solidFill>
                <a:effectLst/>
                <a:latin typeface="+mj-lt"/>
              </a:rPr>
              <a:t>:</a:t>
            </a:r>
          </a:p>
          <a:p>
            <a:pPr algn="l">
              <a:buFont typeface="Arial" panose="020B0604020202020204" pitchFamily="34" charset="0"/>
              <a:buChar char="•"/>
            </a:pPr>
            <a:r>
              <a:rPr lang="en-GB" b="0" i="0" dirty="0">
                <a:solidFill>
                  <a:srgbClr val="0D0D0D"/>
                </a:solidFill>
                <a:effectLst/>
                <a:latin typeface="+mj-lt"/>
              </a:rPr>
              <a:t>The third moment, also known as kurtosis, measures the </a:t>
            </a:r>
            <a:r>
              <a:rPr lang="en-GB" b="0" i="0" dirty="0" err="1">
                <a:solidFill>
                  <a:srgbClr val="0D0D0D"/>
                </a:solidFill>
                <a:effectLst/>
                <a:latin typeface="+mj-lt"/>
              </a:rPr>
              <a:t>peakedness</a:t>
            </a:r>
            <a:r>
              <a:rPr lang="en-GB" b="0" i="0" dirty="0">
                <a:solidFill>
                  <a:srgbClr val="0D0D0D"/>
                </a:solidFill>
                <a:effectLst/>
                <a:latin typeface="+mj-lt"/>
              </a:rPr>
              <a:t> or flatness of the distribution.</a:t>
            </a:r>
          </a:p>
          <a:p>
            <a:pPr algn="l"/>
            <a:endParaRPr lang="en-GB" b="0" i="0" dirty="0">
              <a:solidFill>
                <a:srgbClr val="0D0D0D"/>
              </a:solidFill>
              <a:effectLst/>
              <a:latin typeface="Söhne"/>
            </a:endParaRPr>
          </a:p>
          <a:p>
            <a:pPr algn="l"/>
            <a:endParaRPr lang="en-GB" b="0" i="0" dirty="0">
              <a:solidFill>
                <a:srgbClr val="0D0D0D"/>
              </a:solidFill>
              <a:effectLst/>
              <a:latin typeface="Söhne"/>
            </a:endParaRPr>
          </a:p>
          <a:p>
            <a:pPr algn="l"/>
            <a:endParaRPr lang="en-GB" b="0" i="0" dirty="0">
              <a:solidFill>
                <a:srgbClr val="0D0D0D"/>
              </a:solidFill>
              <a:effectLst/>
              <a:latin typeface="Söhne"/>
            </a:endParaRPr>
          </a:p>
          <a:p>
            <a:endParaRPr lang="LID4096" dirty="0"/>
          </a:p>
        </p:txBody>
      </p:sp>
      <p:sp>
        <p:nvSpPr>
          <p:cNvPr id="4" name="Slide Number Placeholder 3">
            <a:extLst>
              <a:ext uri="{FF2B5EF4-FFF2-40B4-BE49-F238E27FC236}">
                <a16:creationId xmlns:a16="http://schemas.microsoft.com/office/drawing/2014/main" id="{C9769FC8-5641-5610-AC5C-C730BBE872A3}"/>
              </a:ext>
            </a:extLst>
          </p:cNvPr>
          <p:cNvSpPr>
            <a:spLocks noGrp="1"/>
          </p:cNvSpPr>
          <p:nvPr>
            <p:ph type="sldNum" sz="quarter" idx="12"/>
          </p:nvPr>
        </p:nvSpPr>
        <p:spPr/>
        <p:txBody>
          <a:bodyPr/>
          <a:lstStyle/>
          <a:p>
            <a:pPr marL="154781">
              <a:lnSpc>
                <a:spcPts val="1338"/>
              </a:lnSpc>
            </a:pPr>
            <a:fld id="{81D60167-4931-47E6-BA6A-407CBD079E47}" type="slidenum">
              <a:rPr lang="en-PK" spc="-59"/>
              <a:pPr marL="154781">
                <a:lnSpc>
                  <a:spcPts val="1338"/>
                </a:lnSpc>
              </a:pPr>
              <a:t>34</a:t>
            </a:fld>
            <a:r>
              <a:rPr lang="en-PK" spc="-119"/>
              <a:t> </a:t>
            </a:r>
            <a:r>
              <a:rPr lang="en-PK" spc="297"/>
              <a:t>/</a:t>
            </a:r>
            <a:r>
              <a:rPr lang="en-PK" spc="-119"/>
              <a:t> </a:t>
            </a:r>
            <a:r>
              <a:rPr lang="en-PK" spc="-50"/>
              <a:t>47</a:t>
            </a:r>
            <a:endParaRPr lang="en-PK" spc="-50" dirty="0"/>
          </a:p>
        </p:txBody>
      </p:sp>
      <p:sp>
        <p:nvSpPr>
          <p:cNvPr id="5" name="Footer Placeholder 4">
            <a:extLst>
              <a:ext uri="{FF2B5EF4-FFF2-40B4-BE49-F238E27FC236}">
                <a16:creationId xmlns:a16="http://schemas.microsoft.com/office/drawing/2014/main" id="{20D752AA-CE20-F056-4E3F-9A8F6B83AB64}"/>
              </a:ext>
            </a:extLst>
          </p:cNvPr>
          <p:cNvSpPr>
            <a:spLocks noGrp="1"/>
          </p:cNvSpPr>
          <p:nvPr>
            <p:ph type="ftr" sz="quarter" idx="11"/>
          </p:nvPr>
        </p:nvSpPr>
        <p:spPr/>
        <p:txBody>
          <a:bodyPr/>
          <a:lstStyle/>
          <a:p>
            <a:r>
              <a:rPr lang="en-GB"/>
              <a:t>Department of Computer Science, COMSATS University, Islamabad.</a:t>
            </a:r>
            <a:endParaRPr lang="en-US"/>
          </a:p>
        </p:txBody>
      </p:sp>
    </p:spTree>
    <p:extLst>
      <p:ext uri="{BB962C8B-B14F-4D97-AF65-F5344CB8AC3E}">
        <p14:creationId xmlns:p14="http://schemas.microsoft.com/office/powerpoint/2010/main" val="2951798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TotalTime>
  <Words>2646</Words>
  <Application>Microsoft Office PowerPoint</Application>
  <PresentationFormat>On-screen Show (4:3)</PresentationFormat>
  <Paragraphs>261</Paragraphs>
  <Slides>34</Slides>
  <Notes>9</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1" baseType="lpstr">
      <vt:lpstr>Aptos</vt:lpstr>
      <vt:lpstr>Arial</vt:lpstr>
      <vt:lpstr>Calibri</vt:lpstr>
      <vt:lpstr>Cambria Math</vt:lpstr>
      <vt:lpstr>Söhne</vt:lpstr>
      <vt:lpstr>Office Theme</vt:lpstr>
      <vt:lpstr>Equation</vt:lpstr>
      <vt:lpstr>Introduction to Statistics</vt:lpstr>
      <vt:lpstr>Overview of Statistics</vt:lpstr>
      <vt:lpstr>Usage of Statistics in Different Domains</vt:lpstr>
      <vt:lpstr>Significance of Statistics in Data Science</vt:lpstr>
      <vt:lpstr>Statistical Terminologies</vt:lpstr>
      <vt:lpstr>Statistical Terminologies</vt:lpstr>
      <vt:lpstr>Steps in the Statistical Process</vt:lpstr>
      <vt:lpstr>1. Problem Definition</vt:lpstr>
      <vt:lpstr>1. Problem Definition...</vt:lpstr>
      <vt:lpstr>1. Problem Definition...</vt:lpstr>
      <vt:lpstr>2. Study Desing</vt:lpstr>
      <vt:lpstr>2. Study Desing …</vt:lpstr>
      <vt:lpstr>3. Study Desing …</vt:lpstr>
      <vt:lpstr>3. Data Collection</vt:lpstr>
      <vt:lpstr>4. Data Analysis</vt:lpstr>
      <vt:lpstr>Measures of Central Tendency</vt:lpstr>
      <vt:lpstr>Methods of Center Measurement</vt:lpstr>
      <vt:lpstr>Mean or Median</vt:lpstr>
      <vt:lpstr>Measures of Central Tendency</vt:lpstr>
      <vt:lpstr>Methods of Variability Measurement</vt:lpstr>
      <vt:lpstr>Methods of Variability Measurement</vt:lpstr>
      <vt:lpstr>Methods of Variability Measurement</vt:lpstr>
      <vt:lpstr>Deciles and Percentiles</vt:lpstr>
      <vt:lpstr>Five Number Summary</vt:lpstr>
      <vt:lpstr>Skewness</vt:lpstr>
      <vt:lpstr>Skewness…</vt:lpstr>
      <vt:lpstr>Skewness…</vt:lpstr>
      <vt:lpstr>Skewness…</vt:lpstr>
      <vt:lpstr>Kurtosis</vt:lpstr>
      <vt:lpstr>Kurtosis…</vt:lpstr>
      <vt:lpstr>Kurtosis…</vt:lpstr>
      <vt:lpstr>Kurtosis ….</vt:lpstr>
      <vt:lpstr>Moments</vt:lpstr>
      <vt:lpstr>Moments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Basharat Mahmood</cp:lastModifiedBy>
  <cp:revision>40</cp:revision>
  <dcterms:created xsi:type="dcterms:W3CDTF">2013-01-27T09:14:16Z</dcterms:created>
  <dcterms:modified xsi:type="dcterms:W3CDTF">2024-09-11T10:52:12Z</dcterms:modified>
  <cp:category/>
</cp:coreProperties>
</file>