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7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85" r:id="rId21"/>
    <p:sldId id="286" r:id="rId22"/>
    <p:sldId id="287" r:id="rId23"/>
    <p:sldId id="288" r:id="rId24"/>
    <p:sldId id="289" r:id="rId25"/>
    <p:sldId id="290" r:id="rId26"/>
    <p:sldId id="278" r:id="rId27"/>
    <p:sldId id="279" r:id="rId28"/>
    <p:sldId id="280" r:id="rId29"/>
    <p:sldId id="281" r:id="rId30"/>
    <p:sldId id="282" r:id="rId31"/>
    <p:sldId id="283" r:id="rId32"/>
    <p:sldId id="276" r:id="rId33"/>
    <p:sldId id="277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D93-B641-42EE-8FBE-61D5A8686552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5E88-E335-4F34-B136-C68A2D98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18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D93-B641-42EE-8FBE-61D5A8686552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5E88-E335-4F34-B136-C68A2D98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86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D93-B641-42EE-8FBE-61D5A8686552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5E88-E335-4F34-B136-C68A2D98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2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D93-B641-42EE-8FBE-61D5A8686552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5E88-E335-4F34-B136-C68A2D98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98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D93-B641-42EE-8FBE-61D5A8686552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5E88-E335-4F34-B136-C68A2D98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71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D93-B641-42EE-8FBE-61D5A8686552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5E88-E335-4F34-B136-C68A2D98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1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D93-B641-42EE-8FBE-61D5A8686552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5E88-E335-4F34-B136-C68A2D98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31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D93-B641-42EE-8FBE-61D5A8686552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5E88-E335-4F34-B136-C68A2D98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3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D93-B641-42EE-8FBE-61D5A8686552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5E88-E335-4F34-B136-C68A2D98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47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D93-B641-42EE-8FBE-61D5A8686552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5E88-E335-4F34-B136-C68A2D98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92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D93-B641-42EE-8FBE-61D5A8686552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5E88-E335-4F34-B136-C68A2D98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85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F7D93-B641-42EE-8FBE-61D5A8686552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E5E88-E335-4F34-B136-C68A2D98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52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K- Nearest Neighbors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61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Analogy..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7086600" cy="5443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1076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KNN – Different 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K-Nearest </a:t>
            </a:r>
            <a:r>
              <a:rPr lang="en-US" dirty="0" smtClean="0"/>
              <a:t>Neighbors</a:t>
            </a:r>
          </a:p>
          <a:p>
            <a:r>
              <a:rPr lang="en-US" dirty="0"/>
              <a:t>Memory-Based </a:t>
            </a:r>
            <a:r>
              <a:rPr lang="en-US" dirty="0" smtClean="0"/>
              <a:t>Reasoning</a:t>
            </a:r>
          </a:p>
          <a:p>
            <a:r>
              <a:rPr lang="en-US" dirty="0"/>
              <a:t>Example-Based </a:t>
            </a:r>
            <a:r>
              <a:rPr lang="en-US" dirty="0" smtClean="0"/>
              <a:t>Reasoning</a:t>
            </a:r>
          </a:p>
          <a:p>
            <a:r>
              <a:rPr lang="en-US" dirty="0"/>
              <a:t>Instance-Based </a:t>
            </a:r>
            <a:r>
              <a:rPr lang="en-US" dirty="0" smtClean="0"/>
              <a:t>Learning</a:t>
            </a:r>
          </a:p>
          <a:p>
            <a:r>
              <a:rPr lang="en-US" dirty="0"/>
              <a:t>Lazy Learning</a:t>
            </a:r>
          </a:p>
        </p:txBody>
      </p:sp>
    </p:spTree>
    <p:extLst>
      <p:ext uri="{BB962C8B-B14F-4D97-AF65-F5344CB8AC3E}">
        <p14:creationId xmlns:p14="http://schemas.microsoft.com/office/powerpoint/2010/main" val="3345836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KNN?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powerful classification algorithm used in </a:t>
            </a:r>
            <a:r>
              <a:rPr lang="en-US" dirty="0" smtClean="0"/>
              <a:t>pattern recognition.</a:t>
            </a:r>
          </a:p>
          <a:p>
            <a:endParaRPr lang="en-US" dirty="0" smtClean="0"/>
          </a:p>
          <a:p>
            <a:r>
              <a:rPr lang="en-US" dirty="0"/>
              <a:t>K nearest neighbors stores all available cases </a:t>
            </a:r>
            <a:r>
              <a:rPr lang="en-US" dirty="0" smtClean="0"/>
              <a:t>and classifies </a:t>
            </a:r>
            <a:r>
              <a:rPr lang="en-US" dirty="0"/>
              <a:t>new cases based on a </a:t>
            </a:r>
            <a:r>
              <a:rPr lang="en-US" i="1" dirty="0"/>
              <a:t>similarity </a:t>
            </a:r>
            <a:r>
              <a:rPr lang="en-US" i="1" dirty="0" smtClean="0"/>
              <a:t>measure</a:t>
            </a:r>
            <a:r>
              <a:rPr lang="en-US" dirty="0" smtClean="0"/>
              <a:t>(</a:t>
            </a:r>
            <a:r>
              <a:rPr lang="en-US" dirty="0" err="1" smtClean="0"/>
              <a:t>e.g</a:t>
            </a:r>
            <a:r>
              <a:rPr lang="en-US" dirty="0" smtClean="0"/>
              <a:t> </a:t>
            </a:r>
            <a:r>
              <a:rPr lang="en-US" b="1" dirty="0" smtClean="0"/>
              <a:t>distance </a:t>
            </a:r>
            <a:r>
              <a:rPr lang="en-US" b="1" dirty="0"/>
              <a:t>function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dirty="0"/>
              <a:t>One of the top data mining algorithms used today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/>
              <a:t>A non-parametric lazy learning algorithm (An </a:t>
            </a:r>
            <a:r>
              <a:rPr lang="en-US" dirty="0" smtClean="0"/>
              <a:t>Instance based Learning </a:t>
            </a:r>
            <a:r>
              <a:rPr lang="en-US" dirty="0"/>
              <a:t>method).</a:t>
            </a:r>
          </a:p>
        </p:txBody>
      </p:sp>
    </p:spTree>
    <p:extLst>
      <p:ext uri="{BB962C8B-B14F-4D97-AF65-F5344CB8AC3E}">
        <p14:creationId xmlns:p14="http://schemas.microsoft.com/office/powerpoint/2010/main" val="276110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KNN: Classification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object (a new instance) is classified by </a:t>
            </a:r>
            <a:r>
              <a:rPr lang="en-US" dirty="0" smtClean="0"/>
              <a:t>a majority </a:t>
            </a:r>
            <a:r>
              <a:rPr lang="en-US" dirty="0"/>
              <a:t>votes for its neighbor classes</a:t>
            </a:r>
            <a:r>
              <a:rPr lang="en-US" dirty="0" smtClean="0"/>
              <a:t>.</a:t>
            </a:r>
          </a:p>
          <a:p>
            <a:r>
              <a:rPr lang="en-US" dirty="0"/>
              <a:t>The object is assigned to the most common </a:t>
            </a:r>
            <a:r>
              <a:rPr lang="en-US" dirty="0" smtClean="0"/>
              <a:t>class amongst </a:t>
            </a:r>
            <a:r>
              <a:rPr lang="en-US" dirty="0"/>
              <a:t>its K nearest </a:t>
            </a:r>
            <a:r>
              <a:rPr lang="en-US" dirty="0" smtClean="0"/>
              <a:t>neighbors</a:t>
            </a:r>
            <a:r>
              <a:rPr lang="en-US" dirty="0"/>
              <a:t>.(</a:t>
            </a:r>
            <a:r>
              <a:rPr lang="en-US" i="1" dirty="0"/>
              <a:t>measured by </a:t>
            </a:r>
            <a:r>
              <a:rPr lang="en-US" i="1" dirty="0" smtClean="0"/>
              <a:t>a distant </a:t>
            </a:r>
            <a:r>
              <a:rPr lang="en-US" i="1" dirty="0"/>
              <a:t>function 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0" y="4462463"/>
            <a:ext cx="2514600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7739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343025"/>
            <a:ext cx="5638800" cy="417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4318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Measure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61" y="1800224"/>
            <a:ext cx="8483739" cy="399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023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Distance measure for Continuous</a:t>
            </a:r>
            <a:br>
              <a:rPr lang="en-US" dirty="0"/>
            </a:br>
            <a:r>
              <a:rPr lang="en-US" dirty="0"/>
              <a:t>Variables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344" y="1652588"/>
            <a:ext cx="5028656" cy="4900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377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Between Neighbors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37" y="1452563"/>
            <a:ext cx="8202963" cy="5176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0197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458200" cy="53340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All the instances correspond to points in an </a:t>
            </a:r>
            <a:r>
              <a:rPr lang="en-US" dirty="0" smtClean="0"/>
              <a:t>n-dimensional feature </a:t>
            </a:r>
            <a:r>
              <a:rPr lang="en-US" dirty="0"/>
              <a:t>space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/>
              <a:t>Each instance is represented with a set of </a:t>
            </a:r>
            <a:r>
              <a:rPr lang="en-US" dirty="0" smtClean="0"/>
              <a:t>numerical attributes.</a:t>
            </a:r>
          </a:p>
          <a:p>
            <a:endParaRPr lang="en-US" dirty="0" smtClean="0"/>
          </a:p>
          <a:p>
            <a:r>
              <a:rPr lang="en-US" dirty="0"/>
              <a:t>Each of the training data consists of a set of vectors and </a:t>
            </a:r>
            <a:r>
              <a:rPr lang="en-US" dirty="0" smtClean="0"/>
              <a:t>a class </a:t>
            </a:r>
            <a:r>
              <a:rPr lang="en-US" dirty="0"/>
              <a:t>label associated with each vector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/>
              <a:t>Classification is done by comparing feature vectors </a:t>
            </a:r>
            <a:r>
              <a:rPr lang="en-US" dirty="0" smtClean="0"/>
              <a:t>of different </a:t>
            </a:r>
            <a:r>
              <a:rPr lang="en-US" dirty="0"/>
              <a:t>K nearest points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/>
              <a:t>Select the K-nearest examples to E in the training set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/>
              <a:t>Assign E to the most common class among its K-nearest</a:t>
            </a:r>
          </a:p>
          <a:p>
            <a:r>
              <a:rPr lang="en-US" dirty="0"/>
              <a:t>neighbors.</a:t>
            </a:r>
          </a:p>
        </p:txBody>
      </p:sp>
    </p:spTree>
    <p:extLst>
      <p:ext uri="{BB962C8B-B14F-4D97-AF65-F5344CB8AC3E}">
        <p14:creationId xmlns:p14="http://schemas.microsoft.com/office/powerpoint/2010/main" val="2022677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3-KNN: Example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47" y="1343024"/>
            <a:ext cx="8873062" cy="4676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8178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choose 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K is too small it is sensitive to noise points.</a:t>
            </a:r>
          </a:p>
          <a:p>
            <a:r>
              <a:rPr lang="en-US" dirty="0" smtClean="0"/>
              <a:t>Larger </a:t>
            </a:r>
            <a:r>
              <a:rPr lang="en-US" dirty="0"/>
              <a:t>K works well. But too large K may include </a:t>
            </a:r>
            <a:r>
              <a:rPr lang="en-US" dirty="0" smtClean="0"/>
              <a:t>majority points </a:t>
            </a:r>
            <a:r>
              <a:rPr lang="en-US" dirty="0"/>
              <a:t>from other classes</a:t>
            </a:r>
            <a:r>
              <a:rPr lang="en-US" dirty="0" smtClean="0"/>
              <a:t>.</a:t>
            </a:r>
          </a:p>
          <a:p>
            <a:r>
              <a:rPr lang="en-US" dirty="0"/>
              <a:t>Rule of thumb is K &lt; </a:t>
            </a:r>
            <a:r>
              <a:rPr lang="en-US" dirty="0" err="1"/>
              <a:t>sqrt</a:t>
            </a:r>
            <a:r>
              <a:rPr lang="en-US" dirty="0"/>
              <a:t>(n), n is number of examples.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599" y="3886200"/>
            <a:ext cx="3617105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0730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48" y="1747838"/>
            <a:ext cx="8831252" cy="4043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5352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70" y="1595438"/>
            <a:ext cx="8674430" cy="4881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7211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KNN Feature Weighting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Scale each feature by its importance </a:t>
            </a:r>
            <a:r>
              <a:rPr lang="en-US" dirty="0" smtClean="0"/>
              <a:t>for classification</a:t>
            </a:r>
          </a:p>
          <a:p>
            <a:r>
              <a:rPr lang="en-US" dirty="0"/>
              <a:t>Can use our prior knowledge about which </a:t>
            </a:r>
            <a:r>
              <a:rPr lang="en-US" dirty="0" smtClean="0"/>
              <a:t>features are </a:t>
            </a:r>
            <a:r>
              <a:rPr lang="en-US" dirty="0"/>
              <a:t>more </a:t>
            </a:r>
            <a:r>
              <a:rPr lang="en-US" dirty="0" smtClean="0"/>
              <a:t>important</a:t>
            </a:r>
          </a:p>
          <a:p>
            <a:r>
              <a:rPr lang="en-US" dirty="0"/>
              <a:t>Can learn the weights </a:t>
            </a:r>
            <a:r>
              <a:rPr lang="en-US" b="1" dirty="0" err="1"/>
              <a:t>wk</a:t>
            </a:r>
            <a:r>
              <a:rPr lang="en-US" b="1" dirty="0"/>
              <a:t> </a:t>
            </a:r>
            <a:r>
              <a:rPr lang="en-US" dirty="0"/>
              <a:t>using </a:t>
            </a:r>
            <a:r>
              <a:rPr lang="en-US" b="1" dirty="0" smtClean="0"/>
              <a:t>cross‐validation</a:t>
            </a:r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282" y="5181600"/>
            <a:ext cx="4953000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2632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Normalization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59" y="1609724"/>
            <a:ext cx="8957741" cy="4562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4551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Nominal/Categorical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Distance works naturally with numerical attributes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Binary </a:t>
            </a:r>
            <a:r>
              <a:rPr lang="en-US" dirty="0"/>
              <a:t>value categorical data attributes can be regarded as </a:t>
            </a:r>
            <a:r>
              <a:rPr lang="en-US" dirty="0" smtClean="0"/>
              <a:t>1 or </a:t>
            </a:r>
            <a:r>
              <a:rPr lang="en-US" dirty="0"/>
              <a:t>0.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29000"/>
            <a:ext cx="3733800" cy="341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7124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KNN Classification – Distance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87877"/>
            <a:ext cx="7162800" cy="5417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9921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KNN Classification – Standardized Distance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355455"/>
            <a:ext cx="7239000" cy="5426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72131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084" y="68239"/>
            <a:ext cx="8229600" cy="1143000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229600" cy="4525963"/>
          </a:xfrm>
        </p:spPr>
        <p:txBody>
          <a:bodyPr/>
          <a:lstStyle/>
          <a:p>
            <a:r>
              <a:rPr lang="en-US" dirty="0" smtClean="0"/>
              <a:t>Dataset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80532"/>
            <a:ext cx="6096000" cy="546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84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353" y="1596788"/>
            <a:ext cx="7511293" cy="504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817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676400"/>
            <a:ext cx="6576164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910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85800"/>
            <a:ext cx="8244285" cy="583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394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962" y="842962"/>
            <a:ext cx="3648075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8109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916130"/>
            <a:ext cx="5448300" cy="5181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1447800"/>
            <a:ext cx="2657475" cy="457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0" y="2286000"/>
            <a:ext cx="2619375" cy="4476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800" y="3168721"/>
            <a:ext cx="2609850" cy="4286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800" y="4032392"/>
            <a:ext cx="2667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969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74612"/>
            <a:ext cx="8229600" cy="1143000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Dataset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071" y="865012"/>
            <a:ext cx="5981702" cy="599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1663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Classify the new example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76600"/>
            <a:ext cx="8686800" cy="70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3711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19" y="1676399"/>
            <a:ext cx="8824525" cy="463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7291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5" y="76200"/>
            <a:ext cx="8229600" cy="4525963"/>
          </a:xfrm>
        </p:spPr>
        <p:txBody>
          <a:bodyPr/>
          <a:lstStyle/>
          <a:p>
            <a:r>
              <a:rPr lang="en-US" dirty="0" smtClean="0"/>
              <a:t>Distance to each training example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6" y="589805"/>
            <a:ext cx="8229600" cy="62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3375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229600" cy="4525963"/>
          </a:xfrm>
        </p:spPr>
        <p:txBody>
          <a:bodyPr/>
          <a:lstStyle/>
          <a:p>
            <a:r>
              <a:rPr lang="en-US" dirty="0" smtClean="0"/>
              <a:t>2. Find Rank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04800"/>
            <a:ext cx="4157663" cy="630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000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604837"/>
            <a:ext cx="862965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6417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Strengths of KNN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Very </a:t>
            </a:r>
            <a:r>
              <a:rPr lang="en-US" dirty="0"/>
              <a:t>simple and intuitive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Can </a:t>
            </a:r>
            <a:r>
              <a:rPr lang="en-US" dirty="0"/>
              <a:t>be applied to the data from any distribution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Good </a:t>
            </a:r>
            <a:r>
              <a:rPr lang="en-US" dirty="0"/>
              <a:t>classification if the number of samples is large enough.</a:t>
            </a:r>
          </a:p>
        </p:txBody>
      </p:sp>
    </p:spTree>
    <p:extLst>
      <p:ext uri="{BB962C8B-B14F-4D97-AF65-F5344CB8AC3E}">
        <p14:creationId xmlns:p14="http://schemas.microsoft.com/office/powerpoint/2010/main" val="34214323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Weaknesses of KNN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dirty="0" smtClean="0"/>
              <a:t>Takes </a:t>
            </a:r>
            <a:r>
              <a:rPr lang="en-US" dirty="0"/>
              <a:t>more time to classify a new example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N</a:t>
            </a:r>
            <a:r>
              <a:rPr lang="en-US" dirty="0" smtClean="0"/>
              <a:t>eed </a:t>
            </a:r>
            <a:r>
              <a:rPr lang="en-US" dirty="0"/>
              <a:t>to calculate and compare distance from new </a:t>
            </a:r>
            <a:r>
              <a:rPr lang="en-US" dirty="0" smtClean="0"/>
              <a:t>example to </a:t>
            </a:r>
            <a:r>
              <a:rPr lang="en-US" dirty="0"/>
              <a:t>all other examples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Choosing </a:t>
            </a:r>
            <a:r>
              <a:rPr lang="en-US" dirty="0"/>
              <a:t>k may be tricky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Need </a:t>
            </a:r>
            <a:r>
              <a:rPr lang="en-US" dirty="0"/>
              <a:t>large number of samples for accuracy.</a:t>
            </a:r>
          </a:p>
        </p:txBody>
      </p:sp>
    </p:spTree>
    <p:extLst>
      <p:ext uri="{BB962C8B-B14F-4D97-AF65-F5344CB8AC3E}">
        <p14:creationId xmlns:p14="http://schemas.microsoft.com/office/powerpoint/2010/main" val="3014594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842EB5B25AA94681E01C533BC4E547" ma:contentTypeVersion="3" ma:contentTypeDescription="Create a new document." ma:contentTypeScope="" ma:versionID="5e8853d87939594dd11300b895153a60">
  <xsd:schema xmlns:xsd="http://www.w3.org/2001/XMLSchema" xmlns:xs="http://www.w3.org/2001/XMLSchema" xmlns:p="http://schemas.microsoft.com/office/2006/metadata/properties" xmlns:ns2="b1cd9ac4-537d-4700-ace9-c3dc8aafaf16" targetNamespace="http://schemas.microsoft.com/office/2006/metadata/properties" ma:root="true" ma:fieldsID="cc6f7d3b10a75145a31d85fa157930a3" ns2:_="">
    <xsd:import namespace="b1cd9ac4-537d-4700-ace9-c3dc8aafaf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cd9ac4-537d-4700-ace9-c3dc8aafaf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181E3F9-658D-4E32-87D2-055FE3CC9545}"/>
</file>

<file path=customXml/itemProps2.xml><?xml version="1.0" encoding="utf-8"?>
<ds:datastoreItem xmlns:ds="http://schemas.openxmlformats.org/officeDocument/2006/customXml" ds:itemID="{5EE53A92-8F69-4F8B-8054-0AC3A054D372}"/>
</file>

<file path=customXml/itemProps3.xml><?xml version="1.0" encoding="utf-8"?>
<ds:datastoreItem xmlns:ds="http://schemas.openxmlformats.org/officeDocument/2006/customXml" ds:itemID="{65A940E4-E20B-4F81-BB9A-56C7A6570C83}"/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407</Words>
  <Application>Microsoft Office PowerPoint</Application>
  <PresentationFormat>On-screen Show (4:3)</PresentationFormat>
  <Paragraphs>71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K- Nearest Neighbors</vt:lpstr>
      <vt:lpstr>Simple Analogy..</vt:lpstr>
      <vt:lpstr>KNN – Different names</vt:lpstr>
      <vt:lpstr>What is KNN?</vt:lpstr>
      <vt:lpstr>KNN: Classification Approach</vt:lpstr>
      <vt:lpstr>PowerPoint Presentation</vt:lpstr>
      <vt:lpstr>Distance Measure</vt:lpstr>
      <vt:lpstr>Distance measure for Continuous Variables</vt:lpstr>
      <vt:lpstr>Distance Between Neighbors</vt:lpstr>
      <vt:lpstr>K-Nearest Neighbor Algorithm</vt:lpstr>
      <vt:lpstr>3-KNN: Example</vt:lpstr>
      <vt:lpstr>How to choose K?</vt:lpstr>
      <vt:lpstr>PowerPoint Presentation</vt:lpstr>
      <vt:lpstr>PowerPoint Presentation</vt:lpstr>
      <vt:lpstr>KNN Feature Weighting</vt:lpstr>
      <vt:lpstr>Feature Normalization</vt:lpstr>
      <vt:lpstr>Nominal/Categorical Data</vt:lpstr>
      <vt:lpstr>KNN Classification – Distance</vt:lpstr>
      <vt:lpstr>KNN Classification – Standardized Distance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Strengths of KNN</vt:lpstr>
      <vt:lpstr>Weaknesses of KNN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 Nearest Neighbors</dc:title>
  <dc:creator>Muhammad Yasin</dc:creator>
  <cp:lastModifiedBy>admin</cp:lastModifiedBy>
  <cp:revision>12</cp:revision>
  <dcterms:created xsi:type="dcterms:W3CDTF">2020-07-03T10:49:10Z</dcterms:created>
  <dcterms:modified xsi:type="dcterms:W3CDTF">2022-11-03T10:28:49Z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0x010100BC842EB5B25AA94681E01C533BC4E547</vt:lpwstr>
  </property>
</Properties>
</file>