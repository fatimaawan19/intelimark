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06" r:id="rId4"/>
    <p:sldId id="307" r:id="rId5"/>
    <p:sldId id="329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28" r:id="rId17"/>
    <p:sldId id="318" r:id="rId18"/>
    <p:sldId id="319" r:id="rId19"/>
    <p:sldId id="320" r:id="rId20"/>
    <p:sldId id="321" r:id="rId21"/>
    <p:sldId id="322" r:id="rId22"/>
    <p:sldId id="323" r:id="rId23"/>
    <p:sldId id="327" r:id="rId24"/>
    <p:sldId id="334" r:id="rId25"/>
    <p:sldId id="335" r:id="rId26"/>
    <p:sldId id="336" r:id="rId27"/>
    <p:sldId id="29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5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1A7014DC-8377-4F4A-9A12-6C4C45943500}"/>
    <pc:docChg chg="delSld modSld">
      <pc:chgData name="Rizwan Rashid" userId="12b6bffb-8fd7-410a-bd1e-f473b901c3a4" providerId="ADAL" clId="{1A7014DC-8377-4F4A-9A12-6C4C45943500}" dt="2022-10-11T07:42:25.305" v="66" actId="47"/>
      <pc:docMkLst>
        <pc:docMk/>
      </pc:docMkLst>
      <pc:sldChg chg="modSp mod">
        <pc:chgData name="Rizwan Rashid" userId="12b6bffb-8fd7-410a-bd1e-f473b901c3a4" providerId="ADAL" clId="{1A7014DC-8377-4F4A-9A12-6C4C45943500}" dt="2022-10-11T07:41:32.995" v="12" actId="20577"/>
        <pc:sldMkLst>
          <pc:docMk/>
          <pc:sldMk cId="764188204" sldId="256"/>
        </pc:sldMkLst>
        <pc:spChg chg="mod">
          <ac:chgData name="Rizwan Rashid" userId="12b6bffb-8fd7-410a-bd1e-f473b901c3a4" providerId="ADAL" clId="{1A7014DC-8377-4F4A-9A12-6C4C45943500}" dt="2022-10-11T07:41:32.995" v="12" actId="20577"/>
          <ac:spMkLst>
            <pc:docMk/>
            <pc:sldMk cId="764188204" sldId="256"/>
            <ac:spMk id="3" creationId="{00000000-0000-0000-0000-000000000000}"/>
          </ac:spMkLst>
        </pc:spChg>
      </pc:sldChg>
      <pc:sldChg chg="modSp mod">
        <pc:chgData name="Rizwan Rashid" userId="12b6bffb-8fd7-410a-bd1e-f473b901c3a4" providerId="ADAL" clId="{1A7014DC-8377-4F4A-9A12-6C4C45943500}" dt="2022-10-11T07:41:56.771" v="40" actId="20577"/>
        <pc:sldMkLst>
          <pc:docMk/>
          <pc:sldMk cId="2357972918" sldId="257"/>
        </pc:sldMkLst>
        <pc:spChg chg="mod">
          <ac:chgData name="Rizwan Rashid" userId="12b6bffb-8fd7-410a-bd1e-f473b901c3a4" providerId="ADAL" clId="{1A7014DC-8377-4F4A-9A12-6C4C45943500}" dt="2022-10-11T07:41:56.771" v="40" actId="20577"/>
          <ac:spMkLst>
            <pc:docMk/>
            <pc:sldMk cId="2357972918" sldId="257"/>
            <ac:spMk id="3" creationId="{00000000-0000-0000-0000-000000000000}"/>
          </ac:spMkLst>
        </pc:spChg>
      </pc:sldChg>
      <pc:sldChg chg="modSp mod">
        <pc:chgData name="Rizwan Rashid" userId="12b6bffb-8fd7-410a-bd1e-f473b901c3a4" providerId="ADAL" clId="{1A7014DC-8377-4F4A-9A12-6C4C45943500}" dt="2022-10-11T07:42:23.255" v="65" actId="20577"/>
        <pc:sldMkLst>
          <pc:docMk/>
          <pc:sldMk cId="3219205706" sldId="292"/>
        </pc:sldMkLst>
        <pc:spChg chg="mod">
          <ac:chgData name="Rizwan Rashid" userId="12b6bffb-8fd7-410a-bd1e-f473b901c3a4" providerId="ADAL" clId="{1A7014DC-8377-4F4A-9A12-6C4C45943500}" dt="2022-10-11T07:42:23.255" v="65" actId="20577"/>
          <ac:spMkLst>
            <pc:docMk/>
            <pc:sldMk cId="3219205706" sldId="292"/>
            <ac:spMk id="3" creationId="{00000000-0000-0000-0000-000000000000}"/>
          </ac:spMkLst>
        </pc:spChg>
      </pc:sldChg>
      <pc:sldChg chg="del">
        <pc:chgData name="Rizwan Rashid" userId="12b6bffb-8fd7-410a-bd1e-f473b901c3a4" providerId="ADAL" clId="{1A7014DC-8377-4F4A-9A12-6C4C45943500}" dt="2022-10-11T07:42:25.305" v="66" actId="47"/>
        <pc:sldMkLst>
          <pc:docMk/>
          <pc:sldMk cId="3223216926" sldId="293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3269646834" sldId="294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2000489249" sldId="295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178152731" sldId="299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1893457633" sldId="300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4033961802" sldId="301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3616114183" sldId="302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3167069341" sldId="303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2036066714" sldId="304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1569420098" sldId="305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3491997205" sldId="330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143402677" sldId="331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1044995389" sldId="332"/>
        </pc:sldMkLst>
      </pc:sldChg>
      <pc:sldChg chg="del">
        <pc:chgData name="Rizwan Rashid" userId="12b6bffb-8fd7-410a-bd1e-f473b901c3a4" providerId="ADAL" clId="{1A7014DC-8377-4F4A-9A12-6C4C45943500}" dt="2022-10-11T07:42:07.834" v="41" actId="47"/>
        <pc:sldMkLst>
          <pc:docMk/>
          <pc:sldMk cId="2631763463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0C2BB-0A71-43EC-8B6B-1FC2E576D30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06AD-5AEF-4217-BA9D-D06D426B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9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1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8763000" cy="1470025"/>
          </a:xfrm>
        </p:spPr>
        <p:txBody>
          <a:bodyPr>
            <a:normAutofit/>
          </a:bodyPr>
          <a:lstStyle/>
          <a:p>
            <a:r>
              <a:rPr lang="en-US" dirty="0"/>
              <a:t>CSC103-Programming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81400"/>
            <a:ext cx="6400800" cy="1219200"/>
          </a:xfrm>
        </p:spPr>
        <p:txBody>
          <a:bodyPr/>
          <a:lstStyle/>
          <a:p>
            <a:r>
              <a:rPr lang="en-US" dirty="0"/>
              <a:t>Selections-Switch</a:t>
            </a:r>
          </a:p>
          <a:p>
            <a:r>
              <a:rPr lang="en-US" dirty="0"/>
              <a:t>Lecture-9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" y="5608022"/>
            <a:ext cx="8763000" cy="738664"/>
            <a:chOff x="609600" y="5608022"/>
            <a:chExt cx="8077199" cy="738664"/>
          </a:xfrm>
        </p:grpSpPr>
        <p:sp>
          <p:nvSpPr>
            <p:cNvPr id="5" name="Rectangle 4"/>
            <p:cNvSpPr/>
            <p:nvPr/>
          </p:nvSpPr>
          <p:spPr>
            <a:xfrm>
              <a:off x="609600" y="5977354"/>
              <a:ext cx="8077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Mr. Rizwan Rashid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09600" y="5608022"/>
              <a:ext cx="12793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Instructors</a:t>
              </a:r>
              <a:r>
                <a:rPr lang="en-US" sz="20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18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Switch 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Expressions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9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>
                <a:latin typeface="+mj-lt"/>
              </a:rPr>
              <a:t>switch</a:t>
            </a:r>
            <a:r>
              <a:rPr lang="en-US" altLang="en-US" sz="4400">
                <a:latin typeface="+mj-lt"/>
              </a:rPr>
              <a:t> Statements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95400" y="1371600"/>
            <a:ext cx="6629400" cy="4204821"/>
            <a:chOff x="1600200" y="1205379"/>
            <a:chExt cx="4674809" cy="260462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205379"/>
              <a:ext cx="3475630" cy="728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933606"/>
              <a:ext cx="4674809" cy="1876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6519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685800" y="165100"/>
            <a:ext cx="77724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800">
                <a:latin typeface="Courier New" pitchFamily="49" charset="0"/>
              </a:rPr>
              <a:t>switch</a:t>
            </a:r>
            <a:r>
              <a:rPr lang="en-US" altLang="en-US" sz="4000"/>
              <a:t> Statement Flow Chart</a:t>
            </a: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auto">
          <a:xfrm>
            <a:off x="274320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778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1035050"/>
            <a:ext cx="80645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569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76400"/>
            <a:ext cx="7620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number=20;  </a:t>
            </a:r>
          </a:p>
          <a:p>
            <a:r>
              <a:rPr lang="en-US" sz="2400" dirty="0"/>
              <a:t>        //Switch expression  </a:t>
            </a:r>
          </a:p>
          <a:p>
            <a:r>
              <a:rPr lang="en-US" sz="2400" dirty="0"/>
              <a:t>        switch(number){  </a:t>
            </a:r>
          </a:p>
          <a:p>
            <a:r>
              <a:rPr lang="en-US" sz="2400" dirty="0"/>
              <a:t>        //Case statements  </a:t>
            </a:r>
          </a:p>
          <a:p>
            <a:r>
              <a:rPr lang="en-US" sz="2400" dirty="0"/>
              <a:t>            case 10: </a:t>
            </a:r>
            <a:r>
              <a:rPr lang="en-US" sz="2400" dirty="0" err="1"/>
              <a:t>System.out.println</a:t>
            </a:r>
            <a:r>
              <a:rPr lang="en-US" sz="2400" dirty="0"/>
              <a:t>("10");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20: </a:t>
            </a:r>
            <a:r>
              <a:rPr lang="en-US" sz="2400" dirty="0" err="1"/>
              <a:t>System.out.println</a:t>
            </a:r>
            <a:r>
              <a:rPr lang="en-US" sz="2400" dirty="0"/>
              <a:t>("20");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30: </a:t>
            </a:r>
            <a:r>
              <a:rPr lang="en-US" sz="2400" dirty="0" err="1"/>
              <a:t>System.out.println</a:t>
            </a:r>
            <a:r>
              <a:rPr lang="en-US" sz="2400" dirty="0"/>
              <a:t>("30");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//Default case statement  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default:System.out.println</a:t>
            </a:r>
            <a:r>
              <a:rPr lang="en-US" sz="2400" dirty="0"/>
              <a:t>("Not in 10, 20 or 30");  </a:t>
            </a:r>
          </a:p>
          <a:p>
            <a:r>
              <a:rPr lang="en-US" sz="2400" dirty="0"/>
              <a:t>        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Switch- Example</a:t>
            </a:r>
          </a:p>
        </p:txBody>
      </p:sp>
    </p:spTree>
    <p:extLst>
      <p:ext uri="{BB962C8B-B14F-4D97-AF65-F5344CB8AC3E}">
        <p14:creationId xmlns:p14="http://schemas.microsoft.com/office/powerpoint/2010/main" val="242233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Courier New" pitchFamily="49" charset="0"/>
              </a:rPr>
              <a:t>switch</a:t>
            </a:r>
            <a:r>
              <a:rPr lang="en-US" altLang="en-US" sz="4400" dirty="0"/>
              <a:t> Statement Rules</a:t>
            </a: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auto">
          <a:xfrm>
            <a:off x="5105400" y="1246628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switch (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switch-expression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value1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value2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 err="1">
                <a:solidFill>
                  <a:srgbClr val="FF0000"/>
                </a:solidFill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default: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}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381000" y="1066800"/>
            <a:ext cx="5791201" cy="914400"/>
            <a:chOff x="240" y="672"/>
            <a:chExt cx="3648" cy="576"/>
          </a:xfrm>
        </p:grpSpPr>
        <p:sp>
          <p:nvSpPr>
            <p:cNvPr id="79883" name="Rectangle 5"/>
            <p:cNvSpPr>
              <a:spLocks noChangeArrowheads="1"/>
            </p:cNvSpPr>
            <p:nvPr/>
          </p:nvSpPr>
          <p:spPr bwMode="auto">
            <a:xfrm>
              <a:off x="240" y="672"/>
              <a:ext cx="2540" cy="57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lnSpc>
                  <a:spcPct val="90000"/>
                </a:lnSpc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yield a value of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char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byte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short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or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int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type and must always be enclosed in parentheses.</a:t>
              </a:r>
            </a:p>
          </p:txBody>
        </p:sp>
        <p:sp>
          <p:nvSpPr>
            <p:cNvPr id="79884" name="Line 6"/>
            <p:cNvSpPr>
              <a:spLocks noChangeShapeType="1"/>
            </p:cNvSpPr>
            <p:nvPr/>
          </p:nvSpPr>
          <p:spPr bwMode="auto">
            <a:xfrm>
              <a:off x="2780" y="863"/>
              <a:ext cx="110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381000" y="1828105"/>
            <a:ext cx="5486619" cy="4496496"/>
            <a:chOff x="432" y="1160"/>
            <a:chExt cx="3232" cy="2582"/>
          </a:xfrm>
        </p:grpSpPr>
        <p:sp>
          <p:nvSpPr>
            <p:cNvPr id="79879" name="Rectangle 8"/>
            <p:cNvSpPr>
              <a:spLocks noChangeArrowheads="1"/>
            </p:cNvSpPr>
            <p:nvPr/>
          </p:nvSpPr>
          <p:spPr bwMode="auto">
            <a:xfrm>
              <a:off x="432" y="1335"/>
              <a:ext cx="2469" cy="2407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have the same data type as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endParaRPr lang="en-US" altLang="en-US" dirty="0">
                <a:solidFill>
                  <a:srgbClr val="000000"/>
                </a:solidFill>
                <a:cs typeface="Times New Roman" pitchFamily="16" charset="0"/>
              </a:endParaRP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The resulting statements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are executed when the value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matches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dirty="0">
                  <a:solidFill>
                    <a:srgbClr val="000000"/>
                  </a:solidFill>
                  <a:cs typeface="Times New Roman" pitchFamily="16" charset="0"/>
                </a:rPr>
                <a:t>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Note that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are constant expressions, meaning that they cannot contain variables in the expression, such as 1 +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x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</p:txBody>
        </p:sp>
        <p:sp>
          <p:nvSpPr>
            <p:cNvPr id="79880" name="Line 9"/>
            <p:cNvSpPr>
              <a:spLocks noChangeShapeType="1"/>
            </p:cNvSpPr>
            <p:nvPr/>
          </p:nvSpPr>
          <p:spPr bwMode="auto">
            <a:xfrm flipV="1">
              <a:off x="2901" y="1160"/>
              <a:ext cx="763" cy="621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1" name="Line 10"/>
            <p:cNvSpPr>
              <a:spLocks noChangeShapeType="1"/>
            </p:cNvSpPr>
            <p:nvPr/>
          </p:nvSpPr>
          <p:spPr bwMode="auto">
            <a:xfrm flipV="1">
              <a:off x="2901" y="1642"/>
              <a:ext cx="718" cy="139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2" name="Line 11"/>
            <p:cNvSpPr>
              <a:spLocks noChangeShapeType="1"/>
            </p:cNvSpPr>
            <p:nvPr/>
          </p:nvSpPr>
          <p:spPr bwMode="auto">
            <a:xfrm>
              <a:off x="2901" y="1781"/>
              <a:ext cx="763" cy="33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4935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+mj-lt"/>
              </a:rPr>
              <a:t>switch</a:t>
            </a:r>
            <a:r>
              <a:rPr lang="en-US" altLang="en-US" sz="4400" dirty="0">
                <a:latin typeface="+mj-lt"/>
              </a:rPr>
              <a:t> Statement Rules</a:t>
            </a: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5051946" y="1219200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switch (switch-expression)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value1: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value2: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</a:t>
            </a:r>
            <a:r>
              <a:rPr lang="en-US" altLang="en-US" sz="1900" dirty="0" err="1">
                <a:solidFill>
                  <a:srgbClr val="000000"/>
                </a:solidFill>
                <a:latin typeface="+mj-lt"/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default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" y="1219200"/>
            <a:ext cx="5486400" cy="2590800"/>
            <a:chOff x="228600" y="1219200"/>
            <a:chExt cx="5486400" cy="2590800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228600" y="1219200"/>
              <a:ext cx="3886200" cy="20574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>
              <a:lvl1pPr marL="55563" indent="-53975"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32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1pPr>
              <a:lvl2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8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2pPr>
              <a:lvl3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3pPr>
              <a:lvl4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4pPr>
              <a:lvl5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5pPr>
              <a:lvl6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6pPr>
              <a:lvl7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7pPr>
              <a:lvl8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8pPr>
              <a:lvl9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9pPr>
            </a:lstStyle>
            <a:p>
              <a:pPr eaLnBrk="1" hangingPunct="1">
                <a:buSzPct val="75000"/>
              </a:pPr>
              <a:r>
                <a:rPr lang="en-US" altLang="en-US" dirty="0"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The keyword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is optional, but it should be used at the end of each case in order to terminate the remainder of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switch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statement. If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is not present, the next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case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will be executed.</a:t>
              </a: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 flipV="1">
              <a:off x="4114800" y="2133600"/>
              <a:ext cx="1600200" cy="266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4191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1409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</p:grpSp>
      <p:grpSp>
        <p:nvGrpSpPr>
          <p:cNvPr id="43016" name="Group 8"/>
          <p:cNvGrpSpPr>
            <a:grpSpLocks/>
          </p:cNvGrpSpPr>
          <p:nvPr/>
        </p:nvGrpSpPr>
        <p:grpSpPr bwMode="auto">
          <a:xfrm>
            <a:off x="228600" y="3733800"/>
            <a:ext cx="4953001" cy="1522413"/>
            <a:chOff x="144" y="2352"/>
            <a:chExt cx="3120" cy="959"/>
          </a:xfrm>
        </p:grpSpPr>
        <p:sp>
          <p:nvSpPr>
            <p:cNvPr id="81931" name="Rectangle 9"/>
            <p:cNvSpPr>
              <a:spLocks noChangeArrowheads="1"/>
            </p:cNvSpPr>
            <p:nvPr/>
          </p:nvSpPr>
          <p:spPr bwMode="auto">
            <a:xfrm>
              <a:off x="144" y="2352"/>
              <a:ext cx="2592" cy="95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</a:pPr>
              <a:r>
                <a:rPr lang="en-US" altLang="en-US" sz="36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default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 case, which is optional, can be used to perform actions when none of the specified cases matches 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switch-expression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.</a:t>
              </a:r>
            </a:p>
          </p:txBody>
        </p:sp>
        <p:sp>
          <p:nvSpPr>
            <p:cNvPr id="81932" name="Line 10"/>
            <p:cNvSpPr>
              <a:spLocks noChangeShapeType="1"/>
            </p:cNvSpPr>
            <p:nvPr/>
          </p:nvSpPr>
          <p:spPr bwMode="auto">
            <a:xfrm flipV="1">
              <a:off x="2736" y="2688"/>
              <a:ext cx="52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369627" y="5426501"/>
            <a:ext cx="8077200" cy="1320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 marL="55563" indent="-53975">
              <a:buSzPct val="75000"/>
              <a:tabLst>
                <a:tab pos="55563" algn="l"/>
                <a:tab pos="969963" algn="l"/>
                <a:tab pos="1884363" algn="l"/>
                <a:tab pos="2798763" algn="l"/>
                <a:tab pos="3713163" algn="l"/>
                <a:tab pos="4627563" algn="l"/>
                <a:tab pos="5541963" algn="l"/>
                <a:tab pos="6456363" algn="l"/>
                <a:tab pos="7370763" algn="l"/>
                <a:tab pos="8285163" algn="l"/>
                <a:tab pos="9199563" algn="l"/>
                <a:tab pos="10113963" algn="l"/>
              </a:tabLst>
            </a:pP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When the value in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matches the value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switch-expression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,  the statements </a:t>
            </a:r>
            <a:r>
              <a:rPr lang="en-US" altLang="en-US" sz="1800" i="1" dirty="0">
                <a:solidFill>
                  <a:srgbClr val="000000"/>
                </a:solidFill>
                <a:latin typeface="+mj-lt"/>
              </a:rPr>
              <a:t>starting from this 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are executed until either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break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or the end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 statement is reached.</a:t>
            </a:r>
          </a:p>
        </p:txBody>
      </p:sp>
    </p:spTree>
    <p:extLst>
      <p:ext uri="{BB962C8B-B14F-4D97-AF65-F5344CB8AC3E}">
        <p14:creationId xmlns:p14="http://schemas.microsoft.com/office/powerpoint/2010/main" val="11175309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 dirty="0">
                <a:latin typeface="+mj-lt"/>
              </a:rPr>
              <a:t>Trace switch statement</a:t>
            </a:r>
          </a:p>
        </p:txBody>
      </p:sp>
      <p:sp>
        <p:nvSpPr>
          <p:cNvPr id="8397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397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 dirty="0">
                <a:latin typeface="+mj-lt"/>
                <a:cs typeface="Arial" charset="0"/>
              </a:rPr>
              <a:t>switch</a:t>
            </a:r>
            <a:r>
              <a:rPr lang="en-US" altLang="en-US" sz="2400" dirty="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5: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("Weekday"); </a:t>
            </a:r>
            <a:r>
              <a:rPr lang="en-US" altLang="en-US" sz="2400" b="1" dirty="0">
                <a:latin typeface="+mj-lt"/>
                <a:cs typeface="Arial" charset="0"/>
              </a:rPr>
              <a:t>break</a:t>
            </a:r>
            <a:r>
              <a:rPr lang="en-US" altLang="en-US" sz="2400" dirty="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6: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("Weekend");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}  </a:t>
            </a:r>
          </a:p>
        </p:txBody>
      </p:sp>
      <p:sp>
        <p:nvSpPr>
          <p:cNvPr id="83974" name="Rectangle 5"/>
          <p:cNvSpPr>
            <a:spLocks noChangeArrowheads="1"/>
          </p:cNvSpPr>
          <p:nvPr/>
        </p:nvSpPr>
        <p:spPr bwMode="auto">
          <a:xfrm>
            <a:off x="1492250" y="2306638"/>
            <a:ext cx="42227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6745"/>
              <a:gd name="adj2" fmla="val 177255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day is 2: </a:t>
            </a:r>
          </a:p>
        </p:txBody>
      </p:sp>
    </p:spTree>
    <p:extLst>
      <p:ext uri="{BB962C8B-B14F-4D97-AF65-F5344CB8AC3E}">
        <p14:creationId xmlns:p14="http://schemas.microsoft.com/office/powerpoint/2010/main" val="13276687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/>
              <a:t>Trace switch statement</a:t>
            </a:r>
          </a:p>
        </p:txBody>
      </p:sp>
      <p:sp>
        <p:nvSpPr>
          <p:cNvPr id="8602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cs typeface="Arial" charset="0"/>
              </a:rPr>
              <a:t>switch</a:t>
            </a:r>
            <a:r>
              <a:rPr lang="en-US" altLang="en-US" sz="2400"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5: System.out.println("Weekday"); </a:t>
            </a:r>
            <a:r>
              <a:rPr lang="en-US" altLang="en-US" sz="2400" b="1">
                <a:cs typeface="Arial" charset="0"/>
              </a:rPr>
              <a:t>break</a:t>
            </a:r>
            <a:r>
              <a:rPr lang="en-US" altLang="en-US" sz="2400"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}  </a:t>
            </a:r>
          </a:p>
        </p:txBody>
      </p:sp>
      <p:sp>
        <p:nvSpPr>
          <p:cNvPr id="4506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3736"/>
              <a:gd name="adj2" fmla="val 29805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</a:rPr>
              <a:t>Match case 2 </a:t>
            </a:r>
          </a:p>
        </p:txBody>
      </p:sp>
      <p:sp>
        <p:nvSpPr>
          <p:cNvPr id="86024" name="Rectangle 7"/>
          <p:cNvSpPr>
            <a:spLocks noChangeArrowheads="1"/>
          </p:cNvSpPr>
          <p:nvPr/>
        </p:nvSpPr>
        <p:spPr bwMode="auto">
          <a:xfrm>
            <a:off x="574675" y="3082925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174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8069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1958"/>
              <a:gd name="adj2" fmla="val 388944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3</a:t>
            </a: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574675" y="3429000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0110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0116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0117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7109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181"/>
              <a:gd name="adj2" fmla="val 445750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4 </a:t>
            </a:r>
          </a:p>
        </p:txBody>
      </p:sp>
      <p:sp>
        <p:nvSpPr>
          <p:cNvPr id="90120" name="Rectangle 7"/>
          <p:cNvSpPr>
            <a:spLocks noChangeArrowheads="1"/>
          </p:cNvSpPr>
          <p:nvPr/>
        </p:nvSpPr>
        <p:spPr bwMode="auto">
          <a:xfrm>
            <a:off x="571500" y="3773488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5930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2164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2165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630"/>
              <a:gd name="adj2" fmla="val 50830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5 </a:t>
            </a:r>
          </a:p>
        </p:txBody>
      </p:sp>
      <p:sp>
        <p:nvSpPr>
          <p:cNvPr id="92168" name="Rectangle 7"/>
          <p:cNvSpPr>
            <a:spLocks noChangeArrowheads="1"/>
          </p:cNvSpPr>
          <p:nvPr/>
        </p:nvSpPr>
        <p:spPr bwMode="auto">
          <a:xfrm>
            <a:off x="568325" y="4119563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886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421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150185"/>
              <a:gd name="adj2" fmla="val 514778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Encounter break</a:t>
            </a:r>
          </a:p>
        </p:txBody>
      </p:sp>
      <p:sp>
        <p:nvSpPr>
          <p:cNvPr id="94216" name="Rectangle 7"/>
          <p:cNvSpPr>
            <a:spLocks noChangeArrowheads="1"/>
          </p:cNvSpPr>
          <p:nvPr/>
        </p:nvSpPr>
        <p:spPr bwMode="auto">
          <a:xfrm>
            <a:off x="5494338" y="4119563"/>
            <a:ext cx="947737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3618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626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57167"/>
              <a:gd name="adj2" fmla="val 83403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Exit the statement</a:t>
            </a:r>
          </a:p>
        </p:txBody>
      </p:sp>
    </p:spTree>
    <p:extLst>
      <p:ext uri="{BB962C8B-B14F-4D97-AF65-F5344CB8AC3E}">
        <p14:creationId xmlns:p14="http://schemas.microsoft.com/office/powerpoint/2010/main" val="2203974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193675" y="241300"/>
            <a:ext cx="86407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600" dirty="0">
                <a:latin typeface="+mj-lt"/>
              </a:rPr>
              <a:t>Problem: Chinese Zodiac</a:t>
            </a:r>
            <a:r>
              <a:rPr lang="en-US" altLang="en-US" sz="4400" dirty="0">
                <a:latin typeface="+mj-lt"/>
              </a:rPr>
              <a:t> </a:t>
            </a:r>
          </a:p>
        </p:txBody>
      </p:sp>
      <p:sp>
        <p:nvSpPr>
          <p:cNvPr id="98308" name="Text Box 3"/>
          <p:cNvSpPr txBox="1">
            <a:spLocks noChangeArrowheads="1"/>
          </p:cNvSpPr>
          <p:nvPr/>
        </p:nvSpPr>
        <p:spPr bwMode="auto">
          <a:xfrm>
            <a:off x="193675" y="990600"/>
            <a:ext cx="86836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eaLnBrk="1" hangingPunct="1">
              <a:spcBef>
                <a:spcPts val="800"/>
              </a:spcBef>
              <a:buSzPct val="75000"/>
            </a:pPr>
            <a:r>
              <a:rPr lang="en-US" altLang="en-US" sz="2800" dirty="0">
                <a:latin typeface="+mj-lt"/>
              </a:rPr>
              <a:t>Write a program that prompts the user to enter a year and displays the animal for the year. 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9831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1931988"/>
            <a:ext cx="7226300" cy="36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729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"/>
            <a:ext cx="6699536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36" y="5235054"/>
            <a:ext cx="635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539" y="6057331"/>
            <a:ext cx="6360997" cy="758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81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r>
              <a:rPr lang="en-US" dirty="0"/>
              <a:t>Logical operators, also known as Boolean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6967"/>
            <a:ext cx="804535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The logical operators !, &amp;&amp;, ||, and ^ can be used to create a compound Boolean expression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49428"/>
              </p:ext>
            </p:extLst>
          </p:nvPr>
        </p:nvGraphicFramePr>
        <p:xfrm>
          <a:off x="838200" y="3352800"/>
          <a:ext cx="7502525" cy="3148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9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!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logical negation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&amp;&amp;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conjunction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||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disjunction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^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exclusive 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exclusion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437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!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2362200" y="32480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2052638" y="30194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auto">
          <a:xfrm>
            <a:off x="0" y="29718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0728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02401"/>
              </p:ext>
            </p:extLst>
          </p:nvPr>
        </p:nvGraphicFramePr>
        <p:xfrm>
          <a:off x="155575" y="1431925"/>
          <a:ext cx="8720138" cy="4224339"/>
        </p:xfrm>
        <a:graphic>
          <a:graphicData uri="http://schemas.openxmlformats.org/drawingml/2006/table">
            <a:tbl>
              <a:tblPr/>
              <a:tblGrid>
                <a:gridCol w="966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!(age &gt; 18) is false, because (age &gt; 18)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, because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5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&amp;&amp;</a:t>
            </a: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0" y="281146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1750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54520"/>
              </p:ext>
            </p:extLst>
          </p:nvPr>
        </p:nvGraphicFramePr>
        <p:xfrm>
          <a:off x="250825" y="1239838"/>
          <a:ext cx="8643938" cy="5081587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3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866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&amp;&amp; 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41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&lt;= 18) &amp;&amp; (weight &lt; 140) is false, because (age &gt; 18) and (weight &lt;= 140) are both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18) &amp;&amp; (weight &gt; 140) is false, because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(age &gt; 18) &amp;&amp; (weight &gt;= 140) is true, because both (age &gt; 18) and (weight &gt;= 140) are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3392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||</a:t>
            </a: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0" y="27924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2774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02746"/>
              </p:ext>
            </p:extLst>
          </p:nvPr>
        </p:nvGraphicFramePr>
        <p:xfrm>
          <a:off x="155575" y="1393825"/>
          <a:ext cx="8720138" cy="5102225"/>
        </p:xfrm>
        <a:graphic>
          <a:graphicData uri="http://schemas.openxmlformats.org/drawingml/2006/table">
            <a:tbl>
              <a:tblPr/>
              <a:tblGrid>
                <a:gridCol w="852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8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34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|| 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4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|| (weight &lt;= 140) is true, because (age &gt; 34) is false, but (weight &lt;=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674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|| (weight &gt;= 150) is false, because (age &gt; 14)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76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^</a:t>
            </a: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379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812255"/>
              </p:ext>
            </p:extLst>
          </p:nvPr>
        </p:nvGraphicFramePr>
        <p:xfrm>
          <a:off x="193675" y="1316038"/>
          <a:ext cx="8682038" cy="5173662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7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^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 140) is true, because (age &gt; 34) is false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87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&gt;= 140) is true, because (age &gt; 34) is false but (weight &gt;=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^ (weight &gt; 140) is true, because (age &gt; 14) is true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4545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457200"/>
            <a:ext cx="8468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Whether a number is divisible by 2 and 3, by 2 or 3, and by 2 or 3 but not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1" y="17526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 </a:t>
            </a:r>
          </a:p>
          <a:p>
            <a:r>
              <a:rPr lang="en-US" dirty="0"/>
              <a:t>public class </a:t>
            </a:r>
            <a:r>
              <a:rPr lang="en-US" dirty="0" err="1"/>
              <a:t>TestBooleanOperators</a:t>
            </a:r>
            <a:r>
              <a:rPr lang="en-US" dirty="0"/>
              <a:t> {</a:t>
            </a:r>
          </a:p>
          <a:p>
            <a:r>
              <a:rPr lang="en-US" dirty="0"/>
              <a:t> 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	    Scanner input = new Scanner(System.in);</a:t>
            </a:r>
          </a:p>
          <a:p>
            <a:r>
              <a:rPr lang="en-US" dirty="0"/>
              <a:t>   	    // Receive an input</a:t>
            </a:r>
          </a:p>
          <a:p>
            <a:r>
              <a:rPr lang="en-US" dirty="0"/>
              <a:t>      	   </a:t>
            </a:r>
            <a:r>
              <a:rPr lang="en-US" dirty="0" err="1"/>
              <a:t>System.out.print</a:t>
            </a:r>
            <a:r>
              <a:rPr lang="en-US" dirty="0"/>
              <a:t>("Enter an integer: ");</a:t>
            </a:r>
          </a:p>
          <a:p>
            <a:r>
              <a:rPr lang="en-US" dirty="0"/>
              <a:t> 	   </a:t>
            </a:r>
            <a:r>
              <a:rPr lang="en-US" dirty="0" err="1"/>
              <a:t>int</a:t>
            </a:r>
            <a:r>
              <a:rPr lang="en-US" dirty="0"/>
              <a:t> number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    	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	   if (number % 2 == 0 &amp;&amp; number % 3 == 0)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and 3.");</a:t>
            </a:r>
          </a:p>
          <a:p>
            <a:r>
              <a:rPr lang="en-US" dirty="0"/>
              <a:t>	   if (number % 2 == 0 || number % 3 == 0)</a:t>
            </a:r>
          </a:p>
          <a:p>
            <a:r>
              <a:rPr lang="en-US" dirty="0"/>
              <a:t>        	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or 3.");</a:t>
            </a:r>
          </a:p>
          <a:p>
            <a:r>
              <a:rPr lang="en-US" dirty="0"/>
              <a:t>	   if (number % 2 == 0 ^ number % 3 == 0)</a:t>
            </a:r>
          </a:p>
          <a:p>
            <a:r>
              <a:rPr lang="en-US" dirty="0"/>
              <a:t>	          </a:t>
            </a:r>
            <a:r>
              <a:rPr lang="en-US" dirty="0" err="1"/>
              <a:t>System.out.println</a:t>
            </a:r>
            <a:r>
              <a:rPr lang="en-US" dirty="0"/>
              <a:t>(number +  " is divisible by 2 or 3, but not both.");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6"/>
          <a:stretch/>
        </p:blipFill>
        <p:spPr bwMode="auto">
          <a:xfrm>
            <a:off x="5019101" y="1143000"/>
            <a:ext cx="3972500" cy="10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75"/>
          <a:stretch/>
        </p:blipFill>
        <p:spPr bwMode="auto">
          <a:xfrm>
            <a:off x="5060043" y="2751160"/>
            <a:ext cx="3931557" cy="129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45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6D63-3B91-4E3B-8479-B0092CDF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Expressions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F2F94F-B8CD-4740-964F-3F09A7B13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50" y="1905000"/>
            <a:ext cx="8385277" cy="1577203"/>
          </a:xfrm>
        </p:spPr>
        <p:txBody>
          <a:bodyPr>
            <a:noAutofit/>
          </a:bodyPr>
          <a:lstStyle/>
          <a:p>
            <a:r>
              <a:rPr lang="en-US" sz="2400" dirty="0"/>
              <a:t>Conditional expressions are in a completely different style </a:t>
            </a:r>
          </a:p>
          <a:p>
            <a:r>
              <a:rPr lang="en-US" sz="2400" b="1" dirty="0"/>
              <a:t>Syntax :</a:t>
            </a:r>
          </a:p>
          <a:p>
            <a:pPr marL="457200" lvl="1" indent="0">
              <a:buNone/>
            </a:pPr>
            <a:r>
              <a:rPr lang="en-US" sz="2400" b="1" dirty="0" err="1">
                <a:latin typeface="+mj-lt"/>
              </a:rPr>
              <a:t>boolean</a:t>
            </a:r>
            <a:r>
              <a:rPr lang="en-US" sz="2400" b="1" dirty="0">
                <a:latin typeface="+mj-lt"/>
              </a:rPr>
              <a:t>-expression ? expression1 : expression2;</a:t>
            </a:r>
            <a:endParaRPr lang="en-US" sz="1800" b="1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DB7E65-405F-4811-9A7C-855B57D2D4C8}"/>
              </a:ext>
            </a:extLst>
          </p:cNvPr>
          <p:cNvSpPr/>
          <p:nvPr/>
        </p:nvSpPr>
        <p:spPr>
          <a:xfrm>
            <a:off x="454250" y="1343055"/>
            <a:ext cx="8385277" cy="4001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i="1" dirty="0">
                <a:latin typeface="Times-Italic"/>
              </a:rPr>
              <a:t>A conditional expression evaluates an expression based on a condition.</a:t>
            </a:r>
            <a:endParaRPr lang="en-US" sz="2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42824" y="3366534"/>
            <a:ext cx="6874615" cy="1692771"/>
            <a:chOff x="622738" y="3828926"/>
            <a:chExt cx="6874615" cy="1692771"/>
          </a:xfrm>
        </p:grpSpPr>
        <p:grpSp>
          <p:nvGrpSpPr>
            <p:cNvPr id="8" name="Group 7"/>
            <p:cNvGrpSpPr/>
            <p:nvPr/>
          </p:nvGrpSpPr>
          <p:grpSpPr>
            <a:xfrm>
              <a:off x="622738" y="3828926"/>
              <a:ext cx="1500732" cy="1692771"/>
              <a:chOff x="830317" y="3828926"/>
              <a:chExt cx="2000976" cy="169277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830317" y="4198258"/>
                <a:ext cx="2000976" cy="13234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lvl="1"/>
                <a:r>
                  <a:rPr lang="es-ES" sz="2000" b="1" dirty="0" err="1"/>
                  <a:t>if</a:t>
                </a:r>
                <a:r>
                  <a:rPr lang="es-ES" sz="2000" b="1" dirty="0"/>
                  <a:t> (x &gt; 0)</a:t>
                </a:r>
              </a:p>
              <a:p>
                <a:pPr lvl="1"/>
                <a:r>
                  <a:rPr lang="es-ES" sz="2000" b="1" dirty="0"/>
                  <a:t>  y = 1;</a:t>
                </a:r>
              </a:p>
              <a:p>
                <a:pPr lvl="1"/>
                <a:r>
                  <a:rPr lang="es-ES" sz="2000" b="1" dirty="0" err="1"/>
                  <a:t>else</a:t>
                </a:r>
                <a:endParaRPr lang="es-ES" sz="2000" b="1" dirty="0"/>
              </a:p>
              <a:p>
                <a:pPr lvl="1"/>
                <a:r>
                  <a:rPr lang="es-ES" sz="2000" b="1" dirty="0"/>
                  <a:t>  y = -1;</a:t>
                </a:r>
                <a:endParaRPr lang="en-US" sz="20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30317" y="3828926"/>
                <a:ext cx="1577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Example-1</a:t>
                </a:r>
                <a:endParaRPr lang="en-US" dirty="0"/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2298197" y="4366808"/>
              <a:ext cx="2447597" cy="8940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Can be written 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6270" y="4613756"/>
              <a:ext cx="2751083" cy="400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1"/>
              <a:r>
                <a:rPr lang="es-ES" sz="2000" b="1" dirty="0"/>
                <a:t>y = (x &gt; 0)? 1 : -1;</a:t>
              </a:r>
              <a:endParaRPr lang="en-US" sz="20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024" y="5460142"/>
            <a:ext cx="8001176" cy="830997"/>
            <a:chOff x="1142824" y="5460142"/>
            <a:chExt cx="6077604" cy="830997"/>
          </a:xfrm>
        </p:grpSpPr>
        <p:sp>
          <p:nvSpPr>
            <p:cNvPr id="11" name="Rectangle 10"/>
            <p:cNvSpPr/>
            <p:nvPr/>
          </p:nvSpPr>
          <p:spPr>
            <a:xfrm>
              <a:off x="1142824" y="5829474"/>
              <a:ext cx="6077604" cy="46166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2400" dirty="0"/>
                <a:t>max = (num1 &gt; num2) ? num1 : num2;</a:t>
              </a:r>
              <a:endParaRPr lang="en-US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49668" y="5460142"/>
              <a:ext cx="1948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MaxNum</a:t>
              </a:r>
              <a:r>
                <a:rPr lang="en-US" b="1" dirty="0"/>
                <a:t>-Example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7635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3916363"/>
          </a:xfrm>
        </p:spPr>
        <p:txBody>
          <a:bodyPr>
            <a:normAutofit/>
          </a:bodyPr>
          <a:lstStyle/>
          <a:p>
            <a:r>
              <a:rPr lang="en-US" sz="2800" dirty="0"/>
              <a:t>If operators with the same precedence are next to each other, their associativity determines the order of evaluation</a:t>
            </a:r>
          </a:p>
          <a:p>
            <a:pPr lvl="1"/>
            <a:r>
              <a:rPr lang="en-US" sz="2400" dirty="0"/>
              <a:t>All binary operators except assignment operators are </a:t>
            </a:r>
            <a:r>
              <a:rPr lang="en-US" sz="2400" i="1" dirty="0"/>
              <a:t>left associative</a:t>
            </a:r>
          </a:p>
          <a:p>
            <a:pPr lvl="1"/>
            <a:r>
              <a:rPr lang="en-US" sz="2400" dirty="0"/>
              <a:t>Assignment operators are </a:t>
            </a:r>
            <a:r>
              <a:rPr lang="en-US" sz="2400" i="1" dirty="0"/>
              <a:t>right associative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04800" y="1371600"/>
            <a:ext cx="8610600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1" dirty="0"/>
              <a:t>Operator precedence and associativity determine the order in which operators are evaluated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857750"/>
            <a:ext cx="6732651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71950"/>
            <a:ext cx="6783313" cy="70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839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"/>
          <a:stretch/>
        </p:blipFill>
        <p:spPr bwMode="auto">
          <a:xfrm>
            <a:off x="335506" y="1371600"/>
            <a:ext cx="8503693" cy="536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259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true || true &amp;&amp; false</a:t>
            </a:r>
          </a:p>
          <a:p>
            <a:r>
              <a:rPr lang="en-US" sz="2800" dirty="0"/>
              <a:t>true &amp;&amp; true || false</a:t>
            </a:r>
          </a:p>
          <a:p>
            <a:r>
              <a:rPr lang="en-US" sz="2800" dirty="0"/>
              <a:t>2 * 2 - 3 &gt; 2 &amp;&amp; 4 - 2 &gt; 5</a:t>
            </a:r>
          </a:p>
          <a:p>
            <a:r>
              <a:rPr lang="en-US" sz="2800" dirty="0"/>
              <a:t>2 * 2 - 3 &gt; 2 || 4 - 2 &gt; 5</a:t>
            </a:r>
          </a:p>
          <a:p>
            <a:r>
              <a:rPr lang="en-US" sz="2800" dirty="0"/>
              <a:t>Is x &gt; 0 &amp;&amp; x &lt; 10   the same as(x &gt; 0) &amp;&amp; (x &lt; 10) ?</a:t>
            </a:r>
          </a:p>
          <a:p>
            <a:r>
              <a:rPr lang="en-US" sz="2800" dirty="0"/>
              <a:t>Is (x &gt; 0 || x &lt; 10) the same as ((x &gt; 0) || (x &lt; 10))?</a:t>
            </a:r>
          </a:p>
          <a:p>
            <a:r>
              <a:rPr lang="en-US" sz="2400" dirty="0"/>
              <a:t>Is (x &gt; 0 || x &lt; 10 &amp;&amp; y &lt; 0) the same as (x &gt; 0 || (x &lt; 10 &amp;&amp; y &lt; 0))?</a:t>
            </a:r>
          </a:p>
          <a:p>
            <a:r>
              <a:rPr lang="en-US" sz="2800" dirty="0"/>
              <a:t>3 + 4 * 4 &gt; 5 * (4 + 3) – 1 </a:t>
            </a:r>
            <a:r>
              <a:rPr lang="en-US" sz="2400" dirty="0"/>
              <a:t>&amp;&amp;</a:t>
            </a:r>
            <a:r>
              <a:rPr lang="en-US" sz="2800" dirty="0"/>
              <a:t> (4 - 3 &gt; 5)</a:t>
            </a:r>
          </a:p>
        </p:txBody>
      </p:sp>
    </p:spTree>
    <p:extLst>
      <p:ext uri="{BB962C8B-B14F-4D97-AF65-F5344CB8AC3E}">
        <p14:creationId xmlns:p14="http://schemas.microsoft.com/office/powerpoint/2010/main" val="4234452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0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29092</TotalTime>
  <Words>1786</Words>
  <Application>Microsoft Office PowerPoint</Application>
  <PresentationFormat>On-screen Show (4:3)</PresentationFormat>
  <Paragraphs>279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Times New Roman</vt:lpstr>
      <vt:lpstr>Times-Italic</vt:lpstr>
      <vt:lpstr>Office Theme</vt:lpstr>
      <vt:lpstr>CSC103-Programming Fundamentals</vt:lpstr>
      <vt:lpstr>Lecture Outline</vt:lpstr>
      <vt:lpstr>PowerPoint Presentation</vt:lpstr>
      <vt:lpstr>PowerPoint Presentation</vt:lpstr>
      <vt:lpstr>Switch-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Expressions</vt:lpstr>
      <vt:lpstr>Operator Precedence and Associativity</vt:lpstr>
      <vt:lpstr>Operator Precedence and Associativity</vt:lpstr>
      <vt:lpstr>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Rizwan Rashid</cp:lastModifiedBy>
  <cp:revision>64</cp:revision>
  <dcterms:created xsi:type="dcterms:W3CDTF">2006-08-16T00:00:00Z</dcterms:created>
  <dcterms:modified xsi:type="dcterms:W3CDTF">2022-10-11T07:42:26Z</dcterms:modified>
</cp:coreProperties>
</file>