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8"/>
  </p:notesMasterIdLst>
  <p:sldIdLst>
    <p:sldId id="306" r:id="rId2"/>
    <p:sldId id="257" r:id="rId3"/>
    <p:sldId id="273" r:id="rId4"/>
    <p:sldId id="274" r:id="rId5"/>
    <p:sldId id="296" r:id="rId6"/>
    <p:sldId id="310" r:id="rId7"/>
    <p:sldId id="275" r:id="rId8"/>
    <p:sldId id="307" r:id="rId9"/>
    <p:sldId id="308" r:id="rId10"/>
    <p:sldId id="276" r:id="rId11"/>
    <p:sldId id="311" r:id="rId12"/>
    <p:sldId id="312" r:id="rId13"/>
    <p:sldId id="313" r:id="rId14"/>
    <p:sldId id="277" r:id="rId15"/>
    <p:sldId id="278" r:id="rId16"/>
    <p:sldId id="309" r:id="rId17"/>
    <p:sldId id="331" r:id="rId18"/>
    <p:sldId id="332" r:id="rId19"/>
    <p:sldId id="316" r:id="rId20"/>
    <p:sldId id="334" r:id="rId21"/>
    <p:sldId id="333" r:id="rId22"/>
    <p:sldId id="335" r:id="rId23"/>
    <p:sldId id="336" r:id="rId24"/>
    <p:sldId id="338" r:id="rId25"/>
    <p:sldId id="317" r:id="rId26"/>
    <p:sldId id="320" r:id="rId27"/>
  </p:sldIdLst>
  <p:sldSz cx="12192000" cy="6858000"/>
  <p:notesSz cx="7102475" cy="102346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DF48"/>
    <a:srgbClr val="0099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F859-6BEE-48FE-A985-25ED3A71E312}" v="4" dt="2022-10-18T05:41:09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12"/>
  </p:normalViewPr>
  <p:slideViewPr>
    <p:cSldViewPr>
      <p:cViewPr varScale="1">
        <p:scale>
          <a:sx n="81" d="100"/>
          <a:sy n="81" d="100"/>
        </p:scale>
        <p:origin x="82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8C2D4F95-CF5A-49D2-8635-3DC3F079BA8A}"/>
    <pc:docChg chg="undo custSel addSld modSld">
      <pc:chgData name="Rizwan Rashid" userId="12b6bffb-8fd7-410a-bd1e-f473b901c3a4" providerId="ADAL" clId="{8C2D4F95-CF5A-49D2-8635-3DC3F079BA8A}" dt="2022-10-11T07:36:49.642" v="24" actId="20577"/>
      <pc:docMkLst>
        <pc:docMk/>
      </pc:docMkLst>
      <pc:sldChg chg="modSp mod">
        <pc:chgData name="Rizwan Rashid" userId="12b6bffb-8fd7-410a-bd1e-f473b901c3a4" providerId="ADAL" clId="{8C2D4F95-CF5A-49D2-8635-3DC3F079BA8A}" dt="2022-10-11T06:22:24.828" v="12" actId="20577"/>
        <pc:sldMkLst>
          <pc:docMk/>
          <pc:sldMk cId="2051806220" sldId="336"/>
        </pc:sldMkLst>
        <pc:spChg chg="mod">
          <ac:chgData name="Rizwan Rashid" userId="12b6bffb-8fd7-410a-bd1e-f473b901c3a4" providerId="ADAL" clId="{8C2D4F95-CF5A-49D2-8635-3DC3F079BA8A}" dt="2022-10-11T06:22:24.828" v="12" actId="20577"/>
          <ac:spMkLst>
            <pc:docMk/>
            <pc:sldMk cId="2051806220" sldId="336"/>
            <ac:spMk id="6" creationId="{00000000-0000-0000-0000-000000000000}"/>
          </ac:spMkLst>
        </pc:spChg>
      </pc:sldChg>
      <pc:sldChg chg="addSp delSp modSp new mod modClrScheme chgLayout">
        <pc:chgData name="Rizwan Rashid" userId="12b6bffb-8fd7-410a-bd1e-f473b901c3a4" providerId="ADAL" clId="{8C2D4F95-CF5A-49D2-8635-3DC3F079BA8A}" dt="2022-10-11T07:36:49.642" v="24" actId="20577"/>
        <pc:sldMkLst>
          <pc:docMk/>
          <pc:sldMk cId="626843814" sldId="339"/>
        </pc:sldMkLst>
        <pc:spChg chg="del mod ord">
          <ac:chgData name="Rizwan Rashid" userId="12b6bffb-8fd7-410a-bd1e-f473b901c3a4" providerId="ADAL" clId="{8C2D4F95-CF5A-49D2-8635-3DC3F079BA8A}" dt="2022-10-11T07:36:26.060" v="14" actId="700"/>
          <ac:spMkLst>
            <pc:docMk/>
            <pc:sldMk cId="626843814" sldId="339"/>
            <ac:spMk id="2" creationId="{5F8CA155-8021-D0E4-2D81-FD2C24E91EC5}"/>
          </ac:spMkLst>
        </pc:spChg>
        <pc:spChg chg="del mod ord">
          <ac:chgData name="Rizwan Rashid" userId="12b6bffb-8fd7-410a-bd1e-f473b901c3a4" providerId="ADAL" clId="{8C2D4F95-CF5A-49D2-8635-3DC3F079BA8A}" dt="2022-10-11T07:36:26.060" v="14" actId="700"/>
          <ac:spMkLst>
            <pc:docMk/>
            <pc:sldMk cId="626843814" sldId="339"/>
            <ac:spMk id="3" creationId="{1E1ED5BD-4713-05E1-859B-1C7FE9A455FA}"/>
          </ac:spMkLst>
        </pc:spChg>
        <pc:spChg chg="mod ord">
          <ac:chgData name="Rizwan Rashid" userId="12b6bffb-8fd7-410a-bd1e-f473b901c3a4" providerId="ADAL" clId="{8C2D4F95-CF5A-49D2-8635-3DC3F079BA8A}" dt="2022-10-11T07:36:26.060" v="14" actId="700"/>
          <ac:spMkLst>
            <pc:docMk/>
            <pc:sldMk cId="626843814" sldId="339"/>
            <ac:spMk id="4" creationId="{138CE0E0-ECD6-5A39-C2BD-CCFC2C95B74E}"/>
          </ac:spMkLst>
        </pc:spChg>
        <pc:spChg chg="add mod ord">
          <ac:chgData name="Rizwan Rashid" userId="12b6bffb-8fd7-410a-bd1e-f473b901c3a4" providerId="ADAL" clId="{8C2D4F95-CF5A-49D2-8635-3DC3F079BA8A}" dt="2022-10-11T07:36:49.642" v="24" actId="20577"/>
          <ac:spMkLst>
            <pc:docMk/>
            <pc:sldMk cId="626843814" sldId="339"/>
            <ac:spMk id="5" creationId="{EF4481CE-F21B-1CC1-C0C8-188B27301006}"/>
          </ac:spMkLst>
        </pc:spChg>
        <pc:spChg chg="add mod ord">
          <ac:chgData name="Rizwan Rashid" userId="12b6bffb-8fd7-410a-bd1e-f473b901c3a4" providerId="ADAL" clId="{8C2D4F95-CF5A-49D2-8635-3DC3F079BA8A}" dt="2022-10-11T07:36:26.060" v="14" actId="700"/>
          <ac:spMkLst>
            <pc:docMk/>
            <pc:sldMk cId="626843814" sldId="339"/>
            <ac:spMk id="6" creationId="{B8AA1FE6-A41E-B49B-01BD-BFD9157CE35D}"/>
          </ac:spMkLst>
        </pc:spChg>
      </pc:sldChg>
    </pc:docChg>
  </pc:docChgLst>
  <pc:docChgLst>
    <pc:chgData name="Rizwan Rashid" userId="12b6bffb-8fd7-410a-bd1e-f473b901c3a4" providerId="ADAL" clId="{24EFF859-6BEE-48FE-A985-25ED3A71E312}"/>
    <pc:docChg chg="custSel delSld modSld">
      <pc:chgData name="Rizwan Rashid" userId="12b6bffb-8fd7-410a-bd1e-f473b901c3a4" providerId="ADAL" clId="{24EFF859-6BEE-48FE-A985-25ED3A71E312}" dt="2022-10-18T05:42:08.046" v="103" actId="20577"/>
      <pc:docMkLst>
        <pc:docMk/>
      </pc:docMkLst>
      <pc:sldChg chg="modSp mod">
        <pc:chgData name="Rizwan Rashid" userId="12b6bffb-8fd7-410a-bd1e-f473b901c3a4" providerId="ADAL" clId="{24EFF859-6BEE-48FE-A985-25ED3A71E312}" dt="2022-10-18T05:42:08.046" v="103" actId="20577"/>
        <pc:sldMkLst>
          <pc:docMk/>
          <pc:sldMk cId="0" sldId="257"/>
        </pc:sldMkLst>
        <pc:spChg chg="mod">
          <ac:chgData name="Rizwan Rashid" userId="12b6bffb-8fd7-410a-bd1e-f473b901c3a4" providerId="ADAL" clId="{24EFF859-6BEE-48FE-A985-25ED3A71E312}" dt="2022-10-18T05:42:08.046" v="103" actId="20577"/>
          <ac:spMkLst>
            <pc:docMk/>
            <pc:sldMk cId="0" sldId="257"/>
            <ac:spMk id="4098" creationId="{00000000-0000-0000-0000-000000000000}"/>
          </ac:spMkLst>
        </pc:spChg>
        <pc:spChg chg="mod">
          <ac:chgData name="Rizwan Rashid" userId="12b6bffb-8fd7-410a-bd1e-f473b901c3a4" providerId="ADAL" clId="{24EFF859-6BEE-48FE-A985-25ED3A71E312}" dt="2022-10-18T05:41:59.721" v="98" actId="6549"/>
          <ac:spMkLst>
            <pc:docMk/>
            <pc:sldMk cId="0" sldId="257"/>
            <ac:spMk id="4099" creationId="{00000000-0000-0000-0000-000000000000}"/>
          </ac:spMkLst>
        </pc:spChg>
      </pc:sldChg>
      <pc:sldChg chg="modSp mod">
        <pc:chgData name="Rizwan Rashid" userId="12b6bffb-8fd7-410a-bd1e-f473b901c3a4" providerId="ADAL" clId="{24EFF859-6BEE-48FE-A985-25ED3A71E312}" dt="2022-10-18T05:40:07.563" v="3" actId="20577"/>
        <pc:sldMkLst>
          <pc:docMk/>
          <pc:sldMk cId="0" sldId="306"/>
        </pc:sldMkLst>
        <pc:spChg chg="mod">
          <ac:chgData name="Rizwan Rashid" userId="12b6bffb-8fd7-410a-bd1e-f473b901c3a4" providerId="ADAL" clId="{24EFF859-6BEE-48FE-A985-25ED3A71E312}" dt="2022-10-18T05:40:05.264" v="2" actId="20577"/>
          <ac:spMkLst>
            <pc:docMk/>
            <pc:sldMk cId="0" sldId="306"/>
            <ac:spMk id="3074" creationId="{00000000-0000-0000-0000-000000000000}"/>
          </ac:spMkLst>
        </pc:spChg>
        <pc:spChg chg="mod">
          <ac:chgData name="Rizwan Rashid" userId="12b6bffb-8fd7-410a-bd1e-f473b901c3a4" providerId="ADAL" clId="{24EFF859-6BEE-48FE-A985-25ED3A71E312}" dt="2022-10-18T05:40:07.563" v="3" actId="20577"/>
          <ac:spMkLst>
            <pc:docMk/>
            <pc:sldMk cId="0" sldId="306"/>
            <ac:spMk id="3076" creationId="{00000000-0000-0000-0000-000000000000}"/>
          </ac:spMkLst>
        </pc:spChg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1339687388" sldId="321"/>
        </pc:sldMkLst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3801466153" sldId="322"/>
        </pc:sldMkLst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2922314540" sldId="323"/>
        </pc:sldMkLst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1643214578" sldId="324"/>
        </pc:sldMkLst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2233314401" sldId="325"/>
        </pc:sldMkLst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999842033" sldId="326"/>
        </pc:sldMkLst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1419033856" sldId="327"/>
        </pc:sldMkLst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457141751" sldId="328"/>
        </pc:sldMkLst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335356414" sldId="329"/>
        </pc:sldMkLst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491129590" sldId="330"/>
        </pc:sldMkLst>
      </pc:sldChg>
      <pc:sldChg chg="del">
        <pc:chgData name="Rizwan Rashid" userId="12b6bffb-8fd7-410a-bd1e-f473b901c3a4" providerId="ADAL" clId="{24EFF859-6BEE-48FE-A985-25ED3A71E312}" dt="2022-10-18T05:39:52.386" v="0" actId="47"/>
        <pc:sldMkLst>
          <pc:docMk/>
          <pc:sldMk cId="626843814" sldId="3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algn="r"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3250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defTabSz="990600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fld id="{A5CE024D-A8F9-4859-8A63-46A05E0654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636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990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990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990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990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B8D553CC-2598-410C-A1A9-D4320CE853B2}" type="slidenum">
              <a:rPr lang="en-US" altLang="en-US">
                <a:latin typeface="Arial" pitchFamily="34" charset="0"/>
              </a:rPr>
              <a:pPr/>
              <a:t>5</a:t>
            </a:fld>
            <a:endParaRPr lang="en-US" alt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E78C3-304B-4BBA-8DEF-13EC86C019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747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2B3838-5DA3-401E-993B-20BED99F7C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573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34424D-0358-4C61-8E8C-A95F7A119A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76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C9108A-7B98-4A28-953D-0E84585988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13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3530B-9530-4BC7-BFA9-5C4AD0EF12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91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17488-5CC3-423A-993A-C3A7E9093B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3293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0D8F85-790C-468F-8B10-34236115AD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03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54407-4C60-420B-861D-9C2A10BC97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13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66DC00-4530-4866-AF8B-EEB46A606C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020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3CDAAA-C42A-4612-8078-26F1013984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52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036AC4-FF49-43B4-AB4D-81CE0981BF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36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132D1672-A002-4114-9637-30308C12409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 noChangeArrowheads="1"/>
          </p:cNvSpPr>
          <p:nvPr>
            <p:ph type="ctrTitle"/>
          </p:nvPr>
        </p:nvSpPr>
        <p:spPr>
          <a:xfrm>
            <a:off x="2857500" y="2592388"/>
            <a:ext cx="6477000" cy="990600"/>
          </a:xfrm>
        </p:spPr>
        <p:txBody>
          <a:bodyPr/>
          <a:lstStyle/>
          <a:p>
            <a:r>
              <a:rPr lang="en-US" altLang="en-US" sz="3200" dirty="0"/>
              <a:t>Repetition Statements (loops)</a:t>
            </a:r>
            <a:br>
              <a:rPr lang="en-US" altLang="en-US" dirty="0"/>
            </a:br>
            <a:r>
              <a:rPr lang="en-US" altLang="en-US" sz="2400" dirty="0"/>
              <a:t>Lecture 10</a:t>
            </a:r>
            <a:endParaRPr lang="en-US" altLang="en-US" dirty="0"/>
          </a:p>
        </p:txBody>
      </p:sp>
      <p:sp>
        <p:nvSpPr>
          <p:cNvPr id="307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26961E04-CD45-4441-919D-F97B33B87E93}" type="slidenum">
              <a:rPr lang="en-US" altLang="en-US" sz="1400">
                <a:latin typeface="Arial" pitchFamily="34" charset="0"/>
              </a:rPr>
              <a:pPr/>
              <a:t>1</a:t>
            </a:fld>
            <a:endParaRPr lang="en-US" altLang="en-US" sz="1400">
              <a:latin typeface="Arial" pitchFamily="34" charset="0"/>
            </a:endParaRPr>
          </a:p>
        </p:txBody>
      </p:sp>
      <p:sp>
        <p:nvSpPr>
          <p:cNvPr id="3076" name="TextBox 6"/>
          <p:cNvSpPr txBox="1">
            <a:spLocks noChangeArrowheads="1"/>
          </p:cNvSpPr>
          <p:nvPr/>
        </p:nvSpPr>
        <p:spPr bwMode="auto">
          <a:xfrm>
            <a:off x="1973263" y="5305425"/>
            <a:ext cx="8991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sz="1600" dirty="0">
                <a:latin typeface="Arial" pitchFamily="34" charset="0"/>
              </a:rPr>
              <a:t>Instructor</a:t>
            </a:r>
          </a:p>
          <a:p>
            <a:pPr eaLnBrk="1" hangingPunct="1"/>
            <a:r>
              <a:rPr lang="en-US" sz="1600" dirty="0">
                <a:latin typeface="Arial" pitchFamily="34" charset="0"/>
              </a:rPr>
              <a:t>Mr. Rizwan Rashid</a:t>
            </a:r>
            <a:endParaRPr lang="en-US" altLang="en-US" sz="1600" dirty="0">
              <a:latin typeface="Arial" pitchFamily="34" charset="0"/>
            </a:endParaRPr>
          </a:p>
        </p:txBody>
      </p:sp>
      <p:sp>
        <p:nvSpPr>
          <p:cNvPr id="3077" name="TextBox 8"/>
          <p:cNvSpPr txBox="1">
            <a:spLocks noChangeArrowheads="1"/>
          </p:cNvSpPr>
          <p:nvPr/>
        </p:nvSpPr>
        <p:spPr bwMode="auto">
          <a:xfrm>
            <a:off x="2057400" y="1552575"/>
            <a:ext cx="838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3600">
                <a:latin typeface="Arial" pitchFamily="34" charset="0"/>
              </a:rPr>
              <a:t> CSC103 – Programming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Repetition/Loop Statements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44675"/>
            <a:ext cx="8229600" cy="464820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1"/>
                </a:solidFill>
                <a:latin typeface="Courier"/>
              </a:rPr>
              <a:t>while</a:t>
            </a:r>
            <a:r>
              <a:rPr lang="en-US" altLang="en-US" dirty="0"/>
              <a:t> Loop</a:t>
            </a:r>
          </a:p>
          <a:p>
            <a:r>
              <a:rPr lang="en-US" altLang="en-US" b="1" dirty="0">
                <a:solidFill>
                  <a:schemeClr val="accent1"/>
                </a:solidFill>
                <a:latin typeface="Courier"/>
              </a:rPr>
              <a:t>do-while </a:t>
            </a:r>
            <a:r>
              <a:rPr lang="en-US" altLang="en-US" dirty="0"/>
              <a:t>Loop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FAEE4D7E-9593-4B0A-93FA-06A95315C8EC}" type="slidenum">
              <a:rPr lang="en-US" altLang="en-US" sz="1400">
                <a:latin typeface="Arial" pitchFamily="34" charset="0"/>
              </a:rPr>
              <a:pPr/>
              <a:t>2</a:t>
            </a:fld>
            <a:endParaRPr lang="en-US" altLang="en-US" sz="140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Repetition Statements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447800"/>
            <a:ext cx="9677400" cy="4953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i="1"/>
              <a:t>Repetition statements</a:t>
            </a:r>
            <a:r>
              <a:rPr lang="en-US" altLang="en-US"/>
              <a:t> allow us to execute a statement or a block of statements multiple times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/>
              <a:t>Often they are referred to as </a:t>
            </a:r>
            <a:r>
              <a:rPr lang="en-US" altLang="en-US" i="1"/>
              <a:t>loops</a:t>
            </a:r>
            <a:endParaRPr lang="en-US" altLang="en-US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/>
              <a:t>Like conditional statements, they are controlled by boolean expressions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/>
              <a:t>Java has three kinds of repetition statements:</a:t>
            </a:r>
          </a:p>
          <a:p>
            <a:pPr lvl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en-US" i="1"/>
              <a:t>while</a:t>
            </a:r>
            <a:endParaRPr lang="en-US" altLang="en-US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i="1"/>
              <a:t>do</a:t>
            </a:r>
            <a:endParaRPr lang="en-US" altLang="en-US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i="1"/>
              <a:t>for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/>
              <a:t>The programmer should choose the right kind of loop statement for the situation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4B0B32C8-A726-4C16-A86F-6736AF7E9E37}" type="slidenum">
              <a:rPr lang="en-US" altLang="en-US" sz="1400">
                <a:latin typeface="Arial" pitchFamily="34" charset="0"/>
              </a:rPr>
              <a:pPr/>
              <a:t>3</a:t>
            </a:fld>
            <a:endParaRPr lang="en-US" altLang="en-US" sz="1400">
              <a:latin typeface="Arial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en-US"/>
              <a:t>The while Statement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10134600" cy="4572000"/>
          </a:xfrm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altLang="en-US"/>
              <a:t>A </a:t>
            </a:r>
            <a:r>
              <a:rPr lang="en-US" altLang="en-US" i="1"/>
              <a:t>while statement</a:t>
            </a:r>
            <a:r>
              <a:rPr lang="en-US" altLang="en-US"/>
              <a:t> has the following syntax:</a:t>
            </a:r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</a:pPr>
            <a:endParaRPr lang="en-US" altLang="en-US"/>
          </a:p>
          <a:p>
            <a:pPr>
              <a:lnSpc>
                <a:spcPct val="80000"/>
              </a:lnSpc>
              <a:spcBef>
                <a:spcPct val="70000"/>
              </a:spcBef>
            </a:pPr>
            <a:r>
              <a:rPr lang="en-US" altLang="en-US"/>
              <a:t>If the </a:t>
            </a:r>
            <a:r>
              <a:rPr lang="en-US" altLang="en-US">
                <a:solidFill>
                  <a:schemeClr val="hlink"/>
                </a:solidFill>
                <a:latin typeface="Courier New" pitchFamily="49" charset="0"/>
              </a:rPr>
              <a:t>condition</a:t>
            </a:r>
            <a:r>
              <a:rPr lang="en-US" altLang="en-US"/>
              <a:t> is true, the </a:t>
            </a:r>
            <a:r>
              <a:rPr lang="en-US" altLang="en-US">
                <a:solidFill>
                  <a:schemeClr val="hlink"/>
                </a:solidFill>
                <a:latin typeface="Courier New" pitchFamily="49" charset="0"/>
              </a:rPr>
              <a:t>statement</a:t>
            </a:r>
            <a:r>
              <a:rPr lang="en-US" altLang="en-US"/>
              <a:t> is executed</a:t>
            </a:r>
          </a:p>
          <a:p>
            <a:pPr>
              <a:lnSpc>
                <a:spcPct val="80000"/>
              </a:lnSpc>
              <a:spcBef>
                <a:spcPct val="70000"/>
              </a:spcBef>
            </a:pPr>
            <a:r>
              <a:rPr lang="en-US" altLang="en-US"/>
              <a:t>Then the condition is evaluated again, and if it is still true, the statement is executed again</a:t>
            </a:r>
          </a:p>
          <a:p>
            <a:pPr>
              <a:lnSpc>
                <a:spcPct val="80000"/>
              </a:lnSpc>
              <a:spcBef>
                <a:spcPct val="70000"/>
              </a:spcBef>
            </a:pPr>
            <a:r>
              <a:rPr lang="en-US" altLang="en-US"/>
              <a:t>The statement is executed repeatedly until the condition becomes false</a:t>
            </a:r>
          </a:p>
          <a:p>
            <a:pPr>
              <a:lnSpc>
                <a:spcPct val="80000"/>
              </a:lnSpc>
            </a:pPr>
            <a:endParaRPr lang="en-US" altLang="en-US" sz="2400"/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9A7AB1C6-BF41-432E-8648-66BEA00AB31C}" type="slidenum">
              <a:rPr lang="en-US" altLang="en-US" sz="1400">
                <a:latin typeface="Arial" pitchFamily="34" charset="0"/>
              </a:rPr>
              <a:pPr/>
              <a:t>4</a:t>
            </a:fld>
            <a:endParaRPr lang="en-US" altLang="en-US" sz="1400">
              <a:latin typeface="Arial" pitchFamily="34" charset="0"/>
            </a:endParaRP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057400" y="2128838"/>
            <a:ext cx="70056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Courier New" pitchFamily="49" charset="0"/>
              </a:rPr>
              <a:t>while ( </a:t>
            </a:r>
            <a:r>
              <a:rPr lang="en-US" altLang="en-US" sz="2400" b="1" i="1">
                <a:solidFill>
                  <a:schemeClr val="hlink"/>
                </a:solidFill>
                <a:latin typeface="Courier New" pitchFamily="49" charset="0"/>
              </a:rPr>
              <a:t>loop-continuation-condition</a:t>
            </a:r>
            <a:r>
              <a:rPr lang="en-US" altLang="en-US" sz="2400" b="1">
                <a:latin typeface="Courier New" pitchFamily="49" charset="0"/>
              </a:rPr>
              <a:t> )</a:t>
            </a:r>
          </a:p>
          <a:p>
            <a:pPr eaLnBrk="1" hangingPunct="1"/>
            <a:r>
              <a:rPr lang="en-US" altLang="en-US" sz="2400" b="1">
                <a:latin typeface="Courier New" pitchFamily="49" charset="0"/>
              </a:rPr>
              <a:t>   </a:t>
            </a:r>
            <a:r>
              <a:rPr lang="en-US" altLang="en-US" sz="2400" b="1" i="1">
                <a:solidFill>
                  <a:schemeClr val="hlink"/>
                </a:solidFill>
                <a:latin typeface="Courier New" pitchFamily="49" charset="0"/>
              </a:rPr>
              <a:t>statement</a:t>
            </a:r>
            <a:r>
              <a:rPr lang="en-US" altLang="en-US" sz="2400" b="1">
                <a:latin typeface="Courier New" pitchFamily="49" charset="0"/>
              </a:rPr>
              <a:t>;</a:t>
            </a:r>
            <a:endParaRPr lang="en-US" altLang="en-US" sz="2000" b="1">
              <a:latin typeface="Courier New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Logic of a while Loop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en-US" sz="1400">
                <a:latin typeface="Arial" pitchFamily="34" charset="0"/>
              </a:rPr>
              <a:t>5</a:t>
            </a:r>
          </a:p>
        </p:txBody>
      </p:sp>
      <p:grpSp>
        <p:nvGrpSpPr>
          <p:cNvPr id="58388" name="Group 20"/>
          <p:cNvGrpSpPr>
            <a:grpSpLocks/>
          </p:cNvGrpSpPr>
          <p:nvPr/>
        </p:nvGrpSpPr>
        <p:grpSpPr bwMode="auto">
          <a:xfrm>
            <a:off x="5292725" y="3124200"/>
            <a:ext cx="1600200" cy="1295400"/>
            <a:chOff x="2112" y="1968"/>
            <a:chExt cx="1008" cy="816"/>
          </a:xfrm>
        </p:grpSpPr>
        <p:grpSp>
          <p:nvGrpSpPr>
            <p:cNvPr id="7182" name="Group 19"/>
            <p:cNvGrpSpPr>
              <a:grpSpLocks/>
            </p:cNvGrpSpPr>
            <p:nvPr/>
          </p:nvGrpSpPr>
          <p:grpSpPr bwMode="auto">
            <a:xfrm>
              <a:off x="2112" y="2543"/>
              <a:ext cx="1008" cy="241"/>
              <a:chOff x="2112" y="2543"/>
              <a:chExt cx="1008" cy="241"/>
            </a:xfrm>
          </p:grpSpPr>
          <p:sp>
            <p:nvSpPr>
              <p:cNvPr id="7185" name="Rectangle 5"/>
              <p:cNvSpPr>
                <a:spLocks noChangeArrowheads="1"/>
              </p:cNvSpPr>
              <p:nvPr/>
            </p:nvSpPr>
            <p:spPr bwMode="auto">
              <a:xfrm>
                <a:off x="2112" y="2544"/>
                <a:ext cx="1008" cy="240"/>
              </a:xfrm>
              <a:prstGeom prst="rect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7186" name="Text Box 6"/>
              <p:cNvSpPr txBox="1">
                <a:spLocks noChangeArrowheads="1"/>
              </p:cNvSpPr>
              <p:nvPr/>
            </p:nvSpPr>
            <p:spPr bwMode="auto">
              <a:xfrm>
                <a:off x="2215" y="2543"/>
                <a:ext cx="80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latin typeface="Arial Unicode MS" pitchFamily="34" charset="-128"/>
                  </a:rPr>
                  <a:t>statement</a:t>
                </a:r>
                <a:endParaRPr lang="en-US" altLang="en-US">
                  <a:latin typeface="Arial Unicode MS" pitchFamily="34" charset="-128"/>
                </a:endParaRPr>
              </a:p>
            </p:txBody>
          </p:sp>
        </p:grpSp>
        <p:cxnSp>
          <p:nvCxnSpPr>
            <p:cNvPr id="7183" name="AutoShape 7"/>
            <p:cNvCxnSpPr>
              <a:cxnSpLocks noChangeShapeType="1"/>
              <a:stCxn id="7178" idx="2"/>
              <a:endCxn id="7185" idx="0"/>
            </p:cNvCxnSpPr>
            <p:nvPr/>
          </p:nvCxnSpPr>
          <p:spPr bwMode="auto">
            <a:xfrm>
              <a:off x="2616" y="1968"/>
              <a:ext cx="0" cy="576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4" name="Text Box 8"/>
            <p:cNvSpPr txBox="1">
              <a:spLocks noChangeArrowheads="1"/>
            </p:cNvSpPr>
            <p:nvPr/>
          </p:nvSpPr>
          <p:spPr bwMode="auto">
            <a:xfrm>
              <a:off x="2635" y="2112"/>
              <a:ext cx="4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chemeClr val="hlink"/>
                  </a:solidFill>
                  <a:latin typeface="Arial Unicode MS" pitchFamily="34" charset="-128"/>
                </a:rPr>
                <a:t>true</a:t>
              </a:r>
              <a:endParaRPr lang="en-US" altLang="en-US">
                <a:solidFill>
                  <a:schemeClr val="hlink"/>
                </a:solidFill>
                <a:latin typeface="Arial Unicode MS" pitchFamily="34" charset="-128"/>
              </a:endParaRPr>
            </a:p>
          </p:txBody>
        </p:sp>
      </p:grpSp>
      <p:cxnSp>
        <p:nvCxnSpPr>
          <p:cNvPr id="58377" name="AutoShape 9"/>
          <p:cNvCxnSpPr>
            <a:cxnSpLocks noChangeShapeType="1"/>
            <a:stCxn id="7185" idx="1"/>
            <a:endCxn id="7178" idx="1"/>
          </p:cNvCxnSpPr>
          <p:nvPr/>
        </p:nvCxnSpPr>
        <p:spPr bwMode="auto">
          <a:xfrm rot="10800000">
            <a:off x="5064125" y="2590800"/>
            <a:ext cx="228600" cy="1638300"/>
          </a:xfrm>
          <a:prstGeom prst="bentConnector3">
            <a:avLst>
              <a:gd name="adj1" fmla="val 250694"/>
            </a:avLst>
          </a:prstGeom>
          <a:noFill/>
          <a:ln w="31750">
            <a:solidFill>
              <a:srgbClr val="FF0000"/>
            </a:solidFill>
            <a:miter lim="800000"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8383" name="Group 15"/>
          <p:cNvGrpSpPr>
            <a:grpSpLocks/>
          </p:cNvGrpSpPr>
          <p:nvPr/>
        </p:nvGrpSpPr>
        <p:grpSpPr bwMode="auto">
          <a:xfrm>
            <a:off x="6032500" y="2590800"/>
            <a:ext cx="1968500" cy="2590800"/>
            <a:chOff x="2578" y="1680"/>
            <a:chExt cx="1240" cy="1584"/>
          </a:xfrm>
        </p:grpSpPr>
        <p:cxnSp>
          <p:nvCxnSpPr>
            <p:cNvPr id="7180" name="AutoShape 16"/>
            <p:cNvCxnSpPr>
              <a:cxnSpLocks noChangeShapeType="1"/>
              <a:stCxn id="7178" idx="3"/>
            </p:cNvCxnSpPr>
            <p:nvPr/>
          </p:nvCxnSpPr>
          <p:spPr bwMode="auto">
            <a:xfrm flipH="1">
              <a:off x="2578" y="1680"/>
              <a:ext cx="638" cy="1584"/>
            </a:xfrm>
            <a:prstGeom prst="bentConnector4">
              <a:avLst>
                <a:gd name="adj1" fmla="val -22569"/>
                <a:gd name="adj2" fmla="val 83458"/>
              </a:avLst>
            </a:prstGeom>
            <a:noFill/>
            <a:ln w="31750">
              <a:solidFill>
                <a:srgbClr val="FF0000"/>
              </a:solidFill>
              <a:miter lim="800000"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1" name="Text Box 17"/>
            <p:cNvSpPr txBox="1">
              <a:spLocks noChangeArrowheads="1"/>
            </p:cNvSpPr>
            <p:nvPr/>
          </p:nvSpPr>
          <p:spPr bwMode="auto">
            <a:xfrm>
              <a:off x="3371" y="2115"/>
              <a:ext cx="447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chemeClr val="hlink"/>
                  </a:solidFill>
                  <a:latin typeface="Arial Unicode MS" pitchFamily="34" charset="-128"/>
                </a:rPr>
                <a:t>false</a:t>
              </a:r>
              <a:endParaRPr lang="en-US" altLang="en-US">
                <a:solidFill>
                  <a:schemeClr val="hlink"/>
                </a:solidFill>
                <a:latin typeface="Arial Unicode MS" pitchFamily="34" charset="-128"/>
              </a:endParaRPr>
            </a:p>
          </p:txBody>
        </p:sp>
      </p:grpSp>
      <p:grpSp>
        <p:nvGrpSpPr>
          <p:cNvPr id="58389" name="Group 21"/>
          <p:cNvGrpSpPr>
            <a:grpSpLocks/>
          </p:cNvGrpSpPr>
          <p:nvPr/>
        </p:nvGrpSpPr>
        <p:grpSpPr bwMode="auto">
          <a:xfrm>
            <a:off x="5064125" y="1371600"/>
            <a:ext cx="2057400" cy="1752600"/>
            <a:chOff x="1968" y="864"/>
            <a:chExt cx="1296" cy="1104"/>
          </a:xfrm>
        </p:grpSpPr>
        <p:cxnSp>
          <p:nvCxnSpPr>
            <p:cNvPr id="7176" name="AutoShape 14"/>
            <p:cNvCxnSpPr>
              <a:cxnSpLocks noChangeShapeType="1"/>
              <a:endCxn id="7178" idx="0"/>
            </p:cNvCxnSpPr>
            <p:nvPr/>
          </p:nvCxnSpPr>
          <p:spPr bwMode="auto">
            <a:xfrm>
              <a:off x="2616" y="864"/>
              <a:ext cx="0" cy="432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177" name="Group 18"/>
            <p:cNvGrpSpPr>
              <a:grpSpLocks/>
            </p:cNvGrpSpPr>
            <p:nvPr/>
          </p:nvGrpSpPr>
          <p:grpSpPr bwMode="auto">
            <a:xfrm>
              <a:off x="1968" y="1296"/>
              <a:ext cx="1296" cy="672"/>
              <a:chOff x="1968" y="1296"/>
              <a:chExt cx="1296" cy="672"/>
            </a:xfrm>
          </p:grpSpPr>
          <p:sp>
            <p:nvSpPr>
              <p:cNvPr id="7178" name="AutoShape 12"/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1296" cy="672"/>
              </a:xfrm>
              <a:prstGeom prst="diamond">
                <a:avLst/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7179" name="Text Box 13"/>
              <p:cNvSpPr txBox="1">
                <a:spLocks noChangeArrowheads="1"/>
              </p:cNvSpPr>
              <p:nvPr/>
            </p:nvSpPr>
            <p:spPr bwMode="auto">
              <a:xfrm>
                <a:off x="2217" y="1430"/>
                <a:ext cx="799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b="1">
                    <a:latin typeface="Arial Unicode MS" pitchFamily="34" charset="-128"/>
                  </a:rPr>
                  <a:t>condition</a:t>
                </a:r>
              </a:p>
              <a:p>
                <a:pPr algn="ctr" eaLnBrk="1" hangingPunct="1"/>
                <a:r>
                  <a:rPr lang="en-US" altLang="en-US" b="1">
                    <a:latin typeface="Arial Unicode MS" pitchFamily="34" charset="-128"/>
                  </a:rPr>
                  <a:t>evaluated</a:t>
                </a:r>
                <a:endParaRPr lang="en-US" altLang="en-US">
                  <a:latin typeface="Arial Unicode MS" pitchFamily="34" charset="-128"/>
                </a:endParaRP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While loop example</a:t>
            </a:r>
          </a:p>
        </p:txBody>
      </p:sp>
      <p:sp>
        <p:nvSpPr>
          <p:cNvPr id="921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D0949031-F880-41D9-B401-92DC8C237614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22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26" t="21097" r="29375" b="45554"/>
          <a:stretch>
            <a:fillRect/>
          </a:stretch>
        </p:blipFill>
        <p:spPr bwMode="auto">
          <a:xfrm>
            <a:off x="2905125" y="1831975"/>
            <a:ext cx="5705475" cy="389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TextBox 6"/>
          <p:cNvSpPr txBox="1">
            <a:spLocks noChangeArrowheads="1"/>
          </p:cNvSpPr>
          <p:nvPr/>
        </p:nvSpPr>
        <p:spPr bwMode="auto">
          <a:xfrm>
            <a:off x="2905125" y="5568950"/>
            <a:ext cx="60928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sz="1600" b="1">
                <a:solidFill>
                  <a:srgbClr val="00AFF0"/>
                </a:solidFill>
                <a:latin typeface="LucidaSansTypewriterStd-Bd"/>
              </a:rPr>
              <a:t>while </a:t>
            </a:r>
            <a:r>
              <a:rPr lang="en-US">
                <a:solidFill>
                  <a:srgbClr val="000000"/>
                </a:solidFill>
                <a:latin typeface="TimesLTStd-Roman"/>
              </a:rPr>
              <a:t>loop repeatedly executes the statements in the loop body when the </a:t>
            </a:r>
            <a:r>
              <a:rPr lang="en-US" sz="1600" b="1">
                <a:solidFill>
                  <a:srgbClr val="00AFF0"/>
                </a:solidFill>
                <a:latin typeface="LucidaSansTypewriterStd-Bd"/>
              </a:rPr>
              <a:t>loop-continuation-condition </a:t>
            </a:r>
            <a:r>
              <a:rPr lang="en-US">
                <a:solidFill>
                  <a:srgbClr val="000000"/>
                </a:solidFill>
                <a:latin typeface="TimesLTStd-Roman"/>
              </a:rPr>
              <a:t>evaluates to </a:t>
            </a:r>
            <a:r>
              <a:rPr lang="en-US" sz="1600" b="1">
                <a:solidFill>
                  <a:srgbClr val="00AFF0"/>
                </a:solidFill>
                <a:latin typeface="LucidaSansTypewriterStd-Bd"/>
              </a:rPr>
              <a:t>true</a:t>
            </a:r>
            <a:r>
              <a:rPr lang="en-US">
                <a:solidFill>
                  <a:srgbClr val="000000"/>
                </a:solidFill>
                <a:latin typeface="TimesLTStd-Roman"/>
              </a:rPr>
              <a:t>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while Statement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447800"/>
            <a:ext cx="10287000" cy="5105400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en-US"/>
              <a:t>An example of a while statement:</a:t>
            </a:r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r>
              <a:rPr lang="en-US" altLang="en-US"/>
              <a:t>If the condition of a </a:t>
            </a:r>
            <a:r>
              <a:rPr lang="en-US" altLang="en-US">
                <a:latin typeface="Courier New" pitchFamily="49" charset="0"/>
              </a:rPr>
              <a:t>while</a:t>
            </a:r>
            <a:r>
              <a:rPr lang="en-US" altLang="en-US"/>
              <a:t> loop is false initially, the statement is never executed</a:t>
            </a:r>
          </a:p>
          <a:p>
            <a:pPr>
              <a:spcBef>
                <a:spcPct val="25000"/>
              </a:spcBef>
            </a:pPr>
            <a:r>
              <a:rPr lang="en-US" altLang="en-US"/>
              <a:t>Therefore, the body of a </a:t>
            </a:r>
            <a:r>
              <a:rPr lang="en-US" altLang="en-US">
                <a:latin typeface="Courier New" pitchFamily="49" charset="0"/>
              </a:rPr>
              <a:t>while</a:t>
            </a:r>
            <a:r>
              <a:rPr lang="en-US" altLang="en-US"/>
              <a:t> loop will execute zero or more times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6AD60D21-B49A-42B7-8CEB-CF1DC07BB1CD}" type="slidenum">
              <a:rPr lang="en-US" altLang="en-US" sz="1400">
                <a:latin typeface="Arial" pitchFamily="34" charset="0"/>
              </a:rPr>
              <a:pPr/>
              <a:t>7</a:t>
            </a:fld>
            <a:endParaRPr lang="en-US" altLang="en-US" sz="1400">
              <a:latin typeface="Arial" pitchFamily="34" charset="0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905000" y="1905000"/>
            <a:ext cx="67056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Courier New" pitchFamily="49" charset="0"/>
              </a:rPr>
              <a:t>int count = 0;</a:t>
            </a:r>
          </a:p>
          <a:p>
            <a:pPr eaLnBrk="1" hangingPunct="1"/>
            <a:r>
              <a:rPr lang="en-US" altLang="en-US" sz="2000" b="1">
                <a:solidFill>
                  <a:srgbClr val="0000FF"/>
                </a:solidFill>
                <a:latin typeface="Courier New" pitchFamily="49" charset="0"/>
              </a:rPr>
              <a:t>while</a:t>
            </a:r>
            <a:r>
              <a:rPr lang="en-US" altLang="en-US" sz="2000" b="1">
                <a:latin typeface="Courier New" pitchFamily="49" charset="0"/>
              </a:rPr>
              <a:t> (count &lt; 2)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   System.out.println(</a:t>
            </a:r>
            <a:r>
              <a:rPr lang="en-US" altLang="en-US" sz="2000">
                <a:latin typeface="Arial" pitchFamily="34" charset="0"/>
                <a:cs typeface="Courier New" pitchFamily="49" charset="0"/>
              </a:rPr>
              <a:t>"</a:t>
            </a:r>
            <a:r>
              <a:rPr lang="en-US" altLang="en-US" sz="2000" b="1">
                <a:latin typeface="Courier New" pitchFamily="49" charset="0"/>
              </a:rPr>
              <a:t>Welcome to Java!</a:t>
            </a:r>
            <a:r>
              <a:rPr lang="en-US" altLang="en-US" sz="2000">
                <a:latin typeface="Arial" pitchFamily="34" charset="0"/>
                <a:cs typeface="Courier New" pitchFamily="49" charset="0"/>
              </a:rPr>
              <a:t>"</a:t>
            </a:r>
            <a:r>
              <a:rPr lang="en-US" altLang="en-US" sz="2000" b="1">
                <a:latin typeface="Courier New" pitchFamily="49" charset="0"/>
              </a:rPr>
              <a:t>);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   count++;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}</a:t>
            </a:r>
            <a:endParaRPr lang="en-US" altLang="en-US" sz="20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Design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287000" cy="4892675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rgbClr val="000000"/>
                </a:solidFill>
              </a:rPr>
              <a:t>Writing a correct loop is not an easy task for novice programmers. Consider three steps when writing a loop.</a:t>
            </a:r>
            <a:endParaRPr lang="en-US" sz="1800" dirty="0">
              <a:solidFill>
                <a:srgbClr val="000000"/>
              </a:solidFill>
            </a:endParaRP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</a:rPr>
              <a:t>	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</a:rPr>
              <a:t>     Step 1: Identify the statements that need to be repeated.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</a:rPr>
              <a:t>     Step 2: Wrap these statements in a loop like this: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5B80"/>
                </a:solidFill>
                <a:latin typeface="LucidaSansTypewriterStd-Bd"/>
              </a:rPr>
              <a:t>	      </a:t>
            </a:r>
            <a:r>
              <a:rPr lang="en-US" sz="2200" b="1" dirty="0">
                <a:solidFill>
                  <a:srgbClr val="005B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solidFill>
                  <a:srgbClr val="005B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 Statements;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  <a:r>
              <a:rPr lang="en-US" sz="2200" dirty="0">
                <a:solidFill>
                  <a:srgbClr val="000000"/>
                </a:solidFill>
                <a:latin typeface="LucidaSansTypewriterStd"/>
              </a:rPr>
              <a:t>	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TimesLTStd-Roman"/>
              </a:rPr>
              <a:t>     </a:t>
            </a:r>
            <a:r>
              <a:rPr lang="en-US" sz="2200" dirty="0">
                <a:solidFill>
                  <a:srgbClr val="000000"/>
                </a:solidFill>
              </a:rPr>
              <a:t>Step 3: Code the loop-continuation-condition and add appropriate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</a:rPr>
              <a:t>                 statements for controlling the loop.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5B80"/>
                </a:solidFill>
                <a:latin typeface="LucidaSansTypewriterStd-Bd"/>
              </a:rPr>
              <a:t>	      </a:t>
            </a:r>
            <a:r>
              <a:rPr lang="en-US" sz="2200" b="1" dirty="0">
                <a:solidFill>
                  <a:srgbClr val="005B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(loop-continuation-condition) 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5B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Statements;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Additional statements for controlling the loop;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</a:p>
        </p:txBody>
      </p:sp>
      <p:sp>
        <p:nvSpPr>
          <p:cNvPr id="20484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993783E4-FA4E-47D7-A4AA-98C9D54ABD1F}" type="slidenum">
              <a:rPr lang="en-US" altLang="en-US" sz="1200">
                <a:latin typeface="Arial" pitchFamily="34" charset="0"/>
              </a:rPr>
              <a:pPr/>
              <a:t>8</a:t>
            </a:fld>
            <a:endParaRPr lang="en-US" altLang="en-US" sz="120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Exercise</a:t>
            </a:r>
          </a:p>
        </p:txBody>
      </p:sp>
      <p:sp>
        <p:nvSpPr>
          <p:cNvPr id="2150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itchFamily="34" charset="0"/>
              <a:buNone/>
            </a:pPr>
            <a:r>
              <a:rPr lang="en-US" altLang="en-US"/>
              <a:t>Write a program that calculates the average of the numbers from 1 to 10.</a:t>
            </a:r>
          </a:p>
        </p:txBody>
      </p:sp>
      <p:sp>
        <p:nvSpPr>
          <p:cNvPr id="21508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2D3B26AF-BBE6-4CE5-A863-F30238B723FB}" type="slidenum">
              <a:rPr lang="en-US" altLang="en-US" sz="1200">
                <a:latin typeface="Arial" pitchFamily="34" charset="0"/>
              </a:rPr>
              <a:pPr/>
              <a:t>9</a:t>
            </a:fld>
            <a:endParaRPr lang="en-US" altLang="en-US" sz="120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7463"/>
            <a:ext cx="8229600" cy="1143000"/>
          </a:xfrm>
          <a:noFill/>
        </p:spPr>
        <p:txBody>
          <a:bodyPr lIns="92075" tIns="46038" rIns="92075" bIns="46038"/>
          <a:lstStyle/>
          <a:p>
            <a:r>
              <a:rPr lang="en-US" altLang="en-US" sz="4000"/>
              <a:t>Example (Average.java)</a:t>
            </a: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8C18380D-5FBD-4AF1-8390-E966722603DC}" type="slidenum">
              <a:rPr lang="en-US" altLang="en-US" sz="1400">
                <a:latin typeface="Arial" pitchFamily="34" charset="0"/>
              </a:rPr>
              <a:pPr/>
              <a:t>10</a:t>
            </a:fld>
            <a:endParaRPr lang="en-US" altLang="en-US" sz="1400">
              <a:latin typeface="Arial" pitchFamily="34" charset="0"/>
            </a:endParaRPr>
          </a:p>
        </p:txBody>
      </p:sp>
      <p:pic>
        <p:nvPicPr>
          <p:cNvPr id="2253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033463"/>
            <a:ext cx="6956425" cy="5330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Guessing Numbers</a:t>
            </a:r>
          </a:p>
        </p:txBody>
      </p:sp>
      <p:sp>
        <p:nvSpPr>
          <p:cNvPr id="2355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Sample run of the program: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741AE418-E0E1-459D-B96D-EE6A9FCDFA39}" type="slidenum">
              <a:rPr lang="en-US" altLang="en-US">
                <a:solidFill>
                  <a:srgbClr val="898989"/>
                </a:solidFill>
              </a:rPr>
              <a:pPr/>
              <a:t>11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5" t="54446" r="30624" b="18874"/>
          <a:stretch>
            <a:fillRect/>
          </a:stretch>
        </p:blipFill>
        <p:spPr bwMode="auto">
          <a:xfrm>
            <a:off x="1219200" y="2362200"/>
            <a:ext cx="97155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Content Placeholder 2"/>
          <p:cNvSpPr txBox="1">
            <a:spLocks/>
          </p:cNvSpPr>
          <p:nvPr/>
        </p:nvSpPr>
        <p:spPr bwMode="auto">
          <a:xfrm>
            <a:off x="7334250" y="3435350"/>
            <a:ext cx="3810000" cy="2362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228600" indent="-228600" defTabSz="914400" eaLnBrk="1" hangingPunct="1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</a:pPr>
            <a:r>
              <a:rPr lang="en-US" sz="2000"/>
              <a:t>Think before coding</a:t>
            </a:r>
          </a:p>
          <a:p>
            <a:pPr marL="228600" indent="-228600" defTabSz="914400" eaLnBrk="1" hangingPunct="1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</a:pPr>
            <a:r>
              <a:rPr lang="en-US" sz="2000"/>
              <a:t>Code incrementally</a:t>
            </a:r>
          </a:p>
          <a:p>
            <a:pPr marL="685800" lvl="1" indent="-228600" defTabSz="914400" eaLnBrk="1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800">
                <a:latin typeface="TimesLTStd-Roman"/>
              </a:rPr>
              <a:t>first write the code for executing the loop one time</a:t>
            </a:r>
          </a:p>
          <a:p>
            <a:pPr marL="685800" lvl="1" indent="-228600" defTabSz="914400" eaLnBrk="1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pPr>
            <a:r>
              <a:rPr lang="en-US" sz="1800">
                <a:latin typeface="TimesLTStd-Roman"/>
              </a:rPr>
              <a:t>then figure out how to repeatedly execute the code in a loop</a:t>
            </a:r>
            <a:endParaRPr lang="en-US"/>
          </a:p>
          <a:p>
            <a:pPr marL="685800" lvl="1" indent="-228600" defTabSz="914400" eaLnBrk="1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for single iteration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33EC5FBE-CB24-41D7-98F5-BD9B64299DED}" type="slidenum">
              <a:rPr lang="en-US" altLang="en-US">
                <a:solidFill>
                  <a:srgbClr val="898989"/>
                </a:solidFill>
              </a:rPr>
              <a:pPr/>
              <a:t>12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6800" y="2039937"/>
            <a:ext cx="10744200" cy="3967163"/>
          </a:xfrm>
          <a:prstGeom prst="rect">
            <a:avLst/>
          </a:prstGeom>
          <a:noFill/>
        </p:spPr>
        <p:txBody>
          <a:bodyPr numCol="2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>
                <a:solidFill>
                  <a:srgbClr val="000000"/>
                </a:solidFill>
                <a:latin typeface="LucidaSansTypewriterStd"/>
              </a:rPr>
              <a:t>1 </a:t>
            </a:r>
            <a:r>
              <a:rPr lang="fr-FR" b="1" dirty="0">
                <a:solidFill>
                  <a:srgbClr val="005B80"/>
                </a:solidFill>
                <a:latin typeface="LucidaSansTypewriterStd-Bd"/>
              </a:rPr>
              <a:t>import </a:t>
            </a:r>
            <a:r>
              <a:rPr lang="fr-FR" dirty="0" err="1">
                <a:solidFill>
                  <a:srgbClr val="000000"/>
                </a:solidFill>
                <a:latin typeface="LucidaSansTypewriterStd"/>
              </a:rPr>
              <a:t>java.util.Scanner</a:t>
            </a:r>
            <a:r>
              <a:rPr lang="fr-FR" dirty="0">
                <a:solidFill>
                  <a:srgbClr val="000000"/>
                </a:solidFill>
                <a:latin typeface="LucidaSansTypewriterStd"/>
              </a:rPr>
              <a:t>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3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public class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GuessNumberOneTime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4  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public static void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main(String[]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args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5     // Generate a random number to be guessed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6  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int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number = (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int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)(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Math.random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() * 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101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8     Scanner input =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new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Scanner(System.in);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9    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"Guess a magic number  between 0 and 100"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11   // Prompt the user to guess the number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12  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System.out.print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"\</a:t>
            </a:r>
            <a:r>
              <a:rPr lang="en-US" b="1" dirty="0" err="1">
                <a:solidFill>
                  <a:srgbClr val="00AFF0"/>
                </a:solidFill>
                <a:latin typeface="LucidaSansTypewriterStd-Bd"/>
              </a:rPr>
              <a:t>nEnter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 your guess: "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13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int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guess =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input.nextInt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15  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if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(guess == number)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16          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"Yes, the number is "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+ number);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17  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else if 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(guess &gt; number)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18          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"Your guess is too high"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19     </a:t>
            </a:r>
            <a:r>
              <a:rPr lang="en-US" b="1" dirty="0">
                <a:solidFill>
                  <a:srgbClr val="005B80"/>
                </a:solidFill>
                <a:latin typeface="LucidaSansTypewriterStd-Bd"/>
              </a:rPr>
              <a:t>else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20           </a:t>
            </a:r>
            <a:r>
              <a:rPr lang="en-US" dirty="0" err="1">
                <a:solidFill>
                  <a:srgbClr val="000000"/>
                </a:solidFill>
                <a:latin typeface="LucidaSansTypewriterStd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(</a:t>
            </a:r>
            <a:r>
              <a:rPr lang="en-US" b="1" dirty="0">
                <a:solidFill>
                  <a:srgbClr val="00AFF0"/>
                </a:solidFill>
                <a:latin typeface="LucidaSansTypewriterStd-Bd"/>
              </a:rPr>
              <a:t>"Your guess is too low"</a:t>
            </a:r>
            <a:r>
              <a:rPr lang="en-US" dirty="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21     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LucidaSansTypewriterStd"/>
              </a:rPr>
              <a:t>22 }</a:t>
            </a:r>
            <a:endParaRPr lang="en-US" dirty="0">
              <a:latin typeface="+mn-lt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705600" y="5410200"/>
            <a:ext cx="4495800" cy="9461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dirty="0"/>
              <a:t>Now, wrap it up in a loop and look for an appropriate condition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code</a:t>
            </a:r>
          </a:p>
        </p:txBody>
      </p:sp>
      <p:sp>
        <p:nvSpPr>
          <p:cNvPr id="256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5829300" y="1762125"/>
            <a:ext cx="5638800" cy="4351338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15 	guess = input.nextInt();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16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17	</a:t>
            </a:r>
            <a:r>
              <a:rPr lang="en-US" sz="1800" b="1">
                <a:solidFill>
                  <a:srgbClr val="005B80"/>
                </a:solidFill>
                <a:latin typeface="LucidaSansTypewriterStd-Bd"/>
              </a:rPr>
              <a:t>if </a:t>
            </a:r>
            <a:r>
              <a:rPr lang="en-US" sz="1800">
                <a:solidFill>
                  <a:srgbClr val="000000"/>
                </a:solidFill>
                <a:latin typeface="LucidaSansTypewriterStd"/>
              </a:rPr>
              <a:t>(guess == number)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18 	       System.out.println(</a:t>
            </a:r>
            <a:r>
              <a:rPr lang="en-US" sz="1800" b="1">
                <a:solidFill>
                  <a:srgbClr val="00AFF0"/>
                </a:solidFill>
                <a:latin typeface="LucidaSansTypewriterStd-Bd"/>
              </a:rPr>
              <a:t>"Yes, the number is " </a:t>
            </a:r>
            <a:r>
              <a:rPr lang="en-US" sz="1800">
                <a:solidFill>
                  <a:srgbClr val="000000"/>
                </a:solidFill>
                <a:latin typeface="LucidaSansTypewriterStd"/>
              </a:rPr>
              <a:t>+ number);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19	 </a:t>
            </a:r>
            <a:r>
              <a:rPr lang="en-US" sz="1800" b="1">
                <a:solidFill>
                  <a:srgbClr val="005B80"/>
                </a:solidFill>
                <a:latin typeface="LucidaSansTypewriterStd-Bd"/>
              </a:rPr>
              <a:t>else if </a:t>
            </a:r>
            <a:r>
              <a:rPr lang="en-US" sz="1800">
                <a:solidFill>
                  <a:srgbClr val="000000"/>
                </a:solidFill>
                <a:latin typeface="LucidaSansTypewriterStd"/>
              </a:rPr>
              <a:t>(guess &gt; number)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20 	        System.out.println(</a:t>
            </a:r>
            <a:r>
              <a:rPr lang="en-US" sz="1800" b="1">
                <a:solidFill>
                  <a:srgbClr val="00AFF0"/>
                </a:solidFill>
                <a:latin typeface="LucidaSansTypewriterStd-Bd"/>
              </a:rPr>
              <a:t>"Your guess is too high"</a:t>
            </a:r>
            <a:r>
              <a:rPr lang="en-US" sz="180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21 	 </a:t>
            </a:r>
            <a:r>
              <a:rPr lang="en-US" sz="1800" b="1">
                <a:solidFill>
                  <a:srgbClr val="005B80"/>
                </a:solidFill>
                <a:latin typeface="LucidaSansTypewriterStd-Bd"/>
              </a:rPr>
              <a:t>else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22 	       System.out.println(</a:t>
            </a:r>
            <a:r>
              <a:rPr lang="en-US" sz="1800" b="1">
                <a:solidFill>
                  <a:srgbClr val="00AFF0"/>
                </a:solidFill>
                <a:latin typeface="LucidaSansTypewriterStd-Bd"/>
              </a:rPr>
              <a:t>"Your guess is too low"</a:t>
            </a:r>
            <a:r>
              <a:rPr lang="en-US" sz="1800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23          } // End of loop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24      }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n-US" sz="1800">
                <a:solidFill>
                  <a:srgbClr val="000000"/>
                </a:solidFill>
                <a:latin typeface="LucidaSansTypewriterStd"/>
              </a:rPr>
              <a:t>25 }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B27ABFAF-4D99-4C7E-93AA-82F7E99D47DD}" type="slidenum">
              <a:rPr lang="en-US" altLang="en-US">
                <a:solidFill>
                  <a:srgbClr val="898989"/>
                </a:solidFill>
              </a:rPr>
              <a:pPr/>
              <a:t>13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5605" name="TextBox 5"/>
          <p:cNvSpPr txBox="1">
            <a:spLocks noChangeArrowheads="1"/>
          </p:cNvSpPr>
          <p:nvPr/>
        </p:nvSpPr>
        <p:spPr bwMode="auto">
          <a:xfrm>
            <a:off x="823913" y="1690688"/>
            <a:ext cx="5119687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fr-FR">
                <a:solidFill>
                  <a:srgbClr val="000000"/>
                </a:solidFill>
                <a:latin typeface="LucidaSansTypewriterStd"/>
              </a:rPr>
              <a:t>1 </a:t>
            </a:r>
            <a:r>
              <a:rPr lang="fr-FR" b="1">
                <a:solidFill>
                  <a:srgbClr val="005B80"/>
                </a:solidFill>
                <a:latin typeface="LucidaSansTypewriterStd-Bd"/>
              </a:rPr>
              <a:t>import </a:t>
            </a:r>
            <a:r>
              <a:rPr lang="fr-FR">
                <a:solidFill>
                  <a:srgbClr val="000000"/>
                </a:solidFill>
                <a:latin typeface="LucidaSansTypewriterStd"/>
              </a:rPr>
              <a:t>java.util.Scanner;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2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3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public class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GuessNumber {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4    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public static void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main(String[] args) {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5     // Generate a random number to be guessed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6    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int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number = (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int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)(Math.random() * </a:t>
            </a:r>
            <a:r>
              <a:rPr lang="en-US" b="1">
                <a:solidFill>
                  <a:srgbClr val="00AFF0"/>
                </a:solidFill>
                <a:latin typeface="LucidaSansTypewriterStd-Bd"/>
              </a:rPr>
              <a:t>101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7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8     Scanner input =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new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Scanner(System.in);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9     System.out.println(</a:t>
            </a:r>
            <a:r>
              <a:rPr lang="en-US" b="1">
                <a:solidFill>
                  <a:srgbClr val="00AFF0"/>
                </a:solidFill>
                <a:latin typeface="LucidaSansTypewriterStd-Bd"/>
              </a:rPr>
              <a:t>"Guess a magic number between 0 and 100"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);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10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11    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int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guess = </a:t>
            </a:r>
            <a:r>
              <a:rPr lang="en-US" b="1">
                <a:solidFill>
                  <a:srgbClr val="00AFF0"/>
                </a:solidFill>
                <a:latin typeface="LucidaSansTypewriterStd-Bd"/>
              </a:rPr>
              <a:t>-1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;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12     </a:t>
            </a:r>
            <a:r>
              <a:rPr lang="en-US" b="1">
                <a:solidFill>
                  <a:srgbClr val="005B80"/>
                </a:solidFill>
                <a:latin typeface="LucidaSansTypewriterStd-Bd"/>
              </a:rPr>
              <a:t>while 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(guess != number) {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13          // Prompt the user to guess the number</a:t>
            </a:r>
          </a:p>
          <a:p>
            <a:pPr eaLnBrk="1" hangingPunct="1"/>
            <a:r>
              <a:rPr lang="en-US">
                <a:solidFill>
                  <a:srgbClr val="000000"/>
                </a:solidFill>
                <a:latin typeface="LucidaSansTypewriterStd"/>
              </a:rPr>
              <a:t>14          System.out.print(</a:t>
            </a:r>
            <a:r>
              <a:rPr lang="en-US" b="1">
                <a:solidFill>
                  <a:srgbClr val="00AFF0"/>
                </a:solidFill>
                <a:latin typeface="LucidaSansTypewriterStd-Bd"/>
              </a:rPr>
              <a:t>"\nEnter your guess: "</a:t>
            </a:r>
            <a:r>
              <a:rPr lang="en-US">
                <a:solidFill>
                  <a:srgbClr val="000000"/>
                </a:solidFill>
                <a:latin typeface="LucidaSansTypewriterStd"/>
              </a:rPr>
              <a:t>);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en-US"/>
              <a:t>Infinite Loops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>
              <a:spcBef>
                <a:spcPct val="25000"/>
              </a:spcBef>
            </a:pPr>
            <a:r>
              <a:rPr lang="en-US" altLang="en-US" sz="2400" dirty="0"/>
              <a:t>Executing the statements in the body of a </a:t>
            </a:r>
            <a:r>
              <a:rPr lang="en-US" altLang="en-US" sz="2400" dirty="0">
                <a:latin typeface="Courier New" pitchFamily="49" charset="0"/>
              </a:rPr>
              <a:t>while</a:t>
            </a:r>
            <a:r>
              <a:rPr lang="en-US" altLang="en-US" sz="2400" dirty="0"/>
              <a:t> loop must eventually make the condition false</a:t>
            </a:r>
          </a:p>
          <a:p>
            <a:pPr>
              <a:spcBef>
                <a:spcPct val="25000"/>
              </a:spcBef>
            </a:pPr>
            <a:r>
              <a:rPr lang="en-US" altLang="en-US" sz="2400" dirty="0"/>
              <a:t>If not, it is called an </a:t>
            </a:r>
            <a:r>
              <a:rPr lang="en-US" altLang="en-US" sz="2400" i="1" dirty="0"/>
              <a:t>infinite loop</a:t>
            </a:r>
            <a:r>
              <a:rPr lang="en-US" altLang="en-US" sz="2400" dirty="0"/>
              <a:t>, which will execute until the user interrupts the program</a:t>
            </a:r>
          </a:p>
          <a:p>
            <a:pPr>
              <a:spcBef>
                <a:spcPct val="25000"/>
              </a:spcBef>
            </a:pPr>
            <a:endParaRPr lang="en-US" altLang="en-US" sz="2400" dirty="0"/>
          </a:p>
          <a:p>
            <a:pPr>
              <a:spcBef>
                <a:spcPct val="250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This is a common logical error</a:t>
            </a:r>
          </a:p>
          <a:p>
            <a:pPr>
              <a:spcBef>
                <a:spcPct val="25000"/>
              </a:spcBef>
            </a:pPr>
            <a:r>
              <a:rPr lang="en-US" altLang="en-US" sz="2400" dirty="0"/>
              <a:t>You should always double check the logic of a program to ensure that your loops will terminate</a:t>
            </a:r>
          </a:p>
          <a:p>
            <a:pPr>
              <a:spcBef>
                <a:spcPct val="25000"/>
              </a:spcBef>
            </a:pPr>
            <a:r>
              <a:rPr lang="en-US" altLang="en-US" sz="2400" dirty="0"/>
              <a:t>Also, check if the loop runs the exact number of times it was intended to (off-by-one errors)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BD1F3C3E-289C-4556-8830-F78F79ED726B}" type="slidenum">
              <a:rPr lang="en-US" altLang="en-US" sz="1400">
                <a:latin typeface="Arial" pitchFamily="34" charset="0"/>
              </a:rPr>
              <a:pPr/>
              <a:t>14</a:t>
            </a:fld>
            <a:endParaRPr lang="en-US" altLang="en-US" sz="1400">
              <a:latin typeface="Arial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Infinite Loops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10363200" cy="4724400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en-US"/>
              <a:t>An example of an infinite loop:</a:t>
            </a:r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endParaRPr lang="en-US" altLang="en-US"/>
          </a:p>
          <a:p>
            <a:pPr>
              <a:spcBef>
                <a:spcPct val="25000"/>
              </a:spcBef>
            </a:pPr>
            <a:r>
              <a:rPr lang="en-US" altLang="en-US"/>
              <a:t>This loop will continue executing until the user externally interrupts the program.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0C394A86-34F8-4182-A47F-EFE474B1C68B}" type="slidenum">
              <a:rPr lang="en-US" altLang="en-US" sz="1400">
                <a:latin typeface="Arial" pitchFamily="34" charset="0"/>
              </a:rPr>
              <a:pPr/>
              <a:t>15</a:t>
            </a:fld>
            <a:endParaRPr lang="en-US" altLang="en-US" sz="1400">
              <a:latin typeface="Arial" pitchFamily="34" charset="0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438400" y="2252663"/>
            <a:ext cx="4800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Courier New" pitchFamily="49" charset="0"/>
              </a:rPr>
              <a:t>int count = 1;</a:t>
            </a:r>
          </a:p>
          <a:p>
            <a:pPr eaLnBrk="1" hangingPunct="1"/>
            <a:r>
              <a:rPr lang="en-US" altLang="en-US" sz="2000" b="1">
                <a:solidFill>
                  <a:srgbClr val="0000FF"/>
                </a:solidFill>
                <a:latin typeface="Courier New" pitchFamily="49" charset="0"/>
              </a:rPr>
              <a:t>while </a:t>
            </a:r>
            <a:r>
              <a:rPr lang="en-US" altLang="en-US" sz="2000" b="1">
                <a:latin typeface="Courier New" pitchFamily="49" charset="0"/>
              </a:rPr>
              <a:t>(count &lt;= 25)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   System.out.println(count);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   count = count - 1;</a:t>
            </a:r>
          </a:p>
          <a:p>
            <a:pPr eaLnBrk="1" hangingPunct="1"/>
            <a:r>
              <a:rPr lang="en-US" altLang="en-US" sz="2000" b="1">
                <a:latin typeface="Courier New" pitchFamily="49" charset="0"/>
              </a:rPr>
              <a:t>}</a:t>
            </a:r>
            <a:endParaRPr lang="en-US" altLang="en-US" sz="20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Exercise</a:t>
            </a:r>
          </a:p>
        </p:txBody>
      </p:sp>
      <p:sp>
        <p:nvSpPr>
          <p:cNvPr id="2867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itchFamily="34" charset="0"/>
              <a:buNone/>
            </a:pPr>
            <a:r>
              <a:rPr lang="en-US" altLang="en-US" sz="2400"/>
              <a:t>How many times are the following loop bodies repeated? What is the output of each loop?</a:t>
            </a:r>
            <a:endParaRPr lang="en-US" altLang="en-US" sz="4000"/>
          </a:p>
        </p:txBody>
      </p:sp>
      <p:sp>
        <p:nvSpPr>
          <p:cNvPr id="28676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defTabSz="45720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defTabSz="4572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defTabSz="4572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defTabSz="457200" fontAlgn="base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C9459915-6AE8-4FA4-9900-0FCFB3ED0275}" type="slidenum">
              <a:rPr lang="en-US" altLang="en-US" sz="1200">
                <a:latin typeface="Arial" pitchFamily="34" charset="0"/>
              </a:rPr>
              <a:pPr/>
              <a:t>16</a:t>
            </a:fld>
            <a:endParaRPr lang="en-US" altLang="en-US" sz="1200">
              <a:latin typeface="Arial" pitchFamily="34" charset="0"/>
            </a:endParaRPr>
          </a:p>
        </p:txBody>
      </p:sp>
      <p:pic>
        <p:nvPicPr>
          <p:cNvPr id="2867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7" t="38142" r="39166" b="45554"/>
          <a:stretch>
            <a:fillRect/>
          </a:stretch>
        </p:blipFill>
        <p:spPr bwMode="auto">
          <a:xfrm>
            <a:off x="2070100" y="2670175"/>
            <a:ext cx="7912100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7" t="38142" r="20000" b="45554"/>
          <a:stretch>
            <a:fillRect/>
          </a:stretch>
        </p:blipFill>
        <p:spPr bwMode="auto">
          <a:xfrm>
            <a:off x="4038600" y="4686300"/>
            <a:ext cx="4070350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Counter-Controlled </a:t>
            </a:r>
            <a:r>
              <a:rPr lang="en-US" dirty="0">
                <a:solidFill>
                  <a:schemeClr val="accent1"/>
                </a:solidFill>
                <a:latin typeface="Courier" pitchFamily="49" charset="0"/>
              </a:rPr>
              <a:t>while</a:t>
            </a:r>
            <a:r>
              <a:rPr lang="en-US" dirty="0"/>
              <a:t>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r>
              <a:rPr lang="en-US" dirty="0"/>
              <a:t>If you know the number of iterations in advance</a:t>
            </a:r>
          </a:p>
          <a:p>
            <a:r>
              <a:rPr lang="en-US" dirty="0"/>
              <a:t>Suppose that a set of statements needs to be executed </a:t>
            </a:r>
            <a:r>
              <a:rPr lang="en-US" b="1" dirty="0"/>
              <a:t>N</a:t>
            </a:r>
            <a:r>
              <a:rPr lang="en-US" dirty="0"/>
              <a:t> times</a:t>
            </a:r>
          </a:p>
          <a:p>
            <a:r>
              <a:rPr lang="en-US" dirty="0"/>
              <a:t>Strategy</a:t>
            </a:r>
          </a:p>
          <a:p>
            <a:pPr lvl="1"/>
            <a:r>
              <a:rPr lang="en-US" dirty="0"/>
              <a:t>set up a counter and initialized to value (</a:t>
            </a:r>
            <a:r>
              <a:rPr lang="en-US" dirty="0" err="1"/>
              <a:t>e.g</a:t>
            </a:r>
            <a:r>
              <a:rPr lang="en-US" dirty="0"/>
              <a:t> zero) </a:t>
            </a:r>
            <a:r>
              <a:rPr lang="en-US" b="1" dirty="0" err="1">
                <a:solidFill>
                  <a:schemeClr val="accent1"/>
                </a:solidFill>
                <a:latin typeface="Courier" pitchFamily="49" charset="0"/>
              </a:rPr>
              <a:t>int</a:t>
            </a:r>
            <a:r>
              <a:rPr lang="en-US" b="1" dirty="0">
                <a:solidFill>
                  <a:schemeClr val="accent1"/>
                </a:solidFill>
                <a:latin typeface="Courier" pitchFamily="49" charset="0"/>
              </a:rPr>
              <a:t> counter = 0;</a:t>
            </a:r>
            <a:endParaRPr lang="en-US" b="1" dirty="0">
              <a:solidFill>
                <a:schemeClr val="accent1"/>
              </a:solidFill>
              <a:latin typeface="+mj-lt"/>
            </a:endParaRPr>
          </a:p>
          <a:p>
            <a:pPr lvl="1"/>
            <a:r>
              <a:rPr lang="en-US" dirty="0"/>
              <a:t> counter is compared with N  (</a:t>
            </a:r>
            <a:r>
              <a:rPr lang="en-US" b="1" dirty="0">
                <a:solidFill>
                  <a:schemeClr val="accent1"/>
                </a:solidFill>
                <a:latin typeface="Courier" pitchFamily="49" charset="0"/>
              </a:rPr>
              <a:t>counter &lt; 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Inside the body of the while statement, the value of </a:t>
            </a:r>
            <a:r>
              <a:rPr lang="en-US" b="1" dirty="0">
                <a:solidFill>
                  <a:schemeClr val="accent1"/>
                </a:solidFill>
                <a:latin typeface="Courier" pitchFamily="49" charset="0"/>
              </a:rPr>
              <a:t>counter</a:t>
            </a:r>
            <a:r>
              <a:rPr lang="en-US" dirty="0"/>
              <a:t> increments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17</a:t>
            </a:fld>
            <a:endParaRPr lang="en-US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227892"/>
            <a:ext cx="6643683" cy="26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9312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18691" y="152400"/>
            <a:ext cx="6858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/**</a:t>
            </a:r>
          </a:p>
          <a:p>
            <a:r>
              <a:rPr lang="en-US" dirty="0"/>
              <a:t> * Suppose the input is:  * 8 9 2 3 90 38 56 8 23 89 7 2</a:t>
            </a:r>
          </a:p>
          <a:p>
            <a:r>
              <a:rPr lang="en-US" dirty="0"/>
              <a:t> * Suppose you want to add these numbers and find their average.</a:t>
            </a:r>
          </a:p>
          <a:p>
            <a:r>
              <a:rPr lang="en-US" dirty="0"/>
              <a:t> * First number e.g. 12 specifies number of values in dataset</a:t>
            </a:r>
          </a:p>
          <a:p>
            <a:r>
              <a:rPr lang="en-US" dirty="0"/>
              <a:t> * */</a:t>
            </a:r>
          </a:p>
          <a:p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r>
              <a:rPr lang="en-US" dirty="0"/>
              <a:t>public class </a:t>
            </a:r>
            <a:r>
              <a:rPr lang="en-US" dirty="0" err="1"/>
              <a:t>CounterControl</a:t>
            </a:r>
            <a:r>
              <a:rPr lang="en-US" dirty="0"/>
              <a:t>{</a:t>
            </a:r>
          </a:p>
          <a:p>
            <a:r>
              <a:rPr lang="en-US" dirty="0"/>
              <a:t>	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</a:p>
          <a:p>
            <a:r>
              <a:rPr lang="en-US" dirty="0"/>
              <a:t>		Scanner input = new Scanner(System.in);</a:t>
            </a:r>
          </a:p>
          <a:p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 limit;</a:t>
            </a:r>
          </a:p>
          <a:p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 number;</a:t>
            </a:r>
          </a:p>
          <a:p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 sum;</a:t>
            </a:r>
          </a:p>
          <a:p>
            <a:r>
              <a:rPr lang="en-US" dirty="0"/>
              <a:t>		</a:t>
            </a:r>
            <a:r>
              <a:rPr lang="en-US" dirty="0" err="1"/>
              <a:t>int</a:t>
            </a:r>
            <a:r>
              <a:rPr lang="en-US" dirty="0"/>
              <a:t> counter;</a:t>
            </a:r>
          </a:p>
          <a:p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("Enter the data for"+</a:t>
            </a:r>
          </a:p>
          <a:p>
            <a:r>
              <a:rPr lang="en-US" dirty="0"/>
              <a:t>			" processing");</a:t>
            </a:r>
          </a:p>
          <a:p>
            <a:r>
              <a:rPr lang="en-US" dirty="0"/>
              <a:t>		limit =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r>
              <a:rPr lang="en-US" dirty="0"/>
              <a:t>		//initialize counter</a:t>
            </a:r>
          </a:p>
          <a:p>
            <a:r>
              <a:rPr lang="en-US" dirty="0"/>
              <a:t>		counter = 0;</a:t>
            </a:r>
          </a:p>
          <a:p>
            <a:r>
              <a:rPr lang="en-US" dirty="0"/>
              <a:t>		sum = 0;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887682"/>
            <a:ext cx="7162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while (counter &lt; limit){</a:t>
            </a:r>
          </a:p>
          <a:p>
            <a:r>
              <a:rPr lang="en-US" dirty="0"/>
              <a:t>			number = </a:t>
            </a:r>
            <a:r>
              <a:rPr lang="en-US" dirty="0" err="1"/>
              <a:t>input.nextInt</a:t>
            </a:r>
            <a:r>
              <a:rPr lang="en-US" dirty="0"/>
              <a:t>();</a:t>
            </a:r>
          </a:p>
          <a:p>
            <a:r>
              <a:rPr lang="en-US" dirty="0"/>
              <a:t>			sum += number;</a:t>
            </a:r>
          </a:p>
          <a:p>
            <a:r>
              <a:rPr lang="en-US" dirty="0"/>
              <a:t>			counter++;//increment counter</a:t>
            </a:r>
          </a:p>
          <a:p>
            <a:r>
              <a:rPr lang="en-US" dirty="0"/>
              <a:t>		}</a:t>
            </a:r>
          </a:p>
          <a:p>
            <a:endParaRPr lang="en-US" dirty="0"/>
          </a:p>
          <a:p>
            <a:r>
              <a:rPr lang="en-US" dirty="0"/>
              <a:t>		</a:t>
            </a:r>
            <a:r>
              <a:rPr lang="en-US" dirty="0" err="1"/>
              <a:t>System.out.printf</a:t>
            </a:r>
            <a:r>
              <a:rPr lang="en-US" dirty="0"/>
              <a:t>("Sum of %d numbers = %</a:t>
            </a:r>
            <a:r>
              <a:rPr lang="en-US" dirty="0" err="1"/>
              <a:t>d%n</a:t>
            </a:r>
            <a:r>
              <a:rPr lang="en-US" dirty="0"/>
              <a:t>",</a:t>
            </a:r>
            <a:r>
              <a:rPr lang="en-US" dirty="0" err="1"/>
              <a:t>limit,sum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		if(counter != 0)</a:t>
            </a:r>
          </a:p>
          <a:p>
            <a:r>
              <a:rPr lang="en-US" dirty="0"/>
              <a:t>			</a:t>
            </a:r>
            <a:r>
              <a:rPr lang="en-US" dirty="0" err="1"/>
              <a:t>System.out.printf</a:t>
            </a:r>
            <a:r>
              <a:rPr lang="en-US" dirty="0"/>
              <a:t>("The average = %</a:t>
            </a:r>
            <a:r>
              <a:rPr lang="en-US" dirty="0" err="1"/>
              <a:t>d%n</a:t>
            </a:r>
            <a:r>
              <a:rPr lang="en-US" dirty="0"/>
              <a:t>",(sum/counter));</a:t>
            </a:r>
          </a:p>
          <a:p>
            <a:r>
              <a:rPr lang="en-US" dirty="0"/>
              <a:t>		else</a:t>
            </a:r>
          </a:p>
          <a:p>
            <a:r>
              <a:rPr lang="en-US" dirty="0"/>
              <a:t>			</a:t>
            </a:r>
            <a:r>
              <a:rPr lang="en-US" dirty="0" err="1"/>
              <a:t>System.out.println</a:t>
            </a:r>
            <a:r>
              <a:rPr lang="en-US" dirty="0"/>
              <a:t>("No Input");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5513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Sentinel-Controlled </a:t>
            </a:r>
            <a:r>
              <a:rPr lang="en-US" b="1" dirty="0">
                <a:solidFill>
                  <a:schemeClr val="accent1"/>
                </a:solidFill>
                <a:latin typeface="Courier" pitchFamily="49" charset="0"/>
              </a:rPr>
              <a:t>while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515600" cy="4351338"/>
          </a:xfrm>
        </p:spPr>
        <p:txBody>
          <a:bodyPr/>
          <a:lstStyle/>
          <a:p>
            <a:r>
              <a:rPr lang="en-US" dirty="0"/>
              <a:t>A special value when reading and processing a set of values</a:t>
            </a:r>
          </a:p>
          <a:p>
            <a:pPr lvl="1"/>
            <a:r>
              <a:rPr lang="en-US" dirty="0"/>
              <a:t>Known as a </a:t>
            </a:r>
            <a:r>
              <a:rPr lang="en-US" b="1" i="1" dirty="0"/>
              <a:t>sentinel value</a:t>
            </a:r>
            <a:r>
              <a:rPr lang="en-US" dirty="0"/>
              <a:t>, signifies the end of the input</a:t>
            </a:r>
          </a:p>
          <a:p>
            <a:r>
              <a:rPr lang="en-US" dirty="0"/>
              <a:t>A loop that uses a sentinel value to control its execution is called a sentinel-controlled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19</a:t>
            </a:fld>
            <a:endParaRPr lang="en-US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657600"/>
            <a:ext cx="931545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3549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0" y="36131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import </a:t>
            </a:r>
            <a:r>
              <a:rPr lang="en-US" sz="2000" dirty="0" err="1"/>
              <a:t>java.util.Scanner</a:t>
            </a:r>
            <a:r>
              <a:rPr lang="en-US" sz="2000" dirty="0"/>
              <a:t>;</a:t>
            </a:r>
          </a:p>
          <a:p>
            <a:r>
              <a:rPr lang="en-US" sz="2000" dirty="0"/>
              <a:t>public class </a:t>
            </a:r>
            <a:r>
              <a:rPr lang="en-US" sz="2000" dirty="0" err="1"/>
              <a:t>Sentinal</a:t>
            </a:r>
            <a:r>
              <a:rPr lang="en-US" sz="2000" dirty="0"/>
              <a:t>{</a:t>
            </a:r>
          </a:p>
          <a:p>
            <a:r>
              <a:rPr lang="en-US" sz="2000" dirty="0"/>
              <a:t>	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){</a:t>
            </a:r>
          </a:p>
          <a:p>
            <a:r>
              <a:rPr lang="en-US" sz="2000" dirty="0"/>
              <a:t>		Scanner input = new Scanner(System.in);</a:t>
            </a:r>
          </a:p>
          <a:p>
            <a:endParaRPr lang="en-US" sz="2000" dirty="0"/>
          </a:p>
          <a:p>
            <a:r>
              <a:rPr lang="en-US" sz="2000" dirty="0"/>
              <a:t>		final </a:t>
            </a:r>
            <a:r>
              <a:rPr lang="en-US" sz="2000" dirty="0" err="1"/>
              <a:t>int</a:t>
            </a:r>
            <a:r>
              <a:rPr lang="en-US" sz="2000" dirty="0"/>
              <a:t> SENTINAL = -999; //some </a:t>
            </a:r>
            <a:r>
              <a:rPr lang="en-US" sz="2000" dirty="0" err="1"/>
              <a:t>sentinal</a:t>
            </a:r>
            <a:r>
              <a:rPr lang="en-US" sz="2000" dirty="0"/>
              <a:t> value</a:t>
            </a:r>
          </a:p>
          <a:p>
            <a:r>
              <a:rPr lang="en-US" sz="2000" dirty="0"/>
              <a:t>		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int</a:t>
            </a:r>
            <a:r>
              <a:rPr lang="en-US" sz="2000" dirty="0"/>
              <a:t> number;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int</a:t>
            </a:r>
            <a:r>
              <a:rPr lang="en-US" sz="2000" dirty="0"/>
              <a:t> sum;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int</a:t>
            </a:r>
            <a:r>
              <a:rPr lang="en-US" sz="2000" dirty="0"/>
              <a:t> count;</a:t>
            </a:r>
          </a:p>
          <a:p>
            <a:r>
              <a:rPr lang="en-US" sz="2000" dirty="0"/>
              <a:t>		//initialize counter variable</a:t>
            </a:r>
          </a:p>
          <a:p>
            <a:r>
              <a:rPr lang="en-US" sz="2000" dirty="0"/>
              <a:t>		count = 0;</a:t>
            </a:r>
          </a:p>
          <a:p>
            <a:r>
              <a:rPr lang="en-US" sz="2000" dirty="0"/>
              <a:t>		sum = 0;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System.out.println</a:t>
            </a:r>
            <a:r>
              <a:rPr lang="en-US" sz="2000" dirty="0"/>
              <a:t>("Enter the Positive integer"+</a:t>
            </a:r>
          </a:p>
          <a:p>
            <a:r>
              <a:rPr lang="en-US" sz="2000" dirty="0"/>
              <a:t>			"ending with SENTINAL "+SENTINAL);</a:t>
            </a:r>
          </a:p>
          <a:p>
            <a:r>
              <a:rPr lang="en-US" sz="2000" dirty="0"/>
              <a:t>		number = </a:t>
            </a:r>
            <a:r>
              <a:rPr lang="en-US" sz="2000" dirty="0" err="1"/>
              <a:t>input.nextInt</a:t>
            </a:r>
            <a:r>
              <a:rPr lang="en-US" sz="2000" dirty="0"/>
              <a:t>();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51584"/>
            <a:ext cx="6096000" cy="49757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aseline="-25000" dirty="0"/>
              <a:t>while (number != SENTINAL){</a:t>
            </a:r>
          </a:p>
          <a:p>
            <a:r>
              <a:rPr lang="en-US" sz="2800" baseline="-25000" dirty="0"/>
              <a:t>			sum += number;</a:t>
            </a:r>
          </a:p>
          <a:p>
            <a:r>
              <a:rPr lang="en-US" sz="2800" baseline="-25000" dirty="0"/>
              <a:t>			count++; //</a:t>
            </a:r>
            <a:r>
              <a:rPr lang="en-US" sz="2800" baseline="-25000" dirty="0" err="1"/>
              <a:t>varibale</a:t>
            </a:r>
            <a:r>
              <a:rPr lang="en-US" sz="2800" baseline="-25000" dirty="0"/>
              <a:t> to store total number read</a:t>
            </a:r>
          </a:p>
          <a:p>
            <a:r>
              <a:rPr lang="en-US" sz="2800" baseline="-25000" dirty="0"/>
              <a:t>			number = </a:t>
            </a:r>
            <a:r>
              <a:rPr lang="en-US" sz="2800" baseline="-25000" dirty="0" err="1"/>
              <a:t>input.nextInt</a:t>
            </a:r>
            <a:r>
              <a:rPr lang="en-US" sz="2800" baseline="-25000" dirty="0"/>
              <a:t>();</a:t>
            </a:r>
          </a:p>
          <a:p>
            <a:r>
              <a:rPr lang="en-US" sz="2800" baseline="-25000" dirty="0"/>
              <a:t>		}</a:t>
            </a:r>
          </a:p>
          <a:p>
            <a:endParaRPr lang="en-US" sz="2800" baseline="-25000" dirty="0"/>
          </a:p>
          <a:p>
            <a:r>
              <a:rPr lang="en-US" sz="2800" baseline="-25000" dirty="0"/>
              <a:t>		</a:t>
            </a:r>
            <a:r>
              <a:rPr lang="en-US" sz="2800" baseline="-25000" dirty="0" err="1"/>
              <a:t>System.out.printf</a:t>
            </a:r>
            <a:r>
              <a:rPr lang="en-US" sz="2800" baseline="-25000" dirty="0"/>
              <a:t>("Sum of %d numbers = %</a:t>
            </a:r>
            <a:r>
              <a:rPr lang="en-US" sz="2800" baseline="-25000" dirty="0" err="1"/>
              <a:t>d%n</a:t>
            </a:r>
            <a:r>
              <a:rPr lang="en-US" sz="2800" baseline="-25000" dirty="0"/>
              <a:t>",</a:t>
            </a:r>
            <a:r>
              <a:rPr lang="en-US" sz="2800" baseline="-25000" dirty="0" err="1"/>
              <a:t>count,sum</a:t>
            </a:r>
            <a:r>
              <a:rPr lang="en-US" sz="2800" baseline="-25000" dirty="0"/>
              <a:t>);</a:t>
            </a:r>
          </a:p>
          <a:p>
            <a:endParaRPr lang="en-US" sz="2800" baseline="-25000" dirty="0"/>
          </a:p>
          <a:p>
            <a:r>
              <a:rPr lang="en-US" sz="2800" baseline="-25000" dirty="0"/>
              <a:t>		if(count != 0)</a:t>
            </a:r>
          </a:p>
          <a:p>
            <a:r>
              <a:rPr lang="en-US" sz="2800" baseline="-25000" dirty="0"/>
              <a:t>			</a:t>
            </a:r>
            <a:r>
              <a:rPr lang="en-US" sz="2800" baseline="-25000" dirty="0" err="1"/>
              <a:t>System.out.printf</a:t>
            </a:r>
            <a:r>
              <a:rPr lang="en-US" sz="2800" baseline="-25000" dirty="0"/>
              <a:t>("The average = %</a:t>
            </a:r>
            <a:r>
              <a:rPr lang="en-US" sz="2800" baseline="-25000" dirty="0" err="1"/>
              <a:t>d%n</a:t>
            </a:r>
            <a:r>
              <a:rPr lang="en-US" sz="2800" baseline="-25000" dirty="0"/>
              <a:t>",(sum/count));</a:t>
            </a:r>
          </a:p>
          <a:p>
            <a:r>
              <a:rPr lang="en-US" sz="2800" baseline="-25000" dirty="0"/>
              <a:t>		else</a:t>
            </a:r>
          </a:p>
          <a:p>
            <a:r>
              <a:rPr lang="en-US" sz="2800" baseline="-25000" dirty="0"/>
              <a:t>			</a:t>
            </a:r>
            <a:r>
              <a:rPr lang="en-US" sz="2800" baseline="-25000" dirty="0" err="1"/>
              <a:t>System.out.println</a:t>
            </a:r>
            <a:r>
              <a:rPr lang="en-US" sz="2800" baseline="-25000" dirty="0"/>
              <a:t>("No Input");</a:t>
            </a:r>
          </a:p>
          <a:p>
            <a:endParaRPr lang="en-US" sz="2800" baseline="-25000" dirty="0"/>
          </a:p>
          <a:p>
            <a:r>
              <a:rPr lang="en-US" sz="2800" baseline="-25000" dirty="0"/>
              <a:t>	}</a:t>
            </a:r>
          </a:p>
          <a:p>
            <a:r>
              <a:rPr lang="en-US" sz="2800" baseline="-25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2118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590800" y="380999"/>
            <a:ext cx="6442494" cy="6172201"/>
            <a:chOff x="0" y="380999"/>
            <a:chExt cx="6442494" cy="6172201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80999"/>
              <a:ext cx="6442494" cy="30064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084" y="3413447"/>
              <a:ext cx="6309410" cy="3139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67394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Flag-Controlled </a:t>
            </a:r>
            <a:r>
              <a:rPr lang="en-US" b="1" dirty="0">
                <a:solidFill>
                  <a:schemeClr val="accent1"/>
                </a:solidFill>
                <a:latin typeface="Courier" pitchFamily="49" charset="0"/>
              </a:rPr>
              <a:t>while</a:t>
            </a:r>
            <a:r>
              <a:rPr lang="en-US" dirty="0"/>
              <a:t>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20400" cy="4351338"/>
          </a:xfrm>
        </p:spPr>
        <p:txBody>
          <a:bodyPr/>
          <a:lstStyle/>
          <a:p>
            <a:r>
              <a:rPr lang="en-US" dirty="0"/>
              <a:t>A flag-controlled while loop uses a </a:t>
            </a:r>
            <a:r>
              <a:rPr lang="en-US" b="1" dirty="0" err="1"/>
              <a:t>boolean</a:t>
            </a:r>
            <a:r>
              <a:rPr lang="en-US" dirty="0"/>
              <a:t> variable to control the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22</a:t>
            </a:fld>
            <a:endParaRPr lang="en-US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2443163"/>
            <a:ext cx="8680035" cy="395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9030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18691" y="0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/**</a:t>
            </a:r>
          </a:p>
          <a:p>
            <a:r>
              <a:rPr lang="en-US" sz="2400" dirty="0"/>
              <a:t> * guessing a number game</a:t>
            </a:r>
          </a:p>
          <a:p>
            <a:r>
              <a:rPr lang="en-US" sz="2400" dirty="0"/>
              <a:t> * */</a:t>
            </a:r>
          </a:p>
          <a:p>
            <a:r>
              <a:rPr lang="en-US" sz="2400" dirty="0"/>
              <a:t>import </a:t>
            </a:r>
            <a:r>
              <a:rPr lang="en-US" sz="2400" dirty="0" err="1"/>
              <a:t>java.util.Scanner</a:t>
            </a:r>
            <a:r>
              <a:rPr lang="en-US" sz="2400" dirty="0"/>
              <a:t>;</a:t>
            </a:r>
          </a:p>
          <a:p>
            <a:r>
              <a:rPr lang="en-US" sz="2400" dirty="0"/>
              <a:t>public class </a:t>
            </a:r>
            <a:r>
              <a:rPr lang="en-US" sz="2400" dirty="0" err="1"/>
              <a:t>FlagControl</a:t>
            </a:r>
            <a:r>
              <a:rPr lang="en-US" sz="2400" dirty="0"/>
              <a:t>{</a:t>
            </a:r>
          </a:p>
          <a:p>
            <a:r>
              <a:rPr lang="en-US" sz="2400" dirty="0"/>
              <a:t>	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){</a:t>
            </a:r>
          </a:p>
          <a:p>
            <a:r>
              <a:rPr lang="en-US" sz="2400" dirty="0"/>
              <a:t>		Scanner input = new Scanner(System.in);</a:t>
            </a:r>
          </a:p>
          <a:p>
            <a:endParaRPr lang="en-US" sz="2400" dirty="0"/>
          </a:p>
          <a:p>
            <a:r>
              <a:rPr lang="en-US" sz="2400" dirty="0"/>
              <a:t>		</a:t>
            </a:r>
            <a:r>
              <a:rPr lang="en-US" sz="2400" dirty="0" err="1"/>
              <a:t>boolean</a:t>
            </a:r>
            <a:r>
              <a:rPr lang="en-US" sz="2400" dirty="0"/>
              <a:t> done = false;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int</a:t>
            </a:r>
            <a:r>
              <a:rPr lang="en-US" sz="2400" dirty="0"/>
              <a:t> number;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int</a:t>
            </a:r>
            <a:r>
              <a:rPr lang="en-US" sz="2400" dirty="0"/>
              <a:t> guess;</a:t>
            </a:r>
          </a:p>
          <a:p>
            <a:endParaRPr lang="en-US" sz="2400" dirty="0"/>
          </a:p>
          <a:p>
            <a:r>
              <a:rPr lang="en-US" sz="2400" dirty="0"/>
              <a:t>		number = (</a:t>
            </a:r>
            <a:r>
              <a:rPr lang="en-US" sz="2400" dirty="0" err="1"/>
              <a:t>int</a:t>
            </a:r>
            <a:r>
              <a:rPr lang="en-US" sz="2400" dirty="0"/>
              <a:t>)(</a:t>
            </a:r>
            <a:r>
              <a:rPr lang="en-US" sz="2400" dirty="0" err="1"/>
              <a:t>Math.random</a:t>
            </a:r>
            <a:r>
              <a:rPr lang="en-US" sz="2400" dirty="0"/>
              <a:t>()*100);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1034" y="304800"/>
            <a:ext cx="66294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while(!done){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System.out.println</a:t>
            </a:r>
            <a:r>
              <a:rPr lang="en-US" sz="2400" dirty="0"/>
              <a:t>("Enter the Guess again");</a:t>
            </a:r>
          </a:p>
          <a:p>
            <a:r>
              <a:rPr lang="en-US" sz="2400" dirty="0"/>
              <a:t>	guess = </a:t>
            </a:r>
            <a:r>
              <a:rPr lang="en-US" sz="2400" dirty="0" err="1"/>
              <a:t>input.nextInt</a:t>
            </a:r>
            <a:r>
              <a:rPr lang="en-US" sz="2400" dirty="0"/>
              <a:t>();</a:t>
            </a:r>
          </a:p>
          <a:p>
            <a:r>
              <a:rPr lang="en-US" sz="2400" dirty="0"/>
              <a:t>	if(guess == number){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System.out.println</a:t>
            </a:r>
            <a:r>
              <a:rPr lang="en-US" sz="2400" dirty="0"/>
              <a:t>("You guessed Correct Number");</a:t>
            </a:r>
          </a:p>
          <a:p>
            <a:r>
              <a:rPr lang="en-US" sz="2400" dirty="0"/>
              <a:t>				done = true;</a:t>
            </a:r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	else if(guess &lt; number){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System.out.println</a:t>
            </a:r>
            <a:r>
              <a:rPr lang="en-US" sz="2400" dirty="0"/>
              <a:t>("Too Low");</a:t>
            </a:r>
          </a:p>
          <a:p>
            <a:endParaRPr lang="en-US" sz="2400" dirty="0"/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	else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System.out.println</a:t>
            </a:r>
            <a:r>
              <a:rPr lang="en-US" sz="2400" dirty="0"/>
              <a:t>("Too high");			</a:t>
            </a:r>
          </a:p>
          <a:p>
            <a:r>
              <a:rPr lang="en-US" sz="2400" dirty="0"/>
              <a:t>		}	} }</a:t>
            </a:r>
          </a:p>
        </p:txBody>
      </p:sp>
    </p:spTree>
    <p:extLst>
      <p:ext uri="{BB962C8B-B14F-4D97-AF65-F5344CB8AC3E}">
        <p14:creationId xmlns:p14="http://schemas.microsoft.com/office/powerpoint/2010/main" val="2051806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18691" y="0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java.util.Scanner</a:t>
            </a:r>
            <a:r>
              <a:rPr lang="en-US" sz="2400" dirty="0"/>
              <a:t>;</a:t>
            </a:r>
          </a:p>
          <a:p>
            <a:r>
              <a:rPr lang="en-US" sz="2400" dirty="0"/>
              <a:t>public class </a:t>
            </a:r>
            <a:r>
              <a:rPr lang="en-US" sz="2400" dirty="0" err="1"/>
              <a:t>FlagControl</a:t>
            </a:r>
            <a:r>
              <a:rPr lang="en-US" sz="2400" dirty="0"/>
              <a:t>{</a:t>
            </a:r>
          </a:p>
          <a:p>
            <a:r>
              <a:rPr lang="en-US" sz="2400" dirty="0"/>
              <a:t>	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){</a:t>
            </a:r>
          </a:p>
          <a:p>
            <a:r>
              <a:rPr lang="en-US" sz="2400" dirty="0"/>
              <a:t>		Scanner input = new Scanner(System.in);</a:t>
            </a:r>
          </a:p>
          <a:p>
            <a:endParaRPr lang="en-US" sz="2400" dirty="0"/>
          </a:p>
          <a:p>
            <a:r>
              <a:rPr lang="en-US" sz="2400" dirty="0"/>
              <a:t>		</a:t>
            </a:r>
            <a:r>
              <a:rPr lang="en-US" sz="2400" dirty="0" err="1"/>
              <a:t>boolean</a:t>
            </a:r>
            <a:r>
              <a:rPr lang="en-US" sz="2400" dirty="0"/>
              <a:t> done = false;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int</a:t>
            </a:r>
            <a:r>
              <a:rPr lang="en-US" sz="2400" dirty="0"/>
              <a:t> number;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int</a:t>
            </a:r>
            <a:r>
              <a:rPr lang="en-US" sz="2400" dirty="0"/>
              <a:t> guess;</a:t>
            </a:r>
          </a:p>
          <a:p>
            <a:r>
              <a:rPr lang="en-US" sz="2400" dirty="0"/>
              <a:t>		</a:t>
            </a:r>
            <a:r>
              <a:rPr lang="en-US" sz="2400" b="1" dirty="0" err="1">
                <a:solidFill>
                  <a:schemeClr val="accent1"/>
                </a:solidFill>
              </a:rPr>
              <a:t>int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noOfGuesses</a:t>
            </a:r>
            <a:r>
              <a:rPr lang="en-US" sz="2400" b="1" dirty="0">
                <a:solidFill>
                  <a:schemeClr val="accent1"/>
                </a:solidFill>
              </a:rPr>
              <a:t> = 0;</a:t>
            </a:r>
          </a:p>
          <a:p>
            <a:endParaRPr lang="en-US" sz="2400" dirty="0"/>
          </a:p>
          <a:p>
            <a:r>
              <a:rPr lang="en-US" sz="2400" dirty="0"/>
              <a:t>		number = (</a:t>
            </a:r>
            <a:r>
              <a:rPr lang="en-US" sz="2400" dirty="0" err="1"/>
              <a:t>int</a:t>
            </a:r>
            <a:r>
              <a:rPr lang="en-US" sz="2400" dirty="0"/>
              <a:t>)(</a:t>
            </a:r>
            <a:r>
              <a:rPr lang="en-US" sz="2400" dirty="0" err="1"/>
              <a:t>Math.random</a:t>
            </a:r>
            <a:r>
              <a:rPr lang="en-US" sz="2400" dirty="0"/>
              <a:t>()*100);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1034" y="304800"/>
            <a:ext cx="66294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while</a:t>
            </a:r>
            <a:r>
              <a:rPr lang="en-US" sz="2400" b="1" dirty="0">
                <a:solidFill>
                  <a:schemeClr val="accent1"/>
                </a:solidFill>
              </a:rPr>
              <a:t>((</a:t>
            </a:r>
            <a:r>
              <a:rPr lang="en-US" sz="2400" b="1" dirty="0" err="1">
                <a:solidFill>
                  <a:schemeClr val="accent1"/>
                </a:solidFill>
              </a:rPr>
              <a:t>noOfGuesses</a:t>
            </a:r>
            <a:r>
              <a:rPr lang="en-US" sz="2400" b="1" dirty="0">
                <a:solidFill>
                  <a:schemeClr val="accent1"/>
                </a:solidFill>
              </a:rPr>
              <a:t> &lt;5) &amp;&amp; (!done)</a:t>
            </a:r>
            <a:r>
              <a:rPr lang="en-US" sz="2400" dirty="0"/>
              <a:t>){</a:t>
            </a:r>
          </a:p>
          <a:p>
            <a:r>
              <a:rPr lang="en-US" sz="2400" dirty="0"/>
              <a:t>			</a:t>
            </a:r>
            <a:r>
              <a:rPr lang="en-US" sz="2400" dirty="0" err="1"/>
              <a:t>System.out.println</a:t>
            </a:r>
            <a:r>
              <a:rPr lang="en-US" sz="2400" dirty="0"/>
              <a:t>("Enter the Guess again");</a:t>
            </a:r>
          </a:p>
          <a:p>
            <a:r>
              <a:rPr lang="en-US" sz="2400" dirty="0"/>
              <a:t>			guess = </a:t>
            </a:r>
            <a:r>
              <a:rPr lang="en-US" sz="2400" dirty="0" err="1"/>
              <a:t>input.nextInt</a:t>
            </a:r>
            <a:r>
              <a:rPr lang="en-US" sz="2400" dirty="0"/>
              <a:t>();</a:t>
            </a:r>
          </a:p>
          <a:p>
            <a:r>
              <a:rPr lang="en-US" sz="2400" dirty="0"/>
              <a:t>			 </a:t>
            </a:r>
            <a:r>
              <a:rPr lang="en-US" sz="2400" dirty="0" err="1"/>
              <a:t>noOfGuesses</a:t>
            </a:r>
            <a:r>
              <a:rPr lang="en-US" sz="2400" dirty="0"/>
              <a:t> ++;</a:t>
            </a:r>
          </a:p>
          <a:p>
            <a:r>
              <a:rPr lang="en-US" sz="2400" dirty="0"/>
              <a:t>			if(guess == number){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System.out.println</a:t>
            </a:r>
            <a:r>
              <a:rPr lang="en-US" sz="2400" dirty="0"/>
              <a:t>("You guessed Correct Number");</a:t>
            </a:r>
          </a:p>
          <a:p>
            <a:r>
              <a:rPr lang="en-US" sz="2400" dirty="0"/>
              <a:t>				done = true;</a:t>
            </a:r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	else if(guess &lt; number){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System.out.println</a:t>
            </a:r>
            <a:r>
              <a:rPr lang="en-US" sz="2400" dirty="0"/>
              <a:t>("Too Low");</a:t>
            </a:r>
          </a:p>
          <a:p>
            <a:endParaRPr lang="en-US" sz="2400" dirty="0"/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	else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System.out.println</a:t>
            </a:r>
            <a:r>
              <a:rPr lang="en-US" sz="2400" dirty="0"/>
              <a:t>("Too high");		</a:t>
            </a:r>
          </a:p>
          <a:p>
            <a:r>
              <a:rPr lang="en-US" sz="2400" dirty="0"/>
              <a:t>		}	} }</a:t>
            </a:r>
          </a:p>
        </p:txBody>
      </p:sp>
      <p:sp>
        <p:nvSpPr>
          <p:cNvPr id="2" name="Rectangle 1"/>
          <p:cNvSpPr/>
          <p:nvPr/>
        </p:nvSpPr>
        <p:spPr>
          <a:xfrm>
            <a:off x="30193" y="5352336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// After Five tries </a:t>
            </a:r>
          </a:p>
          <a:p>
            <a:r>
              <a:rPr lang="en-US" sz="2000" dirty="0"/>
              <a:t>if(!done)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System.out.println</a:t>
            </a:r>
            <a:r>
              <a:rPr lang="en-US" sz="2000" dirty="0"/>
              <a:t>("You loose! The correct "				                 + "number is: "+number);</a:t>
            </a:r>
          </a:p>
        </p:txBody>
      </p:sp>
    </p:spTree>
    <p:extLst>
      <p:ext uri="{BB962C8B-B14F-4D97-AF65-F5344CB8AC3E}">
        <p14:creationId xmlns:p14="http://schemas.microsoft.com/office/powerpoint/2010/main" val="2717564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Checking Numeric Ranges with Logical Operators</a:t>
            </a:r>
            <a:endParaRPr lang="he-IL" altLang="en-US" sz="4000" dirty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457200" y="1825625"/>
            <a:ext cx="11201400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>
                <a:cs typeface="Courier New" pitchFamily="49" charset="0"/>
              </a:rPr>
              <a:t>To determine whether a numeric value is within a specific range of values, use </a:t>
            </a:r>
            <a:r>
              <a:rPr lang="en-US" sz="3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&amp;&amp;</a:t>
            </a:r>
            <a:endParaRPr lang="en-US" sz="3200" b="1" dirty="0">
              <a:solidFill>
                <a:schemeClr val="accent1"/>
              </a:solidFill>
              <a:cs typeface="Courier New" pitchFamily="49" charset="0"/>
            </a:endParaRPr>
          </a:p>
          <a:p>
            <a:pPr lvl="1"/>
            <a:r>
              <a:rPr lang="en-US" sz="2800" dirty="0">
                <a:cs typeface="Courier New" pitchFamily="49" charset="0"/>
              </a:rPr>
              <a:t>Example: while (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x &gt;= 10 </a:t>
            </a:r>
            <a:r>
              <a:rPr lang="en-US" sz="28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&amp;&amp;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x &lt;= 20){…}</a:t>
            </a:r>
            <a:endParaRPr lang="en-US" sz="2800" dirty="0">
              <a:cs typeface="Courier New" pitchFamily="49" charset="0"/>
            </a:endParaRPr>
          </a:p>
          <a:p>
            <a:pPr eaLnBrk="1" hangingPunct="1"/>
            <a:r>
              <a:rPr lang="en-US" sz="3200" dirty="0">
                <a:cs typeface="Courier New" pitchFamily="49" charset="0"/>
              </a:rPr>
              <a:t>To determine whether a numeric value is outside of a specific range of values, use </a:t>
            </a:r>
            <a:r>
              <a:rPr lang="en-US" sz="3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||</a:t>
            </a:r>
            <a:endParaRPr lang="en-US" sz="3200" b="1" dirty="0">
              <a:solidFill>
                <a:schemeClr val="accent1"/>
              </a:solidFill>
              <a:cs typeface="Courier New" pitchFamily="49" charset="0"/>
            </a:endParaRPr>
          </a:p>
          <a:p>
            <a:pPr lvl="1"/>
            <a:r>
              <a:rPr lang="en-US" sz="2800" dirty="0">
                <a:cs typeface="Courier New" pitchFamily="49" charset="0"/>
              </a:rPr>
              <a:t>Example: while (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x &lt; 10 </a:t>
            </a:r>
            <a:r>
              <a:rPr lang="en-US" sz="2800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||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x &gt; 20){…}</a:t>
            </a:r>
          </a:p>
          <a:p>
            <a:pPr lvl="1"/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sz="2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C8C74-4A28-42C1-92A0-1CB51970C17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63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do-while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B3838-5DA3-401E-993B-20BED99F7C58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4495800" y="623753"/>
            <a:ext cx="75438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do-while loop is the same as a while loop except that it executes the loop body first and then checks the loop continuation condition.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57200" y="2743200"/>
            <a:ext cx="73152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400" b="1" dirty="0">
                <a:latin typeface="Courier New" pitchFamily="49" charset="0"/>
              </a:rPr>
              <a:t>do {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400" b="1" dirty="0">
                <a:latin typeface="Courier New" pitchFamily="49" charset="0"/>
              </a:rPr>
              <a:t>  // Loop body;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400" b="1" dirty="0">
                <a:latin typeface="Courier New" pitchFamily="49" charset="0"/>
              </a:rPr>
              <a:t>  Statement(s);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sz="2400" b="1" dirty="0">
                <a:latin typeface="Courier New" pitchFamily="49" charset="0"/>
              </a:rPr>
              <a:t>} while (loop-continuation-condition);</a:t>
            </a:r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371600"/>
            <a:ext cx="3028950" cy="417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9097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12918</TotalTime>
  <Words>2088</Words>
  <Application>Microsoft Office PowerPoint</Application>
  <PresentationFormat>Widescreen</PresentationFormat>
  <Paragraphs>316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Arial</vt:lpstr>
      <vt:lpstr>Arial Unicode MS</vt:lpstr>
      <vt:lpstr>Calibri</vt:lpstr>
      <vt:lpstr>Calibri Light</vt:lpstr>
      <vt:lpstr>Courier</vt:lpstr>
      <vt:lpstr>Courier New</vt:lpstr>
      <vt:lpstr>LucidaSansTypewriterStd</vt:lpstr>
      <vt:lpstr>LucidaSansTypewriterStd-Bd</vt:lpstr>
      <vt:lpstr>Monotype Sorts</vt:lpstr>
      <vt:lpstr>Times New Roman</vt:lpstr>
      <vt:lpstr>TimesLTStd-Roman</vt:lpstr>
      <vt:lpstr>Office Theme</vt:lpstr>
      <vt:lpstr>Repetition Statements (loops) Lecture 10</vt:lpstr>
      <vt:lpstr>Repetition/Loop Statements</vt:lpstr>
      <vt:lpstr>Repetition Statements</vt:lpstr>
      <vt:lpstr>The while Statement</vt:lpstr>
      <vt:lpstr>Logic of a while Loop</vt:lpstr>
      <vt:lpstr>While loop example</vt:lpstr>
      <vt:lpstr>The while Statement</vt:lpstr>
      <vt:lpstr>Loop Design Strategies</vt:lpstr>
      <vt:lpstr>Exercise</vt:lpstr>
      <vt:lpstr>Example (Average.java)</vt:lpstr>
      <vt:lpstr>Example: Guessing Numbers</vt:lpstr>
      <vt:lpstr>Writing for single iteration</vt:lpstr>
      <vt:lpstr>The code</vt:lpstr>
      <vt:lpstr>Infinite Loops</vt:lpstr>
      <vt:lpstr>Infinite Loops</vt:lpstr>
      <vt:lpstr>Exercise</vt:lpstr>
      <vt:lpstr>Counter-Controlled while Loops</vt:lpstr>
      <vt:lpstr>PowerPoint Presentation</vt:lpstr>
      <vt:lpstr>Sentinel-Controlled while Loops</vt:lpstr>
      <vt:lpstr>PowerPoint Presentation</vt:lpstr>
      <vt:lpstr>PowerPoint Presentation</vt:lpstr>
      <vt:lpstr>Flag-Controlled while Loops</vt:lpstr>
      <vt:lpstr>PowerPoint Presentation</vt:lpstr>
      <vt:lpstr>PowerPoint Presentation</vt:lpstr>
      <vt:lpstr>Checking Numeric Ranges with Logical Operators</vt:lpstr>
      <vt:lpstr>do-while Loop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– While, Do, For</dc:title>
  <dc:creator>mh sh</dc:creator>
  <cp:lastModifiedBy>Rizwan Rashid</cp:lastModifiedBy>
  <cp:revision>42</cp:revision>
  <dcterms:created xsi:type="dcterms:W3CDTF">2015-11-10T11:22:03Z</dcterms:created>
  <dcterms:modified xsi:type="dcterms:W3CDTF">2022-10-18T05:42:11Z</dcterms:modified>
</cp:coreProperties>
</file>