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3"/>
  </p:sldMasterIdLst>
  <p:notesMasterIdLst>
    <p:notesMasterId r:id="rId26"/>
  </p:notesMasterIdLst>
  <p:handoutMasterIdLst>
    <p:handoutMasterId r:id="rId27"/>
  </p:handoutMasterIdLst>
  <p:sldIdLst>
    <p:sldId id="704" r:id="rId4"/>
    <p:sldId id="705" r:id="rId5"/>
    <p:sldId id="610" r:id="rId6"/>
    <p:sldId id="668" r:id="rId7"/>
    <p:sldId id="689" r:id="rId8"/>
    <p:sldId id="669" r:id="rId9"/>
    <p:sldId id="671" r:id="rId10"/>
    <p:sldId id="677" r:id="rId11"/>
    <p:sldId id="679" r:id="rId12"/>
    <p:sldId id="680" r:id="rId13"/>
    <p:sldId id="681" r:id="rId14"/>
    <p:sldId id="693" r:id="rId15"/>
    <p:sldId id="694" r:id="rId16"/>
    <p:sldId id="695" r:id="rId17"/>
    <p:sldId id="696" r:id="rId18"/>
    <p:sldId id="697" r:id="rId19"/>
    <p:sldId id="698" r:id="rId20"/>
    <p:sldId id="699" r:id="rId21"/>
    <p:sldId id="700" r:id="rId22"/>
    <p:sldId id="701" r:id="rId23"/>
    <p:sldId id="702" r:id="rId24"/>
    <p:sldId id="703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01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19C1F50-3584-4888-B581-5547202DF5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F2112B1-906E-4421-8B72-915FBEA60D4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CDF2302E-7365-49AF-80B0-7986F947D33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F8D05F93-0C83-4612-BF93-29ED3A374CF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0ADAC9BC-2FBE-45C4-9792-0ED7C65BB6B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B960ADF-2713-4EFA-8D31-45B839CCE2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8DFA788-C3C1-4DF1-8F5C-BBC3D4A41CF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D7A3BB1-E45B-4776-BFAB-22D1A7FC8AF5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8A33C28-F5E8-4DC2-994A-1DD34FC3636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7EBA185-4039-4C03-8448-B93B9547A3E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D17EF72D-24F8-4715-9BB8-CC3910CF3A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33ADF379-6ABE-4906-88B6-08D0A65AB75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C85F2B9D-C2D5-43AD-A200-86EB385792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05E89C0-98DD-49F6-A836-F8E3C5CF180D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70EEBB6-817D-45D5-9F06-CAD35518484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427A18B7-5FCD-4AEC-8312-2EF1F7D7D5B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9C9EE76F-9AA1-495A-8AE7-E53840ABE3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7BB316-F5A9-4273-B45F-D8C501018917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2E605708-8393-4834-8226-CB6C7428868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91F24B3E-1BBC-4552-BACC-6BDA4A8E6B3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AA09400D-E1EF-41D7-B046-ED1EA0BEAF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7D79C5F-0B65-49E0-87EE-0CD5528E87EB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43B41842-822E-459F-B4BF-40D113117A1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336ABEA-DBFF-4A53-BC1E-957E7F11340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279E55F6-2991-480A-9AB7-EB62FC865A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A901005-DBA0-4CC5-9D15-1047D7E47742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4D76D315-56FA-4FE6-9541-48D848A10B5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A857B768-1AF6-496F-8A04-2BDFC9BC2F4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730E2086-7A91-422A-A3C8-5794246D4F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80BF013-6AF6-4ACC-9C59-304FDBAB6706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AC7BFCCB-732C-4A5A-A9D8-85644AFB8D1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5B71FDFD-A989-4B52-A92B-D3B58B26E72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A37A2A72-082E-4E8B-BE2B-C877445DB6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1A2C225-EA33-43F6-BEB7-8D56334958C9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8DE21334-5E1C-4193-A6F9-77B04BC7605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BBDF9FDC-16C0-4963-8B9E-F0B3AE528C1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F31A8FB5-FF15-4529-A82A-E23A592A1E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3FA1BF3-CD5F-4809-8324-866F4DEC7309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19459" name="Rectangle 1026">
            <a:extLst>
              <a:ext uri="{FF2B5EF4-FFF2-40B4-BE49-F238E27FC236}">
                <a16:creationId xmlns:a16="http://schemas.microsoft.com/office/drawing/2014/main" id="{3DC501D3-FB39-45BD-B2B7-579B44899BF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60" name="Rectangle 1027">
            <a:extLst>
              <a:ext uri="{FF2B5EF4-FFF2-40B4-BE49-F238E27FC236}">
                <a16:creationId xmlns:a16="http://schemas.microsoft.com/office/drawing/2014/main" id="{E4813821-EFBE-484D-A4DD-8520230E822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CBFEC4B6-2B0E-4B47-A9B1-6204955DB4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680F85-DC3A-4157-8D77-7E9D734E3E56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BF3E94C2-46B9-40E7-8811-82D0A4B2E76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2E9BBBA1-0731-4E55-84B1-9BF7A455364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042DBBE5-6455-4AC9-8FCD-C7FF60705D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CE2F57-4252-4721-8099-99485872E055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B6B8B612-A169-46AC-8D3E-94E3DE94FDE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0A132EDA-2604-4C22-809A-A6226071A8A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0EB312-40A7-4760-9BED-C9A0950D7A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3DAEA3-727D-4925-9FB8-170DF27BFD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03CD92-FD06-4D56-A79F-CF7E3989B4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541716-3CCC-427D-8B7A-35CC428864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603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1DD0B8-7AED-4B76-A903-3E66AF0563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DA4356-BCB8-4434-9045-7D73A3697E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34AE49-522D-441A-97AF-0AE821C5C3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7BB05C-0129-4721-A85F-FDDA949B41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627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491E30-2E0B-4863-B54F-A4569C1E1E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CEA651-70DB-48D6-B636-E6BD1849C2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BD3A31-1E2C-4118-82A5-D90B58C3B9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743287-5090-4FD2-98A0-23C74C5954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074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A69F36-AE13-462B-956D-50AAB3CC39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F35EFC-93E0-4B81-8F54-EE7F1B86AD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87DBDA-91CD-4DB9-842E-AB8349B7B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F95AE5-54CB-4B57-8830-BC4BA98FF5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5112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E074EAB-6E28-4B53-9DB2-3CA12CC411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C5D7460-6A57-4506-BF1F-7E2B1DDB6D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A0AFDA0-BFD5-4FD8-A775-43B283E6FA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8FBEDE-A302-450B-AA97-BDDD9AF5A7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1226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331F32F-4657-4EC8-9E47-7F713E595B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48F39CE-1979-4725-9335-F06890F4C4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06151B0-D742-42BD-9CDC-0F17BAFE96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C4330E-A8F4-4F7C-A20E-8B2C6D3AFE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506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C4AE409-C3A5-4A8F-8248-8C288A2BB9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4326DAC-80A1-45F5-803D-00E66D8005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58097EA-4C64-4ED9-B97E-CE74F5C7FC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557207-C2E9-4A2D-92D5-F4CC487499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8186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0B2ACE-A48F-45DD-8E5F-3905C433C8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14B458-809A-4CC9-8977-BFA7861293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57602F-8C81-4128-BB58-A76F532C8F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8184FE-CDD0-4113-865E-8F0E2DF9EB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9967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E4A8C7-4B6A-4CCA-B173-931E2E9B09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6C650F-5D4F-4E37-8910-4E02747067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8C71EC-DC9C-49C9-94FA-647A6E1A5B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4AD789-31BB-4288-B6C0-507BEA63B2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340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2B0F48-DE22-44B4-ADB4-19F4CDC1BA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B41B8E-AF71-4455-B7A9-47AAFEB018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E29504-73F8-4819-9385-8005FBF30B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84A7A1-BDE0-459B-9799-85CC6C9014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792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7A143E-1FB2-4EFE-9C16-3E447B29F6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C30F50-E883-457D-9AE7-3B060FFC4A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5410F4-226F-4A4E-AA2C-AF5A2B8B6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7871BB-BC51-4C38-B2B2-BEBBE0C017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3054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CA83577-0383-41EC-B730-DE6FFB987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83386AE-FF14-4894-8004-0E60BB192B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245188" name="Rectangle 4">
            <a:extLst>
              <a:ext uri="{FF2B5EF4-FFF2-40B4-BE49-F238E27FC236}">
                <a16:creationId xmlns:a16="http://schemas.microsoft.com/office/drawing/2014/main" id="{FF682849-328B-4E07-A52E-218F7E77F04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5189" name="Rectangle 5">
            <a:extLst>
              <a:ext uri="{FF2B5EF4-FFF2-40B4-BE49-F238E27FC236}">
                <a16:creationId xmlns:a16="http://schemas.microsoft.com/office/drawing/2014/main" id="{6477A546-7040-49F3-8FEB-81E7FBE6723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5190" name="Rectangle 6">
            <a:extLst>
              <a:ext uri="{FF2B5EF4-FFF2-40B4-BE49-F238E27FC236}">
                <a16:creationId xmlns:a16="http://schemas.microsoft.com/office/drawing/2014/main" id="{83126006-316D-4767-A678-69415B22EB6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D2D83483-AE83-4C22-8C3D-106720BEA4C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1">
            <a:extLst>
              <a:ext uri="{FF2B5EF4-FFF2-40B4-BE49-F238E27FC236}">
                <a16:creationId xmlns:a16="http://schemas.microsoft.com/office/drawing/2014/main" id="{5188E00C-428A-4346-8758-5DC2DDA27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DE047C-517B-4646-A60A-91E88F8F2F6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F2AF6F77-5D15-443D-AD1E-CDF2EE1DF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Basics of Probability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639AC50-D8F5-431B-BC7D-3770EF4DC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25" y="1092200"/>
            <a:ext cx="263683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6">
            <a:extLst>
              <a:ext uri="{FF2B5EF4-FFF2-40B4-BE49-F238E27FC236}">
                <a16:creationId xmlns:a16="http://schemas.microsoft.com/office/drawing/2014/main" id="{EC8890B3-13CD-4974-A520-6E7B3B3917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150" y="933450"/>
            <a:ext cx="4395788" cy="174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7">
            <a:extLst>
              <a:ext uri="{FF2B5EF4-FFF2-40B4-BE49-F238E27FC236}">
                <a16:creationId xmlns:a16="http://schemas.microsoft.com/office/drawing/2014/main" id="{2DD58F90-7645-4429-AAD6-C232129DCF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0"/>
            <a:ext cx="42291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8">
            <a:extLst>
              <a:ext uri="{FF2B5EF4-FFF2-40B4-BE49-F238E27FC236}">
                <a16:creationId xmlns:a16="http://schemas.microsoft.com/office/drawing/2014/main" id="{0EFD6ABF-D1CE-4101-9550-CFFFCA031A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819400"/>
            <a:ext cx="464820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9">
            <a:extLst>
              <a:ext uri="{FF2B5EF4-FFF2-40B4-BE49-F238E27FC236}">
                <a16:creationId xmlns:a16="http://schemas.microsoft.com/office/drawing/2014/main" id="{B947B460-001F-497C-9482-8E677E5535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97400"/>
            <a:ext cx="7248525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1">
            <a:extLst>
              <a:ext uri="{FF2B5EF4-FFF2-40B4-BE49-F238E27FC236}">
                <a16:creationId xmlns:a16="http://schemas.microsoft.com/office/drawing/2014/main" id="{E41276B9-21F4-483A-BA61-EE33E9C6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8F71AA-417E-4337-BBAE-434B111E1DDA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5123" name="Picture 2">
            <a:extLst>
              <a:ext uri="{FF2B5EF4-FFF2-40B4-BE49-F238E27FC236}">
                <a16:creationId xmlns:a16="http://schemas.microsoft.com/office/drawing/2014/main" id="{69C79612-2BAE-4FB7-8482-E4D2C750E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57200"/>
            <a:ext cx="43053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3">
            <a:extLst>
              <a:ext uri="{FF2B5EF4-FFF2-40B4-BE49-F238E27FC236}">
                <a16:creationId xmlns:a16="http://schemas.microsoft.com/office/drawing/2014/main" id="{8A695A8A-76C6-4FD6-9948-6BD3B7092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662238"/>
            <a:ext cx="8856662" cy="328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1858A5AF-E21E-4203-8E77-75B647540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B35F32-3AA2-49D8-91D5-CEF0DA9AF41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1031170" name="Text Box 2">
            <a:extLst>
              <a:ext uri="{FF2B5EF4-FFF2-40B4-BE49-F238E27FC236}">
                <a16:creationId xmlns:a16="http://schemas.microsoft.com/office/drawing/2014/main" id="{AD04AFFD-19CB-4DFF-A9BA-A2193C9F2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BAYESIAN CLASSIFICATION</a:t>
            </a:r>
          </a:p>
        </p:txBody>
      </p:sp>
      <p:sp>
        <p:nvSpPr>
          <p:cNvPr id="6148" name="Text Box 3">
            <a:extLst>
              <a:ext uri="{FF2B5EF4-FFF2-40B4-BE49-F238E27FC236}">
                <a16:creationId xmlns:a16="http://schemas.microsoft.com/office/drawing/2014/main" id="{4C671AEF-7832-49D7-B1CC-4A5A66DF2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43000"/>
            <a:ext cx="8175625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Bayesian Classifiers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Bayesian classifiers are statistical classifiers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They can calculate the probability that a given sample belongs to a particular class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Bayesian classification is based on Bayes theorem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Bayesian classifiers have exhibited high accuracy and speed when applied to large databases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>
            <a:extLst>
              <a:ext uri="{FF2B5EF4-FFF2-40B4-BE49-F238E27FC236}">
                <a16:creationId xmlns:a16="http://schemas.microsoft.com/office/drawing/2014/main" id="{6308677C-43EC-4AC4-BE9A-4F80C5A9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83BFD7-1DF5-4299-9E92-5F8717DE0DA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186818" name="Text Box 2">
            <a:extLst>
              <a:ext uri="{FF2B5EF4-FFF2-40B4-BE49-F238E27FC236}">
                <a16:creationId xmlns:a16="http://schemas.microsoft.com/office/drawing/2014/main" id="{3ABFD778-C4CF-4BC1-BA77-508764C11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BAYESIAN CLASSIFICATION</a:t>
            </a:r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68BC4BAB-4CA7-444C-BD26-5CC0BFD20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43000"/>
            <a:ext cx="81756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Bayes Theorem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be a data sample, e.g. red and round fruit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be some hypothesis, such as that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belongs to a specified class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(e.g. X is an apple)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For classification problems, we want to determine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P(H|X)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the probability that the hypothesis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holds given the observed data sample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>
            <a:extLst>
              <a:ext uri="{FF2B5EF4-FFF2-40B4-BE49-F238E27FC236}">
                <a16:creationId xmlns:a16="http://schemas.microsoft.com/office/drawing/2014/main" id="{62AA19A5-CE0A-4BB7-BDDB-2BF5CBF34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7CE553-675E-4CDF-9960-6C61C4AF795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229826" name="Text Box 2">
            <a:extLst>
              <a:ext uri="{FF2B5EF4-FFF2-40B4-BE49-F238E27FC236}">
                <a16:creationId xmlns:a16="http://schemas.microsoft.com/office/drawing/2014/main" id="{A1DEFC01-8C38-441A-A853-8121DF55A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BAYESIAN CLASSIFICATION</a:t>
            </a:r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E72B2FE7-D812-4336-A9F4-00789FE0C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43000"/>
            <a:ext cx="8175625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Prior Probability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probability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P(H)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is called the prior probability of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i.e the probability that any given data sample is an apple, regardless of how the data sample looks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probability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P(H|X)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is called posterior probability. It is based on more information, then the prior probability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P(H)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which is independent of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>
            <a:extLst>
              <a:ext uri="{FF2B5EF4-FFF2-40B4-BE49-F238E27FC236}">
                <a16:creationId xmlns:a16="http://schemas.microsoft.com/office/drawing/2014/main" id="{97FC66F0-69D3-47D1-A4D8-6473C57BE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479532-E0DE-4749-986A-2BB7E8714D43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188866" name="Text Box 2">
            <a:extLst>
              <a:ext uri="{FF2B5EF4-FFF2-40B4-BE49-F238E27FC236}">
                <a16:creationId xmlns:a16="http://schemas.microsoft.com/office/drawing/2014/main" id="{90CFC1F0-DBCA-488D-8980-29F041A6A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BAYESIAN CLASSIFICATION</a:t>
            </a:r>
          </a:p>
        </p:txBody>
      </p:sp>
      <p:sp>
        <p:nvSpPr>
          <p:cNvPr id="12292" name="Text Box 3">
            <a:extLst>
              <a:ext uri="{FF2B5EF4-FFF2-40B4-BE49-F238E27FC236}">
                <a16:creationId xmlns:a16="http://schemas.microsoft.com/office/drawing/2014/main" id="{7E23F4E3-5399-47F2-ACFB-22B029B6F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43000"/>
            <a:ext cx="81756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Posterior Probability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Let the data samples be fruits described by their 	colour and 	shape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red and round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hypothesis that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is an apple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P(H|X)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is the probability that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is an apple given that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is red and round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id="{7C802402-A7D7-4DB1-85FF-819A53C3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8C8B28-C68A-4C20-BFB5-3829B3D2855C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192962" name="Text Box 2">
            <a:extLst>
              <a:ext uri="{FF2B5EF4-FFF2-40B4-BE49-F238E27FC236}">
                <a16:creationId xmlns:a16="http://schemas.microsoft.com/office/drawing/2014/main" id="{FE01A69C-1D6C-4325-8C75-A9C9CACDB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BAYESIAN CLASSIFICATION</a:t>
            </a:r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87AA2AC7-EE30-49FC-B47B-7E79A2D8D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43000"/>
            <a:ext cx="8175625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Bayes Theorem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way of calculating the posterior probability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P(H|X)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P(X|H) P(H)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P(X)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P(X|H)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is the posterior probability of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given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(it is the probability that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is red and round given that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is an apple)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P(X)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is the prior probability of </a:t>
            </a:r>
            <a:r>
              <a:rPr lang="en-GB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(probability that a data sample is red and round)</a:t>
            </a:r>
          </a:p>
        </p:txBody>
      </p:sp>
      <p:sp>
        <p:nvSpPr>
          <p:cNvPr id="14341" name="Line 4">
            <a:extLst>
              <a:ext uri="{FF2B5EF4-FFF2-40B4-BE49-F238E27FC236}">
                <a16:creationId xmlns:a16="http://schemas.microsoft.com/office/drawing/2014/main" id="{1E828DC8-A52A-453B-A196-D7A3CFDE2D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048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F5147150-EE1E-49E7-8A6A-594DC782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4B1B73-ED1A-4E84-B30B-2ABFA78A181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205250" name="Text Box 1026">
            <a:extLst>
              <a:ext uri="{FF2B5EF4-FFF2-40B4-BE49-F238E27FC236}">
                <a16:creationId xmlns:a16="http://schemas.microsoft.com/office/drawing/2014/main" id="{5B95FA89-897A-4514-8838-0963F6467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BAYESIAN CLASSIFICATION</a:t>
            </a:r>
          </a:p>
        </p:txBody>
      </p:sp>
      <p:sp>
        <p:nvSpPr>
          <p:cNvPr id="16388" name="Text Box 1027">
            <a:extLst>
              <a:ext uri="{FF2B5EF4-FFF2-40B4-BE49-F238E27FC236}">
                <a16:creationId xmlns:a16="http://schemas.microsoft.com/office/drawing/2014/main" id="{82BAB764-B0D8-40EE-8D4A-B83CE7DDB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43000"/>
            <a:ext cx="81756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Naïve (Simple) Bayesian Classification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pic>
        <p:nvPicPr>
          <p:cNvPr id="16389" name="Picture 1028">
            <a:extLst>
              <a:ext uri="{FF2B5EF4-FFF2-40B4-BE49-F238E27FC236}">
                <a16:creationId xmlns:a16="http://schemas.microsoft.com/office/drawing/2014/main" id="{C30900F5-02F2-430B-8E3D-41B1FC36B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514600"/>
            <a:ext cx="67056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>
            <a:extLst>
              <a:ext uri="{FF2B5EF4-FFF2-40B4-BE49-F238E27FC236}">
                <a16:creationId xmlns:a16="http://schemas.microsoft.com/office/drawing/2014/main" id="{B419BD62-9DD5-4BBF-AD7A-1BE33B6A1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AB7E20-4ABF-434E-9846-98F7817BF41A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1209346" name="Text Box 2">
            <a:extLst>
              <a:ext uri="{FF2B5EF4-FFF2-40B4-BE49-F238E27FC236}">
                <a16:creationId xmlns:a16="http://schemas.microsoft.com/office/drawing/2014/main" id="{21A468EF-8C01-4DF4-B1F7-216FF405C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BAYESIAN CLASSIFICATION</a:t>
            </a:r>
          </a:p>
        </p:txBody>
      </p:sp>
      <p:sp>
        <p:nvSpPr>
          <p:cNvPr id="18436" name="Text Box 3">
            <a:extLst>
              <a:ext uri="{FF2B5EF4-FFF2-40B4-BE49-F238E27FC236}">
                <a16:creationId xmlns:a16="http://schemas.microsoft.com/office/drawing/2014/main" id="{C7C6B22C-0770-47D3-803C-0C2458F12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43000"/>
            <a:ext cx="8175625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Naïve (Simple) Bayesian Classification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Let C</a:t>
            </a:r>
            <a:r>
              <a:rPr lang="en-GB" altLang="en-US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class buy computer and C</a:t>
            </a:r>
            <a:r>
              <a:rPr lang="en-GB" altLang="en-US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class not buy computer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unknown sample: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X = {age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30, income = medium, student = yes, credit-rating = fair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prior probability of each class can be computed as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P(buy computer = yes) = 9/14 = 0.643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P(buy_computer = no) = 5/14 = 0.357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>
            <a:extLst>
              <a:ext uri="{FF2B5EF4-FFF2-40B4-BE49-F238E27FC236}">
                <a16:creationId xmlns:a16="http://schemas.microsoft.com/office/drawing/2014/main" id="{AFA8E1CD-E1C9-4339-8B78-40A23E03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6ADFFF-63F3-4D44-AD71-FFEEC82F1F2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1211394" name="Text Box 2">
            <a:extLst>
              <a:ext uri="{FF2B5EF4-FFF2-40B4-BE49-F238E27FC236}">
                <a16:creationId xmlns:a16="http://schemas.microsoft.com/office/drawing/2014/main" id="{142F4D96-80BA-4435-A04F-A1AFDA6C5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BAYESIAN CLASSIFICATION</a:t>
            </a:r>
          </a:p>
        </p:txBody>
      </p:sp>
      <p:sp>
        <p:nvSpPr>
          <p:cNvPr id="20484" name="Text Box 3">
            <a:extLst>
              <a:ext uri="{FF2B5EF4-FFF2-40B4-BE49-F238E27FC236}">
                <a16:creationId xmlns:a16="http://schemas.microsoft.com/office/drawing/2014/main" id="{9E475F6C-42BF-433A-9C18-B7438AC9B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43000"/>
            <a:ext cx="817562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Naïve (Simple) Bayesian Classification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To compute P(X|Ci) we compute the following conditional probabilities</a:t>
            </a:r>
          </a:p>
        </p:txBody>
      </p:sp>
      <p:pic>
        <p:nvPicPr>
          <p:cNvPr id="20485" name="Picture 4">
            <a:extLst>
              <a:ext uri="{FF2B5EF4-FFF2-40B4-BE49-F238E27FC236}">
                <a16:creationId xmlns:a16="http://schemas.microsoft.com/office/drawing/2014/main" id="{D2BD424B-FCDE-4382-8A04-E755E712C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352800"/>
            <a:ext cx="62484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>
            <a:extLst>
              <a:ext uri="{FF2B5EF4-FFF2-40B4-BE49-F238E27FC236}">
                <a16:creationId xmlns:a16="http://schemas.microsoft.com/office/drawing/2014/main" id="{14DBE81F-883C-4FAA-AEEE-69B1D92F7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07CC42-82F9-4BC3-A247-DE29CD39973F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1213442" name="Text Box 2">
            <a:extLst>
              <a:ext uri="{FF2B5EF4-FFF2-40B4-BE49-F238E27FC236}">
                <a16:creationId xmlns:a16="http://schemas.microsoft.com/office/drawing/2014/main" id="{909D16B0-3563-4575-9720-8ED20062D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BAYESIAN CLASSIFICATION</a:t>
            </a:r>
          </a:p>
        </p:txBody>
      </p:sp>
      <p:sp>
        <p:nvSpPr>
          <p:cNvPr id="22532" name="Text Box 3">
            <a:extLst>
              <a:ext uri="{FF2B5EF4-FFF2-40B4-BE49-F238E27FC236}">
                <a16:creationId xmlns:a16="http://schemas.microsoft.com/office/drawing/2014/main" id="{22F2D7E5-A6FD-4ABB-A273-BC13F82F1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43000"/>
            <a:ext cx="81756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Naïve (Simple) Bayesian Classification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Using the above probabilities we obtain</a:t>
            </a:r>
          </a:p>
        </p:txBody>
      </p:sp>
      <p:pic>
        <p:nvPicPr>
          <p:cNvPr id="22533" name="Picture 5">
            <a:extLst>
              <a:ext uri="{FF2B5EF4-FFF2-40B4-BE49-F238E27FC236}">
                <a16:creationId xmlns:a16="http://schemas.microsoft.com/office/drawing/2014/main" id="{4B32AB60-76D1-40A3-BE49-355A145E8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48000"/>
            <a:ext cx="7229475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Text Box 6">
            <a:extLst>
              <a:ext uri="{FF2B5EF4-FFF2-40B4-BE49-F238E27FC236}">
                <a16:creationId xmlns:a16="http://schemas.microsoft.com/office/drawing/2014/main" id="{21B99407-DD28-4026-A1BA-C3A1AD073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86200"/>
            <a:ext cx="81756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hence the naïve Bayesian classifier predicts that the student will buy computer, because</a:t>
            </a:r>
          </a:p>
        </p:txBody>
      </p:sp>
      <p:pic>
        <p:nvPicPr>
          <p:cNvPr id="22535" name="Picture 7">
            <a:extLst>
              <a:ext uri="{FF2B5EF4-FFF2-40B4-BE49-F238E27FC236}">
                <a16:creationId xmlns:a16="http://schemas.microsoft.com/office/drawing/2014/main" id="{78C60932-5688-431C-96CB-0F2D0118F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953000"/>
            <a:ext cx="75438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1">
            <a:extLst>
              <a:ext uri="{FF2B5EF4-FFF2-40B4-BE49-F238E27FC236}">
                <a16:creationId xmlns:a16="http://schemas.microsoft.com/office/drawing/2014/main" id="{BAE73B0E-2063-4AAA-9682-282718EF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028232-ACE4-4ED1-A837-9C74079A6E2F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/>
          </a:p>
        </p:txBody>
      </p:sp>
      <p:pic>
        <p:nvPicPr>
          <p:cNvPr id="24579" name="Picture 2">
            <a:extLst>
              <a:ext uri="{FF2B5EF4-FFF2-40B4-BE49-F238E27FC236}">
                <a16:creationId xmlns:a16="http://schemas.microsoft.com/office/drawing/2014/main" id="{08780A35-01A0-4C90-AF53-2F0096873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"/>
            <a:ext cx="8802688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TextBox 3">
            <a:extLst>
              <a:ext uri="{FF2B5EF4-FFF2-40B4-BE49-F238E27FC236}">
                <a16:creationId xmlns:a16="http://schemas.microsoft.com/office/drawing/2014/main" id="{FD938123-54D5-4746-BFA7-9396A58E0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477000"/>
            <a:ext cx="1600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New Instance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CDAADF-B7D7-497B-92B5-E44D3AD44C2D}"/>
              </a:ext>
            </a:extLst>
          </p:cNvPr>
          <p:cNvCxnSpPr/>
          <p:nvPr/>
        </p:nvCxnSpPr>
        <p:spPr>
          <a:xfrm flipV="1">
            <a:off x="1600200" y="6096000"/>
            <a:ext cx="457200" cy="304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1">
            <a:extLst>
              <a:ext uri="{FF2B5EF4-FFF2-40B4-BE49-F238E27FC236}">
                <a16:creationId xmlns:a16="http://schemas.microsoft.com/office/drawing/2014/main" id="{45711734-4450-4641-A9E8-E614FADA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6F7F32-B304-41AC-A758-ED22AB6C4AC9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76FE5-95BB-4F29-A9D6-8983E26D8D5C}"/>
              </a:ext>
            </a:extLst>
          </p:cNvPr>
          <p:cNvSpPr txBox="1"/>
          <p:nvPr/>
        </p:nvSpPr>
        <p:spPr>
          <a:xfrm>
            <a:off x="381000" y="166688"/>
            <a:ext cx="8305800" cy="64627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We want to classify the new instance in either YES or NO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We need to calculate the Prior Probabilities and Current Probabilities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Prior Probabilities in this case is the probability of YES and probability of NO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Count number of times YES is appearing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Count number of times NO is appearing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Total instances = 14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YES = 9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NO = 5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1">
            <a:extLst>
              <a:ext uri="{FF2B5EF4-FFF2-40B4-BE49-F238E27FC236}">
                <a16:creationId xmlns:a16="http://schemas.microsoft.com/office/drawing/2014/main" id="{7BF99656-B9AB-4E7B-BDEE-5D8952290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56631C-A8C6-43E9-B4A7-08BEA6C3E3F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  <p:pic>
        <p:nvPicPr>
          <p:cNvPr id="26627" name="Picture 2">
            <a:extLst>
              <a:ext uri="{FF2B5EF4-FFF2-40B4-BE49-F238E27FC236}">
                <a16:creationId xmlns:a16="http://schemas.microsoft.com/office/drawing/2014/main" id="{933DDCA3-2C24-4FA1-826C-356148ECC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" y="914400"/>
            <a:ext cx="8786813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1">
            <a:extLst>
              <a:ext uri="{FF2B5EF4-FFF2-40B4-BE49-F238E27FC236}">
                <a16:creationId xmlns:a16="http://schemas.microsoft.com/office/drawing/2014/main" id="{9894ADB8-C65D-40FE-A3F8-CCECE76F4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3D08FA-BA96-4107-826D-2719DA1740A8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DEB8E9-0A1C-4ADA-8827-CE4484FCA620}"/>
              </a:ext>
            </a:extLst>
          </p:cNvPr>
          <p:cNvSpPr txBox="1"/>
          <p:nvPr/>
        </p:nvSpPr>
        <p:spPr>
          <a:xfrm>
            <a:off x="304800" y="381000"/>
            <a:ext cx="8610600" cy="3140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Now we need to calculate the current probabilities or conditional probabilities of the individual attributes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As we have four attributes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Temperature Humidity Wind and Outlook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So we will calculate conditional probabilities of all these attributes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pic>
        <p:nvPicPr>
          <p:cNvPr id="27652" name="Picture 3">
            <a:extLst>
              <a:ext uri="{FF2B5EF4-FFF2-40B4-BE49-F238E27FC236}">
                <a16:creationId xmlns:a16="http://schemas.microsoft.com/office/drawing/2014/main" id="{FF99D7B0-62A7-4115-811D-380034A87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0"/>
            <a:ext cx="447675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3CA729-05EE-44DA-8EC7-87292BBB4A67}"/>
              </a:ext>
            </a:extLst>
          </p:cNvPr>
          <p:cNvSpPr txBox="1"/>
          <p:nvPr/>
        </p:nvSpPr>
        <p:spPr>
          <a:xfrm>
            <a:off x="4953000" y="3200400"/>
            <a:ext cx="3962400" cy="3694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9 YES instances and 5 NO instances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Count number of times sunny is appearing in YES and NO respectively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Similarly for Overcast and Rain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Similarly calculate for all the attributes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1">
            <a:extLst>
              <a:ext uri="{FF2B5EF4-FFF2-40B4-BE49-F238E27FC236}">
                <a16:creationId xmlns:a16="http://schemas.microsoft.com/office/drawing/2014/main" id="{8B5DD944-E70E-40E2-B3C4-4306EA52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90DA49-9552-47BF-B7F0-205BF2660E5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  <p:pic>
        <p:nvPicPr>
          <p:cNvPr id="28675" name="Picture 2">
            <a:extLst>
              <a:ext uri="{FF2B5EF4-FFF2-40B4-BE49-F238E27FC236}">
                <a16:creationId xmlns:a16="http://schemas.microsoft.com/office/drawing/2014/main" id="{A3BA3C15-3652-42FA-8637-B2C1337F4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66213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Box 3">
            <a:extLst>
              <a:ext uri="{FF2B5EF4-FFF2-40B4-BE49-F238E27FC236}">
                <a16:creationId xmlns:a16="http://schemas.microsoft.com/office/drawing/2014/main" id="{0DEC9A46-B38B-465F-898B-9A763E09B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95800"/>
            <a:ext cx="40386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Now lets classify the new instance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  <a:r>
              <a:rPr lang="en-US" altLang="en-US" sz="1800" baseline="-25000"/>
              <a:t>i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aseline="-25000"/>
              <a:t> </a:t>
            </a:r>
            <a:r>
              <a:rPr lang="en-US" altLang="en-US" sz="1800"/>
              <a:t>   is the given new instance values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V</a:t>
            </a:r>
            <a:r>
              <a:rPr lang="en-US" altLang="en-US" sz="1800" baseline="-25000"/>
              <a:t>j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 Possible outcome class </a:t>
            </a:r>
            <a:endParaRPr lang="en-US" altLang="en-US" sz="1800" baseline="-25000"/>
          </a:p>
        </p:txBody>
      </p:sp>
      <p:sp>
        <p:nvSpPr>
          <p:cNvPr id="28677" name="TextBox 4">
            <a:extLst>
              <a:ext uri="{FF2B5EF4-FFF2-40B4-BE49-F238E27FC236}">
                <a16:creationId xmlns:a16="http://schemas.microsoft.com/office/drawing/2014/main" id="{67BE4CB5-D978-422A-89F5-7DA5937FE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648200"/>
            <a:ext cx="411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Probability normalization formula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2FA3F6-F48E-4BAA-ADF3-C807D9DE3534}"/>
              </a:ext>
            </a:extLst>
          </p:cNvPr>
          <p:cNvCxnSpPr/>
          <p:nvPr/>
        </p:nvCxnSpPr>
        <p:spPr>
          <a:xfrm flipV="1">
            <a:off x="5410200" y="4343400"/>
            <a:ext cx="457200" cy="304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9" name="TextBox 6">
            <a:extLst>
              <a:ext uri="{FF2B5EF4-FFF2-40B4-BE49-F238E27FC236}">
                <a16:creationId xmlns:a16="http://schemas.microsoft.com/office/drawing/2014/main" id="{78CEDF24-09C9-4815-8E32-225FC904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181600"/>
            <a:ext cx="42656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Highest probability gives the class of the new instance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Adding both probabilities will result in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1">
            <a:extLst>
              <a:ext uri="{FF2B5EF4-FFF2-40B4-BE49-F238E27FC236}">
                <a16:creationId xmlns:a16="http://schemas.microsoft.com/office/drawing/2014/main" id="{78FE2FAA-53BA-4006-A4A5-85CFFEA4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FF87C5-7745-4F02-9B84-01AEED199E9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/>
          </a:p>
        </p:txBody>
      </p:sp>
      <p:pic>
        <p:nvPicPr>
          <p:cNvPr id="29699" name="Picture 2">
            <a:extLst>
              <a:ext uri="{FF2B5EF4-FFF2-40B4-BE49-F238E27FC236}">
                <a16:creationId xmlns:a16="http://schemas.microsoft.com/office/drawing/2014/main" id="{D5392DBD-3463-4C64-977F-BE7D60B0E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381000"/>
            <a:ext cx="91059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1">
            <a:extLst>
              <a:ext uri="{FF2B5EF4-FFF2-40B4-BE49-F238E27FC236}">
                <a16:creationId xmlns:a16="http://schemas.microsoft.com/office/drawing/2014/main" id="{FD8283CB-D9F9-4A00-887C-584D73C29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8EA524-7D1F-4B66-B0E4-702EF9D5E4E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/>
          </a:p>
        </p:txBody>
      </p:sp>
      <p:pic>
        <p:nvPicPr>
          <p:cNvPr id="30723" name="Picture 2">
            <a:extLst>
              <a:ext uri="{FF2B5EF4-FFF2-40B4-BE49-F238E27FC236}">
                <a16:creationId xmlns:a16="http://schemas.microsoft.com/office/drawing/2014/main" id="{32A19D11-8748-4B25-85F6-A64F59B0D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152400"/>
            <a:ext cx="4024312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TextBox 3">
            <a:extLst>
              <a:ext uri="{FF2B5EF4-FFF2-40B4-BE49-F238E27FC236}">
                <a16:creationId xmlns:a16="http://schemas.microsoft.com/office/drawing/2014/main" id="{6CBF0F69-7F1E-4D88-8BDD-A9884FB4F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33400"/>
            <a:ext cx="2895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Prior Probabilities</a:t>
            </a:r>
          </a:p>
        </p:txBody>
      </p:sp>
      <p:pic>
        <p:nvPicPr>
          <p:cNvPr id="30725" name="Picture 4">
            <a:extLst>
              <a:ext uri="{FF2B5EF4-FFF2-40B4-BE49-F238E27FC236}">
                <a16:creationId xmlns:a16="http://schemas.microsoft.com/office/drawing/2014/main" id="{BBFA8FDC-61C5-4510-BE9E-CBE67E229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990600"/>
            <a:ext cx="449580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Box 5">
            <a:extLst>
              <a:ext uri="{FF2B5EF4-FFF2-40B4-BE49-F238E27FC236}">
                <a16:creationId xmlns:a16="http://schemas.microsoft.com/office/drawing/2014/main" id="{291ED963-896A-484F-B534-1CFB99E21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590800"/>
            <a:ext cx="2895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Conditional Probabilities</a:t>
            </a:r>
          </a:p>
        </p:txBody>
      </p:sp>
      <p:pic>
        <p:nvPicPr>
          <p:cNvPr id="30727" name="Picture 6">
            <a:extLst>
              <a:ext uri="{FF2B5EF4-FFF2-40B4-BE49-F238E27FC236}">
                <a16:creationId xmlns:a16="http://schemas.microsoft.com/office/drawing/2014/main" id="{6D51C4C0-2889-4C06-AD40-03981CEB3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0" y="3124200"/>
            <a:ext cx="4883150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1">
            <a:extLst>
              <a:ext uri="{FF2B5EF4-FFF2-40B4-BE49-F238E27FC236}">
                <a16:creationId xmlns:a16="http://schemas.microsoft.com/office/drawing/2014/main" id="{C0D71D8F-ED6E-4D7E-8E39-4C19E86FC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3FA828-F5B3-41F0-A396-0B6D477C8F6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10037F7A-AACB-4012-80B5-58B16B418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04800"/>
            <a:ext cx="90424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1">
            <a:extLst>
              <a:ext uri="{FF2B5EF4-FFF2-40B4-BE49-F238E27FC236}">
                <a16:creationId xmlns:a16="http://schemas.microsoft.com/office/drawing/2014/main" id="{1B23B548-3CFB-4B79-902A-2903AAD97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B3A11F-53CD-4BA9-B691-25346B5064C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pic>
        <p:nvPicPr>
          <p:cNvPr id="32771" name="Picture 2">
            <a:extLst>
              <a:ext uri="{FF2B5EF4-FFF2-40B4-BE49-F238E27FC236}">
                <a16:creationId xmlns:a16="http://schemas.microsoft.com/office/drawing/2014/main" id="{B3E51795-07E8-4C31-B456-530D5D1D4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84872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Picture 3">
            <a:extLst>
              <a:ext uri="{FF2B5EF4-FFF2-40B4-BE49-F238E27FC236}">
                <a16:creationId xmlns:a16="http://schemas.microsoft.com/office/drawing/2014/main" id="{409F33BB-7F9F-44A3-ABAB-8CD330B9D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508625"/>
            <a:ext cx="9012238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1">
            <a:extLst>
              <a:ext uri="{FF2B5EF4-FFF2-40B4-BE49-F238E27FC236}">
                <a16:creationId xmlns:a16="http://schemas.microsoft.com/office/drawing/2014/main" id="{F500E78D-E3B8-40A0-AF1A-DCC7DDF78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04478D-BDFB-4DCE-8918-8C19F639E751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/>
          </a:p>
        </p:txBody>
      </p:sp>
      <p:pic>
        <p:nvPicPr>
          <p:cNvPr id="33795" name="Picture 2">
            <a:extLst>
              <a:ext uri="{FF2B5EF4-FFF2-40B4-BE49-F238E27FC236}">
                <a16:creationId xmlns:a16="http://schemas.microsoft.com/office/drawing/2014/main" id="{73DF8BE1-FDBA-4880-A55D-A47DB681B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58913"/>
            <a:ext cx="8693150" cy="478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TextBox 3">
            <a:extLst>
              <a:ext uri="{FF2B5EF4-FFF2-40B4-BE49-F238E27FC236}">
                <a16:creationId xmlns:a16="http://schemas.microsoft.com/office/drawing/2014/main" id="{72AD54A0-6F08-4D54-901B-BD33D0783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20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Calculate Prior and Conditional Probabilities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1">
            <a:extLst>
              <a:ext uri="{FF2B5EF4-FFF2-40B4-BE49-F238E27FC236}">
                <a16:creationId xmlns:a16="http://schemas.microsoft.com/office/drawing/2014/main" id="{4EADA8D1-E027-426C-B774-353C990B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8E57D2-67F7-4561-8D9C-A5F6528E3EB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/>
          </a:p>
        </p:txBody>
      </p:sp>
      <p:pic>
        <p:nvPicPr>
          <p:cNvPr id="34819" name="Picture 2">
            <a:extLst>
              <a:ext uri="{FF2B5EF4-FFF2-40B4-BE49-F238E27FC236}">
                <a16:creationId xmlns:a16="http://schemas.microsoft.com/office/drawing/2014/main" id="{B503DB10-8D71-476B-B21A-47E7B8677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" y="762000"/>
            <a:ext cx="9064625" cy="345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842EB5B25AA94681E01C533BC4E547" ma:contentTypeVersion="3" ma:contentTypeDescription="Create a new document." ma:contentTypeScope="" ma:versionID="5e8853d87939594dd11300b895153a60">
  <xsd:schema xmlns:xsd="http://www.w3.org/2001/XMLSchema" xmlns:xs="http://www.w3.org/2001/XMLSchema" xmlns:p="http://schemas.microsoft.com/office/2006/metadata/properties" xmlns:ns2="b1cd9ac4-537d-4700-ace9-c3dc8aafaf16" targetNamespace="http://schemas.microsoft.com/office/2006/metadata/properties" ma:root="true" ma:fieldsID="cc6f7d3b10a75145a31d85fa157930a3" ns2:_="">
    <xsd:import namespace="b1cd9ac4-537d-4700-ace9-c3dc8aafaf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d9ac4-537d-4700-ace9-c3dc8aafaf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945FE5-E051-439C-BA2E-4A8BC4A94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cd9ac4-537d-4700-ace9-c3dc8aafaf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2EE8EC-EE96-472E-B128-D4A1A06E4A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6882</TotalTime>
  <Words>699</Words>
  <Application>Microsoft Office PowerPoint</Application>
  <PresentationFormat>On-screen Show (4:3)</PresentationFormat>
  <Paragraphs>158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Times New Roman</vt:lpstr>
      <vt:lpstr>Symbol</vt:lpstr>
      <vt:lpstr>1_Default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app</cp:lastModifiedBy>
  <cp:revision>429</cp:revision>
  <cp:lastPrinted>2004-03-25T06:21:57Z</cp:lastPrinted>
  <dcterms:created xsi:type="dcterms:W3CDTF">2004-01-24T06:24:18Z</dcterms:created>
  <dcterms:modified xsi:type="dcterms:W3CDTF">2026-04-24T17:45:32Z</dcterms:modified>
</cp:coreProperties>
</file>