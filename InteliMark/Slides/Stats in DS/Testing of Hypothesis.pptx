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3" r:id="rId7"/>
    <p:sldId id="262" r:id="rId8"/>
    <p:sldId id="264" r:id="rId9"/>
    <p:sldId id="266" r:id="rId10"/>
    <p:sldId id="265" r:id="rId11"/>
    <p:sldId id="267" r:id="rId12"/>
    <p:sldId id="268" r:id="rId13"/>
    <p:sldId id="269" r:id="rId14"/>
    <p:sldId id="270" r:id="rId15"/>
    <p:sldId id="271" r:id="rId16"/>
    <p:sldId id="272" r:id="rId17"/>
    <p:sldId id="275" r:id="rId18"/>
    <p:sldId id="274" r:id="rId19"/>
    <p:sldId id="273" r:id="rId20"/>
    <p:sldId id="276" r:id="rId21"/>
    <p:sldId id="277" r:id="rId22"/>
    <p:sldId id="281" r:id="rId23"/>
    <p:sldId id="278" r:id="rId24"/>
    <p:sldId id="279" r:id="rId25"/>
    <p:sldId id="280" r:id="rId26"/>
    <p:sldId id="282" r:id="rId27"/>
    <p:sldId id="283" r:id="rId28"/>
    <p:sldId id="26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2932102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76114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3857131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6" name="Footer Placeholder 5"/>
          <p:cNvSpPr>
            <a:spLocks noGrp="1"/>
          </p:cNvSpPr>
          <p:nvPr>
            <p:ph type="ftr" sz="quarter" idx="11"/>
          </p:nvPr>
        </p:nvSpPr>
        <p:spPr/>
        <p:txBody>
          <a:bodyPr/>
          <a:lstStyle/>
          <a:p>
            <a:endParaRPr lang="LID4096"/>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3443225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8" name="Footer Placeholder 7"/>
          <p:cNvSpPr>
            <a:spLocks noGrp="1"/>
          </p:cNvSpPr>
          <p:nvPr>
            <p:ph type="ftr" sz="quarter" idx="11"/>
          </p:nvPr>
        </p:nvSpPr>
        <p:spPr/>
        <p:txBody>
          <a:bodyPr/>
          <a:lstStyle/>
          <a:p>
            <a:endParaRPr lang="LID4096"/>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256777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4" name="Footer Placeholder 3"/>
          <p:cNvSpPr>
            <a:spLocks noGrp="1"/>
          </p:cNvSpPr>
          <p:nvPr>
            <p:ph type="ftr" sz="quarter" idx="11"/>
          </p:nvPr>
        </p:nvSpPr>
        <p:spPr/>
        <p:txBody>
          <a:bodyPr/>
          <a:lstStyle/>
          <a:p>
            <a:endParaRPr lang="LID4096"/>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996023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3" name="Footer Placeholder 2"/>
          <p:cNvSpPr>
            <a:spLocks noGrp="1"/>
          </p:cNvSpPr>
          <p:nvPr>
            <p:ph type="ftr" sz="quarter" idx="11"/>
          </p:nvPr>
        </p:nvSpPr>
        <p:spPr/>
        <p:txBody>
          <a:bodyPr/>
          <a:lstStyle/>
          <a:p>
            <a:endParaRPr lang="LID4096"/>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410869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6" name="Footer Placeholder 5"/>
          <p:cNvSpPr>
            <a:spLocks noGrp="1"/>
          </p:cNvSpPr>
          <p:nvPr>
            <p:ph type="ftr" sz="quarter" idx="11"/>
          </p:nvPr>
        </p:nvSpPr>
        <p:spPr/>
        <p:txBody>
          <a:bodyPr/>
          <a:lstStyle/>
          <a:p>
            <a:endParaRPr lang="LID4096"/>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1440050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6" name="Footer Placeholder 5"/>
          <p:cNvSpPr>
            <a:spLocks noGrp="1"/>
          </p:cNvSpPr>
          <p:nvPr>
            <p:ph type="ftr" sz="quarter" idx="11"/>
          </p:nvPr>
        </p:nvSpPr>
        <p:spPr/>
        <p:txBody>
          <a:bodyPr/>
          <a:lstStyle/>
          <a:p>
            <a:endParaRPr lang="LID4096"/>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2588446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2288828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367F58C-B925-40B3-A337-FB8F3F013DAD}" type="slidenum">
              <a:rPr lang="LID4096" smtClean="0"/>
              <a:t>‹#›</a:t>
            </a:fld>
            <a:endParaRPr lang="LID4096"/>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42419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6" name="Footer Placeholder 5"/>
          <p:cNvSpPr>
            <a:spLocks noGrp="1"/>
          </p:cNvSpPr>
          <p:nvPr>
            <p:ph type="ftr" sz="quarter" idx="11"/>
          </p:nvPr>
        </p:nvSpPr>
        <p:spPr/>
        <p:txBody>
          <a:bodyPr/>
          <a:lstStyle/>
          <a:p>
            <a:endParaRPr lang="LID4096"/>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908326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6" name="Footer Placeholder 5"/>
          <p:cNvSpPr>
            <a:spLocks noGrp="1"/>
          </p:cNvSpPr>
          <p:nvPr>
            <p:ph type="ftr" sz="quarter" idx="11"/>
          </p:nvPr>
        </p:nvSpPr>
        <p:spPr/>
        <p:txBody>
          <a:bodyPr/>
          <a:lstStyle/>
          <a:p>
            <a:endParaRPr lang="LID4096"/>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67F58C-B925-40B3-A337-FB8F3F013DAD}" type="slidenum">
              <a:rPr lang="LID4096" smtClean="0"/>
              <a:t>‹#›</a:t>
            </a:fld>
            <a:endParaRPr lang="LID4096"/>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80400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6" name="Footer Placeholder 5"/>
          <p:cNvSpPr>
            <a:spLocks noGrp="1"/>
          </p:cNvSpPr>
          <p:nvPr>
            <p:ph type="ftr" sz="quarter" idx="11"/>
          </p:nvPr>
        </p:nvSpPr>
        <p:spPr/>
        <p:txBody>
          <a:bodyPr/>
          <a:lstStyle/>
          <a:p>
            <a:endParaRPr lang="LID4096"/>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6481050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3540012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597D2-1B7F-42F7-9D02-DAD613459E33}" type="datetimeFigureOut">
              <a:rPr lang="LID4096" smtClean="0"/>
              <a:t>04/29/2024</a:t>
            </a:fld>
            <a:endParaRPr lang="LID4096"/>
          </a:p>
        </p:txBody>
      </p:sp>
      <p:sp>
        <p:nvSpPr>
          <p:cNvPr id="5" name="Footer Placeholder 4"/>
          <p:cNvSpPr>
            <a:spLocks noGrp="1"/>
          </p:cNvSpPr>
          <p:nvPr>
            <p:ph type="ftr" sz="quarter" idx="11"/>
          </p:nvPr>
        </p:nvSpPr>
        <p:spPr/>
        <p:txBody>
          <a:bodyPr/>
          <a:lstStyle/>
          <a:p>
            <a:endParaRPr lang="LID4096"/>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367F58C-B925-40B3-A337-FB8F3F013DAD}" type="slidenum">
              <a:rPr lang="LID4096" smtClean="0"/>
              <a:t>‹#›</a:t>
            </a:fld>
            <a:endParaRPr lang="LID4096"/>
          </a:p>
        </p:txBody>
      </p:sp>
    </p:spTree>
    <p:extLst>
      <p:ext uri="{BB962C8B-B14F-4D97-AF65-F5344CB8AC3E}">
        <p14:creationId xmlns:p14="http://schemas.microsoft.com/office/powerpoint/2010/main" val="1199769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A0597D2-1B7F-42F7-9D02-DAD613459E33}" type="datetimeFigureOut">
              <a:rPr lang="LID4096" smtClean="0"/>
              <a:t>04/29/2024</a:t>
            </a:fld>
            <a:endParaRPr lang="LID4096"/>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LID4096"/>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367F58C-B925-40B3-A337-FB8F3F013DAD}" type="slidenum">
              <a:rPr lang="LID4096" smtClean="0"/>
              <a:t>‹#›</a:t>
            </a:fld>
            <a:endParaRPr lang="LID4096"/>
          </a:p>
        </p:txBody>
      </p:sp>
    </p:spTree>
    <p:extLst>
      <p:ext uri="{BB962C8B-B14F-4D97-AF65-F5344CB8AC3E}">
        <p14:creationId xmlns:p14="http://schemas.microsoft.com/office/powerpoint/2010/main" val="29072841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E3AB-9670-FC0E-0BBE-B5DC7FC69A4D}"/>
              </a:ext>
            </a:extLst>
          </p:cNvPr>
          <p:cNvSpPr>
            <a:spLocks noGrp="1"/>
          </p:cNvSpPr>
          <p:nvPr>
            <p:ph type="ctrTitle"/>
          </p:nvPr>
        </p:nvSpPr>
        <p:spPr>
          <a:xfrm>
            <a:off x="1524000" y="406400"/>
            <a:ext cx="9144000" cy="2387600"/>
          </a:xfrm>
        </p:spPr>
        <p:txBody>
          <a:bodyPr/>
          <a:lstStyle/>
          <a:p>
            <a:r>
              <a:rPr lang="en-GB" dirty="0"/>
              <a:t>Testing of Hypothesis</a:t>
            </a:r>
            <a:endParaRPr lang="LID4096" dirty="0"/>
          </a:p>
        </p:txBody>
      </p:sp>
      <p:sp>
        <p:nvSpPr>
          <p:cNvPr id="3" name="Subtitle 2">
            <a:extLst>
              <a:ext uri="{FF2B5EF4-FFF2-40B4-BE49-F238E27FC236}">
                <a16:creationId xmlns:a16="http://schemas.microsoft.com/office/drawing/2014/main" id="{7FABC641-0313-2FBA-6228-01BFEFE6A075}"/>
              </a:ext>
            </a:extLst>
          </p:cNvPr>
          <p:cNvSpPr>
            <a:spLocks noGrp="1"/>
          </p:cNvSpPr>
          <p:nvPr>
            <p:ph type="subTitle" idx="1"/>
          </p:nvPr>
        </p:nvSpPr>
        <p:spPr>
          <a:xfrm>
            <a:off x="2244656" y="4194283"/>
            <a:ext cx="8915399" cy="1126283"/>
          </a:xfrm>
        </p:spPr>
        <p:txBody>
          <a:bodyPr>
            <a:normAutofit lnSpcReduction="10000"/>
          </a:bodyPr>
          <a:lstStyle/>
          <a:p>
            <a:r>
              <a:rPr lang="en-GB" dirty="0"/>
              <a:t>By: Basharat Mahmood</a:t>
            </a:r>
          </a:p>
          <a:p>
            <a:r>
              <a:rPr lang="en-GB" dirty="0"/>
              <a:t>Department of Computer Science,</a:t>
            </a:r>
          </a:p>
          <a:p>
            <a:r>
              <a:rPr lang="en-GB" dirty="0"/>
              <a:t>COMSATS University Islamabad, Pakistan.</a:t>
            </a:r>
            <a:endParaRPr lang="LID4096" dirty="0"/>
          </a:p>
        </p:txBody>
      </p:sp>
    </p:spTree>
    <p:extLst>
      <p:ext uri="{BB962C8B-B14F-4D97-AF65-F5344CB8AC3E}">
        <p14:creationId xmlns:p14="http://schemas.microsoft.com/office/powerpoint/2010/main" val="2848342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C3062-8059-B9FF-5F7F-F0E167438B5C}"/>
              </a:ext>
            </a:extLst>
          </p:cNvPr>
          <p:cNvSpPr>
            <a:spLocks noGrp="1"/>
          </p:cNvSpPr>
          <p:nvPr>
            <p:ph type="title"/>
          </p:nvPr>
        </p:nvSpPr>
        <p:spPr/>
        <p:txBody>
          <a:bodyPr/>
          <a:lstStyle/>
          <a:p>
            <a:r>
              <a:rPr lang="en-GB" dirty="0"/>
              <a:t>Outline</a:t>
            </a:r>
            <a:endParaRPr lang="LID4096" dirty="0"/>
          </a:p>
        </p:txBody>
      </p:sp>
      <p:sp>
        <p:nvSpPr>
          <p:cNvPr id="3" name="Content Placeholder 2">
            <a:extLst>
              <a:ext uri="{FF2B5EF4-FFF2-40B4-BE49-F238E27FC236}">
                <a16:creationId xmlns:a16="http://schemas.microsoft.com/office/drawing/2014/main" id="{19D1BAC4-85B9-7890-BEF6-915F52E800D8}"/>
              </a:ext>
            </a:extLst>
          </p:cNvPr>
          <p:cNvSpPr>
            <a:spLocks noGrp="1"/>
          </p:cNvSpPr>
          <p:nvPr>
            <p:ph idx="1"/>
          </p:nvPr>
        </p:nvSpPr>
        <p:spPr/>
        <p:txBody>
          <a:bodyPr/>
          <a:lstStyle/>
          <a:p>
            <a:r>
              <a:rPr lang="en-GB" dirty="0"/>
              <a:t>Introduction to testing of hypothesis</a:t>
            </a:r>
          </a:p>
          <a:p>
            <a:r>
              <a:rPr lang="en-GB" dirty="0"/>
              <a:t>Testing of Hypothesis about Population Mean</a:t>
            </a:r>
          </a:p>
          <a:p>
            <a:r>
              <a:rPr lang="en-GB" dirty="0"/>
              <a:t>Testing of Hypothesis about Two Population Means</a:t>
            </a:r>
          </a:p>
          <a:p>
            <a:r>
              <a:rPr lang="en-GB" dirty="0"/>
              <a:t>Testing of Hypothesis about Population Proportion</a:t>
            </a:r>
            <a:endParaRPr lang="LID4096" dirty="0"/>
          </a:p>
        </p:txBody>
      </p:sp>
    </p:spTree>
    <p:extLst>
      <p:ext uri="{BB962C8B-B14F-4D97-AF65-F5344CB8AC3E}">
        <p14:creationId xmlns:p14="http://schemas.microsoft.com/office/powerpoint/2010/main" val="1689843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7127-580A-EFA8-04D8-39953BF87227}"/>
              </a:ext>
            </a:extLst>
          </p:cNvPr>
          <p:cNvSpPr>
            <a:spLocks noGrp="1"/>
          </p:cNvSpPr>
          <p:nvPr>
            <p:ph type="title"/>
          </p:nvPr>
        </p:nvSpPr>
        <p:spPr/>
        <p:txBody>
          <a:bodyPr/>
          <a:lstStyle/>
          <a:p>
            <a:r>
              <a:rPr lang="en-GB" dirty="0"/>
              <a:t>1. Introduction to testing of hypothesis</a:t>
            </a:r>
            <a:endParaRPr lang="LID4096" dirty="0"/>
          </a:p>
        </p:txBody>
      </p:sp>
      <p:sp>
        <p:nvSpPr>
          <p:cNvPr id="3" name="Content Placeholder 2">
            <a:extLst>
              <a:ext uri="{FF2B5EF4-FFF2-40B4-BE49-F238E27FC236}">
                <a16:creationId xmlns:a16="http://schemas.microsoft.com/office/drawing/2014/main" id="{A58A3127-5D20-5CE7-EA1D-E1A5263C3574}"/>
              </a:ext>
            </a:extLst>
          </p:cNvPr>
          <p:cNvSpPr>
            <a:spLocks noGrp="1"/>
          </p:cNvSpPr>
          <p:nvPr>
            <p:ph idx="1"/>
          </p:nvPr>
        </p:nvSpPr>
        <p:spPr/>
        <p:txBody>
          <a:bodyPr/>
          <a:lstStyle/>
          <a:p>
            <a:r>
              <a:rPr lang="en-GB" sz="2400" dirty="0"/>
              <a:t>Often, the problem confronting the scientist or engineer is not the estimation of a population parameter, but rather the formation of a data-based decision procedure that can produce a conclusion about some scientiﬁc system</a:t>
            </a:r>
          </a:p>
          <a:p>
            <a:pPr lvl="1"/>
            <a:r>
              <a:rPr lang="en-GB" sz="1800" dirty="0"/>
              <a:t>a medical researcher may decide on the basis of experimental evidence whether coﬀee drinking increases the risk of cancer in humans</a:t>
            </a:r>
          </a:p>
          <a:p>
            <a:pPr lvl="1"/>
            <a:r>
              <a:rPr lang="en-GB" sz="1800" dirty="0"/>
              <a:t>an engineer might have to decide on the basis of sample data whether there is a diﬀerence between the accuracy of two kinds of gauges</a:t>
            </a:r>
            <a:endParaRPr lang="LID4096" sz="1800" dirty="0"/>
          </a:p>
        </p:txBody>
      </p:sp>
    </p:spTree>
    <p:extLst>
      <p:ext uri="{BB962C8B-B14F-4D97-AF65-F5344CB8AC3E}">
        <p14:creationId xmlns:p14="http://schemas.microsoft.com/office/powerpoint/2010/main" val="262629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CF49-2F1F-3D2C-36AB-42DBB3365073}"/>
              </a:ext>
            </a:extLst>
          </p:cNvPr>
          <p:cNvSpPr>
            <a:spLocks noGrp="1"/>
          </p:cNvSpPr>
          <p:nvPr>
            <p:ph type="title"/>
          </p:nvPr>
        </p:nvSpPr>
        <p:spPr/>
        <p:txBody>
          <a:bodyPr/>
          <a:lstStyle/>
          <a:p>
            <a:r>
              <a:rPr lang="en-GB" dirty="0"/>
              <a:t>1. Introduction to testing of hypothesis …</a:t>
            </a:r>
            <a:endParaRPr lang="LID4096" dirty="0"/>
          </a:p>
        </p:txBody>
      </p:sp>
      <p:sp>
        <p:nvSpPr>
          <p:cNvPr id="3" name="Content Placeholder 2">
            <a:extLst>
              <a:ext uri="{FF2B5EF4-FFF2-40B4-BE49-F238E27FC236}">
                <a16:creationId xmlns:a16="http://schemas.microsoft.com/office/drawing/2014/main" id="{A291EE87-B7CB-D016-6AFF-B361CCB6AE37}"/>
              </a:ext>
            </a:extLst>
          </p:cNvPr>
          <p:cNvSpPr>
            <a:spLocks noGrp="1"/>
          </p:cNvSpPr>
          <p:nvPr>
            <p:ph idx="1"/>
          </p:nvPr>
        </p:nvSpPr>
        <p:spPr/>
        <p:txBody>
          <a:bodyPr/>
          <a:lstStyle/>
          <a:p>
            <a:pPr eaLnBrk="0" hangingPunct="0">
              <a:buFontTx/>
              <a:buChar char="•"/>
            </a:pPr>
            <a:r>
              <a:rPr lang="en-US" altLang="LID4096" sz="2400" dirty="0">
                <a:solidFill>
                  <a:schemeClr val="tx1"/>
                </a:solidFill>
              </a:rPr>
              <a:t>The field of statistical inference consists of those methods used to make decisions or draw conclusions about a </a:t>
            </a:r>
            <a:r>
              <a:rPr lang="en-US" altLang="LID4096" sz="2400" b="1" dirty="0">
                <a:solidFill>
                  <a:schemeClr val="tx1"/>
                </a:solidFill>
              </a:rPr>
              <a:t>population</a:t>
            </a:r>
          </a:p>
          <a:p>
            <a:pPr eaLnBrk="0" hangingPunct="0">
              <a:buFontTx/>
              <a:buChar char="•"/>
            </a:pPr>
            <a:r>
              <a:rPr lang="en-US" altLang="LID4096" sz="2400" dirty="0">
                <a:solidFill>
                  <a:schemeClr val="tx1"/>
                </a:solidFill>
              </a:rPr>
              <a:t>These methods utilize the information contained in a </a:t>
            </a:r>
            <a:r>
              <a:rPr lang="en-US" altLang="LID4096" sz="2400" b="1" dirty="0">
                <a:solidFill>
                  <a:schemeClr val="tx1"/>
                </a:solidFill>
              </a:rPr>
              <a:t>sample </a:t>
            </a:r>
            <a:r>
              <a:rPr lang="en-US" altLang="LID4096" sz="2400" dirty="0">
                <a:solidFill>
                  <a:schemeClr val="tx1"/>
                </a:solidFill>
              </a:rPr>
              <a:t>from the population in drawing conclusions </a:t>
            </a:r>
          </a:p>
          <a:p>
            <a:pPr marL="0" indent="0">
              <a:buNone/>
            </a:pPr>
            <a:endParaRPr lang="LID4096" dirty="0"/>
          </a:p>
        </p:txBody>
      </p:sp>
    </p:spTree>
    <p:extLst>
      <p:ext uri="{BB962C8B-B14F-4D97-AF65-F5344CB8AC3E}">
        <p14:creationId xmlns:p14="http://schemas.microsoft.com/office/powerpoint/2010/main" val="2757172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CF49-2F1F-3D2C-36AB-42DBB3365073}"/>
              </a:ext>
            </a:extLst>
          </p:cNvPr>
          <p:cNvSpPr>
            <a:spLocks noGrp="1"/>
          </p:cNvSpPr>
          <p:nvPr>
            <p:ph type="title"/>
          </p:nvPr>
        </p:nvSpPr>
        <p:spPr/>
        <p:txBody>
          <a:bodyPr/>
          <a:lstStyle/>
          <a:p>
            <a:r>
              <a:rPr lang="en-GB" dirty="0"/>
              <a:t>1. Introduction to testing of hypothesis …</a:t>
            </a:r>
            <a:endParaRPr lang="LID4096" dirty="0"/>
          </a:p>
        </p:txBody>
      </p:sp>
      <p:sp>
        <p:nvSpPr>
          <p:cNvPr id="3" name="Content Placeholder 2">
            <a:extLst>
              <a:ext uri="{FF2B5EF4-FFF2-40B4-BE49-F238E27FC236}">
                <a16:creationId xmlns:a16="http://schemas.microsoft.com/office/drawing/2014/main" id="{A291EE87-B7CB-D016-6AFF-B361CCB6AE37}"/>
              </a:ext>
            </a:extLst>
          </p:cNvPr>
          <p:cNvSpPr>
            <a:spLocks noGrp="1"/>
          </p:cNvSpPr>
          <p:nvPr>
            <p:ph idx="1"/>
          </p:nvPr>
        </p:nvSpPr>
        <p:spPr/>
        <p:txBody>
          <a:bodyPr/>
          <a:lstStyle/>
          <a:p>
            <a:pPr eaLnBrk="0" hangingPunct="0">
              <a:buFontTx/>
              <a:buChar char="•"/>
            </a:pPr>
            <a:r>
              <a:rPr lang="en-GB" altLang="LID4096" sz="2400" dirty="0"/>
              <a:t>A </a:t>
            </a:r>
            <a:r>
              <a:rPr lang="en-GB" altLang="LID4096" sz="2400" b="1" dirty="0"/>
              <a:t>statistical hypothesis </a:t>
            </a:r>
            <a:r>
              <a:rPr lang="en-GB" altLang="LID4096" sz="2400" dirty="0"/>
              <a:t>is an assertion or conjecture concerning one or more populations</a:t>
            </a:r>
          </a:p>
          <a:p>
            <a:pPr eaLnBrk="0" hangingPunct="0">
              <a:buFontTx/>
              <a:buChar char="•"/>
            </a:pPr>
            <a:r>
              <a:rPr lang="en-GB" altLang="LID4096" sz="2400" dirty="0"/>
              <a:t>we take a random sample from the population of interest </a:t>
            </a:r>
          </a:p>
          <a:p>
            <a:pPr eaLnBrk="0" hangingPunct="0">
              <a:buFontTx/>
              <a:buChar char="•"/>
            </a:pPr>
            <a:r>
              <a:rPr lang="en-GB" altLang="LID4096" sz="2400" dirty="0"/>
              <a:t>use the data contained in this sample to provide evidence that either supports or does not support the hypothesis </a:t>
            </a:r>
          </a:p>
          <a:p>
            <a:pPr lvl="1" eaLnBrk="0" hangingPunct="0">
              <a:buFontTx/>
              <a:buChar char="•"/>
            </a:pPr>
            <a:r>
              <a:rPr lang="en-GB" altLang="LID4096" sz="1800" dirty="0"/>
              <a:t>rejection of a hypothesis implies that the sample evidence refutes it</a:t>
            </a:r>
          </a:p>
          <a:p>
            <a:endParaRPr lang="LID4096" dirty="0"/>
          </a:p>
        </p:txBody>
      </p:sp>
    </p:spTree>
    <p:extLst>
      <p:ext uri="{BB962C8B-B14F-4D97-AF65-F5344CB8AC3E}">
        <p14:creationId xmlns:p14="http://schemas.microsoft.com/office/powerpoint/2010/main" val="2527222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CF49-2F1F-3D2C-36AB-42DBB3365073}"/>
              </a:ext>
            </a:extLst>
          </p:cNvPr>
          <p:cNvSpPr>
            <a:spLocks noGrp="1"/>
          </p:cNvSpPr>
          <p:nvPr>
            <p:ph type="title"/>
          </p:nvPr>
        </p:nvSpPr>
        <p:spPr/>
        <p:txBody>
          <a:bodyPr/>
          <a:lstStyle/>
          <a:p>
            <a:r>
              <a:rPr lang="en-GB" dirty="0"/>
              <a:t>1. Introduction to testing of hypothesis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91EE87-B7CB-D016-6AFF-B361CCB6AE37}"/>
                  </a:ext>
                </a:extLst>
              </p:cNvPr>
              <p:cNvSpPr>
                <a:spLocks noGrp="1"/>
              </p:cNvSpPr>
              <p:nvPr>
                <p:ph idx="1"/>
              </p:nvPr>
            </p:nvSpPr>
            <p:spPr>
              <a:xfrm>
                <a:off x="838200" y="1404730"/>
                <a:ext cx="10916478" cy="4772233"/>
              </a:xfrm>
            </p:spPr>
            <p:txBody>
              <a:bodyPr>
                <a:normAutofit/>
              </a:bodyPr>
              <a:lstStyle/>
              <a:p>
                <a:pPr marL="0" indent="0" eaLnBrk="0" hangingPunct="0">
                  <a:buNone/>
                </a:pPr>
                <a:r>
                  <a:rPr lang="en-GB" altLang="LID4096" sz="2800" b="1" dirty="0"/>
                  <a:t>Basic Terminology</a:t>
                </a:r>
              </a:p>
              <a:p>
                <a:pPr eaLnBrk="0" hangingPunct="0">
                  <a:buFontTx/>
                  <a:buChar char="•"/>
                </a:pPr>
                <a:r>
                  <a:rPr lang="en-GB" altLang="LID4096" sz="2400" b="1" dirty="0"/>
                  <a:t>Null Hypothesis; </a:t>
                </a:r>
                <a:r>
                  <a:rPr lang="en-GB" altLang="LID4096" sz="2400" dirty="0"/>
                  <a:t>refers to any hypothesis we wish to test and is denoted by </a:t>
                </a:r>
                <a14:m>
                  <m:oMath xmlns:m="http://schemas.openxmlformats.org/officeDocument/2006/math">
                    <m:sSub>
                      <m:sSubPr>
                        <m:ctrlPr>
                          <a:rPr lang="en-GB" altLang="LID4096" sz="2400" i="1" dirty="0" smtClean="0">
                            <a:latin typeface="Cambria Math" panose="02040503050406030204" pitchFamily="18" charset="0"/>
                          </a:rPr>
                        </m:ctrlPr>
                      </m:sSubPr>
                      <m:e>
                        <m:r>
                          <a:rPr lang="en-GB" altLang="LID4096" sz="2400" b="0" i="1" dirty="0" smtClean="0">
                            <a:latin typeface="Cambria Math" panose="02040503050406030204" pitchFamily="18" charset="0"/>
                          </a:rPr>
                          <m:t>𝐻</m:t>
                        </m:r>
                      </m:e>
                      <m:sub>
                        <m:r>
                          <a:rPr lang="en-GB" altLang="LID4096" sz="2400" b="0" i="1" dirty="0" smtClean="0">
                            <a:latin typeface="Cambria Math" panose="02040503050406030204" pitchFamily="18" charset="0"/>
                          </a:rPr>
                          <m:t>0</m:t>
                        </m:r>
                      </m:sub>
                    </m:sSub>
                  </m:oMath>
                </a14:m>
                <a:endParaRPr lang="en-GB" altLang="LID4096" sz="2400" dirty="0"/>
              </a:p>
              <a:p>
                <a:pPr eaLnBrk="0" hangingPunct="0">
                  <a:buFontTx/>
                  <a:buChar char="•"/>
                </a:pPr>
                <a:r>
                  <a:rPr lang="en-GB" sz="2400" b="1" dirty="0"/>
                  <a:t>Alternative Hypothesis: </a:t>
                </a:r>
                <a:r>
                  <a:rPr lang="en-GB" sz="2400" dirty="0"/>
                  <a:t>opposite of what is stated in the null hypothesis and is denoted by </a:t>
                </a:r>
                <a14:m>
                  <m:oMath xmlns:m="http://schemas.openxmlformats.org/officeDocument/2006/math">
                    <m:sSub>
                      <m:sSubPr>
                        <m:ctrlPr>
                          <a:rPr lang="en-GB" altLang="LID4096" sz="2400" i="1" dirty="0" smtClean="0">
                            <a:latin typeface="Cambria Math" panose="02040503050406030204" pitchFamily="18" charset="0"/>
                          </a:rPr>
                        </m:ctrlPr>
                      </m:sSubPr>
                      <m:e>
                        <m:r>
                          <a:rPr lang="en-GB" altLang="LID4096" sz="2400" b="0" i="1" dirty="0" smtClean="0">
                            <a:latin typeface="Cambria Math" panose="02040503050406030204" pitchFamily="18" charset="0"/>
                          </a:rPr>
                          <m:t>𝐻</m:t>
                        </m:r>
                      </m:e>
                      <m:sub>
                        <m:r>
                          <a:rPr lang="en-GB" altLang="LID4096" sz="2400" b="0" i="1" dirty="0" smtClean="0">
                            <a:latin typeface="Cambria Math" panose="02040503050406030204" pitchFamily="18" charset="0"/>
                          </a:rPr>
                          <m:t>1</m:t>
                        </m:r>
                      </m:sub>
                    </m:sSub>
                  </m:oMath>
                </a14:m>
                <a:r>
                  <a:rPr lang="en-GB" sz="2400" dirty="0"/>
                  <a:t> </a:t>
                </a:r>
              </a:p>
              <a:p>
                <a:pPr lvl="1" eaLnBrk="0" hangingPunct="0">
                  <a:buFontTx/>
                  <a:buChar char="•"/>
                </a:pPr>
                <a:r>
                  <a:rPr lang="en-GB" sz="1800" dirty="0"/>
                  <a:t>For example, assume that a radio station selects the music it plays based on the assumption that the average age of its listening audience is 30 years then</a:t>
                </a:r>
              </a:p>
              <a:p>
                <a:pPr marL="457200" lvl="1" indent="0" algn="ctr" eaLnBrk="0" hangingPunct="0">
                  <a:buNone/>
                </a:pPr>
                <a14:m>
                  <m:oMath xmlns:m="http://schemas.openxmlformats.org/officeDocument/2006/math">
                    <m:sSub>
                      <m:sSubPr>
                        <m:ctrlPr>
                          <a:rPr lang="en-GB" altLang="LID4096" sz="1800" i="1" dirty="0" smtClean="0">
                            <a:latin typeface="Cambria Math" panose="02040503050406030204" pitchFamily="18" charset="0"/>
                          </a:rPr>
                        </m:ctrlPr>
                      </m:sSubPr>
                      <m:e>
                        <m:r>
                          <a:rPr lang="en-GB" altLang="LID4096" sz="1800" b="0" i="1" dirty="0" smtClean="0">
                            <a:latin typeface="Cambria Math" panose="02040503050406030204" pitchFamily="18" charset="0"/>
                          </a:rPr>
                          <m:t>𝐻</m:t>
                        </m:r>
                      </m:e>
                      <m:sub>
                        <m:r>
                          <a:rPr lang="en-GB" altLang="LID4096" sz="1800" b="0" i="1" dirty="0" smtClean="0">
                            <a:latin typeface="Cambria Math" panose="02040503050406030204" pitchFamily="18" charset="0"/>
                          </a:rPr>
                          <m:t>0</m:t>
                        </m:r>
                      </m:sub>
                    </m:sSub>
                    <m:r>
                      <a:rPr lang="en-GB" altLang="LID4096" sz="1800" b="0" i="1" dirty="0" smtClean="0">
                        <a:latin typeface="Cambria Math" panose="02040503050406030204" pitchFamily="18" charset="0"/>
                      </a:rPr>
                      <m:t> </m:t>
                    </m:r>
                  </m:oMath>
                </a14:m>
                <a:r>
                  <a:rPr lang="en-GB" sz="1800" dirty="0"/>
                  <a:t>: μ = 30 and </a:t>
                </a:r>
                <a14:m>
                  <m:oMath xmlns:m="http://schemas.openxmlformats.org/officeDocument/2006/math">
                    <m:sSub>
                      <m:sSubPr>
                        <m:ctrlPr>
                          <a:rPr lang="en-GB" altLang="LID4096" sz="1800" i="1" dirty="0">
                            <a:latin typeface="Cambria Math" panose="02040503050406030204" pitchFamily="18" charset="0"/>
                          </a:rPr>
                        </m:ctrlPr>
                      </m:sSubPr>
                      <m:e>
                        <m:r>
                          <a:rPr lang="en-GB" altLang="LID4096" sz="1800" i="1" dirty="0">
                            <a:latin typeface="Cambria Math" panose="02040503050406030204" pitchFamily="18" charset="0"/>
                          </a:rPr>
                          <m:t>𝐻</m:t>
                        </m:r>
                      </m:e>
                      <m:sub>
                        <m:r>
                          <a:rPr lang="en-GB" altLang="LID4096" sz="1800" b="0" i="1" dirty="0" smtClean="0">
                            <a:latin typeface="Cambria Math" panose="02040503050406030204" pitchFamily="18" charset="0"/>
                          </a:rPr>
                          <m:t>1</m:t>
                        </m:r>
                      </m:sub>
                    </m:sSub>
                  </m:oMath>
                </a14:m>
                <a:r>
                  <a:rPr lang="en-GB" sz="1800" dirty="0"/>
                  <a:t>: μ ≠ 30</a:t>
                </a:r>
              </a:p>
              <a:p>
                <a:pPr>
                  <a:lnSpc>
                    <a:spcPct val="80000"/>
                  </a:lnSpc>
                  <a:buClr>
                    <a:schemeClr val="tx1"/>
                  </a:buClr>
                </a:pPr>
                <a:r>
                  <a:rPr lang="en-GB" altLang="LID4096" sz="2400" b="1" dirty="0"/>
                  <a:t>Two-tailed </a:t>
                </a:r>
                <a14:m>
                  <m:oMath xmlns:m="http://schemas.openxmlformats.org/officeDocument/2006/math">
                    <m:sSub>
                      <m:sSubPr>
                        <m:ctrlPr>
                          <a:rPr lang="en-GB" altLang="LID4096" sz="2400" b="1" i="1" dirty="0" smtClean="0">
                            <a:latin typeface="Cambria Math" panose="02040503050406030204" pitchFamily="18" charset="0"/>
                          </a:rPr>
                        </m:ctrlPr>
                      </m:sSubPr>
                      <m:e>
                        <m:r>
                          <a:rPr lang="en-GB" altLang="LID4096" sz="2400" b="1" i="1" dirty="0" smtClean="0">
                            <a:latin typeface="Cambria Math" panose="02040503050406030204" pitchFamily="18" charset="0"/>
                          </a:rPr>
                          <m:t>𝑯</m:t>
                        </m:r>
                      </m:e>
                      <m:sub>
                        <m:r>
                          <a:rPr lang="en-GB" altLang="LID4096" sz="2400" b="1" i="1" dirty="0" smtClean="0">
                            <a:latin typeface="Cambria Math" panose="02040503050406030204" pitchFamily="18" charset="0"/>
                          </a:rPr>
                          <m:t>𝟏</m:t>
                        </m:r>
                      </m:sub>
                    </m:sSub>
                    <m:r>
                      <a:rPr lang="en-GB" altLang="LID4096" sz="2400" b="1" i="0" dirty="0" smtClean="0">
                        <a:latin typeface="Cambria Math" panose="02040503050406030204" pitchFamily="18" charset="0"/>
                      </a:rPr>
                      <m:t>:</m:t>
                    </m:r>
                  </m:oMath>
                </a14:m>
                <a:r>
                  <a:rPr lang="en-GB" sz="2400" b="1" dirty="0"/>
                  <a:t> </a:t>
                </a:r>
                <a14:m>
                  <m:oMath xmlns:m="http://schemas.openxmlformats.org/officeDocument/2006/math">
                    <m:r>
                      <a:rPr lang="en-GB" altLang="LID4096" sz="2400" b="1" i="0" dirty="0" smtClean="0">
                        <a:latin typeface="Cambria Math" panose="02040503050406030204" pitchFamily="18" charset="0"/>
                      </a:rPr>
                      <m:t>   </m:t>
                    </m:r>
                    <m:sSub>
                      <m:sSubPr>
                        <m:ctrlPr>
                          <a:rPr lang="en-GB" altLang="LID4096" sz="2400" i="1" dirty="0" smtClean="0">
                            <a:latin typeface="Cambria Math" panose="02040503050406030204" pitchFamily="18" charset="0"/>
                          </a:rPr>
                        </m:ctrlPr>
                      </m:sSubPr>
                      <m:e>
                        <m:r>
                          <a:rPr lang="en-GB" altLang="LID4096" sz="2400" b="0" i="1" dirty="0" smtClean="0">
                            <a:latin typeface="Cambria Math" panose="02040503050406030204" pitchFamily="18" charset="0"/>
                          </a:rPr>
                          <m:t>𝐻</m:t>
                        </m:r>
                      </m:e>
                      <m:sub>
                        <m:r>
                          <a:rPr lang="en-GB" altLang="LID4096" sz="2400" b="0" i="1" dirty="0" smtClean="0">
                            <a:latin typeface="Cambria Math" panose="02040503050406030204" pitchFamily="18" charset="0"/>
                          </a:rPr>
                          <m:t>0</m:t>
                        </m:r>
                      </m:sub>
                    </m:sSub>
                    <m:r>
                      <a:rPr lang="en-GB" altLang="LID4096" sz="2400" b="0" i="1" dirty="0" smtClean="0">
                        <a:latin typeface="Cambria Math" panose="02040503050406030204" pitchFamily="18" charset="0"/>
                      </a:rPr>
                      <m:t> </m:t>
                    </m:r>
                  </m:oMath>
                </a14:m>
                <a:r>
                  <a:rPr lang="en-GB" sz="2400" dirty="0"/>
                  <a:t>: μ = 30 and </a:t>
                </a:r>
                <a14:m>
                  <m:oMath xmlns:m="http://schemas.openxmlformats.org/officeDocument/2006/math">
                    <m:sSub>
                      <m:sSubPr>
                        <m:ctrlPr>
                          <a:rPr lang="en-GB" altLang="LID4096" sz="2400" i="1" dirty="0">
                            <a:latin typeface="Cambria Math" panose="02040503050406030204" pitchFamily="18" charset="0"/>
                          </a:rPr>
                        </m:ctrlPr>
                      </m:sSubPr>
                      <m:e>
                        <m:r>
                          <a:rPr lang="en-GB" altLang="LID4096" sz="2400" i="1" dirty="0">
                            <a:latin typeface="Cambria Math" panose="02040503050406030204" pitchFamily="18" charset="0"/>
                          </a:rPr>
                          <m:t>𝐻</m:t>
                        </m:r>
                      </m:e>
                      <m:sub>
                        <m:r>
                          <a:rPr lang="en-GB" altLang="LID4096" sz="2400" b="0" i="1" dirty="0" smtClean="0">
                            <a:latin typeface="Cambria Math" panose="02040503050406030204" pitchFamily="18" charset="0"/>
                          </a:rPr>
                          <m:t>1</m:t>
                        </m:r>
                      </m:sub>
                    </m:sSub>
                  </m:oMath>
                </a14:m>
                <a:r>
                  <a:rPr lang="en-GB" sz="2400" dirty="0"/>
                  <a:t>: μ ≠ 30</a:t>
                </a:r>
              </a:p>
              <a:p>
                <a:pPr>
                  <a:lnSpc>
                    <a:spcPct val="80000"/>
                  </a:lnSpc>
                  <a:buClr>
                    <a:schemeClr val="tx1"/>
                  </a:buClr>
                </a:pPr>
                <a:r>
                  <a:rPr lang="en-GB" sz="2400" b="1" dirty="0"/>
                  <a:t>One-tailed </a:t>
                </a:r>
                <a14:m>
                  <m:oMath xmlns:m="http://schemas.openxmlformats.org/officeDocument/2006/math">
                    <m:sSub>
                      <m:sSubPr>
                        <m:ctrlPr>
                          <a:rPr lang="en-GB" altLang="LID4096" sz="2400" b="1" i="1" dirty="0">
                            <a:latin typeface="Cambria Math" panose="02040503050406030204" pitchFamily="18" charset="0"/>
                          </a:rPr>
                        </m:ctrlPr>
                      </m:sSubPr>
                      <m:e>
                        <m:r>
                          <a:rPr lang="en-GB" altLang="LID4096" sz="2400" b="1" i="1" dirty="0">
                            <a:latin typeface="Cambria Math" panose="02040503050406030204" pitchFamily="18" charset="0"/>
                          </a:rPr>
                          <m:t>𝑯</m:t>
                        </m:r>
                      </m:e>
                      <m:sub>
                        <m:r>
                          <a:rPr lang="en-GB" altLang="LID4096" sz="2400" b="1" i="1" dirty="0">
                            <a:latin typeface="Cambria Math" panose="02040503050406030204" pitchFamily="18" charset="0"/>
                          </a:rPr>
                          <m:t>𝟏</m:t>
                        </m:r>
                      </m:sub>
                    </m:sSub>
                  </m:oMath>
                </a14:m>
                <a:r>
                  <a:rPr lang="en-GB" sz="2400" b="1" dirty="0"/>
                  <a:t>:    </a:t>
                </a:r>
                <a14:m>
                  <m:oMath xmlns:m="http://schemas.openxmlformats.org/officeDocument/2006/math">
                    <m:sSub>
                      <m:sSubPr>
                        <m:ctrlPr>
                          <a:rPr lang="en-GB" altLang="LID4096" sz="2400" i="1" dirty="0" smtClean="0">
                            <a:latin typeface="Cambria Math" panose="02040503050406030204" pitchFamily="18" charset="0"/>
                          </a:rPr>
                        </m:ctrlPr>
                      </m:sSubPr>
                      <m:e>
                        <m:r>
                          <a:rPr lang="en-GB" altLang="LID4096" sz="2400" b="0" i="1" dirty="0" smtClean="0">
                            <a:latin typeface="Cambria Math" panose="02040503050406030204" pitchFamily="18" charset="0"/>
                          </a:rPr>
                          <m:t>𝐻</m:t>
                        </m:r>
                      </m:e>
                      <m:sub>
                        <m:r>
                          <a:rPr lang="en-GB" altLang="LID4096" sz="2400" b="0" i="1" dirty="0" smtClean="0">
                            <a:latin typeface="Cambria Math" panose="02040503050406030204" pitchFamily="18" charset="0"/>
                          </a:rPr>
                          <m:t>0</m:t>
                        </m:r>
                      </m:sub>
                    </m:sSub>
                    <m:r>
                      <a:rPr lang="en-GB" altLang="LID4096" sz="2400" b="0" i="1" dirty="0" smtClean="0">
                        <a:latin typeface="Cambria Math" panose="02040503050406030204" pitchFamily="18" charset="0"/>
                      </a:rPr>
                      <m:t> </m:t>
                    </m:r>
                  </m:oMath>
                </a14:m>
                <a:r>
                  <a:rPr lang="en-GB" sz="2400" dirty="0"/>
                  <a:t>: μ = 30 and </a:t>
                </a:r>
                <a14:m>
                  <m:oMath xmlns:m="http://schemas.openxmlformats.org/officeDocument/2006/math">
                    <m:sSub>
                      <m:sSubPr>
                        <m:ctrlPr>
                          <a:rPr lang="en-GB" altLang="LID4096" sz="2400" i="1" dirty="0">
                            <a:latin typeface="Cambria Math" panose="02040503050406030204" pitchFamily="18" charset="0"/>
                          </a:rPr>
                        </m:ctrlPr>
                      </m:sSubPr>
                      <m:e>
                        <m:r>
                          <a:rPr lang="en-GB" altLang="LID4096" sz="2400" i="1" dirty="0">
                            <a:latin typeface="Cambria Math" panose="02040503050406030204" pitchFamily="18" charset="0"/>
                          </a:rPr>
                          <m:t>𝐻</m:t>
                        </m:r>
                      </m:e>
                      <m:sub>
                        <m:r>
                          <a:rPr lang="en-GB" altLang="LID4096" sz="2400" b="0" i="1" dirty="0" smtClean="0">
                            <a:latin typeface="Cambria Math" panose="02040503050406030204" pitchFamily="18" charset="0"/>
                          </a:rPr>
                          <m:t>1</m:t>
                        </m:r>
                      </m:sub>
                    </m:sSub>
                  </m:oMath>
                </a14:m>
                <a:r>
                  <a:rPr lang="en-GB" sz="2400" dirty="0"/>
                  <a:t>: μ &gt; 30 or </a:t>
                </a:r>
                <a14:m>
                  <m:oMath xmlns:m="http://schemas.openxmlformats.org/officeDocument/2006/math">
                    <m:sSub>
                      <m:sSubPr>
                        <m:ctrlPr>
                          <a:rPr lang="en-GB" altLang="LID4096" sz="2400" i="1" dirty="0" smtClean="0">
                            <a:latin typeface="Cambria Math" panose="02040503050406030204" pitchFamily="18" charset="0"/>
                          </a:rPr>
                        </m:ctrlPr>
                      </m:sSubPr>
                      <m:e>
                        <m:r>
                          <a:rPr lang="en-GB" altLang="LID4096" sz="2400" b="0" i="1" dirty="0" smtClean="0">
                            <a:latin typeface="Cambria Math" panose="02040503050406030204" pitchFamily="18" charset="0"/>
                          </a:rPr>
                          <m:t>𝐻</m:t>
                        </m:r>
                      </m:e>
                      <m:sub>
                        <m:r>
                          <a:rPr lang="en-GB" altLang="LID4096" sz="2400" b="0" i="1" dirty="0" smtClean="0">
                            <a:latin typeface="Cambria Math" panose="02040503050406030204" pitchFamily="18" charset="0"/>
                          </a:rPr>
                          <m:t>0</m:t>
                        </m:r>
                      </m:sub>
                    </m:sSub>
                    <m:r>
                      <a:rPr lang="en-GB" altLang="LID4096" sz="2400" b="0" i="1" dirty="0" smtClean="0">
                        <a:latin typeface="Cambria Math" panose="02040503050406030204" pitchFamily="18" charset="0"/>
                      </a:rPr>
                      <m:t> </m:t>
                    </m:r>
                  </m:oMath>
                </a14:m>
                <a:r>
                  <a:rPr lang="en-GB" sz="2400" dirty="0"/>
                  <a:t>: μ = 30 and </a:t>
                </a:r>
                <a14:m>
                  <m:oMath xmlns:m="http://schemas.openxmlformats.org/officeDocument/2006/math">
                    <m:sSub>
                      <m:sSubPr>
                        <m:ctrlPr>
                          <a:rPr lang="en-GB" altLang="LID4096" sz="2400" i="1" dirty="0">
                            <a:latin typeface="Cambria Math" panose="02040503050406030204" pitchFamily="18" charset="0"/>
                          </a:rPr>
                        </m:ctrlPr>
                      </m:sSubPr>
                      <m:e>
                        <m:r>
                          <a:rPr lang="en-GB" altLang="LID4096" sz="2400" i="1" dirty="0">
                            <a:latin typeface="Cambria Math" panose="02040503050406030204" pitchFamily="18" charset="0"/>
                          </a:rPr>
                          <m:t>𝐻</m:t>
                        </m:r>
                      </m:e>
                      <m:sub>
                        <m:r>
                          <a:rPr lang="en-GB" altLang="LID4096" sz="2400" b="0" i="1" dirty="0" smtClean="0">
                            <a:latin typeface="Cambria Math" panose="02040503050406030204" pitchFamily="18" charset="0"/>
                          </a:rPr>
                          <m:t>1</m:t>
                        </m:r>
                      </m:sub>
                    </m:sSub>
                  </m:oMath>
                </a14:m>
                <a:r>
                  <a:rPr lang="en-GB" sz="2400" dirty="0"/>
                  <a:t>: μ &lt; 30</a:t>
                </a:r>
              </a:p>
              <a:p>
                <a:pPr>
                  <a:lnSpc>
                    <a:spcPct val="80000"/>
                  </a:lnSpc>
                  <a:buClr>
                    <a:schemeClr val="tx1"/>
                  </a:buClr>
                </a:pPr>
                <a:endParaRPr lang="en-GB" dirty="0"/>
              </a:p>
              <a:p>
                <a:pPr>
                  <a:lnSpc>
                    <a:spcPct val="80000"/>
                  </a:lnSpc>
                  <a:buClr>
                    <a:schemeClr val="tx1"/>
                  </a:buClr>
                </a:pPr>
                <a:endParaRPr lang="LID4096" dirty="0"/>
              </a:p>
            </p:txBody>
          </p:sp>
        </mc:Choice>
        <mc:Fallback xmlns="">
          <p:sp>
            <p:nvSpPr>
              <p:cNvPr id="3" name="Content Placeholder 2">
                <a:extLst>
                  <a:ext uri="{FF2B5EF4-FFF2-40B4-BE49-F238E27FC236}">
                    <a16:creationId xmlns:a16="http://schemas.microsoft.com/office/drawing/2014/main" id="{A291EE87-B7CB-D016-6AFF-B361CCB6AE37}"/>
                  </a:ext>
                </a:extLst>
              </p:cNvPr>
              <p:cNvSpPr>
                <a:spLocks noGrp="1" noRot="1" noChangeAspect="1" noMove="1" noResize="1" noEditPoints="1" noAdjustHandles="1" noChangeArrowheads="1" noChangeShapeType="1" noTextEdit="1"/>
              </p:cNvSpPr>
              <p:nvPr>
                <p:ph idx="1"/>
              </p:nvPr>
            </p:nvSpPr>
            <p:spPr>
              <a:xfrm>
                <a:off x="838200" y="1404730"/>
                <a:ext cx="10916478" cy="4772233"/>
              </a:xfrm>
              <a:blipFill>
                <a:blip r:embed="rId2"/>
                <a:stretch>
                  <a:fillRect l="-1173" t="-1277" r="-1285"/>
                </a:stretch>
              </a:blipFill>
            </p:spPr>
            <p:txBody>
              <a:bodyPr/>
              <a:lstStyle/>
              <a:p>
                <a:r>
                  <a:rPr lang="LID4096">
                    <a:noFill/>
                  </a:rPr>
                  <a:t> </a:t>
                </a:r>
              </a:p>
            </p:txBody>
          </p:sp>
        </mc:Fallback>
      </mc:AlternateContent>
    </p:spTree>
    <p:extLst>
      <p:ext uri="{BB962C8B-B14F-4D97-AF65-F5344CB8AC3E}">
        <p14:creationId xmlns:p14="http://schemas.microsoft.com/office/powerpoint/2010/main" val="779892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CF49-2F1F-3D2C-36AB-42DBB3365073}"/>
              </a:ext>
            </a:extLst>
          </p:cNvPr>
          <p:cNvSpPr>
            <a:spLocks noGrp="1"/>
          </p:cNvSpPr>
          <p:nvPr>
            <p:ph type="title"/>
          </p:nvPr>
        </p:nvSpPr>
        <p:spPr/>
        <p:txBody>
          <a:bodyPr/>
          <a:lstStyle/>
          <a:p>
            <a:r>
              <a:rPr lang="en-GB" dirty="0"/>
              <a:t>1. Introduction to testing of hypothesis …</a:t>
            </a:r>
            <a:endParaRPr lang="LID4096" dirty="0"/>
          </a:p>
        </p:txBody>
      </p:sp>
      <p:sp>
        <p:nvSpPr>
          <p:cNvPr id="3" name="Content Placeholder 2">
            <a:extLst>
              <a:ext uri="{FF2B5EF4-FFF2-40B4-BE49-F238E27FC236}">
                <a16:creationId xmlns:a16="http://schemas.microsoft.com/office/drawing/2014/main" id="{A291EE87-B7CB-D016-6AFF-B361CCB6AE37}"/>
              </a:ext>
            </a:extLst>
          </p:cNvPr>
          <p:cNvSpPr>
            <a:spLocks noGrp="1"/>
          </p:cNvSpPr>
          <p:nvPr>
            <p:ph idx="1"/>
          </p:nvPr>
        </p:nvSpPr>
        <p:spPr>
          <a:xfrm>
            <a:off x="838200" y="1404730"/>
            <a:ext cx="10515600" cy="4772233"/>
          </a:xfrm>
        </p:spPr>
        <p:txBody>
          <a:bodyPr>
            <a:normAutofit/>
          </a:bodyPr>
          <a:lstStyle/>
          <a:p>
            <a:pPr marL="0" indent="0" eaLnBrk="0" hangingPunct="0">
              <a:buNone/>
            </a:pPr>
            <a:r>
              <a:rPr lang="en-GB" altLang="LID4096" sz="2800" b="1" dirty="0"/>
              <a:t>Basic Terminology</a:t>
            </a:r>
          </a:p>
          <a:p>
            <a:pPr>
              <a:lnSpc>
                <a:spcPct val="80000"/>
              </a:lnSpc>
              <a:buClr>
                <a:schemeClr val="tx1"/>
              </a:buClr>
            </a:pPr>
            <a:r>
              <a:rPr lang="en-US" altLang="LID4096" sz="2400" b="1" dirty="0"/>
              <a:t>Type I Error: </a:t>
            </a:r>
            <a:r>
              <a:rPr lang="en-US" altLang="LID4096" sz="2400" dirty="0"/>
              <a:t>Occurs if the null hypothesis is rejected when it is in fact true.  </a:t>
            </a:r>
          </a:p>
          <a:p>
            <a:pPr lvl="1">
              <a:lnSpc>
                <a:spcPct val="80000"/>
              </a:lnSpc>
              <a:buClr>
                <a:schemeClr val="tx1"/>
              </a:buClr>
            </a:pPr>
            <a:r>
              <a:rPr lang="en-US" altLang="LID4096" sz="1800" dirty="0"/>
              <a:t>The probability of type I error ( </a:t>
            </a:r>
            <a:r>
              <a:rPr lang="el-GR" altLang="LID4096" sz="1800" dirty="0"/>
              <a:t>α</a:t>
            </a:r>
            <a:r>
              <a:rPr lang="en-US" altLang="LID4096" sz="1800" dirty="0"/>
              <a:t> ) is also called the level of significance.  </a:t>
            </a:r>
          </a:p>
          <a:p>
            <a:pPr>
              <a:lnSpc>
                <a:spcPct val="80000"/>
              </a:lnSpc>
            </a:pPr>
            <a:r>
              <a:rPr lang="en-US" altLang="LID4096" sz="2400" b="1" dirty="0"/>
              <a:t>Type II Error: </a:t>
            </a:r>
            <a:r>
              <a:rPr lang="en-US" altLang="LID4096" sz="2400" dirty="0"/>
              <a:t>Occurs if the null hypothesis is not rejected when it is in fact false.  </a:t>
            </a:r>
          </a:p>
          <a:p>
            <a:pPr lvl="1">
              <a:lnSpc>
                <a:spcPct val="80000"/>
              </a:lnSpc>
              <a:buClr>
                <a:schemeClr val="tx1"/>
              </a:buClr>
            </a:pPr>
            <a:r>
              <a:rPr lang="en-US" altLang="LID4096" sz="1800" dirty="0"/>
              <a:t>The probability of type II error is denoted by </a:t>
            </a:r>
            <a:r>
              <a:rPr lang="el-GR" altLang="LID4096" sz="1800" dirty="0"/>
              <a:t>β</a:t>
            </a:r>
            <a:r>
              <a:rPr lang="en-US" altLang="LID4096" sz="1800" dirty="0"/>
              <a:t> </a:t>
            </a:r>
            <a:endParaRPr lang="LID4096" sz="1800" dirty="0"/>
          </a:p>
        </p:txBody>
      </p:sp>
    </p:spTree>
    <p:extLst>
      <p:ext uri="{BB962C8B-B14F-4D97-AF65-F5344CB8AC3E}">
        <p14:creationId xmlns:p14="http://schemas.microsoft.com/office/powerpoint/2010/main" val="3234077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CF49-2F1F-3D2C-36AB-42DBB3365073}"/>
              </a:ext>
            </a:extLst>
          </p:cNvPr>
          <p:cNvSpPr>
            <a:spLocks noGrp="1"/>
          </p:cNvSpPr>
          <p:nvPr>
            <p:ph type="title"/>
          </p:nvPr>
        </p:nvSpPr>
        <p:spPr>
          <a:xfrm>
            <a:off x="1640156" y="195277"/>
            <a:ext cx="9713644" cy="1280890"/>
          </a:xfrm>
        </p:spPr>
        <p:txBody>
          <a:bodyPr/>
          <a:lstStyle/>
          <a:p>
            <a:r>
              <a:rPr lang="en-GB" dirty="0"/>
              <a:t>1. Introduction to testing of hypothesis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91EE87-B7CB-D016-6AFF-B361CCB6AE37}"/>
                  </a:ext>
                </a:extLst>
              </p:cNvPr>
              <p:cNvSpPr>
                <a:spLocks noGrp="1"/>
              </p:cNvSpPr>
              <p:nvPr>
                <p:ph idx="1"/>
              </p:nvPr>
            </p:nvSpPr>
            <p:spPr>
              <a:xfrm>
                <a:off x="838200" y="1404730"/>
                <a:ext cx="10515600" cy="4772233"/>
              </a:xfrm>
            </p:spPr>
            <p:txBody>
              <a:bodyPr>
                <a:normAutofit/>
              </a:bodyPr>
              <a:lstStyle/>
              <a:p>
                <a:pPr marL="0" indent="0" eaLnBrk="0" hangingPunct="0">
                  <a:buNone/>
                </a:pPr>
                <a:r>
                  <a:rPr lang="en-GB" altLang="LID4096" sz="2800" b="1" dirty="0"/>
                  <a:t>Testing of Hypothesis Processes</a:t>
                </a:r>
              </a:p>
              <a:p>
                <a:pPr>
                  <a:lnSpc>
                    <a:spcPct val="80000"/>
                  </a:lnSpc>
                  <a:buClr>
                    <a:schemeClr val="tx1"/>
                  </a:buClr>
                </a:pPr>
                <a:r>
                  <a:rPr lang="en-GB" sz="2400" b="1" dirty="0"/>
                  <a:t> State the null and alternative hypotheses.</a:t>
                </a:r>
              </a:p>
              <a:p>
                <a:pPr>
                  <a:lnSpc>
                    <a:spcPct val="80000"/>
                  </a:lnSpc>
                  <a:buClr>
                    <a:schemeClr val="tx1"/>
                  </a:buClr>
                </a:pPr>
                <a:r>
                  <a:rPr lang="en-GB" sz="2400" b="1" dirty="0"/>
                  <a:t>Choose a ﬁxed signiﬁcance level </a:t>
                </a:r>
                <a14:m>
                  <m:oMath xmlns:m="http://schemas.openxmlformats.org/officeDocument/2006/math">
                    <m:r>
                      <a:rPr lang="en-GB" sz="2400" b="1" i="1" dirty="0" smtClean="0">
                        <a:latin typeface="Cambria Math" panose="02040503050406030204" pitchFamily="18" charset="0"/>
                        <a:ea typeface="Cambria Math" panose="02040503050406030204" pitchFamily="18" charset="0"/>
                      </a:rPr>
                      <m:t>∝</m:t>
                    </m:r>
                  </m:oMath>
                </a14:m>
                <a:r>
                  <a:rPr lang="en-GB" sz="2400" b="1" dirty="0"/>
                  <a:t>. </a:t>
                </a:r>
              </a:p>
              <a:p>
                <a:pPr>
                  <a:lnSpc>
                    <a:spcPct val="80000"/>
                  </a:lnSpc>
                  <a:buClr>
                    <a:schemeClr val="tx1"/>
                  </a:buClr>
                </a:pPr>
                <a:r>
                  <a:rPr lang="en-GB" sz="2400" b="1" dirty="0"/>
                  <a:t>Choose an appropriate test statistic and establish the critical region based on </a:t>
                </a:r>
                <a14:m>
                  <m:oMath xmlns:m="http://schemas.openxmlformats.org/officeDocument/2006/math">
                    <m:r>
                      <a:rPr lang="en-GB" sz="2400" b="1" i="1" dirty="0" smtClean="0">
                        <a:latin typeface="Cambria Math" panose="02040503050406030204" pitchFamily="18" charset="0"/>
                        <a:ea typeface="Cambria Math" panose="02040503050406030204" pitchFamily="18" charset="0"/>
                      </a:rPr>
                      <m:t>∝</m:t>
                    </m:r>
                  </m:oMath>
                </a14:m>
                <a:r>
                  <a:rPr lang="en-GB" sz="2400" b="1" dirty="0"/>
                  <a:t>. </a:t>
                </a:r>
              </a:p>
              <a:p>
                <a:pPr>
                  <a:lnSpc>
                    <a:spcPct val="80000"/>
                  </a:lnSpc>
                  <a:buClr>
                    <a:schemeClr val="tx1"/>
                  </a:buClr>
                </a:pPr>
                <a:r>
                  <a:rPr lang="en-GB" sz="2400" b="1" dirty="0"/>
                  <a:t>Reject H0 if the computed test statistic is in the critical region. Otherwise, do not reject. </a:t>
                </a:r>
              </a:p>
              <a:p>
                <a:pPr>
                  <a:lnSpc>
                    <a:spcPct val="80000"/>
                  </a:lnSpc>
                  <a:buClr>
                    <a:schemeClr val="tx1"/>
                  </a:buClr>
                </a:pPr>
                <a:r>
                  <a:rPr lang="en-GB" sz="2400" b="1" dirty="0"/>
                  <a:t>Draw scientiﬁc or engineering conclusions.</a:t>
                </a:r>
              </a:p>
              <a:p>
                <a:pPr>
                  <a:lnSpc>
                    <a:spcPct val="80000"/>
                  </a:lnSpc>
                  <a:buClr>
                    <a:schemeClr val="tx1"/>
                  </a:buClr>
                </a:pPr>
                <a:endParaRPr lang="LID4096" dirty="0"/>
              </a:p>
            </p:txBody>
          </p:sp>
        </mc:Choice>
        <mc:Fallback xmlns="">
          <p:sp>
            <p:nvSpPr>
              <p:cNvPr id="3" name="Content Placeholder 2">
                <a:extLst>
                  <a:ext uri="{FF2B5EF4-FFF2-40B4-BE49-F238E27FC236}">
                    <a16:creationId xmlns:a16="http://schemas.microsoft.com/office/drawing/2014/main" id="{A291EE87-B7CB-D016-6AFF-B361CCB6AE37}"/>
                  </a:ext>
                </a:extLst>
              </p:cNvPr>
              <p:cNvSpPr>
                <a:spLocks noGrp="1" noRot="1" noChangeAspect="1" noMove="1" noResize="1" noEditPoints="1" noAdjustHandles="1" noChangeArrowheads="1" noChangeShapeType="1" noTextEdit="1"/>
              </p:cNvSpPr>
              <p:nvPr>
                <p:ph idx="1"/>
              </p:nvPr>
            </p:nvSpPr>
            <p:spPr>
              <a:xfrm>
                <a:off x="838200" y="1404730"/>
                <a:ext cx="10515600" cy="4772233"/>
              </a:xfrm>
              <a:blipFill>
                <a:blip r:embed="rId2"/>
                <a:stretch>
                  <a:fillRect l="-1217" t="-1277" r="-1159"/>
                </a:stretch>
              </a:blipFill>
            </p:spPr>
            <p:txBody>
              <a:bodyPr/>
              <a:lstStyle/>
              <a:p>
                <a:r>
                  <a:rPr lang="LID4096">
                    <a:noFill/>
                  </a:rPr>
                  <a:t> </a:t>
                </a:r>
              </a:p>
            </p:txBody>
          </p:sp>
        </mc:Fallback>
      </mc:AlternateContent>
    </p:spTree>
    <p:extLst>
      <p:ext uri="{BB962C8B-B14F-4D97-AF65-F5344CB8AC3E}">
        <p14:creationId xmlns:p14="http://schemas.microsoft.com/office/powerpoint/2010/main" val="3218049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CF49-2F1F-3D2C-36AB-42DBB3365073}"/>
              </a:ext>
            </a:extLst>
          </p:cNvPr>
          <p:cNvSpPr>
            <a:spLocks noGrp="1"/>
          </p:cNvSpPr>
          <p:nvPr>
            <p:ph type="title"/>
          </p:nvPr>
        </p:nvSpPr>
        <p:spPr>
          <a:xfrm>
            <a:off x="1890560" y="279553"/>
            <a:ext cx="9599075" cy="1280890"/>
          </a:xfrm>
        </p:spPr>
        <p:txBody>
          <a:bodyPr/>
          <a:lstStyle/>
          <a:p>
            <a:r>
              <a:rPr lang="en-GB" dirty="0"/>
              <a:t>1. Introduction to testing of hypothesis …</a:t>
            </a:r>
            <a:endParaRPr lang="LID4096" dirty="0"/>
          </a:p>
        </p:txBody>
      </p:sp>
      <p:sp>
        <p:nvSpPr>
          <p:cNvPr id="3" name="Content Placeholder 2">
            <a:extLst>
              <a:ext uri="{FF2B5EF4-FFF2-40B4-BE49-F238E27FC236}">
                <a16:creationId xmlns:a16="http://schemas.microsoft.com/office/drawing/2014/main" id="{A291EE87-B7CB-D016-6AFF-B361CCB6AE37}"/>
              </a:ext>
            </a:extLst>
          </p:cNvPr>
          <p:cNvSpPr>
            <a:spLocks noGrp="1"/>
          </p:cNvSpPr>
          <p:nvPr>
            <p:ph idx="1"/>
          </p:nvPr>
        </p:nvSpPr>
        <p:spPr>
          <a:xfrm>
            <a:off x="838200" y="1404730"/>
            <a:ext cx="10515600" cy="4772233"/>
          </a:xfrm>
        </p:spPr>
        <p:txBody>
          <a:bodyPr>
            <a:normAutofit/>
          </a:bodyPr>
          <a:lstStyle/>
          <a:p>
            <a:pPr marL="0" indent="0" eaLnBrk="0" hangingPunct="0">
              <a:buNone/>
            </a:pPr>
            <a:r>
              <a:rPr lang="en-GB" altLang="LID4096" sz="2800" b="1" dirty="0"/>
              <a:t>Testing of Hypothesis (p-value approach)</a:t>
            </a:r>
          </a:p>
          <a:p>
            <a:pPr>
              <a:lnSpc>
                <a:spcPct val="80000"/>
              </a:lnSpc>
              <a:buClr>
                <a:schemeClr val="tx1"/>
              </a:buClr>
            </a:pPr>
            <a:r>
              <a:rPr lang="en-GB" sz="2400" b="1" dirty="0"/>
              <a:t>State null and alternative hypotheses. </a:t>
            </a:r>
          </a:p>
          <a:p>
            <a:pPr>
              <a:lnSpc>
                <a:spcPct val="80000"/>
              </a:lnSpc>
              <a:buClr>
                <a:schemeClr val="tx1"/>
              </a:buClr>
            </a:pPr>
            <a:r>
              <a:rPr lang="en-GB" sz="2400" b="1" dirty="0"/>
              <a:t>Choose an appropriate test statistic. </a:t>
            </a:r>
          </a:p>
          <a:p>
            <a:pPr>
              <a:lnSpc>
                <a:spcPct val="80000"/>
              </a:lnSpc>
              <a:buClr>
                <a:schemeClr val="tx1"/>
              </a:buClr>
            </a:pPr>
            <a:r>
              <a:rPr lang="en-GB" sz="2400" b="1" dirty="0"/>
              <a:t>Compute the P-value based on the computed value of the test statistic. </a:t>
            </a:r>
          </a:p>
          <a:p>
            <a:pPr>
              <a:lnSpc>
                <a:spcPct val="80000"/>
              </a:lnSpc>
              <a:buClr>
                <a:schemeClr val="tx1"/>
              </a:buClr>
            </a:pPr>
            <a:r>
              <a:rPr lang="en-GB" sz="2400" b="1" dirty="0"/>
              <a:t>Use judgment based on </a:t>
            </a:r>
            <a:r>
              <a:rPr lang="en-GB" sz="2400" b="1"/>
              <a:t>the P-value</a:t>
            </a:r>
            <a:endParaRPr lang="en-GB" sz="2400" b="1" dirty="0"/>
          </a:p>
          <a:p>
            <a:pPr>
              <a:lnSpc>
                <a:spcPct val="80000"/>
              </a:lnSpc>
              <a:buClr>
                <a:schemeClr val="tx1"/>
              </a:buClr>
            </a:pPr>
            <a:endParaRPr lang="LID4096" dirty="0"/>
          </a:p>
        </p:txBody>
      </p:sp>
    </p:spTree>
    <p:extLst>
      <p:ext uri="{BB962C8B-B14F-4D97-AF65-F5344CB8AC3E}">
        <p14:creationId xmlns:p14="http://schemas.microsoft.com/office/powerpoint/2010/main" val="1213100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84D6-97FE-9591-1E90-C2E31C90ED41}"/>
              </a:ext>
            </a:extLst>
          </p:cNvPr>
          <p:cNvSpPr>
            <a:spLocks noGrp="1"/>
          </p:cNvSpPr>
          <p:nvPr>
            <p:ph type="title"/>
          </p:nvPr>
        </p:nvSpPr>
        <p:spPr/>
        <p:txBody>
          <a:bodyPr/>
          <a:lstStyle/>
          <a:p>
            <a:r>
              <a:rPr lang="en-GB" dirty="0"/>
              <a:t>2. Testing of Hypothesis about Population Mean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36D514-ABD5-4FFE-9708-DDF0129C6BFA}"/>
                  </a:ext>
                </a:extLst>
              </p:cNvPr>
              <p:cNvSpPr>
                <a:spLocks noGrp="1"/>
              </p:cNvSpPr>
              <p:nvPr>
                <p:ph idx="1"/>
              </p:nvPr>
            </p:nvSpPr>
            <p:spPr>
              <a:xfrm>
                <a:off x="2589212" y="1905000"/>
                <a:ext cx="8915400" cy="4386470"/>
              </a:xfrm>
            </p:spPr>
            <p:txBody>
              <a:bodyPr>
                <a:normAutofit fontScale="92500" lnSpcReduction="20000"/>
              </a:bodyPr>
              <a:lstStyle/>
              <a:p>
                <a:r>
                  <a:rPr lang="en-GB" dirty="0"/>
                  <a:t>Testing about population mean (</a:t>
                </a:r>
                <a14:m>
                  <m:oMath xmlns:m="http://schemas.openxmlformats.org/officeDocument/2006/math">
                    <m:r>
                      <a:rPr lang="en-GB" i="1" smtClean="0">
                        <a:latin typeface="Cambria Math" panose="02040503050406030204" pitchFamily="18" charset="0"/>
                        <a:ea typeface="Cambria Math" panose="02040503050406030204" pitchFamily="18" charset="0"/>
                      </a:rPr>
                      <m:t>𝜇</m:t>
                    </m:r>
                  </m:oMath>
                </a14:m>
                <a:r>
                  <a:rPr lang="en-GB" dirty="0"/>
                  <a:t>)</a:t>
                </a:r>
              </a:p>
              <a:p>
                <a:r>
                  <a:rPr lang="en-GB" b="1" dirty="0"/>
                  <a:t>Test statistic </a:t>
                </a:r>
                <a:r>
                  <a:rPr lang="en-GB" dirty="0"/>
                  <a:t>to be used</a:t>
                </a:r>
              </a:p>
              <a:p>
                <a:pPr marL="457200" lvl="1" indent="0" algn="ctr">
                  <a:buNone/>
                </a:pPr>
                <a14:m>
                  <m:oMath xmlns:m="http://schemas.openxmlformats.org/officeDocument/2006/math">
                    <m:r>
                      <a:rPr lang="en-GB" sz="2200" b="0" i="1" smtClean="0">
                        <a:latin typeface="Cambria Math" panose="02040503050406030204" pitchFamily="18" charset="0"/>
                      </a:rPr>
                      <m:t>𝑧</m:t>
                    </m:r>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acc>
                          <m:accPr>
                            <m:chr m:val="̅"/>
                            <m:ctrlPr>
                              <a:rPr lang="en-GB" sz="2200" b="0" i="1" smtClean="0">
                                <a:latin typeface="Cambria Math" panose="02040503050406030204" pitchFamily="18" charset="0"/>
                              </a:rPr>
                            </m:ctrlPr>
                          </m:accPr>
                          <m:e>
                            <m:r>
                              <a:rPr lang="en-GB" sz="2200" b="0" i="1" smtClean="0">
                                <a:latin typeface="Cambria Math" panose="02040503050406030204" pitchFamily="18" charset="0"/>
                              </a:rPr>
                              <m:t>𝑥</m:t>
                            </m:r>
                          </m:e>
                        </m:acc>
                        <m:r>
                          <a:rPr lang="en-GB" sz="2200" b="0" i="1" smtClean="0">
                            <a:latin typeface="Cambria Math" panose="02040503050406030204" pitchFamily="18" charset="0"/>
                          </a:rPr>
                          <m:t>−</m:t>
                        </m:r>
                        <m:sSub>
                          <m:sSubPr>
                            <m:ctrlPr>
                              <a:rPr lang="en-GB" sz="2200" b="0" i="1" smtClean="0">
                                <a:latin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0</m:t>
                            </m:r>
                          </m:sub>
                        </m:sSub>
                      </m:num>
                      <m:den>
                        <m:f>
                          <m:fPr>
                            <m:ctrlPr>
                              <a:rPr lang="en-GB" sz="2200" b="0" i="1" smtClean="0">
                                <a:latin typeface="Cambria Math" panose="02040503050406030204" pitchFamily="18" charset="0"/>
                              </a:rPr>
                            </m:ctrlPr>
                          </m:fPr>
                          <m:num>
                            <m:r>
                              <a:rPr lang="en-GB" sz="2200" b="0" i="1" smtClean="0">
                                <a:latin typeface="Cambria Math" panose="02040503050406030204" pitchFamily="18" charset="0"/>
                                <a:ea typeface="Cambria Math" panose="02040503050406030204" pitchFamily="18" charset="0"/>
                              </a:rPr>
                              <m:t>𝜎</m:t>
                            </m:r>
                          </m:num>
                          <m:den>
                            <m:rad>
                              <m:radPr>
                                <m:degHide m:val="on"/>
                                <m:ctrlPr>
                                  <a:rPr lang="en-GB" sz="2200" b="0" i="1" smtClean="0">
                                    <a:latin typeface="Cambria Math" panose="02040503050406030204" pitchFamily="18" charset="0"/>
                                  </a:rPr>
                                </m:ctrlPr>
                              </m:radPr>
                              <m:deg/>
                              <m:e>
                                <m:r>
                                  <a:rPr lang="en-GB" sz="2200" b="0" i="1" smtClean="0">
                                    <a:latin typeface="Cambria Math" panose="02040503050406030204" pitchFamily="18" charset="0"/>
                                  </a:rPr>
                                  <m:t>𝑛</m:t>
                                </m:r>
                              </m:e>
                            </m:rad>
                          </m:den>
                        </m:f>
                      </m:den>
                    </m:f>
                  </m:oMath>
                </a14:m>
                <a:r>
                  <a:rPr lang="en-GB" sz="2200" dirty="0"/>
                  <a:t>    (</a:t>
                </a:r>
                <a14:m>
                  <m:oMath xmlns:m="http://schemas.openxmlformats.org/officeDocument/2006/math">
                    <m:r>
                      <a:rPr lang="en-GB" sz="2200" i="1">
                        <a:latin typeface="Cambria Math" panose="02040503050406030204" pitchFamily="18" charset="0"/>
                        <a:ea typeface="Cambria Math" panose="02040503050406030204" pitchFamily="18" charset="0"/>
                      </a:rPr>
                      <m:t>𝜎</m:t>
                    </m:r>
                    <m:r>
                      <a:rPr lang="en-GB" sz="2200" b="0" i="0" smtClean="0">
                        <a:latin typeface="Cambria Math" panose="02040503050406030204" pitchFamily="18" charset="0"/>
                        <a:ea typeface="Cambria Math" panose="02040503050406030204" pitchFamily="18" charset="0"/>
                      </a:rPr>
                      <m:t>−</m:t>
                    </m:r>
                    <m:r>
                      <m:rPr>
                        <m:sty m:val="p"/>
                      </m:rPr>
                      <a:rPr lang="en-GB" sz="2200" b="0" i="0" smtClean="0">
                        <a:latin typeface="Cambria Math" panose="02040503050406030204" pitchFamily="18" charset="0"/>
                        <a:ea typeface="Cambria Math" panose="02040503050406030204" pitchFamily="18" charset="0"/>
                      </a:rPr>
                      <m:t>known</m:t>
                    </m:r>
                    <m:r>
                      <a:rPr lang="en-GB" sz="2200" b="0" i="0" smtClean="0">
                        <a:latin typeface="Cambria Math" panose="02040503050406030204" pitchFamily="18" charset="0"/>
                        <a:ea typeface="Cambria Math" panose="02040503050406030204" pitchFamily="18" charset="0"/>
                      </a:rPr>
                      <m:t> </m:t>
                    </m:r>
                    <m:r>
                      <m:rPr>
                        <m:sty m:val="p"/>
                      </m:rPr>
                      <a:rPr lang="en-GB" sz="2200" b="0" i="0" smtClean="0">
                        <a:latin typeface="Cambria Math" panose="02040503050406030204" pitchFamily="18" charset="0"/>
                        <a:ea typeface="Cambria Math" panose="02040503050406030204" pitchFamily="18" charset="0"/>
                      </a:rPr>
                      <m:t>or</m:t>
                    </m:r>
                    <m:r>
                      <a:rPr lang="en-GB" sz="2200" b="0" i="0" smtClean="0">
                        <a:latin typeface="Cambria Math" panose="02040503050406030204" pitchFamily="18" charset="0"/>
                        <a:ea typeface="Cambria Math" panose="02040503050406030204" pitchFamily="18" charset="0"/>
                      </a:rPr>
                      <m:t> </m:t>
                    </m:r>
                    <m:r>
                      <m:rPr>
                        <m:sty m:val="p"/>
                      </m:rPr>
                      <a:rPr lang="en-GB" sz="2200" b="0" i="0" smtClean="0">
                        <a:latin typeface="Cambria Math" panose="02040503050406030204" pitchFamily="18" charset="0"/>
                        <a:ea typeface="Cambria Math" panose="02040503050406030204" pitchFamily="18" charset="0"/>
                      </a:rPr>
                      <m:t>large</m:t>
                    </m:r>
                    <m:r>
                      <a:rPr lang="en-GB" sz="2200" b="0" i="0" smtClean="0">
                        <a:latin typeface="Cambria Math" panose="02040503050406030204" pitchFamily="18" charset="0"/>
                        <a:ea typeface="Cambria Math" panose="02040503050406030204" pitchFamily="18" charset="0"/>
                      </a:rPr>
                      <m:t> </m:t>
                    </m:r>
                    <m:r>
                      <m:rPr>
                        <m:sty m:val="p"/>
                      </m:rPr>
                      <a:rPr lang="en-GB" sz="2200" b="0" i="0" smtClean="0">
                        <a:latin typeface="Cambria Math" panose="02040503050406030204" pitchFamily="18" charset="0"/>
                        <a:ea typeface="Cambria Math" panose="02040503050406030204" pitchFamily="18" charset="0"/>
                      </a:rPr>
                      <m:t>sample</m:t>
                    </m:r>
                    <m:r>
                      <a:rPr lang="en-GB" sz="2200" b="0" i="0" smtClean="0">
                        <a:latin typeface="Cambria Math" panose="02040503050406030204" pitchFamily="18" charset="0"/>
                        <a:ea typeface="Cambria Math" panose="02040503050406030204" pitchFamily="18" charset="0"/>
                      </a:rPr>
                      <m:t>−</m:t>
                    </m:r>
                    <m:r>
                      <m:rPr>
                        <m:sty m:val="p"/>
                      </m:rPr>
                      <a:rPr lang="en-GB" sz="2200" b="0" i="0" smtClean="0">
                        <a:latin typeface="Cambria Math" panose="02040503050406030204" pitchFamily="18" charset="0"/>
                        <a:ea typeface="Cambria Math" panose="02040503050406030204" pitchFamily="18" charset="0"/>
                      </a:rPr>
                      <m:t>szie</m:t>
                    </m:r>
                  </m:oMath>
                </a14:m>
                <a:r>
                  <a:rPr lang="en-GB" sz="2200" dirty="0"/>
                  <a:t>)</a:t>
                </a:r>
              </a:p>
              <a:p>
                <a:pPr marL="457200" lvl="1" indent="0" algn="ctr">
                  <a:buNone/>
                </a:pPr>
                <a:r>
                  <a:rPr lang="en-GB" sz="2200" dirty="0"/>
                  <a:t>t</a:t>
                </a:r>
                <a14:m>
                  <m:oMath xmlns:m="http://schemas.openxmlformats.org/officeDocument/2006/math">
                    <m:r>
                      <a:rPr lang="en-GB" sz="2200" i="1">
                        <a:latin typeface="Cambria Math" panose="02040503050406030204" pitchFamily="18" charset="0"/>
                      </a:rPr>
                      <m:t>=</m:t>
                    </m:r>
                    <m:f>
                      <m:fPr>
                        <m:ctrlPr>
                          <a:rPr lang="en-GB" sz="2200" i="1">
                            <a:latin typeface="Cambria Math" panose="02040503050406030204" pitchFamily="18" charset="0"/>
                          </a:rPr>
                        </m:ctrlPr>
                      </m:fPr>
                      <m:num>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r>
                          <a:rPr lang="en-GB" sz="2200" i="1">
                            <a:latin typeface="Cambria Math" panose="02040503050406030204" pitchFamily="18" charset="0"/>
                          </a:rPr>
                          <m:t>−</m:t>
                        </m:r>
                        <m:sSub>
                          <m:sSubPr>
                            <m:ctrlPr>
                              <a:rPr lang="en-GB" sz="2200" i="1">
                                <a:latin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𝜇</m:t>
                            </m:r>
                          </m:e>
                          <m:sub>
                            <m:r>
                              <a:rPr lang="en-GB" sz="2200" i="1">
                                <a:latin typeface="Cambria Math" panose="02040503050406030204" pitchFamily="18" charset="0"/>
                              </a:rPr>
                              <m:t>0</m:t>
                            </m:r>
                          </m:sub>
                        </m:sSub>
                      </m:num>
                      <m:den>
                        <m:f>
                          <m:fPr>
                            <m:ctrlPr>
                              <a:rPr lang="en-GB" sz="2200" i="1">
                                <a:latin typeface="Cambria Math" panose="02040503050406030204" pitchFamily="18" charset="0"/>
                              </a:rPr>
                            </m:ctrlPr>
                          </m:fPr>
                          <m:num>
                            <m:r>
                              <a:rPr lang="en-GB" sz="2200" b="0" i="1" smtClean="0">
                                <a:latin typeface="Cambria Math" panose="02040503050406030204" pitchFamily="18" charset="0"/>
                                <a:ea typeface="Cambria Math" panose="02040503050406030204" pitchFamily="18" charset="0"/>
                              </a:rPr>
                              <m:t>𝑠</m:t>
                            </m:r>
                          </m:num>
                          <m:den>
                            <m:rad>
                              <m:radPr>
                                <m:degHide m:val="on"/>
                                <m:ctrlPr>
                                  <a:rPr lang="en-GB" sz="2200" i="1">
                                    <a:latin typeface="Cambria Math" panose="02040503050406030204" pitchFamily="18" charset="0"/>
                                  </a:rPr>
                                </m:ctrlPr>
                              </m:radPr>
                              <m:deg/>
                              <m:e>
                                <m:r>
                                  <a:rPr lang="en-GB" sz="2200" i="1">
                                    <a:latin typeface="Cambria Math" panose="02040503050406030204" pitchFamily="18" charset="0"/>
                                  </a:rPr>
                                  <m:t>𝑛</m:t>
                                </m:r>
                              </m:e>
                            </m:rad>
                          </m:den>
                        </m:f>
                      </m:den>
                    </m:f>
                  </m:oMath>
                </a14:m>
                <a:r>
                  <a:rPr lang="en-GB" sz="2200" dirty="0"/>
                  <a:t>    (</a:t>
                </a:r>
                <a14:m>
                  <m:oMath xmlns:m="http://schemas.openxmlformats.org/officeDocument/2006/math">
                    <m:r>
                      <a:rPr lang="en-GB" sz="2200" i="1">
                        <a:latin typeface="Cambria Math" panose="02040503050406030204" pitchFamily="18" charset="0"/>
                        <a:ea typeface="Cambria Math" panose="02040503050406030204" pitchFamily="18" charset="0"/>
                      </a:rPr>
                      <m:t>𝜎</m:t>
                    </m:r>
                    <m:r>
                      <a:rPr lang="en-GB" sz="2200">
                        <a:latin typeface="Cambria Math" panose="02040503050406030204" pitchFamily="18" charset="0"/>
                        <a:ea typeface="Cambria Math" panose="02040503050406030204" pitchFamily="18" charset="0"/>
                      </a:rPr>
                      <m:t>−</m:t>
                    </m:r>
                    <m:r>
                      <m:rPr>
                        <m:sty m:val="p"/>
                      </m:rPr>
                      <a:rPr lang="en-GB" sz="2200" b="0" i="0" smtClean="0">
                        <a:latin typeface="Cambria Math" panose="02040503050406030204" pitchFamily="18" charset="0"/>
                        <a:ea typeface="Cambria Math" panose="02040503050406030204" pitchFamily="18" charset="0"/>
                      </a:rPr>
                      <m:t>un</m:t>
                    </m:r>
                    <m:r>
                      <a:rPr lang="en-GB" sz="2200" b="0" i="0" smtClean="0">
                        <a:latin typeface="Cambria Math" panose="02040503050406030204" pitchFamily="18" charset="0"/>
                        <a:ea typeface="Cambria Math" panose="02040503050406030204" pitchFamily="18" charset="0"/>
                      </a:rPr>
                      <m:t>−</m:t>
                    </m:r>
                    <m:r>
                      <m:rPr>
                        <m:sty m:val="p"/>
                      </m:rPr>
                      <a:rPr lang="en-GB" sz="2200">
                        <a:latin typeface="Cambria Math" panose="02040503050406030204" pitchFamily="18" charset="0"/>
                        <a:ea typeface="Cambria Math" panose="02040503050406030204" pitchFamily="18" charset="0"/>
                      </a:rPr>
                      <m:t>known</m:t>
                    </m:r>
                    <m:r>
                      <a:rPr lang="en-GB" sz="2200">
                        <a:latin typeface="Cambria Math" panose="02040503050406030204" pitchFamily="18" charset="0"/>
                        <a:ea typeface="Cambria Math" panose="02040503050406030204" pitchFamily="18" charset="0"/>
                      </a:rPr>
                      <m:t> </m:t>
                    </m:r>
                    <m:r>
                      <m:rPr>
                        <m:sty m:val="p"/>
                      </m:rPr>
                      <a:rPr lang="en-GB" sz="2200" b="0" i="0" smtClean="0">
                        <a:latin typeface="Cambria Math" panose="02040503050406030204" pitchFamily="18" charset="0"/>
                        <a:ea typeface="Cambria Math" panose="02040503050406030204" pitchFamily="18" charset="0"/>
                      </a:rPr>
                      <m:t>and</m:t>
                    </m:r>
                    <m:r>
                      <a:rPr lang="en-GB" sz="2200" b="0" i="0" smtClean="0">
                        <a:latin typeface="Cambria Math" panose="02040503050406030204" pitchFamily="18" charset="0"/>
                        <a:ea typeface="Cambria Math" panose="02040503050406030204" pitchFamily="18" charset="0"/>
                      </a:rPr>
                      <m:t> </m:t>
                    </m:r>
                    <m:r>
                      <m:rPr>
                        <m:sty m:val="p"/>
                      </m:rPr>
                      <a:rPr lang="en-GB" sz="2200" b="0" i="0" smtClean="0">
                        <a:latin typeface="Cambria Math" panose="02040503050406030204" pitchFamily="18" charset="0"/>
                        <a:ea typeface="Cambria Math" panose="02040503050406030204" pitchFamily="18" charset="0"/>
                      </a:rPr>
                      <m:t>small</m:t>
                    </m:r>
                    <m:r>
                      <a:rPr lang="en-GB" sz="2200">
                        <a:latin typeface="Cambria Math" panose="02040503050406030204" pitchFamily="18" charset="0"/>
                        <a:ea typeface="Cambria Math" panose="02040503050406030204" pitchFamily="18" charset="0"/>
                      </a:rPr>
                      <m:t> </m:t>
                    </m:r>
                    <m:r>
                      <m:rPr>
                        <m:sty m:val="p"/>
                      </m:rPr>
                      <a:rPr lang="en-GB" sz="2200">
                        <a:latin typeface="Cambria Math" panose="02040503050406030204" pitchFamily="18" charset="0"/>
                        <a:ea typeface="Cambria Math" panose="02040503050406030204" pitchFamily="18" charset="0"/>
                      </a:rPr>
                      <m:t>sample</m:t>
                    </m:r>
                    <m:r>
                      <a:rPr lang="en-GB" sz="2200">
                        <a:latin typeface="Cambria Math" panose="02040503050406030204" pitchFamily="18" charset="0"/>
                        <a:ea typeface="Cambria Math" panose="02040503050406030204" pitchFamily="18" charset="0"/>
                      </a:rPr>
                      <m:t>−</m:t>
                    </m:r>
                    <m:r>
                      <m:rPr>
                        <m:sty m:val="p"/>
                      </m:rPr>
                      <a:rPr lang="en-GB" sz="2200">
                        <a:latin typeface="Cambria Math" panose="02040503050406030204" pitchFamily="18" charset="0"/>
                        <a:ea typeface="Cambria Math" panose="02040503050406030204" pitchFamily="18" charset="0"/>
                      </a:rPr>
                      <m:t>szie</m:t>
                    </m:r>
                  </m:oMath>
                </a14:m>
                <a:r>
                  <a:rPr lang="en-GB" sz="2200" dirty="0"/>
                  <a:t>)</a:t>
                </a:r>
              </a:p>
              <a:p>
                <a:r>
                  <a:rPr lang="en-GB" b="1" dirty="0"/>
                  <a:t>Level of significance: </a:t>
                </a:r>
                <a:r>
                  <a:rPr lang="en-GB" b="0" i="0" dirty="0">
                    <a:solidFill>
                      <a:srgbClr val="040C28"/>
                    </a:solidFill>
                    <a:effectLst/>
                    <a:latin typeface="Google Sans"/>
                  </a:rPr>
                  <a:t>the probability of rejecting the null hypothesis when the null hypothesis is true (type-I error), denoted by </a:t>
                </a:r>
                <a14:m>
                  <m:oMath xmlns:m="http://schemas.openxmlformats.org/officeDocument/2006/math">
                    <m:r>
                      <a:rPr lang="en-GB" b="0" i="1" smtClean="0">
                        <a:solidFill>
                          <a:srgbClr val="040C28"/>
                        </a:solidFill>
                        <a:effectLst/>
                        <a:latin typeface="Cambria Math" panose="02040503050406030204" pitchFamily="18" charset="0"/>
                        <a:ea typeface="Cambria Math" panose="02040503050406030204" pitchFamily="18" charset="0"/>
                      </a:rPr>
                      <m:t>𝛼</m:t>
                    </m:r>
                  </m:oMath>
                </a14:m>
                <a:endParaRPr lang="en-GB" b="0" i="0" dirty="0">
                  <a:solidFill>
                    <a:srgbClr val="040C28"/>
                  </a:solidFill>
                  <a:effectLst/>
                  <a:latin typeface="Google Sans"/>
                  <a:ea typeface="Cambria Math" panose="02040503050406030204" pitchFamily="18" charset="0"/>
                </a:endParaRPr>
              </a:p>
              <a:p>
                <a:r>
                  <a:rPr lang="en-GB" b="1" dirty="0"/>
                  <a:t>Rejection Region : </a:t>
                </a:r>
                <a:r>
                  <a:rPr lang="en-GB" dirty="0"/>
                  <a:t>Reject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𝐻</m:t>
                        </m:r>
                      </m:e>
                      <m:sub>
                        <m:r>
                          <a:rPr lang="en-GB" b="0" i="1" dirty="0" smtClean="0">
                            <a:latin typeface="Cambria Math" panose="02040503050406030204" pitchFamily="18" charset="0"/>
                          </a:rPr>
                          <m:t>0</m:t>
                        </m:r>
                      </m:sub>
                    </m:sSub>
                  </m:oMath>
                </a14:m>
                <a:r>
                  <a:rPr lang="en-GB" dirty="0"/>
                  <a:t> if</a:t>
                </a:r>
              </a:p>
              <a:p>
                <a:pPr marL="457200" lvl="1" indent="0" algn="ctr">
                  <a:buNone/>
                </a:pPr>
                <a:r>
                  <a:rPr lang="en-GB" sz="2000" b="0" dirty="0"/>
                  <a:t>One-tailed (&gt;) :     </a:t>
                </a:r>
                <a14:m>
                  <m:oMath xmlns:m="http://schemas.openxmlformats.org/officeDocument/2006/math">
                    <m:r>
                      <a:rPr lang="en-GB" sz="2000" b="0" i="1" smtClean="0">
                        <a:latin typeface="Cambria Math" panose="02040503050406030204" pitchFamily="18" charset="0"/>
                      </a:rPr>
                      <m:t>𝑧</m:t>
                    </m:r>
                    <m:r>
                      <a:rPr lang="en-GB" sz="2000" b="0" i="1" smtClean="0">
                        <a:latin typeface="Cambria Math" panose="02040503050406030204" pitchFamily="18" charset="0"/>
                      </a:rPr>
                      <m:t>&gt;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𝑍</m:t>
                        </m:r>
                      </m:e>
                      <m:sub>
                        <m:r>
                          <a:rPr lang="en-GB" sz="2000" b="0" i="1" smtClean="0">
                            <a:latin typeface="Cambria Math" panose="02040503050406030204" pitchFamily="18" charset="0"/>
                            <a:ea typeface="Cambria Math" panose="02040503050406030204" pitchFamily="18" charset="0"/>
                          </a:rPr>
                          <m:t>𝛼</m:t>
                        </m:r>
                      </m:sub>
                    </m:sSub>
                    <m:r>
                      <a:rPr lang="en-GB" sz="2000" b="0" i="1" smtClean="0">
                        <a:latin typeface="Cambria Math" panose="02040503050406030204" pitchFamily="18" charset="0"/>
                      </a:rPr>
                      <m:t> </m:t>
                    </m:r>
                    <m:r>
                      <a:rPr lang="en-GB" sz="2000" b="0" i="1" smtClean="0">
                        <a:latin typeface="Cambria Math" panose="02040503050406030204" pitchFamily="18" charset="0"/>
                      </a:rPr>
                      <m:t>𝑜𝑟</m:t>
                    </m:r>
                    <m:r>
                      <a:rPr lang="en-GB" sz="2000" b="0" i="1" smtClean="0">
                        <a:latin typeface="Cambria Math" panose="02040503050406030204" pitchFamily="18" charset="0"/>
                      </a:rPr>
                      <m:t>   </m:t>
                    </m:r>
                    <m:r>
                      <a:rPr lang="en-GB" sz="2000" b="0" i="1" smtClean="0">
                        <a:latin typeface="Cambria Math" panose="02040503050406030204" pitchFamily="18" charset="0"/>
                      </a:rPr>
                      <m:t>𝑡</m:t>
                    </m:r>
                    <m:r>
                      <a:rPr lang="en-GB" sz="2000" b="0" i="1" smtClean="0">
                        <a:latin typeface="Cambria Math" panose="02040503050406030204" pitchFamily="18" charset="0"/>
                      </a:rPr>
                      <m:t>&gt;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𝑡</m:t>
                        </m:r>
                      </m:e>
                      <m:sub>
                        <m:r>
                          <a:rPr lang="en-GB" sz="2000" b="0" i="1" smtClean="0">
                            <a:latin typeface="Cambria Math" panose="02040503050406030204" pitchFamily="18" charset="0"/>
                          </a:rPr>
                          <m:t>(</m:t>
                        </m:r>
                        <m:r>
                          <a:rPr lang="en-GB" sz="2000" b="0" i="1" smtClean="0">
                            <a:latin typeface="Cambria Math" panose="02040503050406030204" pitchFamily="18" charset="0"/>
                          </a:rPr>
                          <m:t>𝑛</m:t>
                        </m:r>
                        <m:r>
                          <a:rPr lang="en-GB" sz="2000" b="0" i="1" smtClean="0">
                            <a:latin typeface="Cambria Math" panose="02040503050406030204" pitchFamily="18" charset="0"/>
                          </a:rPr>
                          <m:t>−1,</m:t>
                        </m:r>
                        <m:r>
                          <a:rPr lang="en-GB" sz="2000" b="0" i="1" smtClean="0">
                            <a:latin typeface="Cambria Math" panose="02040503050406030204" pitchFamily="18" charset="0"/>
                            <a:ea typeface="Cambria Math" panose="02040503050406030204" pitchFamily="18" charset="0"/>
                          </a:rPr>
                          <m:t>𝛼</m:t>
                        </m:r>
                        <m:r>
                          <a:rPr lang="en-GB" sz="2000" b="0" i="1" smtClean="0">
                            <a:latin typeface="Cambria Math" panose="02040503050406030204" pitchFamily="18" charset="0"/>
                            <a:ea typeface="Cambria Math" panose="02040503050406030204" pitchFamily="18" charset="0"/>
                          </a:rPr>
                          <m:t>)</m:t>
                        </m:r>
                      </m:sub>
                    </m:sSub>
                  </m:oMath>
                </a14:m>
                <a:endParaRPr lang="en-GB" sz="2000" b="0" dirty="0"/>
              </a:p>
              <a:p>
                <a:pPr marL="457200" lvl="1" indent="0" algn="ctr">
                  <a:buNone/>
                </a:pPr>
                <a:r>
                  <a:rPr lang="en-GB" sz="2000" dirty="0"/>
                  <a:t>One-tailed (&lt;): </a:t>
                </a:r>
                <a14:m>
                  <m:oMath xmlns:m="http://schemas.openxmlformats.org/officeDocument/2006/math">
                    <m:r>
                      <a:rPr lang="en-GB" sz="2000" b="0" i="0" smtClean="0">
                        <a:latin typeface="Cambria Math" panose="02040503050406030204" pitchFamily="18" charset="0"/>
                      </a:rPr>
                      <m:t>  </m:t>
                    </m:r>
                    <m:r>
                      <a:rPr lang="en-GB" sz="2000" b="0" i="1" smtClean="0">
                        <a:latin typeface="Cambria Math" panose="02040503050406030204" pitchFamily="18" charset="0"/>
                      </a:rPr>
                      <m:t>𝑧</m:t>
                    </m:r>
                    <m:r>
                      <a:rPr lang="en-GB" sz="2000" b="0" i="1" smtClean="0">
                        <a:latin typeface="Cambria Math" panose="02040503050406030204" pitchFamily="18" charset="0"/>
                      </a:rPr>
                      <m:t>&lt;−</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𝑍</m:t>
                        </m:r>
                      </m:e>
                      <m:sub>
                        <m:r>
                          <a:rPr lang="en-GB" sz="2000" b="0" i="1" smtClean="0">
                            <a:latin typeface="Cambria Math" panose="02040503050406030204" pitchFamily="18" charset="0"/>
                            <a:ea typeface="Cambria Math" panose="02040503050406030204" pitchFamily="18" charset="0"/>
                          </a:rPr>
                          <m:t>𝛼</m:t>
                        </m:r>
                      </m:sub>
                    </m:sSub>
                    <m:r>
                      <a:rPr lang="en-GB" sz="2000" b="0" i="1" smtClean="0">
                        <a:latin typeface="Cambria Math" panose="02040503050406030204" pitchFamily="18" charset="0"/>
                        <a:ea typeface="Cambria Math" panose="02040503050406030204" pitchFamily="18" charset="0"/>
                      </a:rPr>
                      <m:t>    </m:t>
                    </m:r>
                    <m:r>
                      <a:rPr lang="en-GB" sz="2000" i="1">
                        <a:latin typeface="Cambria Math" panose="02040503050406030204" pitchFamily="18" charset="0"/>
                      </a:rPr>
                      <m:t>𝑜𝑟</m:t>
                    </m:r>
                    <m:r>
                      <a:rPr lang="en-GB" sz="2000" b="0" i="1" smtClean="0">
                        <a:latin typeface="Cambria Math" panose="02040503050406030204" pitchFamily="18" charset="0"/>
                      </a:rPr>
                      <m:t>   </m:t>
                    </m:r>
                    <m:r>
                      <a:rPr lang="en-GB" sz="2000" i="1">
                        <a:latin typeface="Cambria Math" panose="02040503050406030204" pitchFamily="18" charset="0"/>
                      </a:rPr>
                      <m:t> </m:t>
                    </m:r>
                    <m:r>
                      <a:rPr lang="en-GB" sz="2000" i="1">
                        <a:latin typeface="Cambria Math" panose="02040503050406030204" pitchFamily="18" charset="0"/>
                      </a:rPr>
                      <m:t>𝑡</m:t>
                    </m:r>
                    <m:r>
                      <a:rPr lang="en-GB" sz="2000" b="0" i="1" smtClean="0">
                        <a:latin typeface="Cambria Math" panose="02040503050406030204" pitchFamily="18" charset="0"/>
                      </a:rPr>
                      <m:t>&lt;−</m:t>
                    </m:r>
                    <m:sSub>
                      <m:sSubPr>
                        <m:ctrlPr>
                          <a:rPr lang="en-GB" sz="2000" i="1">
                            <a:latin typeface="Cambria Math" panose="02040503050406030204" pitchFamily="18" charset="0"/>
                          </a:rPr>
                        </m:ctrlPr>
                      </m:sSubPr>
                      <m:e>
                        <m:r>
                          <a:rPr lang="en-GB" sz="2000" i="1">
                            <a:latin typeface="Cambria Math" panose="02040503050406030204" pitchFamily="18" charset="0"/>
                          </a:rPr>
                          <m:t>𝑡</m:t>
                        </m:r>
                      </m:e>
                      <m:sub>
                        <m:r>
                          <a:rPr lang="en-GB" sz="2000" i="1">
                            <a:latin typeface="Cambria Math" panose="02040503050406030204" pitchFamily="18" charset="0"/>
                          </a:rPr>
                          <m:t>(</m:t>
                        </m:r>
                        <m:r>
                          <a:rPr lang="en-GB" sz="2000" i="1">
                            <a:latin typeface="Cambria Math" panose="02040503050406030204" pitchFamily="18" charset="0"/>
                          </a:rPr>
                          <m:t>𝑛</m:t>
                        </m:r>
                        <m:r>
                          <a:rPr lang="en-GB" sz="2000" i="1">
                            <a:latin typeface="Cambria Math" panose="02040503050406030204" pitchFamily="18" charset="0"/>
                          </a:rPr>
                          <m:t>−1,</m:t>
                        </m:r>
                        <m:r>
                          <a:rPr lang="en-GB" sz="2000" i="1">
                            <a:latin typeface="Cambria Math" panose="02040503050406030204" pitchFamily="18" charset="0"/>
                            <a:ea typeface="Cambria Math" panose="02040503050406030204" pitchFamily="18" charset="0"/>
                          </a:rPr>
                          <m:t>𝛼</m:t>
                        </m:r>
                        <m:r>
                          <a:rPr lang="en-GB" sz="2000" i="1">
                            <a:latin typeface="Cambria Math" panose="02040503050406030204" pitchFamily="18" charset="0"/>
                            <a:ea typeface="Cambria Math" panose="02040503050406030204" pitchFamily="18" charset="0"/>
                          </a:rPr>
                          <m:t>)</m:t>
                        </m:r>
                      </m:sub>
                    </m:sSub>
                  </m:oMath>
                </a14:m>
                <a:endParaRPr lang="en-GB" sz="2000" dirty="0"/>
              </a:p>
              <a:p>
                <a:pPr marL="457200" lvl="1" indent="0" algn="ctr">
                  <a:buNone/>
                </a:pPr>
                <a:r>
                  <a:rPr lang="en-GB" sz="2000" dirty="0"/>
                  <a:t>Tow-tailed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oMath>
                </a14:m>
                <a:r>
                  <a:rPr lang="en-GB" sz="2000" dirty="0"/>
                  <a:t>): </a:t>
                </a:r>
                <a14:m>
                  <m:oMath xmlns:m="http://schemas.openxmlformats.org/officeDocument/2006/math">
                    <m:r>
                      <a:rPr lang="en-GB" sz="2000" i="1">
                        <a:latin typeface="Cambria Math" panose="02040503050406030204" pitchFamily="18" charset="0"/>
                      </a:rPr>
                      <m:t>𝑧</m:t>
                    </m:r>
                    <m:r>
                      <a:rPr lang="en-GB" sz="2000" i="1">
                        <a:latin typeface="Cambria Math" panose="02040503050406030204" pitchFamily="18" charset="0"/>
                      </a:rPr>
                      <m:t>&lt;−</m:t>
                    </m:r>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𝑍</m:t>
                        </m:r>
                      </m:e>
                      <m:sub>
                        <m:f>
                          <m:fPr>
                            <m:ctrlPr>
                              <a:rPr lang="en-GB" sz="2000" i="1" smtClean="0">
                                <a:latin typeface="Cambria Math" panose="02040503050406030204" pitchFamily="18" charset="0"/>
                              </a:rPr>
                            </m:ctrlPr>
                          </m:fPr>
                          <m:num>
                            <m:r>
                              <a:rPr lang="en-GB" sz="2000" i="1">
                                <a:latin typeface="Cambria Math" panose="02040503050406030204" pitchFamily="18" charset="0"/>
                                <a:ea typeface="Cambria Math" panose="02040503050406030204" pitchFamily="18" charset="0"/>
                              </a:rPr>
                              <m:t>𝛼</m:t>
                            </m:r>
                          </m:num>
                          <m:den>
                            <m:r>
                              <a:rPr lang="en-GB" sz="2000" b="0" i="1" smtClean="0">
                                <a:latin typeface="Cambria Math" panose="02040503050406030204" pitchFamily="18" charset="0"/>
                              </a:rPr>
                              <m:t>2</m:t>
                            </m:r>
                          </m:den>
                        </m:f>
                      </m:sub>
                    </m:sSub>
                  </m:oMath>
                </a14:m>
                <a:r>
                  <a:rPr lang="en-GB" sz="2000" dirty="0"/>
                  <a:t> or </a:t>
                </a:r>
                <a14:m>
                  <m:oMath xmlns:m="http://schemas.openxmlformats.org/officeDocument/2006/math">
                    <m:r>
                      <a:rPr lang="en-GB" sz="2000" i="1">
                        <a:latin typeface="Cambria Math" panose="02040503050406030204" pitchFamily="18" charset="0"/>
                      </a:rPr>
                      <m:t>𝑧</m:t>
                    </m:r>
                    <m:r>
                      <a:rPr lang="en-GB" sz="2000" i="1">
                        <a:latin typeface="Cambria Math" panose="02040503050406030204" pitchFamily="18" charset="0"/>
                      </a:rPr>
                      <m:t>&gt;</m:t>
                    </m:r>
                    <m:sSub>
                      <m:sSubPr>
                        <m:ctrlPr>
                          <a:rPr lang="en-GB" sz="2000" i="1">
                            <a:latin typeface="Cambria Math" panose="02040503050406030204" pitchFamily="18" charset="0"/>
                          </a:rPr>
                        </m:ctrlPr>
                      </m:sSubPr>
                      <m:e>
                        <m:r>
                          <a:rPr lang="en-GB" sz="2000" i="1">
                            <a:latin typeface="Cambria Math" panose="02040503050406030204" pitchFamily="18" charset="0"/>
                          </a:rPr>
                          <m:t>𝑍</m:t>
                        </m:r>
                      </m:e>
                      <m:sub>
                        <m:f>
                          <m:fPr>
                            <m:ctrlPr>
                              <a:rPr lang="en-GB" sz="2000" i="1">
                                <a:latin typeface="Cambria Math" panose="02040503050406030204" pitchFamily="18" charset="0"/>
                              </a:rPr>
                            </m:ctrlPr>
                          </m:fPr>
                          <m:num>
                            <m:r>
                              <a:rPr lang="en-GB" sz="2000" i="1">
                                <a:latin typeface="Cambria Math" panose="02040503050406030204" pitchFamily="18" charset="0"/>
                                <a:ea typeface="Cambria Math" panose="02040503050406030204" pitchFamily="18" charset="0"/>
                              </a:rPr>
                              <m:t>𝛼</m:t>
                            </m:r>
                          </m:num>
                          <m:den>
                            <m:r>
                              <a:rPr lang="en-GB" sz="2000" i="1">
                                <a:latin typeface="Cambria Math" panose="02040503050406030204" pitchFamily="18" charset="0"/>
                              </a:rPr>
                              <m:t>2</m:t>
                            </m:r>
                          </m:den>
                        </m:f>
                      </m:sub>
                    </m:sSub>
                    <m:r>
                      <a:rPr lang="en-GB" sz="2000" b="0" i="1" smtClean="0">
                        <a:latin typeface="Cambria Math" panose="02040503050406030204" pitchFamily="18" charset="0"/>
                      </a:rPr>
                      <m:t>     </m:t>
                    </m:r>
                    <m:r>
                      <a:rPr lang="en-GB" sz="2000" b="0" i="1" smtClean="0">
                        <a:latin typeface="Cambria Math" panose="02040503050406030204" pitchFamily="18" charset="0"/>
                      </a:rPr>
                      <m:t>𝑜𝑟</m:t>
                    </m:r>
                    <m:r>
                      <a:rPr lang="en-GB" sz="2000" b="0" i="1" smtClean="0">
                        <a:latin typeface="Cambria Math" panose="02040503050406030204" pitchFamily="18" charset="0"/>
                      </a:rPr>
                      <m:t>      </m:t>
                    </m:r>
                    <m:r>
                      <a:rPr lang="en-GB" sz="2000" b="0" i="1" smtClean="0">
                        <a:latin typeface="Cambria Math" panose="02040503050406030204" pitchFamily="18" charset="0"/>
                      </a:rPr>
                      <m:t>𝑡</m:t>
                    </m:r>
                    <m:r>
                      <a:rPr lang="en-GB" sz="2000" i="1">
                        <a:latin typeface="Cambria Math" panose="02040503050406030204" pitchFamily="18" charset="0"/>
                      </a:rPr>
                      <m:t>&lt;−</m:t>
                    </m:r>
                    <m:sSub>
                      <m:sSubPr>
                        <m:ctrlPr>
                          <a:rPr lang="en-GB" sz="2000" i="1">
                            <a:latin typeface="Cambria Math" panose="02040503050406030204" pitchFamily="18" charset="0"/>
                          </a:rPr>
                        </m:ctrlPr>
                      </m:sSubPr>
                      <m:e>
                        <m:r>
                          <a:rPr lang="en-GB" sz="2000" b="0" i="1" smtClean="0">
                            <a:latin typeface="Cambria Math" panose="02040503050406030204" pitchFamily="18" charset="0"/>
                          </a:rPr>
                          <m:t>𝑡</m:t>
                        </m:r>
                      </m:e>
                      <m:sub>
                        <m:r>
                          <a:rPr lang="en-GB" sz="2000" b="0" i="1" smtClean="0">
                            <a:latin typeface="Cambria Math" panose="02040503050406030204" pitchFamily="18" charset="0"/>
                          </a:rPr>
                          <m:t>(</m:t>
                        </m:r>
                        <m:r>
                          <a:rPr lang="en-GB" sz="2000" b="0" i="1" smtClean="0">
                            <a:latin typeface="Cambria Math" panose="02040503050406030204" pitchFamily="18" charset="0"/>
                          </a:rPr>
                          <m:t>𝑛</m:t>
                        </m:r>
                        <m:r>
                          <a:rPr lang="en-GB" sz="2000" b="0" i="1" smtClean="0">
                            <a:latin typeface="Cambria Math" panose="02040503050406030204" pitchFamily="18" charset="0"/>
                          </a:rPr>
                          <m:t>−1,</m:t>
                        </m:r>
                        <m:f>
                          <m:fPr>
                            <m:ctrlPr>
                              <a:rPr lang="en-GB" sz="2000" i="1">
                                <a:latin typeface="Cambria Math" panose="02040503050406030204" pitchFamily="18" charset="0"/>
                              </a:rPr>
                            </m:ctrlPr>
                          </m:fPr>
                          <m:num>
                            <m:r>
                              <a:rPr lang="en-GB" sz="2000" i="1">
                                <a:latin typeface="Cambria Math" panose="02040503050406030204" pitchFamily="18" charset="0"/>
                                <a:ea typeface="Cambria Math" panose="02040503050406030204" pitchFamily="18" charset="0"/>
                              </a:rPr>
                              <m:t>𝛼</m:t>
                            </m:r>
                          </m:num>
                          <m:den>
                            <m:r>
                              <a:rPr lang="en-GB" sz="2000" i="1">
                                <a:latin typeface="Cambria Math" panose="02040503050406030204" pitchFamily="18" charset="0"/>
                              </a:rPr>
                              <m:t>2</m:t>
                            </m:r>
                          </m:den>
                        </m:f>
                        <m:r>
                          <a:rPr lang="en-GB" sz="2000" b="0" i="1" smtClean="0">
                            <a:latin typeface="Cambria Math" panose="02040503050406030204" pitchFamily="18" charset="0"/>
                          </a:rPr>
                          <m:t>)</m:t>
                        </m:r>
                      </m:sub>
                    </m:sSub>
                    <m:r>
                      <m:rPr>
                        <m:nor/>
                      </m:rPr>
                      <a:rPr lang="en-GB" sz="2000" dirty="0"/>
                      <m:t> </m:t>
                    </m:r>
                    <m:r>
                      <m:rPr>
                        <m:nor/>
                      </m:rPr>
                      <a:rPr lang="en-GB" sz="2000" dirty="0"/>
                      <m:t>or</m:t>
                    </m:r>
                    <m:r>
                      <m:rPr>
                        <m:nor/>
                      </m:rPr>
                      <a:rPr lang="en-GB" sz="2000" dirty="0"/>
                      <m:t> </m:t>
                    </m:r>
                    <m:r>
                      <a:rPr lang="en-GB" sz="2000" b="0" i="1" dirty="0" smtClean="0">
                        <a:latin typeface="Cambria Math" panose="02040503050406030204" pitchFamily="18" charset="0"/>
                      </a:rPr>
                      <m:t>𝑡</m:t>
                    </m:r>
                    <m:r>
                      <a:rPr lang="en-GB" sz="2000" i="1">
                        <a:latin typeface="Cambria Math" panose="02040503050406030204" pitchFamily="18" charset="0"/>
                      </a:rPr>
                      <m:t>&gt;</m:t>
                    </m:r>
                    <m:sSub>
                      <m:sSubPr>
                        <m:ctrlPr>
                          <a:rPr lang="en-GB" sz="2000" i="1">
                            <a:latin typeface="Cambria Math" panose="02040503050406030204" pitchFamily="18" charset="0"/>
                          </a:rPr>
                        </m:ctrlPr>
                      </m:sSubPr>
                      <m:e>
                        <m:r>
                          <a:rPr lang="en-GB" sz="2000" b="0" i="1" smtClean="0">
                            <a:latin typeface="Cambria Math" panose="02040503050406030204" pitchFamily="18" charset="0"/>
                          </a:rPr>
                          <m:t>𝑡</m:t>
                        </m:r>
                      </m:e>
                      <m:sub>
                        <m:r>
                          <a:rPr lang="en-GB" sz="2000" i="1">
                            <a:latin typeface="Cambria Math" panose="02040503050406030204" pitchFamily="18" charset="0"/>
                          </a:rPr>
                          <m:t>(</m:t>
                        </m:r>
                        <m:r>
                          <a:rPr lang="en-GB" sz="2000" i="1">
                            <a:latin typeface="Cambria Math" panose="02040503050406030204" pitchFamily="18" charset="0"/>
                          </a:rPr>
                          <m:t>𝑛</m:t>
                        </m:r>
                        <m:r>
                          <a:rPr lang="en-GB" sz="2000" i="1">
                            <a:latin typeface="Cambria Math" panose="02040503050406030204" pitchFamily="18" charset="0"/>
                          </a:rPr>
                          <m:t>−1,</m:t>
                        </m:r>
                        <m:f>
                          <m:fPr>
                            <m:ctrlPr>
                              <a:rPr lang="en-GB" sz="2000" i="1">
                                <a:latin typeface="Cambria Math" panose="02040503050406030204" pitchFamily="18" charset="0"/>
                              </a:rPr>
                            </m:ctrlPr>
                          </m:fPr>
                          <m:num>
                            <m:r>
                              <a:rPr lang="en-GB" sz="2000" i="1">
                                <a:latin typeface="Cambria Math" panose="02040503050406030204" pitchFamily="18" charset="0"/>
                                <a:ea typeface="Cambria Math" panose="02040503050406030204" pitchFamily="18" charset="0"/>
                              </a:rPr>
                              <m:t>𝛼</m:t>
                            </m:r>
                          </m:num>
                          <m:den>
                            <m:r>
                              <a:rPr lang="en-GB" sz="2000" i="1">
                                <a:latin typeface="Cambria Math" panose="02040503050406030204" pitchFamily="18" charset="0"/>
                              </a:rPr>
                              <m:t>2</m:t>
                            </m:r>
                          </m:den>
                        </m:f>
                        <m:r>
                          <a:rPr lang="en-GB" sz="2000" i="1">
                            <a:latin typeface="Cambria Math" panose="02040503050406030204" pitchFamily="18" charset="0"/>
                          </a:rPr>
                          <m:t>)</m:t>
                        </m:r>
                      </m:sub>
                    </m:sSub>
                  </m:oMath>
                </a14:m>
                <a:endParaRPr lang="en-GB" sz="2000" dirty="0"/>
              </a:p>
              <a:p>
                <a:pPr marL="0" indent="0">
                  <a:buNone/>
                </a:pPr>
                <a:r>
                  <a:rPr lang="en-GB" dirty="0"/>
                  <a:t>                   </a:t>
                </a:r>
              </a:p>
            </p:txBody>
          </p:sp>
        </mc:Choice>
        <mc:Fallback xmlns="">
          <p:sp>
            <p:nvSpPr>
              <p:cNvPr id="3" name="Content Placeholder 2">
                <a:extLst>
                  <a:ext uri="{FF2B5EF4-FFF2-40B4-BE49-F238E27FC236}">
                    <a16:creationId xmlns:a16="http://schemas.microsoft.com/office/drawing/2014/main" id="{1236D514-ABD5-4FFE-9708-DDF0129C6BFA}"/>
                  </a:ext>
                </a:extLst>
              </p:cNvPr>
              <p:cNvSpPr>
                <a:spLocks noGrp="1" noRot="1" noChangeAspect="1" noMove="1" noResize="1" noEditPoints="1" noAdjustHandles="1" noChangeArrowheads="1" noChangeShapeType="1" noTextEdit="1"/>
              </p:cNvSpPr>
              <p:nvPr>
                <p:ph idx="1"/>
              </p:nvPr>
            </p:nvSpPr>
            <p:spPr>
              <a:xfrm>
                <a:off x="2589212" y="1905000"/>
                <a:ext cx="8915400" cy="4386470"/>
              </a:xfrm>
              <a:blipFill>
                <a:blip r:embed="rId2"/>
                <a:stretch>
                  <a:fillRect l="-342" t="-1669"/>
                </a:stretch>
              </a:blipFill>
            </p:spPr>
            <p:txBody>
              <a:bodyPr/>
              <a:lstStyle/>
              <a:p>
                <a:r>
                  <a:rPr lang="LID4096">
                    <a:noFill/>
                  </a:rPr>
                  <a:t> </a:t>
                </a:r>
              </a:p>
            </p:txBody>
          </p:sp>
        </mc:Fallback>
      </mc:AlternateContent>
    </p:spTree>
    <p:extLst>
      <p:ext uri="{BB962C8B-B14F-4D97-AF65-F5344CB8AC3E}">
        <p14:creationId xmlns:p14="http://schemas.microsoft.com/office/powerpoint/2010/main" val="898004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84D6-97FE-9591-1E90-C2E31C90ED41}"/>
              </a:ext>
            </a:extLst>
          </p:cNvPr>
          <p:cNvSpPr>
            <a:spLocks noGrp="1"/>
          </p:cNvSpPr>
          <p:nvPr>
            <p:ph type="title"/>
          </p:nvPr>
        </p:nvSpPr>
        <p:spPr/>
        <p:txBody>
          <a:bodyPr/>
          <a:lstStyle/>
          <a:p>
            <a:r>
              <a:rPr lang="en-GB" dirty="0"/>
              <a:t>2. Testing of Hypothesis about Population Mean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36D514-ABD5-4FFE-9708-DDF0129C6BFA}"/>
                  </a:ext>
                </a:extLst>
              </p:cNvPr>
              <p:cNvSpPr>
                <a:spLocks noGrp="1"/>
              </p:cNvSpPr>
              <p:nvPr>
                <p:ph idx="1"/>
              </p:nvPr>
            </p:nvSpPr>
            <p:spPr>
              <a:xfrm>
                <a:off x="2589212" y="1905000"/>
                <a:ext cx="8915400" cy="4386470"/>
              </a:xfrm>
            </p:spPr>
            <p:txBody>
              <a:bodyPr>
                <a:normAutofit/>
              </a:bodyPr>
              <a:lstStyle/>
              <a:p>
                <a:pPr marL="0" indent="0">
                  <a:buNone/>
                </a:pPr>
                <a:r>
                  <a:rPr lang="en-GB" b="1" dirty="0"/>
                  <a:t>P-value approach</a:t>
                </a:r>
              </a:p>
              <a:p>
                <a:r>
                  <a:rPr lang="en-GB" b="1" dirty="0"/>
                  <a:t>Calculating p-value:</a:t>
                </a:r>
                <a:endParaRPr lang="en-GB" dirty="0"/>
              </a:p>
              <a:p>
                <a:pPr marL="0" indent="0" algn="ctr">
                  <a:buNone/>
                </a:pPr>
                <a:r>
                  <a:rPr lang="en-GB" sz="2000" b="0" dirty="0"/>
                  <a:t>        One-tailed (&gt;):     </a:t>
                </a:r>
                <a14:m>
                  <m:oMath xmlns:m="http://schemas.openxmlformats.org/officeDocument/2006/math">
                    <m:r>
                      <m:rPr>
                        <m:sty m:val="p"/>
                      </m:rPr>
                      <a:rPr lang="en-GB" sz="2000" b="0" i="0" smtClean="0">
                        <a:latin typeface="Cambria Math" panose="02040503050406030204" pitchFamily="18" charset="0"/>
                      </a:rPr>
                      <m:t>P</m:t>
                    </m:r>
                    <m:d>
                      <m:dPr>
                        <m:ctrlPr>
                          <a:rPr lang="en-GB" sz="2000" b="0" i="1" smtClean="0">
                            <a:latin typeface="Cambria Math" panose="02040503050406030204" pitchFamily="18" charset="0"/>
                          </a:rPr>
                        </m:ctrlPr>
                      </m:dPr>
                      <m:e>
                        <m:r>
                          <a:rPr lang="en-GB" sz="2000" i="1">
                            <a:latin typeface="Cambria Math" panose="02040503050406030204" pitchFamily="18" charset="0"/>
                          </a:rPr>
                          <m:t>𝑧</m:t>
                        </m:r>
                        <m:r>
                          <a:rPr lang="en-GB" sz="2000" i="1">
                            <a:latin typeface="Cambria Math" panose="02040503050406030204" pitchFamily="18" charset="0"/>
                          </a:rPr>
                          <m:t>&gt;</m:t>
                        </m:r>
                        <m:sSub>
                          <m:sSubPr>
                            <m:ctrlPr>
                              <a:rPr lang="en-GB" sz="2000" i="1">
                                <a:latin typeface="Cambria Math" panose="02040503050406030204" pitchFamily="18" charset="0"/>
                              </a:rPr>
                            </m:ctrlPr>
                          </m:sSubPr>
                          <m:e>
                            <m:r>
                              <a:rPr lang="en-GB" sz="2000" i="1">
                                <a:latin typeface="Cambria Math" panose="02040503050406030204" pitchFamily="18" charset="0"/>
                              </a:rPr>
                              <m:t>𝑍</m:t>
                            </m:r>
                          </m:e>
                          <m:sub>
                            <m:r>
                              <a:rPr lang="en-GB" sz="2000" b="0" i="1" smtClean="0">
                                <a:latin typeface="Cambria Math" panose="02040503050406030204" pitchFamily="18" charset="0"/>
                              </a:rPr>
                              <m:t>0</m:t>
                            </m:r>
                          </m:sub>
                        </m:sSub>
                      </m:e>
                    </m:d>
                  </m:oMath>
                </a14:m>
                <a:r>
                  <a:rPr lang="en-GB" sz="2000" b="0" dirty="0"/>
                  <a:t>= p-value</a:t>
                </a:r>
              </a:p>
              <a:p>
                <a:pPr marL="457200" lvl="1" indent="0" algn="ctr">
                  <a:buNone/>
                </a:pPr>
                <a:r>
                  <a:rPr lang="en-GB" sz="2000" dirty="0"/>
                  <a:t>One-tailed (&lt;):         </a:t>
                </a:r>
                <a14:m>
                  <m:oMath xmlns:m="http://schemas.openxmlformats.org/officeDocument/2006/math">
                    <m:r>
                      <m:rPr>
                        <m:sty m:val="p"/>
                      </m:rPr>
                      <a:rPr lang="en-GB" sz="2000">
                        <a:latin typeface="Cambria Math" panose="02040503050406030204" pitchFamily="18" charset="0"/>
                      </a:rPr>
                      <m:t>P</m:t>
                    </m:r>
                    <m:d>
                      <m:dPr>
                        <m:ctrlPr>
                          <a:rPr lang="en-GB" sz="2000" i="1">
                            <a:latin typeface="Cambria Math" panose="02040503050406030204" pitchFamily="18" charset="0"/>
                          </a:rPr>
                        </m:ctrlPr>
                      </m:dPr>
                      <m:e>
                        <m:r>
                          <a:rPr lang="en-GB" sz="2000" i="1">
                            <a:latin typeface="Cambria Math" panose="02040503050406030204" pitchFamily="18" charset="0"/>
                          </a:rPr>
                          <m:t>𝑧</m:t>
                        </m:r>
                        <m:r>
                          <a:rPr lang="en-GB" sz="2000" i="1">
                            <a:latin typeface="Cambria Math" panose="02040503050406030204" pitchFamily="18" charset="0"/>
                          </a:rPr>
                          <m:t>&lt;−</m:t>
                        </m:r>
                        <m:sSub>
                          <m:sSubPr>
                            <m:ctrlPr>
                              <a:rPr lang="en-GB" sz="2000" i="1">
                                <a:latin typeface="Cambria Math" panose="02040503050406030204" pitchFamily="18" charset="0"/>
                              </a:rPr>
                            </m:ctrlPr>
                          </m:sSubPr>
                          <m:e>
                            <m:r>
                              <a:rPr lang="en-GB" sz="2000" i="1">
                                <a:latin typeface="Cambria Math" panose="02040503050406030204" pitchFamily="18" charset="0"/>
                              </a:rPr>
                              <m:t>𝑍</m:t>
                            </m:r>
                          </m:e>
                          <m:sub>
                            <m:r>
                              <a:rPr lang="en-GB" sz="2000" b="0" i="1" smtClean="0">
                                <a:latin typeface="Cambria Math" panose="02040503050406030204" pitchFamily="18" charset="0"/>
                              </a:rPr>
                              <m:t>0</m:t>
                            </m:r>
                          </m:sub>
                        </m:sSub>
                      </m:e>
                    </m:d>
                  </m:oMath>
                </a14:m>
                <a:r>
                  <a:rPr lang="en-GB" sz="2000" dirty="0"/>
                  <a:t>=p-value</a:t>
                </a:r>
              </a:p>
              <a:p>
                <a:pPr marL="457200" lvl="1" indent="0" algn="ctr">
                  <a:buNone/>
                </a:pPr>
                <a:r>
                  <a:rPr lang="en-GB" sz="2000" dirty="0"/>
                  <a:t>Tow-tailed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oMath>
                </a14:m>
                <a:r>
                  <a:rPr lang="en-GB" sz="2000" dirty="0"/>
                  <a:t>):        2</a:t>
                </a:r>
                <a14:m>
                  <m:oMath xmlns:m="http://schemas.openxmlformats.org/officeDocument/2006/math">
                    <m:r>
                      <m:rPr>
                        <m:sty m:val="p"/>
                      </m:rPr>
                      <a:rPr lang="en-GB" sz="2000">
                        <a:latin typeface="Cambria Math" panose="02040503050406030204" pitchFamily="18" charset="0"/>
                      </a:rPr>
                      <m:t>P</m:t>
                    </m:r>
                    <m:d>
                      <m:dPr>
                        <m:ctrlPr>
                          <a:rPr lang="en-GB" sz="2000" i="1">
                            <a:latin typeface="Cambria Math" panose="02040503050406030204" pitchFamily="18" charset="0"/>
                          </a:rPr>
                        </m:ctrlPr>
                      </m:dPr>
                      <m:e>
                        <m:r>
                          <a:rPr lang="en-GB" sz="2000" i="1">
                            <a:latin typeface="Cambria Math" panose="02040503050406030204" pitchFamily="18" charset="0"/>
                          </a:rPr>
                          <m:t>𝑧</m:t>
                        </m:r>
                        <m:r>
                          <a:rPr lang="en-GB" sz="2000" i="1">
                            <a:latin typeface="Cambria Math" panose="02040503050406030204" pitchFamily="18" charset="0"/>
                          </a:rPr>
                          <m:t>&gt;</m:t>
                        </m:r>
                        <m:d>
                          <m:dPr>
                            <m:begChr m:val="|"/>
                            <m:endChr m:val="|"/>
                            <m:ctrlPr>
                              <a:rPr lang="en-GB" sz="2000" i="1" smtClean="0">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panose="02040503050406030204" pitchFamily="18" charset="0"/>
                                  </a:rPr>
                                  <m:t>𝑍</m:t>
                                </m:r>
                              </m:e>
                              <m:sub>
                                <m:r>
                                  <a:rPr lang="en-GB" sz="2000" i="1">
                                    <a:latin typeface="Cambria Math" panose="02040503050406030204" pitchFamily="18" charset="0"/>
                                  </a:rPr>
                                  <m:t>0</m:t>
                                </m:r>
                              </m:sub>
                            </m:sSub>
                          </m:e>
                        </m:d>
                      </m:e>
                    </m:d>
                  </m:oMath>
                </a14:m>
                <a:r>
                  <a:rPr lang="en-GB" sz="2000" dirty="0"/>
                  <a:t>= p-value</a:t>
                </a:r>
              </a:p>
              <a:p>
                <a:r>
                  <a:rPr lang="en-GB" b="1" dirty="0"/>
                  <a:t>Decision:  </a:t>
                </a:r>
                <a:r>
                  <a:rPr lang="en-GB" dirty="0"/>
                  <a:t>Reject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𝐻</m:t>
                        </m:r>
                      </m:e>
                      <m:sub>
                        <m:r>
                          <a:rPr lang="en-GB" b="0" i="1" smtClean="0">
                            <a:latin typeface="Cambria Math" panose="02040503050406030204" pitchFamily="18" charset="0"/>
                          </a:rPr>
                          <m:t>0</m:t>
                        </m:r>
                      </m:sub>
                    </m:sSub>
                  </m:oMath>
                </a14:m>
                <a:r>
                  <a:rPr lang="en-GB" dirty="0"/>
                  <a:t> if p-value </a:t>
                </a:r>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i="1" smtClean="0">
                        <a:latin typeface="Cambria Math" panose="02040503050406030204" pitchFamily="18" charset="0"/>
                        <a:ea typeface="Cambria Math" panose="02040503050406030204" pitchFamily="18" charset="0"/>
                      </a:rPr>
                      <m:t>𝛼</m:t>
                    </m:r>
                  </m:oMath>
                </a14:m>
                <a:r>
                  <a:rPr lang="en-GB" dirty="0"/>
                  <a:t>     </a:t>
                </a:r>
              </a:p>
            </p:txBody>
          </p:sp>
        </mc:Choice>
        <mc:Fallback xmlns="">
          <p:sp>
            <p:nvSpPr>
              <p:cNvPr id="3" name="Content Placeholder 2">
                <a:extLst>
                  <a:ext uri="{FF2B5EF4-FFF2-40B4-BE49-F238E27FC236}">
                    <a16:creationId xmlns:a16="http://schemas.microsoft.com/office/drawing/2014/main" id="{1236D514-ABD5-4FFE-9708-DDF0129C6BFA}"/>
                  </a:ext>
                </a:extLst>
              </p:cNvPr>
              <p:cNvSpPr>
                <a:spLocks noGrp="1" noRot="1" noChangeAspect="1" noMove="1" noResize="1" noEditPoints="1" noAdjustHandles="1" noChangeArrowheads="1" noChangeShapeType="1" noTextEdit="1"/>
              </p:cNvSpPr>
              <p:nvPr>
                <p:ph idx="1"/>
              </p:nvPr>
            </p:nvSpPr>
            <p:spPr>
              <a:xfrm>
                <a:off x="2589212" y="1905000"/>
                <a:ext cx="8915400" cy="4386470"/>
              </a:xfrm>
              <a:blipFill>
                <a:blip r:embed="rId2"/>
                <a:stretch>
                  <a:fillRect l="-616" t="-834"/>
                </a:stretch>
              </a:blipFill>
            </p:spPr>
            <p:txBody>
              <a:bodyPr/>
              <a:lstStyle/>
              <a:p>
                <a:r>
                  <a:rPr lang="LID4096">
                    <a:noFill/>
                  </a:rPr>
                  <a:t> </a:t>
                </a:r>
              </a:p>
            </p:txBody>
          </p:sp>
        </mc:Fallback>
      </mc:AlternateContent>
    </p:spTree>
    <p:extLst>
      <p:ext uri="{BB962C8B-B14F-4D97-AF65-F5344CB8AC3E}">
        <p14:creationId xmlns:p14="http://schemas.microsoft.com/office/powerpoint/2010/main" val="3970549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84D6-97FE-9591-1E90-C2E31C90ED41}"/>
              </a:ext>
            </a:extLst>
          </p:cNvPr>
          <p:cNvSpPr>
            <a:spLocks noGrp="1"/>
          </p:cNvSpPr>
          <p:nvPr>
            <p:ph type="title"/>
          </p:nvPr>
        </p:nvSpPr>
        <p:spPr/>
        <p:txBody>
          <a:bodyPr/>
          <a:lstStyle/>
          <a:p>
            <a:r>
              <a:rPr lang="en-GB" dirty="0"/>
              <a:t>2. Testing of Hypothesis about Population Mean …</a:t>
            </a:r>
            <a:endParaRPr lang="LID4096" dirty="0"/>
          </a:p>
        </p:txBody>
      </p:sp>
      <p:sp>
        <p:nvSpPr>
          <p:cNvPr id="3" name="Content Placeholder 2">
            <a:extLst>
              <a:ext uri="{FF2B5EF4-FFF2-40B4-BE49-F238E27FC236}">
                <a16:creationId xmlns:a16="http://schemas.microsoft.com/office/drawing/2014/main" id="{1236D514-ABD5-4FFE-9708-DDF0129C6BFA}"/>
              </a:ext>
            </a:extLst>
          </p:cNvPr>
          <p:cNvSpPr>
            <a:spLocks noGrp="1"/>
          </p:cNvSpPr>
          <p:nvPr>
            <p:ph idx="1"/>
          </p:nvPr>
        </p:nvSpPr>
        <p:spPr>
          <a:xfrm>
            <a:off x="2589212" y="1905000"/>
            <a:ext cx="8915400" cy="4386470"/>
          </a:xfrm>
        </p:spPr>
        <p:txBody>
          <a:bodyPr>
            <a:normAutofit/>
          </a:bodyPr>
          <a:lstStyle/>
          <a:p>
            <a:pPr marL="0" indent="0">
              <a:buNone/>
            </a:pPr>
            <a:r>
              <a:rPr lang="en-GB" b="1" dirty="0"/>
              <a:t>Example 1:</a:t>
            </a:r>
            <a:r>
              <a:rPr lang="en-GB" dirty="0"/>
              <a:t> In a research report, Richard H. </a:t>
            </a:r>
            <a:r>
              <a:rPr lang="en-GB" dirty="0" err="1"/>
              <a:t>Weindruch</a:t>
            </a:r>
            <a:r>
              <a:rPr lang="en-GB" dirty="0"/>
              <a:t> of the UCLA Medical School claims that mice with an average life span of 32 months will live to be about 40 months old when 40% of the calories in their diet are replaced by vitamins and protein. Is there any reason to believe that μ&lt;40 if 64 mice that are placed on this diet have an average life of 38 months with a standard deviation of 5.8 months?</a:t>
            </a:r>
          </a:p>
        </p:txBody>
      </p:sp>
    </p:spTree>
    <p:extLst>
      <p:ext uri="{BB962C8B-B14F-4D97-AF65-F5344CB8AC3E}">
        <p14:creationId xmlns:p14="http://schemas.microsoft.com/office/powerpoint/2010/main" val="1769384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84D6-97FE-9591-1E90-C2E31C90ED41}"/>
              </a:ext>
            </a:extLst>
          </p:cNvPr>
          <p:cNvSpPr>
            <a:spLocks noGrp="1"/>
          </p:cNvSpPr>
          <p:nvPr>
            <p:ph type="title"/>
          </p:nvPr>
        </p:nvSpPr>
        <p:spPr/>
        <p:txBody>
          <a:bodyPr/>
          <a:lstStyle/>
          <a:p>
            <a:r>
              <a:rPr lang="en-GB" dirty="0"/>
              <a:t>2. Testing of Hypothesis about Population Mean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36D514-ABD5-4FFE-9708-DDF0129C6BFA}"/>
                  </a:ext>
                </a:extLst>
              </p:cNvPr>
              <p:cNvSpPr>
                <a:spLocks noGrp="1"/>
              </p:cNvSpPr>
              <p:nvPr>
                <p:ph idx="1"/>
              </p:nvPr>
            </p:nvSpPr>
            <p:spPr>
              <a:xfrm>
                <a:off x="2589212" y="1905000"/>
                <a:ext cx="8915400" cy="4386470"/>
              </a:xfrm>
            </p:spPr>
            <p:txBody>
              <a:bodyPr>
                <a:normAutofit/>
              </a:bodyPr>
              <a:lstStyle/>
              <a:p>
                <a:pPr marL="0" indent="0">
                  <a:buNone/>
                </a:pPr>
                <a:r>
                  <a:rPr lang="en-GB" b="1" dirty="0"/>
                  <a:t>Example 2:</a:t>
                </a:r>
                <a:r>
                  <a:rPr lang="en-GB" dirty="0"/>
                  <a:t> Does the evidence support the idea that the average lecture consists of 3000 words if a random sample of the lectures of 16 professors had a mean of 3472 words, given the population standard deviation is 500 words?  Use </a:t>
                </a:r>
                <a14:m>
                  <m:oMath xmlns:m="http://schemas.openxmlformats.org/officeDocument/2006/math">
                    <m:r>
                      <a:rPr lang="en-GB" i="1" smtClean="0">
                        <a:latin typeface="Cambria Math" panose="02040503050406030204" pitchFamily="18" charset="0"/>
                        <a:ea typeface="Cambria Math" panose="02040503050406030204" pitchFamily="18" charset="0"/>
                      </a:rPr>
                      <m:t>𝛼</m:t>
                    </m:r>
                  </m:oMath>
                </a14:m>
                <a:r>
                  <a:rPr lang="en-GB" dirty="0"/>
                  <a:t> = 0.01.  Assume that lecture lengths are approximately normally distributed.              </a:t>
                </a:r>
              </a:p>
            </p:txBody>
          </p:sp>
        </mc:Choice>
        <mc:Fallback xmlns="">
          <p:sp>
            <p:nvSpPr>
              <p:cNvPr id="3" name="Content Placeholder 2">
                <a:extLst>
                  <a:ext uri="{FF2B5EF4-FFF2-40B4-BE49-F238E27FC236}">
                    <a16:creationId xmlns:a16="http://schemas.microsoft.com/office/drawing/2014/main" id="{1236D514-ABD5-4FFE-9708-DDF0129C6BFA}"/>
                  </a:ext>
                </a:extLst>
              </p:cNvPr>
              <p:cNvSpPr>
                <a:spLocks noGrp="1" noRot="1" noChangeAspect="1" noMove="1" noResize="1" noEditPoints="1" noAdjustHandles="1" noChangeArrowheads="1" noChangeShapeType="1" noTextEdit="1"/>
              </p:cNvSpPr>
              <p:nvPr>
                <p:ph idx="1"/>
              </p:nvPr>
            </p:nvSpPr>
            <p:spPr>
              <a:xfrm>
                <a:off x="2589212" y="1905000"/>
                <a:ext cx="8915400" cy="4386470"/>
              </a:xfrm>
              <a:blipFill>
                <a:blip r:embed="rId2"/>
                <a:stretch>
                  <a:fillRect l="-616" t="-834" r="-274"/>
                </a:stretch>
              </a:blipFill>
            </p:spPr>
            <p:txBody>
              <a:bodyPr/>
              <a:lstStyle/>
              <a:p>
                <a:r>
                  <a:rPr lang="LID4096">
                    <a:noFill/>
                  </a:rPr>
                  <a:t> </a:t>
                </a:r>
              </a:p>
            </p:txBody>
          </p:sp>
        </mc:Fallback>
      </mc:AlternateContent>
    </p:spTree>
    <p:extLst>
      <p:ext uri="{BB962C8B-B14F-4D97-AF65-F5344CB8AC3E}">
        <p14:creationId xmlns:p14="http://schemas.microsoft.com/office/powerpoint/2010/main" val="1161947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84D6-97FE-9591-1E90-C2E31C90ED41}"/>
              </a:ext>
            </a:extLst>
          </p:cNvPr>
          <p:cNvSpPr>
            <a:spLocks noGrp="1"/>
          </p:cNvSpPr>
          <p:nvPr>
            <p:ph type="title"/>
          </p:nvPr>
        </p:nvSpPr>
        <p:spPr/>
        <p:txBody>
          <a:bodyPr/>
          <a:lstStyle/>
          <a:p>
            <a:r>
              <a:rPr lang="en-GB" dirty="0"/>
              <a:t>2. Testing of Hypothesis about Population Mean …</a:t>
            </a:r>
            <a:endParaRPr lang="LID4096" dirty="0"/>
          </a:p>
        </p:txBody>
      </p:sp>
      <p:sp>
        <p:nvSpPr>
          <p:cNvPr id="3" name="Content Placeholder 2">
            <a:extLst>
              <a:ext uri="{FF2B5EF4-FFF2-40B4-BE49-F238E27FC236}">
                <a16:creationId xmlns:a16="http://schemas.microsoft.com/office/drawing/2014/main" id="{1236D514-ABD5-4FFE-9708-DDF0129C6BFA}"/>
              </a:ext>
            </a:extLst>
          </p:cNvPr>
          <p:cNvSpPr>
            <a:spLocks noGrp="1"/>
          </p:cNvSpPr>
          <p:nvPr>
            <p:ph idx="1"/>
          </p:nvPr>
        </p:nvSpPr>
        <p:spPr>
          <a:xfrm>
            <a:off x="2589212" y="1905000"/>
            <a:ext cx="8915400" cy="4386470"/>
          </a:xfrm>
        </p:spPr>
        <p:txBody>
          <a:bodyPr>
            <a:normAutofit/>
          </a:bodyPr>
          <a:lstStyle/>
          <a:p>
            <a:pPr marL="0" indent="0">
              <a:buNone/>
            </a:pPr>
            <a:r>
              <a:rPr lang="en-GB" b="1" dirty="0"/>
              <a:t>Example 3:</a:t>
            </a:r>
            <a:r>
              <a:rPr lang="en-GB" dirty="0"/>
              <a:t> The Edison Electric Institute has published ﬁgures on the number of kilowatt hours used annually by various home appliances. It is claimed that a vacuum cleaner uses an average of 46 kilowatt hours per year. If a random sample of 12 homes included in a planned study indicates that vacuum cleaners use an average of 42 kilowatt hours per year with a standard deviation of 11.9 kilowatt hours, does this suggest at the 0.05 level of signiﬁcance that vacuum cleaners use, on average, less than 46 kilowatt hours annually? Assume the population of kilowatt hours to be normal. </a:t>
            </a:r>
          </a:p>
        </p:txBody>
      </p:sp>
    </p:spTree>
    <p:extLst>
      <p:ext uri="{BB962C8B-B14F-4D97-AF65-F5344CB8AC3E}">
        <p14:creationId xmlns:p14="http://schemas.microsoft.com/office/powerpoint/2010/main" val="521048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3. Testing of Hypothesis about Two Population Means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r>
                  <a:rPr lang="en-GB" b="1" dirty="0"/>
                  <a:t>Test statistic </a:t>
                </a:r>
                <a:r>
                  <a:rPr lang="en-GB" dirty="0"/>
                  <a:t>to be used</a:t>
                </a:r>
              </a:p>
              <a:p>
                <a:pPr lvl="1"/>
                <a14:m>
                  <m:oMath xmlns:m="http://schemas.openxmlformats.org/officeDocument/2006/math">
                    <m:r>
                      <a:rPr lang="en-GB" sz="2200" b="0" i="1" smtClean="0">
                        <a:latin typeface="Cambria Math" panose="02040503050406030204" pitchFamily="18" charset="0"/>
                      </a:rPr>
                      <m:t>𝑧</m:t>
                    </m:r>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d>
                          <m:dPr>
                            <m:ctrlPr>
                              <a:rPr lang="en-GB" sz="2200" b="0" i="1" smtClean="0">
                                <a:latin typeface="Cambria Math" panose="02040503050406030204" pitchFamily="18" charset="0"/>
                              </a:rPr>
                            </m:ctrlPr>
                          </m:dPr>
                          <m:e>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1</m:t>
                                </m:r>
                              </m:sub>
                            </m:sSub>
                            <m:r>
                              <a:rPr lang="en-GB" sz="2200" i="1">
                                <a:latin typeface="Cambria Math" panose="02040503050406030204" pitchFamily="18" charset="0"/>
                              </a:rPr>
                              <m:t>−</m:t>
                            </m:r>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2</m:t>
                                </m:r>
                              </m:sub>
                            </m:sSub>
                          </m:e>
                        </m:d>
                        <m:r>
                          <a:rPr lang="en-GB" sz="2200" b="0" i="1" smtClean="0">
                            <a:latin typeface="Cambria Math" panose="02040503050406030204" pitchFamily="18" charset="0"/>
                          </a:rPr>
                          <m:t>−</m:t>
                        </m:r>
                        <m:d>
                          <m:dPr>
                            <m:ctrlPr>
                              <a:rPr lang="en-GB" sz="2200" b="0" i="1" smtClean="0">
                                <a:latin typeface="Cambria Math" panose="02040503050406030204" pitchFamily="18" charset="0"/>
                              </a:rPr>
                            </m:ctrlPr>
                          </m:dPr>
                          <m:e>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1</m:t>
                                </m:r>
                              </m:sub>
                            </m:sSub>
                            <m:r>
                              <a:rPr lang="en-GB" sz="2200" b="0" i="1" smtClean="0">
                                <a:latin typeface="Cambria Math" panose="02040503050406030204" pitchFamily="18" charset="0"/>
                              </a:rPr>
                              <m:t>−</m:t>
                            </m:r>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2</m:t>
                                </m:r>
                              </m:sub>
                            </m:sSub>
                          </m:e>
                        </m:d>
                      </m:num>
                      <m:den>
                        <m:rad>
                          <m:radPr>
                            <m:degHide m:val="on"/>
                            <m:ctrlPr>
                              <a:rPr lang="en-GB" sz="2200" b="0" i="1" smtClean="0">
                                <a:latin typeface="Cambria Math" panose="02040503050406030204" pitchFamily="18" charset="0"/>
                              </a:rPr>
                            </m:ctrlPr>
                          </m:radPr>
                          <m:deg/>
                          <m:e>
                            <m:f>
                              <m:fPr>
                                <m:ctrlPr>
                                  <a:rPr lang="en-GB" sz="2200" b="0" i="1" smtClean="0">
                                    <a:latin typeface="Cambria Math" panose="02040503050406030204" pitchFamily="18" charset="0"/>
                                  </a:rPr>
                                </m:ctrlPr>
                              </m:fPr>
                              <m:num>
                                <m:sSubSup>
                                  <m:sSubSupPr>
                                    <m:ctrlPr>
                                      <a:rPr lang="en-GB" sz="2200" b="0" i="1" smtClean="0">
                                        <a:latin typeface="Cambria Math" panose="02040503050406030204" pitchFamily="18" charset="0"/>
                                      </a:rPr>
                                    </m:ctrlPr>
                                  </m:sSubSupPr>
                                  <m:e>
                                    <m:r>
                                      <a:rPr lang="en-GB" sz="2200" b="0" i="1" smtClean="0">
                                        <a:latin typeface="Cambria Math" panose="02040503050406030204" pitchFamily="18" charset="0"/>
                                        <a:ea typeface="Cambria Math" panose="02040503050406030204" pitchFamily="18" charset="0"/>
                                      </a:rPr>
                                      <m:t>𝜎</m:t>
                                    </m:r>
                                  </m:e>
                                  <m:sub>
                                    <m:r>
                                      <a:rPr lang="en-GB" sz="2200" b="0" i="1" smtClean="0">
                                        <a:latin typeface="Cambria Math" panose="02040503050406030204" pitchFamily="18" charset="0"/>
                                      </a:rPr>
                                      <m:t>1</m:t>
                                    </m:r>
                                  </m:sub>
                                  <m:sup>
                                    <m:r>
                                      <a:rPr lang="en-GB" sz="2200" b="0" i="1" smtClean="0">
                                        <a:latin typeface="Cambria Math" panose="02040503050406030204" pitchFamily="18" charset="0"/>
                                      </a:rPr>
                                      <m:t>2</m:t>
                                    </m:r>
                                  </m:sup>
                                </m:sSubSup>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𝑛</m:t>
                                    </m:r>
                                  </m:e>
                                  <m:sub>
                                    <m:r>
                                      <a:rPr lang="en-GB" sz="2200" b="0" i="1" smtClean="0">
                                        <a:latin typeface="Cambria Math" panose="02040503050406030204" pitchFamily="18" charset="0"/>
                                      </a:rPr>
                                      <m:t>1</m:t>
                                    </m:r>
                                  </m:sub>
                                </m:sSub>
                              </m:den>
                            </m:f>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sSubSup>
                                  <m:sSubSupPr>
                                    <m:ctrlPr>
                                      <a:rPr lang="en-GB" sz="2200" b="0" i="1" smtClean="0">
                                        <a:latin typeface="Cambria Math" panose="02040503050406030204" pitchFamily="18" charset="0"/>
                                      </a:rPr>
                                    </m:ctrlPr>
                                  </m:sSubSupPr>
                                  <m:e>
                                    <m:r>
                                      <a:rPr lang="en-GB" sz="2200" b="0" i="1" smtClean="0">
                                        <a:latin typeface="Cambria Math" panose="02040503050406030204" pitchFamily="18" charset="0"/>
                                        <a:ea typeface="Cambria Math" panose="02040503050406030204" pitchFamily="18" charset="0"/>
                                      </a:rPr>
                                      <m:t>𝜎</m:t>
                                    </m:r>
                                  </m:e>
                                  <m:sub>
                                    <m:r>
                                      <a:rPr lang="en-GB" sz="2200" b="0" i="1" smtClean="0">
                                        <a:latin typeface="Cambria Math" panose="02040503050406030204" pitchFamily="18" charset="0"/>
                                      </a:rPr>
                                      <m:t>2</m:t>
                                    </m:r>
                                  </m:sub>
                                  <m:sup>
                                    <m:r>
                                      <a:rPr lang="en-GB" sz="2200" b="0" i="1" smtClean="0">
                                        <a:latin typeface="Cambria Math" panose="02040503050406030204" pitchFamily="18" charset="0"/>
                                      </a:rPr>
                                      <m:t>2</m:t>
                                    </m:r>
                                  </m:sup>
                                </m:sSubSup>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𝑛</m:t>
                                    </m:r>
                                  </m:e>
                                  <m:sub>
                                    <m:r>
                                      <a:rPr lang="en-GB" sz="2200" b="0" i="1" smtClean="0">
                                        <a:latin typeface="Cambria Math" panose="02040503050406030204" pitchFamily="18" charset="0"/>
                                      </a:rPr>
                                      <m:t>2</m:t>
                                    </m:r>
                                  </m:sub>
                                </m:sSub>
                              </m:den>
                            </m:f>
                          </m:e>
                        </m:rad>
                      </m:den>
                    </m:f>
                  </m:oMath>
                </a14:m>
                <a:r>
                  <a:rPr lang="en-GB" sz="2200" dirty="0"/>
                  <a:t>  </a:t>
                </a:r>
                <a14:m>
                  <m:oMath xmlns:m="http://schemas.openxmlformats.org/officeDocument/2006/math">
                    <m:r>
                      <a:rPr lang="en-GB" sz="2200" b="0" i="0" smtClean="0">
                        <a:latin typeface="Cambria Math" panose="02040503050406030204" pitchFamily="18" charset="0"/>
                        <a:ea typeface="Cambria Math" panose="02040503050406030204" pitchFamily="18" charset="0"/>
                      </a:rPr>
                      <m:t>(</m:t>
                    </m:r>
                    <m:sSub>
                      <m:sSubPr>
                        <m:ctrlPr>
                          <a:rPr lang="en-GB" sz="2200" i="1" smtClean="0">
                            <a:latin typeface="Cambria Math" panose="02040503050406030204" pitchFamily="18" charset="0"/>
                            <a:ea typeface="Cambria Math" panose="02040503050406030204" pitchFamily="18" charset="0"/>
                          </a:rPr>
                        </m:ctrlPr>
                      </m:sSubPr>
                      <m:e>
                        <m:r>
                          <a:rPr lang="en-GB" sz="2200" i="1" smtClean="0">
                            <a:latin typeface="Cambria Math" panose="02040503050406030204" pitchFamily="18" charset="0"/>
                            <a:ea typeface="Cambria Math" panose="02040503050406030204" pitchFamily="18" charset="0"/>
                          </a:rPr>
                          <m:t>𝜎</m:t>
                        </m:r>
                      </m:e>
                      <m:sub>
                        <m:r>
                          <a:rPr lang="en-GB" sz="2200" b="0" i="1" smtClean="0">
                            <a:latin typeface="Cambria Math" panose="02040503050406030204" pitchFamily="18" charset="0"/>
                            <a:ea typeface="Cambria Math" panose="02040503050406030204" pitchFamily="18" charset="0"/>
                          </a:rPr>
                          <m:t>1</m:t>
                        </m:r>
                      </m:sub>
                    </m:sSub>
                    <m:r>
                      <a:rPr lang="en-GB" sz="2200" b="0" i="1" smtClean="0">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b="0" i="1" smtClean="0">
                            <a:latin typeface="Cambria Math" panose="02040503050406030204" pitchFamily="18" charset="0"/>
                            <a:ea typeface="Cambria Math" panose="02040503050406030204" pitchFamily="18" charset="0"/>
                          </a:rPr>
                          <m:t>2</m:t>
                        </m:r>
                      </m:sub>
                    </m:sSub>
                    <m:r>
                      <a:rPr lang="en-GB" sz="2200" b="0" i="0" smtClean="0">
                        <a:latin typeface="Cambria Math" panose="02040503050406030204" pitchFamily="18" charset="0"/>
                        <a:ea typeface="Cambria Math" panose="02040503050406030204" pitchFamily="18" charset="0"/>
                      </a:rPr>
                      <m:t>−</m:t>
                    </m:r>
                    <m:r>
                      <m:rPr>
                        <m:sty m:val="p"/>
                      </m:rPr>
                      <a:rPr lang="en-GB" sz="2200" b="0" i="0" smtClean="0">
                        <a:latin typeface="Cambria Math" panose="02040503050406030204" pitchFamily="18" charset="0"/>
                        <a:ea typeface="Cambria Math" panose="02040503050406030204" pitchFamily="18" charset="0"/>
                      </a:rPr>
                      <m:t>known</m:t>
                    </m:r>
                  </m:oMath>
                </a14:m>
                <a:r>
                  <a:rPr lang="en-GB" sz="2200" dirty="0"/>
                  <a:t>)</a:t>
                </a:r>
              </a:p>
              <a:p>
                <a:pPr lvl="1"/>
                <a14:m>
                  <m:oMath xmlns:m="http://schemas.openxmlformats.org/officeDocument/2006/math">
                    <m:r>
                      <a:rPr lang="en-GB" sz="2200" b="0" i="1" smtClean="0">
                        <a:latin typeface="Cambria Math" panose="02040503050406030204" pitchFamily="18" charset="0"/>
                      </a:rPr>
                      <m:t>𝑧</m:t>
                    </m:r>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d>
                          <m:dPr>
                            <m:ctrlPr>
                              <a:rPr lang="en-GB" sz="2200" b="0" i="1" smtClean="0">
                                <a:latin typeface="Cambria Math" panose="02040503050406030204" pitchFamily="18" charset="0"/>
                              </a:rPr>
                            </m:ctrlPr>
                          </m:dPr>
                          <m:e>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1</m:t>
                                </m:r>
                              </m:sub>
                            </m:sSub>
                            <m:r>
                              <a:rPr lang="en-GB" sz="2200" i="1">
                                <a:latin typeface="Cambria Math" panose="02040503050406030204" pitchFamily="18" charset="0"/>
                              </a:rPr>
                              <m:t>−</m:t>
                            </m:r>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2</m:t>
                                </m:r>
                              </m:sub>
                            </m:sSub>
                          </m:e>
                        </m:d>
                        <m:r>
                          <a:rPr lang="en-GB" sz="2200" b="0" i="1" smtClean="0">
                            <a:latin typeface="Cambria Math" panose="02040503050406030204" pitchFamily="18" charset="0"/>
                          </a:rPr>
                          <m:t>−</m:t>
                        </m:r>
                        <m:d>
                          <m:dPr>
                            <m:ctrlPr>
                              <a:rPr lang="en-GB" sz="2200" b="0" i="1" smtClean="0">
                                <a:latin typeface="Cambria Math" panose="02040503050406030204" pitchFamily="18" charset="0"/>
                              </a:rPr>
                            </m:ctrlPr>
                          </m:dPr>
                          <m:e>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1</m:t>
                                </m:r>
                              </m:sub>
                            </m:sSub>
                            <m:r>
                              <a:rPr lang="en-GB" sz="2200" b="0" i="1" smtClean="0">
                                <a:latin typeface="Cambria Math" panose="02040503050406030204" pitchFamily="18" charset="0"/>
                              </a:rPr>
                              <m:t>−</m:t>
                            </m:r>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2</m:t>
                                </m:r>
                              </m:sub>
                            </m:sSub>
                          </m:e>
                        </m:d>
                      </m:num>
                      <m:den>
                        <m:r>
                          <a:rPr lang="en-GB" sz="2200" b="0" i="1" smtClean="0">
                            <a:latin typeface="Cambria Math" panose="02040503050406030204" pitchFamily="18" charset="0"/>
                            <a:ea typeface="Cambria Math" panose="02040503050406030204" pitchFamily="18" charset="0"/>
                          </a:rPr>
                          <m:t>𝜎</m:t>
                        </m:r>
                        <m:rad>
                          <m:radPr>
                            <m:degHide m:val="on"/>
                            <m:ctrlPr>
                              <a:rPr lang="en-GB" sz="2200" b="0" i="1" smtClean="0">
                                <a:latin typeface="Cambria Math" panose="02040503050406030204" pitchFamily="18" charset="0"/>
                              </a:rPr>
                            </m:ctrlPr>
                          </m:radPr>
                          <m:deg/>
                          <m:e>
                            <m:f>
                              <m:fPr>
                                <m:ctrlPr>
                                  <a:rPr lang="en-GB" sz="2200" b="0" i="1" smtClean="0">
                                    <a:latin typeface="Cambria Math" panose="02040503050406030204" pitchFamily="18" charset="0"/>
                                  </a:rPr>
                                </m:ctrlPr>
                              </m:fPr>
                              <m:num>
                                <m:r>
                                  <a:rPr lang="en-GB" sz="2200" b="0" i="1" smtClean="0">
                                    <a:latin typeface="Cambria Math" panose="02040503050406030204" pitchFamily="18" charset="0"/>
                                  </a:rPr>
                                  <m:t>1</m:t>
                                </m:r>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𝑛</m:t>
                                    </m:r>
                                  </m:e>
                                  <m:sub>
                                    <m:r>
                                      <a:rPr lang="en-GB" sz="2200" b="0" i="1" smtClean="0">
                                        <a:latin typeface="Cambria Math" panose="02040503050406030204" pitchFamily="18" charset="0"/>
                                      </a:rPr>
                                      <m:t>1</m:t>
                                    </m:r>
                                  </m:sub>
                                </m:sSub>
                              </m:den>
                            </m:f>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r>
                                  <a:rPr lang="en-GB" sz="2200" b="0" i="1" smtClean="0">
                                    <a:latin typeface="Cambria Math" panose="02040503050406030204" pitchFamily="18" charset="0"/>
                                  </a:rPr>
                                  <m:t>1</m:t>
                                </m:r>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𝑛</m:t>
                                    </m:r>
                                  </m:e>
                                  <m:sub>
                                    <m:r>
                                      <a:rPr lang="en-GB" sz="2200" b="0" i="1" smtClean="0">
                                        <a:latin typeface="Cambria Math" panose="02040503050406030204" pitchFamily="18" charset="0"/>
                                      </a:rPr>
                                      <m:t>2</m:t>
                                    </m:r>
                                  </m:sub>
                                </m:sSub>
                              </m:den>
                            </m:f>
                          </m:e>
                        </m:rad>
                      </m:den>
                    </m:f>
                  </m:oMath>
                </a14:m>
                <a:r>
                  <a:rPr lang="en-GB" sz="2200" dirty="0"/>
                  <a:t>  (</a:t>
                </a:r>
                <a14:m>
                  <m:oMath xmlns:m="http://schemas.openxmlformats.org/officeDocument/2006/math">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1</m:t>
                        </m:r>
                      </m:sub>
                    </m:sSub>
                    <m:r>
                      <a:rPr lang="en-GB" sz="2200" i="1">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2</m:t>
                        </m:r>
                      </m:sub>
                    </m:sSub>
                    <m:r>
                      <a:rPr lang="en-GB" sz="2200">
                        <a:latin typeface="Cambria Math" panose="02040503050406030204" pitchFamily="18" charset="0"/>
                        <a:ea typeface="Cambria Math" panose="02040503050406030204" pitchFamily="18" charset="0"/>
                      </a:rPr>
                      <m:t>−</m:t>
                    </m:r>
                    <m:r>
                      <m:rPr>
                        <m:sty m:val="p"/>
                      </m:rPr>
                      <a:rPr lang="en-GB" sz="2200">
                        <a:latin typeface="Cambria Math" panose="02040503050406030204" pitchFamily="18" charset="0"/>
                        <a:ea typeface="Cambria Math" panose="02040503050406030204" pitchFamily="18" charset="0"/>
                      </a:rPr>
                      <m:t>known</m:t>
                    </m:r>
                    <m:r>
                      <a:rPr lang="en-GB" sz="2200" b="0" i="0" smtClean="0">
                        <a:latin typeface="Cambria Math" panose="02040503050406030204" pitchFamily="18" charset="0"/>
                        <a:ea typeface="Cambria Math" panose="02040503050406030204" pitchFamily="18" charset="0"/>
                      </a:rPr>
                      <m:t> </m:t>
                    </m:r>
                    <m:r>
                      <m:rPr>
                        <m:sty m:val="p"/>
                      </m:rPr>
                      <a:rPr lang="en-GB" sz="2200" b="0" i="0" smtClean="0">
                        <a:latin typeface="Cambria Math" panose="02040503050406030204" pitchFamily="18" charset="0"/>
                        <a:ea typeface="Cambria Math" panose="02040503050406030204" pitchFamily="18" charset="0"/>
                      </a:rPr>
                      <m:t>and</m:t>
                    </m:r>
                    <m:sSub>
                      <m:sSubPr>
                        <m:ctrlPr>
                          <a:rPr lang="en-GB" sz="2200" i="1">
                            <a:latin typeface="Cambria Math" panose="02040503050406030204" pitchFamily="18" charset="0"/>
                            <a:ea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 </m:t>
                        </m:r>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1</m:t>
                        </m:r>
                      </m:sub>
                    </m:sSub>
                    <m:r>
                      <a:rPr lang="en-GB" sz="2200" b="0" i="1" smtClean="0">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2</m:t>
                        </m:r>
                      </m:sub>
                    </m:sSub>
                    <m:r>
                      <a:rPr lang="en-GB" sz="2200" b="0" i="1" smtClean="0">
                        <a:latin typeface="Cambria Math" panose="02040503050406030204" pitchFamily="18" charset="0"/>
                        <a:ea typeface="Cambria Math" panose="02040503050406030204" pitchFamily="18" charset="0"/>
                      </a:rPr>
                      <m:t>=</m:t>
                    </m:r>
                    <m:r>
                      <a:rPr lang="en-GB" sz="2200" b="0" i="1" smtClean="0">
                        <a:latin typeface="Cambria Math" panose="02040503050406030204" pitchFamily="18" charset="0"/>
                        <a:ea typeface="Cambria Math" panose="02040503050406030204" pitchFamily="18" charset="0"/>
                      </a:rPr>
                      <m:t>𝜎</m:t>
                    </m:r>
                  </m:oMath>
                </a14:m>
                <a:r>
                  <a:rPr lang="en-GB" sz="2200" dirty="0"/>
                  <a:t>)</a:t>
                </a:r>
              </a:p>
              <a:p>
                <a:pPr lvl="1"/>
                <a:r>
                  <a:rPr lang="en-GB" sz="2200" b="0" dirty="0"/>
                  <a:t>t</a:t>
                </a:r>
                <a14:m>
                  <m:oMath xmlns:m="http://schemas.openxmlformats.org/officeDocument/2006/math">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d>
                          <m:dPr>
                            <m:ctrlPr>
                              <a:rPr lang="en-GB" sz="2200" b="0" i="1" smtClean="0">
                                <a:latin typeface="Cambria Math" panose="02040503050406030204" pitchFamily="18" charset="0"/>
                              </a:rPr>
                            </m:ctrlPr>
                          </m:dPr>
                          <m:e>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1</m:t>
                                </m:r>
                              </m:sub>
                            </m:sSub>
                            <m:r>
                              <a:rPr lang="en-GB" sz="2200" i="1">
                                <a:latin typeface="Cambria Math" panose="02040503050406030204" pitchFamily="18" charset="0"/>
                              </a:rPr>
                              <m:t>−</m:t>
                            </m:r>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2</m:t>
                                </m:r>
                              </m:sub>
                            </m:sSub>
                          </m:e>
                        </m:d>
                        <m:r>
                          <a:rPr lang="en-GB" sz="2200" b="0" i="1" smtClean="0">
                            <a:latin typeface="Cambria Math" panose="02040503050406030204" pitchFamily="18" charset="0"/>
                          </a:rPr>
                          <m:t>−</m:t>
                        </m:r>
                        <m:d>
                          <m:dPr>
                            <m:ctrlPr>
                              <a:rPr lang="en-GB" sz="2200" b="0" i="1" smtClean="0">
                                <a:latin typeface="Cambria Math" panose="02040503050406030204" pitchFamily="18" charset="0"/>
                              </a:rPr>
                            </m:ctrlPr>
                          </m:dPr>
                          <m:e>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1</m:t>
                                </m:r>
                              </m:sub>
                            </m:sSub>
                            <m:r>
                              <a:rPr lang="en-GB" sz="2200" b="0" i="1" smtClean="0">
                                <a:latin typeface="Cambria Math" panose="02040503050406030204" pitchFamily="18" charset="0"/>
                              </a:rPr>
                              <m:t>−</m:t>
                            </m:r>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2</m:t>
                                </m:r>
                              </m:sub>
                            </m:sSub>
                          </m:e>
                        </m:d>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𝑠</m:t>
                            </m:r>
                          </m:e>
                          <m:sub>
                            <m:r>
                              <a:rPr lang="en-GB" sz="2200" b="0" i="1" smtClean="0">
                                <a:latin typeface="Cambria Math" panose="02040503050406030204" pitchFamily="18" charset="0"/>
                              </a:rPr>
                              <m:t>𝑝</m:t>
                            </m:r>
                          </m:sub>
                        </m:sSub>
                        <m:rad>
                          <m:radPr>
                            <m:degHide m:val="on"/>
                            <m:ctrlPr>
                              <a:rPr lang="en-GB" sz="2200" b="0" i="1" smtClean="0">
                                <a:latin typeface="Cambria Math" panose="02040503050406030204" pitchFamily="18" charset="0"/>
                              </a:rPr>
                            </m:ctrlPr>
                          </m:radPr>
                          <m:deg/>
                          <m:e>
                            <m:f>
                              <m:fPr>
                                <m:ctrlPr>
                                  <a:rPr lang="en-GB" sz="2200" b="0" i="1" smtClean="0">
                                    <a:latin typeface="Cambria Math" panose="02040503050406030204" pitchFamily="18" charset="0"/>
                                  </a:rPr>
                                </m:ctrlPr>
                              </m:fPr>
                              <m:num>
                                <m:r>
                                  <a:rPr lang="en-GB" sz="2200" b="0" i="1" smtClean="0">
                                    <a:latin typeface="Cambria Math" panose="02040503050406030204" pitchFamily="18" charset="0"/>
                                  </a:rPr>
                                  <m:t>1</m:t>
                                </m:r>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𝑛</m:t>
                                    </m:r>
                                  </m:e>
                                  <m:sub>
                                    <m:r>
                                      <a:rPr lang="en-GB" sz="2200" b="0" i="1" smtClean="0">
                                        <a:latin typeface="Cambria Math" panose="02040503050406030204" pitchFamily="18" charset="0"/>
                                      </a:rPr>
                                      <m:t>1</m:t>
                                    </m:r>
                                  </m:sub>
                                </m:sSub>
                              </m:den>
                            </m:f>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r>
                                  <a:rPr lang="en-GB" sz="2200" b="0" i="1" smtClean="0">
                                    <a:latin typeface="Cambria Math" panose="02040503050406030204" pitchFamily="18" charset="0"/>
                                  </a:rPr>
                                  <m:t>1</m:t>
                                </m:r>
                              </m:num>
                              <m:den>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rPr>
                                      <m:t>𝑛</m:t>
                                    </m:r>
                                  </m:e>
                                  <m:sub>
                                    <m:r>
                                      <a:rPr lang="en-GB" sz="2200" b="0" i="1" smtClean="0">
                                        <a:latin typeface="Cambria Math" panose="02040503050406030204" pitchFamily="18" charset="0"/>
                                      </a:rPr>
                                      <m:t>2</m:t>
                                    </m:r>
                                  </m:sub>
                                </m:sSub>
                              </m:den>
                            </m:f>
                          </m:e>
                        </m:rad>
                      </m:den>
                    </m:f>
                  </m:oMath>
                </a14:m>
                <a:r>
                  <a:rPr lang="en-GB" sz="2200" dirty="0"/>
                  <a:t>   (</a:t>
                </a:r>
                <a14:m>
                  <m:oMath xmlns:m="http://schemas.openxmlformats.org/officeDocument/2006/math">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1</m:t>
                        </m:r>
                      </m:sub>
                    </m:sSub>
                    <m:r>
                      <a:rPr lang="en-GB" sz="2200" i="1">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2</m:t>
                        </m:r>
                      </m:sub>
                    </m:sSub>
                    <m:r>
                      <a:rPr lang="en-GB" sz="2200">
                        <a:latin typeface="Cambria Math" panose="02040503050406030204" pitchFamily="18" charset="0"/>
                        <a:ea typeface="Cambria Math" panose="02040503050406030204" pitchFamily="18" charset="0"/>
                      </a:rPr>
                      <m:t>−</m:t>
                    </m:r>
                    <m:r>
                      <m:rPr>
                        <m:sty m:val="p"/>
                      </m:rPr>
                      <a:rPr lang="en-GB" sz="2200" b="0" i="0" smtClean="0">
                        <a:latin typeface="Cambria Math" panose="02040503050406030204" pitchFamily="18" charset="0"/>
                        <a:ea typeface="Cambria Math" panose="02040503050406030204" pitchFamily="18" charset="0"/>
                      </a:rPr>
                      <m:t>un</m:t>
                    </m:r>
                    <m:r>
                      <m:rPr>
                        <m:sty m:val="p"/>
                      </m:rPr>
                      <a:rPr lang="en-GB" sz="2200">
                        <a:latin typeface="Cambria Math" panose="02040503050406030204" pitchFamily="18" charset="0"/>
                        <a:ea typeface="Cambria Math" panose="02040503050406030204" pitchFamily="18" charset="0"/>
                      </a:rPr>
                      <m:t>known</m:t>
                    </m:r>
                    <m:r>
                      <a:rPr lang="en-GB" sz="2200" b="0" i="1" smtClean="0">
                        <a:latin typeface="Cambria Math" panose="02040503050406030204" pitchFamily="18" charset="0"/>
                        <a:ea typeface="Cambria Math" panose="02040503050406030204" pitchFamily="18" charset="0"/>
                      </a:rPr>
                      <m:t> </m:t>
                    </m:r>
                    <m:r>
                      <a:rPr lang="en-GB" sz="2200" b="0" i="1" smtClean="0">
                        <a:latin typeface="Cambria Math" panose="02040503050406030204" pitchFamily="18" charset="0"/>
                        <a:ea typeface="Cambria Math" panose="02040503050406030204" pitchFamily="18" charset="0"/>
                      </a:rPr>
                      <m:t>𝑏𝑢𝑡</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 </m:t>
                        </m:r>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1</m:t>
                        </m:r>
                      </m:sub>
                    </m:sSub>
                    <m:r>
                      <a:rPr lang="en-GB" sz="2200" i="1">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2</m:t>
                        </m:r>
                      </m:sub>
                    </m:sSub>
                  </m:oMath>
                </a14:m>
                <a:r>
                  <a:rPr lang="en-GB" sz="2200" dirty="0"/>
                  <a:t>)</a:t>
                </a:r>
              </a:p>
              <a:p>
                <a:pPr lvl="2"/>
                <a14:m>
                  <m:oMath xmlns:m="http://schemas.openxmlformats.org/officeDocument/2006/math">
                    <m:sSub>
                      <m:sSubPr>
                        <m:ctrlPr>
                          <a:rPr lang="en-GB" sz="1700" i="1" smtClean="0">
                            <a:latin typeface="Cambria Math" panose="02040503050406030204" pitchFamily="18" charset="0"/>
                          </a:rPr>
                        </m:ctrlPr>
                      </m:sSubPr>
                      <m:e>
                        <m:r>
                          <a:rPr lang="en-GB" sz="1700" i="1">
                            <a:latin typeface="Cambria Math" panose="02040503050406030204" pitchFamily="18" charset="0"/>
                          </a:rPr>
                          <m:t>𝑠</m:t>
                        </m:r>
                      </m:e>
                      <m:sub>
                        <m:r>
                          <a:rPr lang="en-GB" sz="1700" i="1">
                            <a:latin typeface="Cambria Math" panose="02040503050406030204" pitchFamily="18" charset="0"/>
                          </a:rPr>
                          <m:t>𝑝</m:t>
                        </m:r>
                      </m:sub>
                    </m:sSub>
                    <m:r>
                      <a:rPr lang="en-GB" sz="1700" b="0" i="0" smtClean="0">
                        <a:latin typeface="Cambria Math" panose="02040503050406030204" pitchFamily="18" charset="0"/>
                      </a:rPr>
                      <m:t>=</m:t>
                    </m:r>
                    <m:rad>
                      <m:radPr>
                        <m:degHide m:val="on"/>
                        <m:ctrlPr>
                          <a:rPr lang="en-GB" sz="1700" b="0" i="1" smtClean="0">
                            <a:latin typeface="Cambria Math" panose="02040503050406030204" pitchFamily="18" charset="0"/>
                          </a:rPr>
                        </m:ctrlPr>
                      </m:radPr>
                      <m:deg/>
                      <m:e>
                        <m:f>
                          <m:fPr>
                            <m:ctrlPr>
                              <a:rPr lang="en-GB" sz="1700" i="1">
                                <a:latin typeface="Cambria Math" panose="02040503050406030204" pitchFamily="18" charset="0"/>
                              </a:rPr>
                            </m:ctrlPr>
                          </m:fPr>
                          <m:num>
                            <m:d>
                              <m:dPr>
                                <m:ctrlPr>
                                  <a:rPr lang="en-GB" sz="1700" i="1">
                                    <a:latin typeface="Cambria Math" panose="02040503050406030204" pitchFamily="18" charset="0"/>
                                  </a:rPr>
                                </m:ctrlPr>
                              </m:dPr>
                              <m:e>
                                <m:sSub>
                                  <m:sSubPr>
                                    <m:ctrlPr>
                                      <a:rPr lang="en-GB" sz="1700" i="1">
                                        <a:latin typeface="Cambria Math" panose="02040503050406030204" pitchFamily="18" charset="0"/>
                                      </a:rPr>
                                    </m:ctrlPr>
                                  </m:sSubPr>
                                  <m:e>
                                    <m:r>
                                      <a:rPr lang="en-GB" sz="1700" i="1">
                                        <a:latin typeface="Cambria Math" panose="02040503050406030204" pitchFamily="18" charset="0"/>
                                      </a:rPr>
                                      <m:t>𝑛</m:t>
                                    </m:r>
                                  </m:e>
                                  <m:sub>
                                    <m:r>
                                      <a:rPr lang="en-GB" sz="1700" i="1">
                                        <a:latin typeface="Cambria Math" panose="02040503050406030204" pitchFamily="18" charset="0"/>
                                      </a:rPr>
                                      <m:t>1</m:t>
                                    </m:r>
                                  </m:sub>
                                </m:sSub>
                                <m:r>
                                  <a:rPr lang="en-GB" sz="1700" i="1">
                                    <a:latin typeface="Cambria Math" panose="02040503050406030204" pitchFamily="18" charset="0"/>
                                  </a:rPr>
                                  <m:t>−1</m:t>
                                </m:r>
                              </m:e>
                            </m:d>
                            <m:sSubSup>
                              <m:sSubSupPr>
                                <m:ctrlPr>
                                  <a:rPr lang="en-GB" sz="1700" i="1">
                                    <a:latin typeface="Cambria Math" panose="02040503050406030204" pitchFamily="18" charset="0"/>
                                  </a:rPr>
                                </m:ctrlPr>
                              </m:sSubSupPr>
                              <m:e>
                                <m:r>
                                  <a:rPr lang="en-GB" sz="1700" i="1">
                                    <a:latin typeface="Cambria Math" panose="02040503050406030204" pitchFamily="18" charset="0"/>
                                  </a:rPr>
                                  <m:t>𝑠</m:t>
                                </m:r>
                              </m:e>
                              <m:sub>
                                <m:r>
                                  <a:rPr lang="en-GB" sz="1700" i="1">
                                    <a:latin typeface="Cambria Math" panose="02040503050406030204" pitchFamily="18" charset="0"/>
                                  </a:rPr>
                                  <m:t>1</m:t>
                                </m:r>
                              </m:sub>
                              <m:sup>
                                <m:r>
                                  <a:rPr lang="en-GB" sz="1700" i="1">
                                    <a:latin typeface="Cambria Math" panose="02040503050406030204" pitchFamily="18" charset="0"/>
                                  </a:rPr>
                                  <m:t>2</m:t>
                                </m:r>
                              </m:sup>
                            </m:sSubSup>
                            <m:r>
                              <a:rPr lang="en-GB" sz="1700" i="1">
                                <a:latin typeface="Cambria Math" panose="02040503050406030204" pitchFamily="18" charset="0"/>
                              </a:rPr>
                              <m:t>+</m:t>
                            </m:r>
                            <m:d>
                              <m:dPr>
                                <m:ctrlPr>
                                  <a:rPr lang="en-GB" sz="1700" i="1">
                                    <a:latin typeface="Cambria Math" panose="02040503050406030204" pitchFamily="18" charset="0"/>
                                  </a:rPr>
                                </m:ctrlPr>
                              </m:dPr>
                              <m:e>
                                <m:sSub>
                                  <m:sSubPr>
                                    <m:ctrlPr>
                                      <a:rPr lang="en-GB" sz="1700" i="1">
                                        <a:latin typeface="Cambria Math" panose="02040503050406030204" pitchFamily="18" charset="0"/>
                                      </a:rPr>
                                    </m:ctrlPr>
                                  </m:sSubPr>
                                  <m:e>
                                    <m:r>
                                      <a:rPr lang="en-GB" sz="1700" i="1">
                                        <a:latin typeface="Cambria Math" panose="02040503050406030204" pitchFamily="18" charset="0"/>
                                      </a:rPr>
                                      <m:t>𝑛</m:t>
                                    </m:r>
                                  </m:e>
                                  <m:sub>
                                    <m:r>
                                      <a:rPr lang="en-GB" sz="1700" i="1">
                                        <a:latin typeface="Cambria Math" panose="02040503050406030204" pitchFamily="18" charset="0"/>
                                      </a:rPr>
                                      <m:t>2</m:t>
                                    </m:r>
                                  </m:sub>
                                </m:sSub>
                                <m:r>
                                  <a:rPr lang="en-GB" sz="1700" i="1">
                                    <a:latin typeface="Cambria Math" panose="02040503050406030204" pitchFamily="18" charset="0"/>
                                  </a:rPr>
                                  <m:t>−1</m:t>
                                </m:r>
                              </m:e>
                            </m:d>
                            <m:sSubSup>
                              <m:sSubSupPr>
                                <m:ctrlPr>
                                  <a:rPr lang="en-GB" sz="1700" i="1">
                                    <a:latin typeface="Cambria Math" panose="02040503050406030204" pitchFamily="18" charset="0"/>
                                  </a:rPr>
                                </m:ctrlPr>
                              </m:sSubSupPr>
                              <m:e>
                                <m:r>
                                  <a:rPr lang="en-GB" sz="1700" i="1">
                                    <a:latin typeface="Cambria Math" panose="02040503050406030204" pitchFamily="18" charset="0"/>
                                  </a:rPr>
                                  <m:t>𝑠</m:t>
                                </m:r>
                              </m:e>
                              <m:sub>
                                <m:r>
                                  <a:rPr lang="en-GB" sz="1700" i="1">
                                    <a:latin typeface="Cambria Math" panose="02040503050406030204" pitchFamily="18" charset="0"/>
                                  </a:rPr>
                                  <m:t>2</m:t>
                                </m:r>
                              </m:sub>
                              <m:sup>
                                <m:r>
                                  <a:rPr lang="en-GB" sz="1700" i="1">
                                    <a:latin typeface="Cambria Math" panose="02040503050406030204" pitchFamily="18" charset="0"/>
                                  </a:rPr>
                                  <m:t>2</m:t>
                                </m:r>
                              </m:sup>
                            </m:sSubSup>
                          </m:num>
                          <m:den>
                            <m:sSub>
                              <m:sSubPr>
                                <m:ctrlPr>
                                  <a:rPr lang="en-GB" sz="1700" i="1">
                                    <a:latin typeface="Cambria Math" panose="02040503050406030204" pitchFamily="18" charset="0"/>
                                  </a:rPr>
                                </m:ctrlPr>
                              </m:sSubPr>
                              <m:e>
                                <m:r>
                                  <a:rPr lang="en-GB" sz="1700" i="1">
                                    <a:latin typeface="Cambria Math" panose="02040503050406030204" pitchFamily="18" charset="0"/>
                                  </a:rPr>
                                  <m:t>𝑛</m:t>
                                </m:r>
                              </m:e>
                              <m:sub>
                                <m:r>
                                  <a:rPr lang="en-GB" sz="1700" i="1">
                                    <a:latin typeface="Cambria Math" panose="02040503050406030204" pitchFamily="18" charset="0"/>
                                  </a:rPr>
                                  <m:t>1</m:t>
                                </m:r>
                              </m:sub>
                            </m:sSub>
                            <m:r>
                              <a:rPr lang="en-GB" sz="1700" i="1">
                                <a:latin typeface="Cambria Math" panose="02040503050406030204" pitchFamily="18" charset="0"/>
                              </a:rPr>
                              <m:t>+</m:t>
                            </m:r>
                            <m:sSub>
                              <m:sSubPr>
                                <m:ctrlPr>
                                  <a:rPr lang="en-GB" sz="1700" i="1">
                                    <a:latin typeface="Cambria Math" panose="02040503050406030204" pitchFamily="18" charset="0"/>
                                  </a:rPr>
                                </m:ctrlPr>
                              </m:sSubPr>
                              <m:e>
                                <m:r>
                                  <a:rPr lang="en-GB" sz="1700" i="1">
                                    <a:latin typeface="Cambria Math" panose="02040503050406030204" pitchFamily="18" charset="0"/>
                                  </a:rPr>
                                  <m:t>𝑛</m:t>
                                </m:r>
                              </m:e>
                              <m:sub>
                                <m:r>
                                  <a:rPr lang="en-GB" sz="1700" i="1">
                                    <a:latin typeface="Cambria Math" panose="02040503050406030204" pitchFamily="18" charset="0"/>
                                  </a:rPr>
                                  <m:t>2</m:t>
                                </m:r>
                              </m:sub>
                            </m:sSub>
                            <m:r>
                              <a:rPr lang="en-GB" sz="1700" i="1">
                                <a:latin typeface="Cambria Math" panose="02040503050406030204" pitchFamily="18" charset="0"/>
                              </a:rPr>
                              <m:t>−2</m:t>
                            </m:r>
                          </m:den>
                        </m:f>
                      </m:e>
                    </m:rad>
                  </m:oMath>
                </a14:m>
                <a:endParaRPr lang="en-GB" sz="1900" dirty="0"/>
              </a:p>
              <a:p>
                <a:pPr marL="914400" lvl="2" indent="0">
                  <a:buNone/>
                </a:pPr>
                <a:r>
                  <a:rPr lang="en-GB" sz="1900" dirty="0"/>
                  <a:t>and</a:t>
                </a:r>
                <a:endParaRPr lang="en-GB" sz="1900" i="1" dirty="0">
                  <a:latin typeface="Cambria Math" panose="02040503050406030204" pitchFamily="18" charset="0"/>
                </a:endParaRPr>
              </a:p>
              <a:p>
                <a:pPr lvl="2"/>
                <a14:m>
                  <m:oMath xmlns:m="http://schemas.openxmlformats.org/officeDocument/2006/math">
                    <m:sSub>
                      <m:sSubPr>
                        <m:ctrlPr>
                          <a:rPr lang="en-GB" sz="1900" i="1" smtClean="0">
                            <a:latin typeface="Cambria Math" panose="02040503050406030204" pitchFamily="18" charset="0"/>
                          </a:rPr>
                        </m:ctrlPr>
                      </m:sSubPr>
                      <m:e>
                        <m:r>
                          <a:rPr lang="en-GB" sz="1900" b="0" i="1" smtClean="0">
                            <a:latin typeface="Cambria Math" panose="02040503050406030204" pitchFamily="18" charset="0"/>
                          </a:rPr>
                          <m:t>𝑑𝑓</m:t>
                        </m:r>
                        <m:r>
                          <a:rPr lang="en-GB" sz="1900" b="0" i="1" smtClean="0">
                            <a:latin typeface="Cambria Math" panose="02040503050406030204" pitchFamily="18" charset="0"/>
                          </a:rPr>
                          <m:t>=</m:t>
                        </m:r>
                        <m:r>
                          <a:rPr lang="en-GB" sz="1900" i="1">
                            <a:latin typeface="Cambria Math" panose="02040503050406030204" pitchFamily="18" charset="0"/>
                          </a:rPr>
                          <m:t>𝑛</m:t>
                        </m:r>
                      </m:e>
                      <m:sub>
                        <m:r>
                          <a:rPr lang="en-GB" sz="1900" i="1">
                            <a:latin typeface="Cambria Math" panose="02040503050406030204" pitchFamily="18" charset="0"/>
                          </a:rPr>
                          <m:t>1</m:t>
                        </m:r>
                      </m:sub>
                    </m:sSub>
                    <m:r>
                      <a:rPr lang="en-GB" sz="1900" i="1">
                        <a:latin typeface="Cambria Math" panose="02040503050406030204" pitchFamily="18" charset="0"/>
                      </a:rPr>
                      <m:t>+</m:t>
                    </m:r>
                    <m:sSub>
                      <m:sSubPr>
                        <m:ctrlPr>
                          <a:rPr lang="en-GB" sz="1900" i="1">
                            <a:latin typeface="Cambria Math" panose="02040503050406030204" pitchFamily="18" charset="0"/>
                          </a:rPr>
                        </m:ctrlPr>
                      </m:sSubPr>
                      <m:e>
                        <m:r>
                          <a:rPr lang="en-GB" sz="1900" i="1">
                            <a:latin typeface="Cambria Math" panose="02040503050406030204" pitchFamily="18" charset="0"/>
                          </a:rPr>
                          <m:t>𝑛</m:t>
                        </m:r>
                      </m:e>
                      <m:sub>
                        <m:r>
                          <a:rPr lang="en-GB" sz="1900" i="1">
                            <a:latin typeface="Cambria Math" panose="02040503050406030204" pitchFamily="18" charset="0"/>
                          </a:rPr>
                          <m:t>2</m:t>
                        </m:r>
                      </m:sub>
                    </m:sSub>
                    <m:r>
                      <a:rPr lang="en-GB" sz="1900" i="1">
                        <a:latin typeface="Cambria Math" panose="02040503050406030204" pitchFamily="18" charset="0"/>
                      </a:rPr>
                      <m:t>−2</m:t>
                    </m:r>
                  </m:oMath>
                </a14:m>
                <a:endParaRPr lang="en-GB" sz="1900" dirty="0"/>
              </a:p>
              <a:p>
                <a:pPr lvl="2"/>
                <a:endParaRPr lang="en-GB" sz="2000" dirty="0"/>
              </a:p>
              <a:p>
                <a:pPr marL="457200" lvl="1" indent="0" algn="ctr">
                  <a:buNone/>
                </a:pPr>
                <a:endParaRPr lang="en-GB" sz="2200" dirty="0"/>
              </a:p>
              <a:p>
                <a:endParaRPr lang="LID4096" dirty="0"/>
              </a:p>
            </p:txBody>
          </p:sp>
        </mc:Choice>
        <mc:Fallback xmlns="">
          <p:sp>
            <p:nvSpPr>
              <p:cNvPr id="3" name="Content Placeholder 2">
                <a:extLst>
                  <a:ext uri="{FF2B5EF4-FFF2-40B4-BE49-F238E27FC236}">
                    <a16:creationId xmlns:a16="http://schemas.microsoft.com/office/drawing/2014/main" id="{5982059F-DB79-AD8C-9B3E-A001C5E1AF36}"/>
                  </a:ext>
                </a:extLst>
              </p:cNvPr>
              <p:cNvSpPr>
                <a:spLocks noGrp="1" noRot="1" noChangeAspect="1" noMove="1" noResize="1" noEditPoints="1" noAdjustHandles="1" noChangeArrowheads="1" noChangeShapeType="1" noTextEdit="1"/>
              </p:cNvSpPr>
              <p:nvPr>
                <p:ph idx="1"/>
              </p:nvPr>
            </p:nvSpPr>
            <p:spPr>
              <a:xfrm>
                <a:off x="1298714" y="1706218"/>
                <a:ext cx="10601738" cy="5151782"/>
              </a:xfrm>
              <a:blipFill>
                <a:blip r:embed="rId2"/>
                <a:stretch>
                  <a:fillRect l="-403" t="-710"/>
                </a:stretch>
              </a:blipFill>
            </p:spPr>
            <p:txBody>
              <a:bodyPr/>
              <a:lstStyle/>
              <a:p>
                <a:r>
                  <a:rPr lang="LID4096">
                    <a:noFill/>
                  </a:rPr>
                  <a:t> </a:t>
                </a:r>
              </a:p>
            </p:txBody>
          </p:sp>
        </mc:Fallback>
      </mc:AlternateContent>
    </p:spTree>
    <p:extLst>
      <p:ext uri="{BB962C8B-B14F-4D97-AF65-F5344CB8AC3E}">
        <p14:creationId xmlns:p14="http://schemas.microsoft.com/office/powerpoint/2010/main" val="3052149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3. Testing of Hypothesis about Two Population Means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r>
                  <a:rPr lang="en-GB" b="1" dirty="0"/>
                  <a:t>Test statistic </a:t>
                </a:r>
                <a:r>
                  <a:rPr lang="en-GB" dirty="0"/>
                  <a:t>to be used</a:t>
                </a:r>
              </a:p>
              <a:p>
                <a:pPr lvl="1"/>
                <a:r>
                  <a:rPr lang="en-GB" sz="2200" b="0" dirty="0"/>
                  <a:t>t</a:t>
                </a:r>
                <a14:m>
                  <m:oMath xmlns:m="http://schemas.openxmlformats.org/officeDocument/2006/math">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d>
                          <m:dPr>
                            <m:ctrlPr>
                              <a:rPr lang="en-GB" sz="2200" b="0" i="1" smtClean="0">
                                <a:latin typeface="Cambria Math" panose="02040503050406030204" pitchFamily="18" charset="0"/>
                              </a:rPr>
                            </m:ctrlPr>
                          </m:dPr>
                          <m:e>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1</m:t>
                                </m:r>
                              </m:sub>
                            </m:sSub>
                            <m:r>
                              <a:rPr lang="en-GB" sz="2200" i="1">
                                <a:latin typeface="Cambria Math" panose="02040503050406030204" pitchFamily="18" charset="0"/>
                              </a:rPr>
                              <m:t>−</m:t>
                            </m:r>
                            <m:sSub>
                              <m:sSubPr>
                                <m:ctrlPr>
                                  <a:rPr lang="en-GB" sz="2200" i="1">
                                    <a:latin typeface="Cambria Math" panose="02040503050406030204" pitchFamily="18" charset="0"/>
                                  </a:rPr>
                                </m:ctrlPr>
                              </m:sSubPr>
                              <m:e>
                                <m:acc>
                                  <m:accPr>
                                    <m:chr m:val="̅"/>
                                    <m:ctrlPr>
                                      <a:rPr lang="en-GB" sz="2200" i="1">
                                        <a:latin typeface="Cambria Math" panose="02040503050406030204" pitchFamily="18" charset="0"/>
                                      </a:rPr>
                                    </m:ctrlPr>
                                  </m:accPr>
                                  <m:e>
                                    <m:r>
                                      <a:rPr lang="en-GB" sz="2200" i="1">
                                        <a:latin typeface="Cambria Math" panose="02040503050406030204" pitchFamily="18" charset="0"/>
                                      </a:rPr>
                                      <m:t>𝑥</m:t>
                                    </m:r>
                                  </m:e>
                                </m:acc>
                              </m:e>
                              <m:sub>
                                <m:r>
                                  <a:rPr lang="en-GB" sz="2200" i="1">
                                    <a:latin typeface="Cambria Math" panose="02040503050406030204" pitchFamily="18" charset="0"/>
                                  </a:rPr>
                                  <m:t>2</m:t>
                                </m:r>
                              </m:sub>
                            </m:sSub>
                          </m:e>
                        </m:d>
                        <m:r>
                          <a:rPr lang="en-GB" sz="2200" b="0" i="1" smtClean="0">
                            <a:latin typeface="Cambria Math" panose="02040503050406030204" pitchFamily="18" charset="0"/>
                          </a:rPr>
                          <m:t>−</m:t>
                        </m:r>
                        <m:d>
                          <m:dPr>
                            <m:ctrlPr>
                              <a:rPr lang="en-GB" sz="2200" b="0" i="1" smtClean="0">
                                <a:latin typeface="Cambria Math" panose="02040503050406030204" pitchFamily="18" charset="0"/>
                              </a:rPr>
                            </m:ctrlPr>
                          </m:dPr>
                          <m:e>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1</m:t>
                                </m:r>
                              </m:sub>
                            </m:sSub>
                            <m:r>
                              <a:rPr lang="en-GB" sz="2200" b="0" i="1" smtClean="0">
                                <a:latin typeface="Cambria Math" panose="02040503050406030204" pitchFamily="18" charset="0"/>
                              </a:rPr>
                              <m:t>−</m:t>
                            </m:r>
                            <m:sSub>
                              <m:sSubPr>
                                <m:ctrlPr>
                                  <a:rPr lang="en-GB" sz="2200" b="0" i="1" smtClean="0">
                                    <a:latin typeface="Cambria Math" panose="02040503050406030204" pitchFamily="18" charset="0"/>
                                  </a:rPr>
                                </m:ctrlPr>
                              </m:sSubPr>
                              <m:e>
                                <m:r>
                                  <a:rPr lang="en-GB" sz="2200" b="0" i="1" smtClean="0">
                                    <a:latin typeface="Cambria Math" panose="02040503050406030204" pitchFamily="18" charset="0"/>
                                    <a:ea typeface="Cambria Math" panose="02040503050406030204" pitchFamily="18" charset="0"/>
                                  </a:rPr>
                                  <m:t>𝜇</m:t>
                                </m:r>
                              </m:e>
                              <m:sub>
                                <m:r>
                                  <a:rPr lang="en-GB" sz="2200" b="0" i="1" smtClean="0">
                                    <a:latin typeface="Cambria Math" panose="02040503050406030204" pitchFamily="18" charset="0"/>
                                  </a:rPr>
                                  <m:t>2</m:t>
                                </m:r>
                              </m:sub>
                            </m:sSub>
                          </m:e>
                        </m:d>
                      </m:num>
                      <m:den>
                        <m:rad>
                          <m:radPr>
                            <m:degHide m:val="on"/>
                            <m:ctrlPr>
                              <a:rPr lang="en-GB" sz="2200" i="1">
                                <a:latin typeface="Cambria Math" panose="02040503050406030204" pitchFamily="18" charset="0"/>
                              </a:rPr>
                            </m:ctrlPr>
                          </m:radPr>
                          <m:deg/>
                          <m:e>
                            <m:f>
                              <m:fPr>
                                <m:ctrlPr>
                                  <a:rPr lang="en-GB" sz="2200" i="1">
                                    <a:latin typeface="Cambria Math" panose="02040503050406030204" pitchFamily="18" charset="0"/>
                                  </a:rPr>
                                </m:ctrlPr>
                              </m:fPr>
                              <m:num>
                                <m:sSubSup>
                                  <m:sSubSupPr>
                                    <m:ctrlPr>
                                      <a:rPr lang="en-GB" sz="2200" i="1">
                                        <a:latin typeface="Cambria Math" panose="02040503050406030204" pitchFamily="18" charset="0"/>
                                      </a:rPr>
                                    </m:ctrlPr>
                                  </m:sSubSupPr>
                                  <m:e>
                                    <m:r>
                                      <a:rPr lang="en-GB" sz="2200" b="0" i="1" smtClean="0">
                                        <a:latin typeface="Cambria Math" panose="02040503050406030204" pitchFamily="18" charset="0"/>
                                        <a:ea typeface="Cambria Math" panose="02040503050406030204" pitchFamily="18" charset="0"/>
                                      </a:rPr>
                                      <m:t>𝑠</m:t>
                                    </m:r>
                                  </m:e>
                                  <m:sub>
                                    <m:r>
                                      <a:rPr lang="en-GB" sz="2200" i="1">
                                        <a:latin typeface="Cambria Math" panose="02040503050406030204" pitchFamily="18" charset="0"/>
                                      </a:rPr>
                                      <m:t>1</m:t>
                                    </m:r>
                                  </m:sub>
                                  <m:sup>
                                    <m:r>
                                      <a:rPr lang="en-GB" sz="2200" i="1">
                                        <a:latin typeface="Cambria Math" panose="02040503050406030204" pitchFamily="18" charset="0"/>
                                      </a:rPr>
                                      <m:t>2</m:t>
                                    </m:r>
                                  </m:sup>
                                </m:sSubSup>
                              </m:num>
                              <m:den>
                                <m:sSub>
                                  <m:sSubPr>
                                    <m:ctrlPr>
                                      <a:rPr lang="en-GB" sz="2200" i="1">
                                        <a:latin typeface="Cambria Math" panose="02040503050406030204" pitchFamily="18" charset="0"/>
                                      </a:rPr>
                                    </m:ctrlPr>
                                  </m:sSubPr>
                                  <m:e>
                                    <m:r>
                                      <a:rPr lang="en-GB" sz="2200" i="1">
                                        <a:latin typeface="Cambria Math" panose="02040503050406030204" pitchFamily="18" charset="0"/>
                                      </a:rPr>
                                      <m:t>𝑛</m:t>
                                    </m:r>
                                  </m:e>
                                  <m:sub>
                                    <m:r>
                                      <a:rPr lang="en-GB" sz="2200" i="1">
                                        <a:latin typeface="Cambria Math" panose="02040503050406030204" pitchFamily="18" charset="0"/>
                                      </a:rPr>
                                      <m:t>1</m:t>
                                    </m:r>
                                  </m:sub>
                                </m:sSub>
                              </m:den>
                            </m:f>
                            <m:r>
                              <a:rPr lang="en-GB" sz="2200" i="1">
                                <a:latin typeface="Cambria Math" panose="02040503050406030204" pitchFamily="18" charset="0"/>
                              </a:rPr>
                              <m:t>+</m:t>
                            </m:r>
                            <m:f>
                              <m:fPr>
                                <m:ctrlPr>
                                  <a:rPr lang="en-GB" sz="2200" i="1">
                                    <a:latin typeface="Cambria Math" panose="02040503050406030204" pitchFamily="18" charset="0"/>
                                  </a:rPr>
                                </m:ctrlPr>
                              </m:fPr>
                              <m:num>
                                <m:sSubSup>
                                  <m:sSubSupPr>
                                    <m:ctrlPr>
                                      <a:rPr lang="en-GB" sz="2200" i="1">
                                        <a:latin typeface="Cambria Math" panose="02040503050406030204" pitchFamily="18" charset="0"/>
                                      </a:rPr>
                                    </m:ctrlPr>
                                  </m:sSubSupPr>
                                  <m:e>
                                    <m:r>
                                      <a:rPr lang="en-GB" sz="2200" b="0" i="1" smtClean="0">
                                        <a:latin typeface="Cambria Math" panose="02040503050406030204" pitchFamily="18" charset="0"/>
                                      </a:rPr>
                                      <m:t>𝑠</m:t>
                                    </m:r>
                                  </m:e>
                                  <m:sub>
                                    <m:r>
                                      <a:rPr lang="en-GB" sz="2200" i="1">
                                        <a:latin typeface="Cambria Math" panose="02040503050406030204" pitchFamily="18" charset="0"/>
                                      </a:rPr>
                                      <m:t>2</m:t>
                                    </m:r>
                                  </m:sub>
                                  <m:sup>
                                    <m:r>
                                      <a:rPr lang="en-GB" sz="2200" i="1">
                                        <a:latin typeface="Cambria Math" panose="02040503050406030204" pitchFamily="18" charset="0"/>
                                      </a:rPr>
                                      <m:t>2</m:t>
                                    </m:r>
                                  </m:sup>
                                </m:sSubSup>
                              </m:num>
                              <m:den>
                                <m:sSub>
                                  <m:sSubPr>
                                    <m:ctrlPr>
                                      <a:rPr lang="en-GB" sz="2200" i="1">
                                        <a:latin typeface="Cambria Math" panose="02040503050406030204" pitchFamily="18" charset="0"/>
                                      </a:rPr>
                                    </m:ctrlPr>
                                  </m:sSubPr>
                                  <m:e>
                                    <m:r>
                                      <a:rPr lang="en-GB" sz="2200" i="1">
                                        <a:latin typeface="Cambria Math" panose="02040503050406030204" pitchFamily="18" charset="0"/>
                                      </a:rPr>
                                      <m:t>𝑛</m:t>
                                    </m:r>
                                  </m:e>
                                  <m:sub>
                                    <m:r>
                                      <a:rPr lang="en-GB" sz="2200" i="1">
                                        <a:latin typeface="Cambria Math" panose="02040503050406030204" pitchFamily="18" charset="0"/>
                                      </a:rPr>
                                      <m:t>2</m:t>
                                    </m:r>
                                  </m:sub>
                                </m:sSub>
                              </m:den>
                            </m:f>
                          </m:e>
                        </m:rad>
                      </m:den>
                    </m:f>
                  </m:oMath>
                </a14:m>
                <a:r>
                  <a:rPr lang="en-GB" sz="2200" dirty="0"/>
                  <a:t>   (</a:t>
                </a:r>
                <a14:m>
                  <m:oMath xmlns:m="http://schemas.openxmlformats.org/officeDocument/2006/math">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1</m:t>
                        </m:r>
                      </m:sub>
                    </m:sSub>
                    <m:r>
                      <a:rPr lang="en-GB" sz="2200" i="1">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2</m:t>
                        </m:r>
                      </m:sub>
                    </m:sSub>
                    <m:r>
                      <a:rPr lang="en-GB" sz="2200">
                        <a:latin typeface="Cambria Math" panose="02040503050406030204" pitchFamily="18" charset="0"/>
                        <a:ea typeface="Cambria Math" panose="02040503050406030204" pitchFamily="18" charset="0"/>
                      </a:rPr>
                      <m:t>−</m:t>
                    </m:r>
                    <m:r>
                      <m:rPr>
                        <m:sty m:val="p"/>
                      </m:rPr>
                      <a:rPr lang="en-GB" sz="2200" b="0" i="0" smtClean="0">
                        <a:latin typeface="Cambria Math" panose="02040503050406030204" pitchFamily="18" charset="0"/>
                        <a:ea typeface="Cambria Math" panose="02040503050406030204" pitchFamily="18" charset="0"/>
                      </a:rPr>
                      <m:t>un</m:t>
                    </m:r>
                    <m:r>
                      <m:rPr>
                        <m:sty m:val="p"/>
                      </m:rPr>
                      <a:rPr lang="en-GB" sz="2200">
                        <a:latin typeface="Cambria Math" panose="02040503050406030204" pitchFamily="18" charset="0"/>
                        <a:ea typeface="Cambria Math" panose="02040503050406030204" pitchFamily="18" charset="0"/>
                      </a:rPr>
                      <m:t>known</m:t>
                    </m:r>
                    <m:r>
                      <a:rPr lang="en-GB" sz="2200" b="0" i="1" smtClean="0">
                        <a:latin typeface="Cambria Math" panose="02040503050406030204" pitchFamily="18" charset="0"/>
                        <a:ea typeface="Cambria Math" panose="02040503050406030204" pitchFamily="18" charset="0"/>
                      </a:rPr>
                      <m:t> </m:t>
                    </m:r>
                    <m:r>
                      <a:rPr lang="en-GB" sz="2200" b="0" i="1" smtClean="0">
                        <a:latin typeface="Cambria Math" panose="02040503050406030204" pitchFamily="18" charset="0"/>
                        <a:ea typeface="Cambria Math" panose="02040503050406030204" pitchFamily="18" charset="0"/>
                      </a:rPr>
                      <m:t>𝑏𝑢𝑡</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 </m:t>
                        </m:r>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1</m:t>
                        </m:r>
                      </m:sub>
                    </m:sSub>
                    <m:r>
                      <a:rPr lang="en-GB" sz="2200" i="1" smtClean="0">
                        <a:latin typeface="Cambria Math" panose="02040503050406030204" pitchFamily="18" charset="0"/>
                        <a:ea typeface="Cambria Math" panose="02040503050406030204" pitchFamily="18" charset="0"/>
                      </a:rPr>
                      <m:t>≠</m:t>
                    </m:r>
                    <m:sSub>
                      <m:sSubPr>
                        <m:ctrlPr>
                          <a:rPr lang="en-GB" sz="2200" i="1">
                            <a:latin typeface="Cambria Math" panose="02040503050406030204" pitchFamily="18" charset="0"/>
                            <a:ea typeface="Cambria Math" panose="02040503050406030204" pitchFamily="18" charset="0"/>
                          </a:rPr>
                        </m:ctrlPr>
                      </m:sSubPr>
                      <m:e>
                        <m:r>
                          <a:rPr lang="en-GB" sz="2200" i="1">
                            <a:latin typeface="Cambria Math" panose="02040503050406030204" pitchFamily="18" charset="0"/>
                            <a:ea typeface="Cambria Math" panose="02040503050406030204" pitchFamily="18" charset="0"/>
                          </a:rPr>
                          <m:t>𝜎</m:t>
                        </m:r>
                      </m:e>
                      <m:sub>
                        <m:r>
                          <a:rPr lang="en-GB" sz="2200" i="1">
                            <a:latin typeface="Cambria Math" panose="02040503050406030204" pitchFamily="18" charset="0"/>
                            <a:ea typeface="Cambria Math" panose="02040503050406030204" pitchFamily="18" charset="0"/>
                          </a:rPr>
                          <m:t>2</m:t>
                        </m:r>
                      </m:sub>
                    </m:sSub>
                  </m:oMath>
                </a14:m>
                <a:r>
                  <a:rPr lang="en-GB" sz="2200" dirty="0"/>
                  <a:t>)</a:t>
                </a:r>
              </a:p>
              <a:p>
                <a:pPr lvl="2"/>
                <a14:m>
                  <m:oMath xmlns:m="http://schemas.openxmlformats.org/officeDocument/2006/math">
                    <m:r>
                      <a:rPr lang="en-GB" sz="1800" i="1">
                        <a:latin typeface="Cambria Math" panose="02040503050406030204" pitchFamily="18" charset="0"/>
                      </a:rPr>
                      <m:t>𝑑𝑓</m:t>
                    </m:r>
                    <m:r>
                      <a:rPr lang="en-GB" sz="1800" i="1">
                        <a:latin typeface="Cambria Math" panose="02040503050406030204" pitchFamily="18" charset="0"/>
                      </a:rPr>
                      <m:t>= </m:t>
                    </m:r>
                    <m:f>
                      <m:fPr>
                        <m:ctrlPr>
                          <a:rPr lang="en-GB" sz="1800" i="1">
                            <a:latin typeface="Cambria Math" panose="02040503050406030204" pitchFamily="18" charset="0"/>
                          </a:rPr>
                        </m:ctrlPr>
                      </m:fPr>
                      <m:num>
                        <m:sSup>
                          <m:sSupPr>
                            <m:ctrlPr>
                              <a:rPr lang="en-GB" sz="1800" i="1">
                                <a:latin typeface="Cambria Math" panose="02040503050406030204" pitchFamily="18" charset="0"/>
                              </a:rPr>
                            </m:ctrlPr>
                          </m:sSupPr>
                          <m:e>
                            <m:d>
                              <m:dPr>
                                <m:ctrlPr>
                                  <a:rPr lang="en-GB" sz="1800" i="1">
                                    <a:latin typeface="Cambria Math" panose="02040503050406030204" pitchFamily="18" charset="0"/>
                                  </a:rPr>
                                </m:ctrlPr>
                              </m:dPr>
                              <m:e>
                                <m:f>
                                  <m:fPr>
                                    <m:ctrlPr>
                                      <a:rPr lang="en-GB" sz="1800" i="1">
                                        <a:latin typeface="Cambria Math" panose="02040503050406030204" pitchFamily="18" charset="0"/>
                                      </a:rPr>
                                    </m:ctrlPr>
                                  </m:fPr>
                                  <m:num>
                                    <m:sSubSup>
                                      <m:sSubSupPr>
                                        <m:ctrlPr>
                                          <a:rPr lang="en-GB" sz="1800" i="1">
                                            <a:latin typeface="Cambria Math" panose="02040503050406030204" pitchFamily="18" charset="0"/>
                                          </a:rPr>
                                        </m:ctrlPr>
                                      </m:sSubSupPr>
                                      <m:e>
                                        <m:r>
                                          <a:rPr lang="en-GB" sz="1800" i="1">
                                            <a:latin typeface="Cambria Math" panose="02040503050406030204" pitchFamily="18" charset="0"/>
                                          </a:rPr>
                                          <m:t>𝑠</m:t>
                                        </m:r>
                                      </m:e>
                                      <m:sub>
                                        <m:r>
                                          <a:rPr lang="en-GB" sz="1800" i="1">
                                            <a:latin typeface="Cambria Math" panose="02040503050406030204" pitchFamily="18" charset="0"/>
                                          </a:rPr>
                                          <m:t>1</m:t>
                                        </m:r>
                                      </m:sub>
                                      <m:sup>
                                        <m:r>
                                          <a:rPr lang="en-GB" sz="1800" i="1">
                                            <a:latin typeface="Cambria Math" panose="02040503050406030204" pitchFamily="18" charset="0"/>
                                          </a:rPr>
                                          <m:t>2</m:t>
                                        </m:r>
                                      </m:sup>
                                    </m:sSubSup>
                                  </m:num>
                                  <m:den>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rPr>
                                          <m:t>1</m:t>
                                        </m:r>
                                      </m:sub>
                                    </m:sSub>
                                  </m:den>
                                </m:f>
                                <m:r>
                                  <a:rPr lang="en-GB" sz="1800" i="1">
                                    <a:latin typeface="Cambria Math" panose="02040503050406030204" pitchFamily="18" charset="0"/>
                                  </a:rPr>
                                  <m:t>+</m:t>
                                </m:r>
                                <m:f>
                                  <m:fPr>
                                    <m:ctrlPr>
                                      <a:rPr lang="en-GB" sz="1800" i="1">
                                        <a:latin typeface="Cambria Math" panose="02040503050406030204" pitchFamily="18" charset="0"/>
                                      </a:rPr>
                                    </m:ctrlPr>
                                  </m:fPr>
                                  <m:num>
                                    <m:sSubSup>
                                      <m:sSubSupPr>
                                        <m:ctrlPr>
                                          <a:rPr lang="en-GB" sz="1800" i="1">
                                            <a:latin typeface="Cambria Math" panose="02040503050406030204" pitchFamily="18" charset="0"/>
                                          </a:rPr>
                                        </m:ctrlPr>
                                      </m:sSubSupPr>
                                      <m:e>
                                        <m:r>
                                          <a:rPr lang="en-GB" sz="1800" i="1">
                                            <a:latin typeface="Cambria Math" panose="02040503050406030204" pitchFamily="18" charset="0"/>
                                          </a:rPr>
                                          <m:t>𝑠</m:t>
                                        </m:r>
                                      </m:e>
                                      <m:sub>
                                        <m:r>
                                          <a:rPr lang="en-GB" sz="1800" i="1">
                                            <a:latin typeface="Cambria Math" panose="02040503050406030204" pitchFamily="18" charset="0"/>
                                          </a:rPr>
                                          <m:t>2</m:t>
                                        </m:r>
                                      </m:sub>
                                      <m:sup>
                                        <m:r>
                                          <a:rPr lang="en-GB" sz="1800" i="1">
                                            <a:latin typeface="Cambria Math" panose="02040503050406030204" pitchFamily="18" charset="0"/>
                                          </a:rPr>
                                          <m:t>2</m:t>
                                        </m:r>
                                      </m:sup>
                                    </m:sSubSup>
                                  </m:num>
                                  <m:den>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rPr>
                                          <m:t>2</m:t>
                                        </m:r>
                                      </m:sub>
                                    </m:sSub>
                                  </m:den>
                                </m:f>
                              </m:e>
                            </m:d>
                          </m:e>
                          <m:sup>
                            <m:r>
                              <a:rPr lang="en-GB" sz="1800" i="1">
                                <a:latin typeface="Cambria Math" panose="02040503050406030204" pitchFamily="18" charset="0"/>
                              </a:rPr>
                              <m:t>2</m:t>
                            </m:r>
                          </m:sup>
                        </m:sSup>
                      </m:num>
                      <m:den>
                        <m:d>
                          <m:dPr>
                            <m:begChr m:val="["/>
                            <m:endChr m:val="]"/>
                            <m:ctrlPr>
                              <a:rPr lang="en-GB" sz="1800" i="1">
                                <a:latin typeface="Cambria Math" panose="02040503050406030204" pitchFamily="18" charset="0"/>
                              </a:rPr>
                            </m:ctrlPr>
                          </m:dPr>
                          <m:e>
                            <m:f>
                              <m:fPr>
                                <m:ctrlPr>
                                  <a:rPr lang="en-GB" sz="1800" i="1">
                                    <a:latin typeface="Cambria Math" panose="02040503050406030204" pitchFamily="18" charset="0"/>
                                  </a:rPr>
                                </m:ctrlPr>
                              </m:fPr>
                              <m:num>
                                <m:sSup>
                                  <m:sSupPr>
                                    <m:ctrlPr>
                                      <a:rPr lang="en-GB" sz="1800" i="1">
                                        <a:latin typeface="Cambria Math" panose="02040503050406030204" pitchFamily="18" charset="0"/>
                                      </a:rPr>
                                    </m:ctrlPr>
                                  </m:sSupPr>
                                  <m:e>
                                    <m:d>
                                      <m:dPr>
                                        <m:ctrlPr>
                                          <a:rPr lang="en-GB" sz="1800" i="1">
                                            <a:latin typeface="Cambria Math" panose="02040503050406030204" pitchFamily="18" charset="0"/>
                                          </a:rPr>
                                        </m:ctrlPr>
                                      </m:dPr>
                                      <m:e>
                                        <m:f>
                                          <m:fPr>
                                            <m:ctrlPr>
                                              <a:rPr lang="en-GB" sz="1800" i="1">
                                                <a:latin typeface="Cambria Math" panose="02040503050406030204" pitchFamily="18" charset="0"/>
                                              </a:rPr>
                                            </m:ctrlPr>
                                          </m:fPr>
                                          <m:num>
                                            <m:sSubSup>
                                              <m:sSubSupPr>
                                                <m:ctrlPr>
                                                  <a:rPr lang="en-GB" sz="1800" i="1">
                                                    <a:latin typeface="Cambria Math" panose="02040503050406030204" pitchFamily="18" charset="0"/>
                                                  </a:rPr>
                                                </m:ctrlPr>
                                              </m:sSubSupPr>
                                              <m:e>
                                                <m:r>
                                                  <a:rPr lang="en-GB" sz="1800" i="1">
                                                    <a:latin typeface="Cambria Math" panose="02040503050406030204" pitchFamily="18" charset="0"/>
                                                  </a:rPr>
                                                  <m:t>𝑠</m:t>
                                                </m:r>
                                              </m:e>
                                              <m:sub>
                                                <m:r>
                                                  <a:rPr lang="en-GB" sz="1800" i="1">
                                                    <a:latin typeface="Cambria Math" panose="02040503050406030204" pitchFamily="18" charset="0"/>
                                                  </a:rPr>
                                                  <m:t>1</m:t>
                                                </m:r>
                                              </m:sub>
                                              <m:sup>
                                                <m:r>
                                                  <a:rPr lang="en-GB" sz="1800" i="1">
                                                    <a:latin typeface="Cambria Math" panose="02040503050406030204" pitchFamily="18" charset="0"/>
                                                  </a:rPr>
                                                  <m:t>2</m:t>
                                                </m:r>
                                              </m:sup>
                                            </m:sSubSup>
                                          </m:num>
                                          <m:den>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rPr>
                                                  <m:t>1</m:t>
                                                </m:r>
                                              </m:sub>
                                            </m:sSub>
                                          </m:den>
                                        </m:f>
                                      </m:e>
                                    </m:d>
                                  </m:e>
                                  <m:sup>
                                    <m:r>
                                      <a:rPr lang="en-GB" sz="1800" i="1">
                                        <a:latin typeface="Cambria Math" panose="02040503050406030204" pitchFamily="18" charset="0"/>
                                      </a:rPr>
                                      <m:t>2</m:t>
                                    </m:r>
                                  </m:sup>
                                </m:sSup>
                              </m:num>
                              <m:den>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rPr>
                                      <m:t>1</m:t>
                                    </m:r>
                                  </m:sub>
                                </m:sSub>
                                <m:r>
                                  <a:rPr lang="en-GB" sz="1800" i="1">
                                    <a:latin typeface="Cambria Math" panose="02040503050406030204" pitchFamily="18" charset="0"/>
                                  </a:rPr>
                                  <m:t>−1</m:t>
                                </m:r>
                              </m:den>
                            </m:f>
                          </m:e>
                        </m:d>
                        <m:r>
                          <a:rPr lang="en-GB" sz="1800" i="1">
                            <a:latin typeface="Cambria Math" panose="02040503050406030204" pitchFamily="18" charset="0"/>
                          </a:rPr>
                          <m:t>+</m:t>
                        </m:r>
                        <m:d>
                          <m:dPr>
                            <m:begChr m:val="["/>
                            <m:endChr m:val="]"/>
                            <m:ctrlPr>
                              <a:rPr lang="en-GB" sz="1800" i="1">
                                <a:latin typeface="Cambria Math" panose="02040503050406030204" pitchFamily="18" charset="0"/>
                              </a:rPr>
                            </m:ctrlPr>
                          </m:dPr>
                          <m:e>
                            <m:f>
                              <m:fPr>
                                <m:ctrlPr>
                                  <a:rPr lang="en-GB" sz="1800" i="1">
                                    <a:latin typeface="Cambria Math" panose="02040503050406030204" pitchFamily="18" charset="0"/>
                                  </a:rPr>
                                </m:ctrlPr>
                              </m:fPr>
                              <m:num>
                                <m:sSup>
                                  <m:sSupPr>
                                    <m:ctrlPr>
                                      <a:rPr lang="en-GB" sz="1800" i="1">
                                        <a:latin typeface="Cambria Math" panose="02040503050406030204" pitchFamily="18" charset="0"/>
                                      </a:rPr>
                                    </m:ctrlPr>
                                  </m:sSupPr>
                                  <m:e>
                                    <m:d>
                                      <m:dPr>
                                        <m:ctrlPr>
                                          <a:rPr lang="en-GB" sz="1800" i="1">
                                            <a:latin typeface="Cambria Math" panose="02040503050406030204" pitchFamily="18" charset="0"/>
                                          </a:rPr>
                                        </m:ctrlPr>
                                      </m:dPr>
                                      <m:e>
                                        <m:f>
                                          <m:fPr>
                                            <m:ctrlPr>
                                              <a:rPr lang="en-GB" sz="1800" i="1">
                                                <a:latin typeface="Cambria Math" panose="02040503050406030204" pitchFamily="18" charset="0"/>
                                              </a:rPr>
                                            </m:ctrlPr>
                                          </m:fPr>
                                          <m:num>
                                            <m:sSubSup>
                                              <m:sSubSupPr>
                                                <m:ctrlPr>
                                                  <a:rPr lang="en-GB" sz="1800" i="1">
                                                    <a:latin typeface="Cambria Math" panose="02040503050406030204" pitchFamily="18" charset="0"/>
                                                  </a:rPr>
                                                </m:ctrlPr>
                                              </m:sSubSupPr>
                                              <m:e>
                                                <m:r>
                                                  <a:rPr lang="en-GB" sz="1800" i="1">
                                                    <a:latin typeface="Cambria Math" panose="02040503050406030204" pitchFamily="18" charset="0"/>
                                                  </a:rPr>
                                                  <m:t>𝑠</m:t>
                                                </m:r>
                                              </m:e>
                                              <m:sub>
                                                <m:r>
                                                  <a:rPr lang="en-GB" sz="1800" i="1">
                                                    <a:latin typeface="Cambria Math" panose="02040503050406030204" pitchFamily="18" charset="0"/>
                                                  </a:rPr>
                                                  <m:t>2</m:t>
                                                </m:r>
                                              </m:sub>
                                              <m:sup>
                                                <m:r>
                                                  <a:rPr lang="en-GB" sz="1800" i="1">
                                                    <a:latin typeface="Cambria Math" panose="02040503050406030204" pitchFamily="18" charset="0"/>
                                                  </a:rPr>
                                                  <m:t>2</m:t>
                                                </m:r>
                                              </m:sup>
                                            </m:sSubSup>
                                          </m:num>
                                          <m:den>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rPr>
                                                  <m:t>2</m:t>
                                                </m:r>
                                              </m:sub>
                                            </m:sSub>
                                          </m:den>
                                        </m:f>
                                      </m:e>
                                    </m:d>
                                  </m:e>
                                  <m:sup>
                                    <m:r>
                                      <a:rPr lang="en-GB" sz="1800" i="1">
                                        <a:latin typeface="Cambria Math" panose="02040503050406030204" pitchFamily="18" charset="0"/>
                                      </a:rPr>
                                      <m:t>2</m:t>
                                    </m:r>
                                  </m:sup>
                                </m:sSup>
                              </m:num>
                              <m:den>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rPr>
                                      <m:t>2</m:t>
                                    </m:r>
                                  </m:sub>
                                </m:sSub>
                                <m:r>
                                  <a:rPr lang="en-GB" sz="1800" i="1">
                                    <a:latin typeface="Cambria Math" panose="02040503050406030204" pitchFamily="18" charset="0"/>
                                  </a:rPr>
                                  <m:t>−1</m:t>
                                </m:r>
                              </m:den>
                            </m:f>
                          </m:e>
                        </m:d>
                      </m:den>
                    </m:f>
                  </m:oMath>
                </a14:m>
                <a:endParaRPr lang="en-GB" sz="1800" dirty="0"/>
              </a:p>
              <a:p>
                <a:pPr lvl="1"/>
                <a:r>
                  <a:rPr lang="en-GB" sz="2400" dirty="0"/>
                  <a:t>t</a:t>
                </a:r>
                <a14:m>
                  <m:oMath xmlns:m="http://schemas.openxmlformats.org/officeDocument/2006/math">
                    <m:r>
                      <a:rPr lang="en-GB" sz="2400" i="1">
                        <a:latin typeface="Cambria Math" panose="02040503050406030204" pitchFamily="18" charset="0"/>
                      </a:rPr>
                      <m:t>=</m:t>
                    </m:r>
                    <m:f>
                      <m:fPr>
                        <m:ctrlPr>
                          <a:rPr lang="en-GB" sz="2400" i="1">
                            <a:latin typeface="Cambria Math" panose="02040503050406030204" pitchFamily="18" charset="0"/>
                          </a:rPr>
                        </m:ctrlPr>
                      </m:fPr>
                      <m:num>
                        <m:acc>
                          <m:accPr>
                            <m:chr m:val="̅"/>
                            <m:ctrlPr>
                              <a:rPr lang="en-GB" sz="2400" i="1">
                                <a:latin typeface="Cambria Math" panose="02040503050406030204" pitchFamily="18" charset="0"/>
                              </a:rPr>
                            </m:ctrlPr>
                          </m:accPr>
                          <m:e>
                            <m:r>
                              <a:rPr lang="en-GB" sz="2400" b="0" i="1" smtClean="0">
                                <a:latin typeface="Cambria Math" panose="02040503050406030204" pitchFamily="18" charset="0"/>
                              </a:rPr>
                              <m:t>𝑑</m:t>
                            </m:r>
                          </m:e>
                        </m:acc>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b="0" i="1" smtClean="0">
                                <a:latin typeface="Cambria Math" panose="02040503050406030204" pitchFamily="18" charset="0"/>
                              </a:rPr>
                              <m:t>𝑑</m:t>
                            </m:r>
                          </m:e>
                          <m:sub>
                            <m:r>
                              <a:rPr lang="en-GB" sz="2400" i="1">
                                <a:latin typeface="Cambria Math" panose="02040503050406030204" pitchFamily="18" charset="0"/>
                              </a:rPr>
                              <m:t>0</m:t>
                            </m:r>
                          </m:sub>
                        </m:sSub>
                      </m:num>
                      <m:den>
                        <m:f>
                          <m:fPr>
                            <m:ctrlPr>
                              <a:rPr lang="en-GB" sz="2400" i="1">
                                <a:latin typeface="Cambria Math" panose="02040503050406030204" pitchFamily="18" charset="0"/>
                              </a:rPr>
                            </m:ctrlPr>
                          </m:fPr>
                          <m:num>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𝑠</m:t>
                                </m:r>
                              </m:e>
                              <m:sub>
                                <m:r>
                                  <a:rPr lang="en-GB" sz="2400" b="0" i="1" smtClean="0">
                                    <a:latin typeface="Cambria Math" panose="02040503050406030204" pitchFamily="18" charset="0"/>
                                  </a:rPr>
                                  <m:t>𝑑</m:t>
                                </m:r>
                              </m:sub>
                            </m:sSub>
                          </m:num>
                          <m:den>
                            <m:rad>
                              <m:radPr>
                                <m:degHide m:val="on"/>
                                <m:ctrlPr>
                                  <a:rPr lang="en-GB" sz="2400" i="1">
                                    <a:latin typeface="Cambria Math" panose="02040503050406030204" pitchFamily="18" charset="0"/>
                                  </a:rPr>
                                </m:ctrlPr>
                              </m:radPr>
                              <m:deg/>
                              <m:e>
                                <m:r>
                                  <a:rPr lang="en-GB" sz="2400" i="1">
                                    <a:latin typeface="Cambria Math" panose="02040503050406030204" pitchFamily="18" charset="0"/>
                                  </a:rPr>
                                  <m:t>𝑛</m:t>
                                </m:r>
                              </m:e>
                            </m:rad>
                          </m:den>
                        </m:f>
                      </m:den>
                    </m:f>
                  </m:oMath>
                </a14:m>
                <a:r>
                  <a:rPr lang="en-GB" sz="2400" dirty="0"/>
                  <a:t> (</a:t>
                </a:r>
                <a14:m>
                  <m:oMath xmlns:m="http://schemas.openxmlformats.org/officeDocument/2006/math">
                    <m:r>
                      <a:rPr lang="en-GB" sz="2400" b="0" i="1" smtClean="0">
                        <a:latin typeface="Cambria Math" panose="02040503050406030204" pitchFamily="18" charset="0"/>
                        <a:ea typeface="Cambria Math" panose="02040503050406030204" pitchFamily="18" charset="0"/>
                      </a:rPr>
                      <m:t>𝑝𝑎𝑖𝑟𝑒𝑑</m:t>
                    </m:r>
                    <m:r>
                      <a:rPr lang="en-GB" sz="2400" b="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𝑜𝑏𝑠𝑒𝑟𝑣𝑎𝑡𝑖𝑜𝑛𝑠</m:t>
                    </m:r>
                  </m:oMath>
                </a14:m>
                <a:r>
                  <a:rPr lang="en-GB" sz="2400" dirty="0"/>
                  <a:t>)</a:t>
                </a:r>
              </a:p>
              <a:p>
                <a:pPr lvl="2"/>
                <a14:m>
                  <m:oMath xmlns:m="http://schemas.openxmlformats.org/officeDocument/2006/math">
                    <m:sSub>
                      <m:sSubPr>
                        <m:ctrlPr>
                          <a:rPr lang="en-GB" sz="2200" i="1" smtClean="0">
                            <a:latin typeface="Cambria Math" panose="02040503050406030204" pitchFamily="18" charset="0"/>
                          </a:rPr>
                        </m:ctrlPr>
                      </m:sSubPr>
                      <m:e>
                        <m:r>
                          <a:rPr lang="en-GB" sz="2200" i="1">
                            <a:latin typeface="Cambria Math" panose="02040503050406030204" pitchFamily="18" charset="0"/>
                          </a:rPr>
                          <m:t>𝑠</m:t>
                        </m:r>
                      </m:e>
                      <m:sub>
                        <m:r>
                          <a:rPr lang="en-GB" sz="2200" b="0" i="1" smtClean="0">
                            <a:latin typeface="Cambria Math" panose="02040503050406030204" pitchFamily="18" charset="0"/>
                          </a:rPr>
                          <m:t>𝑑</m:t>
                        </m:r>
                      </m:sub>
                    </m:sSub>
                    <m:r>
                      <a:rPr lang="en-GB" sz="2200" b="0" i="0" smtClean="0">
                        <a:latin typeface="Cambria Math" panose="02040503050406030204" pitchFamily="18" charset="0"/>
                      </a:rPr>
                      <m:t>=</m:t>
                    </m:r>
                    <m:rad>
                      <m:radPr>
                        <m:degHide m:val="on"/>
                        <m:ctrlPr>
                          <a:rPr lang="en-GB" sz="2200" b="0" i="1" smtClean="0">
                            <a:latin typeface="Cambria Math" panose="02040503050406030204" pitchFamily="18" charset="0"/>
                          </a:rPr>
                        </m:ctrlPr>
                      </m:radPr>
                      <m:deg/>
                      <m:e>
                        <m:f>
                          <m:fPr>
                            <m:ctrlPr>
                              <a:rPr lang="en-GB" sz="2200" i="1">
                                <a:latin typeface="Cambria Math" panose="02040503050406030204" pitchFamily="18" charset="0"/>
                              </a:rPr>
                            </m:ctrlPr>
                          </m:fPr>
                          <m:num>
                            <m:r>
                              <a:rPr lang="en-GB" sz="2200" i="1">
                                <a:latin typeface="Cambria Math" panose="02040503050406030204" pitchFamily="18" charset="0"/>
                              </a:rPr>
                              <m:t>𝑛</m:t>
                            </m:r>
                            <m:nary>
                              <m:naryPr>
                                <m:chr m:val="∑"/>
                                <m:subHide m:val="on"/>
                                <m:supHide m:val="on"/>
                                <m:ctrlPr>
                                  <a:rPr lang="en-GB" sz="2200" i="1">
                                    <a:latin typeface="Cambria Math" panose="02040503050406030204" pitchFamily="18" charset="0"/>
                                  </a:rPr>
                                </m:ctrlPr>
                              </m:naryPr>
                              <m:sub/>
                              <m:sup/>
                              <m:e>
                                <m:sSubSup>
                                  <m:sSubSupPr>
                                    <m:ctrlPr>
                                      <a:rPr lang="en-GB" sz="2200" i="1">
                                        <a:latin typeface="Cambria Math" panose="02040503050406030204" pitchFamily="18" charset="0"/>
                                      </a:rPr>
                                    </m:ctrlPr>
                                  </m:sSubSupPr>
                                  <m:e>
                                    <m:r>
                                      <a:rPr lang="en-GB" sz="2200" i="1">
                                        <a:latin typeface="Cambria Math" panose="02040503050406030204" pitchFamily="18" charset="0"/>
                                      </a:rPr>
                                      <m:t>𝑑</m:t>
                                    </m:r>
                                  </m:e>
                                  <m:sub>
                                    <m:r>
                                      <a:rPr lang="en-GB" sz="2200" i="1">
                                        <a:latin typeface="Cambria Math" panose="02040503050406030204" pitchFamily="18" charset="0"/>
                                      </a:rPr>
                                      <m:t>𝑖</m:t>
                                    </m:r>
                                  </m:sub>
                                  <m:sup>
                                    <m:r>
                                      <a:rPr lang="en-GB" sz="2200" i="1">
                                        <a:latin typeface="Cambria Math" panose="02040503050406030204" pitchFamily="18" charset="0"/>
                                      </a:rPr>
                                      <m:t>2</m:t>
                                    </m:r>
                                  </m:sup>
                                </m:sSubSup>
                              </m:e>
                            </m:nary>
                            <m:r>
                              <a:rPr lang="en-GB" sz="2200" i="1">
                                <a:latin typeface="Cambria Math" panose="02040503050406030204" pitchFamily="18" charset="0"/>
                              </a:rPr>
                              <m:t>−</m:t>
                            </m:r>
                            <m:sSup>
                              <m:sSupPr>
                                <m:ctrlPr>
                                  <a:rPr lang="en-GB" sz="2200" i="1">
                                    <a:latin typeface="Cambria Math" panose="02040503050406030204" pitchFamily="18" charset="0"/>
                                  </a:rPr>
                                </m:ctrlPr>
                              </m:sSupPr>
                              <m:e>
                                <m:d>
                                  <m:dPr>
                                    <m:ctrlPr>
                                      <a:rPr lang="en-GB" sz="2200" i="1">
                                        <a:latin typeface="Cambria Math" panose="02040503050406030204" pitchFamily="18" charset="0"/>
                                      </a:rPr>
                                    </m:ctrlPr>
                                  </m:dPr>
                                  <m:e>
                                    <m:nary>
                                      <m:naryPr>
                                        <m:chr m:val="∑"/>
                                        <m:subHide m:val="on"/>
                                        <m:supHide m:val="on"/>
                                        <m:ctrlPr>
                                          <a:rPr lang="en-GB" sz="2200" i="1">
                                            <a:latin typeface="Cambria Math" panose="02040503050406030204" pitchFamily="18" charset="0"/>
                                          </a:rPr>
                                        </m:ctrlPr>
                                      </m:naryPr>
                                      <m:sub/>
                                      <m:sup/>
                                      <m:e>
                                        <m:sSub>
                                          <m:sSubPr>
                                            <m:ctrlPr>
                                              <a:rPr lang="en-GB" sz="2200" i="1">
                                                <a:latin typeface="Cambria Math" panose="02040503050406030204" pitchFamily="18" charset="0"/>
                                              </a:rPr>
                                            </m:ctrlPr>
                                          </m:sSubPr>
                                          <m:e>
                                            <m:r>
                                              <a:rPr lang="en-GB" sz="2200" i="1">
                                                <a:latin typeface="Cambria Math" panose="02040503050406030204" pitchFamily="18" charset="0"/>
                                              </a:rPr>
                                              <m:t>𝑑</m:t>
                                            </m:r>
                                          </m:e>
                                          <m:sub>
                                            <m:r>
                                              <a:rPr lang="en-GB" sz="2200" i="1">
                                                <a:latin typeface="Cambria Math" panose="02040503050406030204" pitchFamily="18" charset="0"/>
                                              </a:rPr>
                                              <m:t>𝑖</m:t>
                                            </m:r>
                                          </m:sub>
                                        </m:sSub>
                                      </m:e>
                                    </m:nary>
                                  </m:e>
                                </m:d>
                              </m:e>
                              <m:sup>
                                <m:r>
                                  <a:rPr lang="en-GB" sz="2200" i="1">
                                    <a:latin typeface="Cambria Math" panose="02040503050406030204" pitchFamily="18" charset="0"/>
                                  </a:rPr>
                                  <m:t>2</m:t>
                                </m:r>
                              </m:sup>
                            </m:sSup>
                          </m:num>
                          <m:den>
                            <m:r>
                              <a:rPr lang="en-GB" sz="2200" i="1">
                                <a:latin typeface="Cambria Math" panose="02040503050406030204" pitchFamily="18" charset="0"/>
                              </a:rPr>
                              <m:t>𝑛</m:t>
                            </m:r>
                            <m:d>
                              <m:dPr>
                                <m:ctrlPr>
                                  <a:rPr lang="en-GB" sz="2200" i="1">
                                    <a:latin typeface="Cambria Math" panose="02040503050406030204" pitchFamily="18" charset="0"/>
                                  </a:rPr>
                                </m:ctrlPr>
                              </m:dPr>
                              <m:e>
                                <m:r>
                                  <a:rPr lang="en-GB" sz="2200" i="1">
                                    <a:latin typeface="Cambria Math" panose="02040503050406030204" pitchFamily="18" charset="0"/>
                                  </a:rPr>
                                  <m:t>𝑛</m:t>
                                </m:r>
                                <m:r>
                                  <a:rPr lang="en-GB" sz="2200" i="1">
                                    <a:latin typeface="Cambria Math" panose="02040503050406030204" pitchFamily="18" charset="0"/>
                                  </a:rPr>
                                  <m:t>−1</m:t>
                                </m:r>
                              </m:e>
                            </m:d>
                          </m:den>
                        </m:f>
                      </m:e>
                    </m:rad>
                  </m:oMath>
                </a14:m>
                <a:endParaRPr lang="en-GB" sz="2200" dirty="0"/>
              </a:p>
              <a:p>
                <a:pPr lvl="2"/>
                <a:endParaRPr lang="en-GB" sz="1900" dirty="0"/>
              </a:p>
              <a:p>
                <a:pPr marL="914400" lvl="2" indent="0">
                  <a:buNone/>
                </a:pPr>
                <a:endParaRPr lang="en-GB" sz="2000" dirty="0"/>
              </a:p>
              <a:p>
                <a:pPr marL="457200" lvl="1" indent="0" algn="ctr">
                  <a:buNone/>
                </a:pPr>
                <a:endParaRPr lang="en-GB" sz="2200" dirty="0"/>
              </a:p>
              <a:p>
                <a:endParaRPr lang="LID4096" dirty="0"/>
              </a:p>
            </p:txBody>
          </p:sp>
        </mc:Choice>
        <mc:Fallback xmlns="">
          <p:sp>
            <p:nvSpPr>
              <p:cNvPr id="3" name="Content Placeholder 2">
                <a:extLst>
                  <a:ext uri="{FF2B5EF4-FFF2-40B4-BE49-F238E27FC236}">
                    <a16:creationId xmlns:a16="http://schemas.microsoft.com/office/drawing/2014/main" id="{5982059F-DB79-AD8C-9B3E-A001C5E1AF36}"/>
                  </a:ext>
                </a:extLst>
              </p:cNvPr>
              <p:cNvSpPr>
                <a:spLocks noGrp="1" noRot="1" noChangeAspect="1" noMove="1" noResize="1" noEditPoints="1" noAdjustHandles="1" noChangeArrowheads="1" noChangeShapeType="1" noTextEdit="1"/>
              </p:cNvSpPr>
              <p:nvPr>
                <p:ph idx="1"/>
              </p:nvPr>
            </p:nvSpPr>
            <p:spPr>
              <a:xfrm>
                <a:off x="1298714" y="1706218"/>
                <a:ext cx="10601738" cy="5151782"/>
              </a:xfrm>
              <a:blipFill>
                <a:blip r:embed="rId2"/>
                <a:stretch>
                  <a:fillRect l="-403" t="-710"/>
                </a:stretch>
              </a:blipFill>
            </p:spPr>
            <p:txBody>
              <a:bodyPr/>
              <a:lstStyle/>
              <a:p>
                <a:r>
                  <a:rPr lang="LID4096">
                    <a:noFill/>
                  </a:rPr>
                  <a:t> </a:t>
                </a:r>
              </a:p>
            </p:txBody>
          </p:sp>
        </mc:Fallback>
      </mc:AlternateContent>
    </p:spTree>
    <p:extLst>
      <p:ext uri="{BB962C8B-B14F-4D97-AF65-F5344CB8AC3E}">
        <p14:creationId xmlns:p14="http://schemas.microsoft.com/office/powerpoint/2010/main" val="912441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3. Testing of Hypothesis about Two Population Means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marL="0" indent="0" algn="just">
                  <a:buNone/>
                </a:pPr>
                <a:r>
                  <a:rPr lang="en-GB" sz="2300" b="1" dirty="0"/>
                  <a:t>Example 4: </a:t>
                </a:r>
                <a:r>
                  <a:rPr lang="en-GB" sz="2300" dirty="0"/>
                  <a:t>A random sample of size n1 = 25, taken from a normal population with a standard deviation σ1 =5 .2, has a mean </a:t>
                </a:r>
                <a14:m>
                  <m:oMath xmlns:m="http://schemas.openxmlformats.org/officeDocument/2006/math">
                    <m:sSub>
                      <m:sSubPr>
                        <m:ctrlPr>
                          <a:rPr lang="en-GB" sz="2300" i="1" smtClean="0">
                            <a:latin typeface="Cambria Math" panose="02040503050406030204" pitchFamily="18" charset="0"/>
                          </a:rPr>
                        </m:ctrlPr>
                      </m:sSubPr>
                      <m:e>
                        <m:acc>
                          <m:accPr>
                            <m:chr m:val="̅"/>
                            <m:ctrlPr>
                              <a:rPr lang="en-GB" sz="2300" i="1" smtClean="0">
                                <a:latin typeface="Cambria Math" panose="02040503050406030204" pitchFamily="18" charset="0"/>
                              </a:rPr>
                            </m:ctrlPr>
                          </m:accPr>
                          <m:e>
                            <m:r>
                              <a:rPr lang="en-GB" sz="2300" b="0" i="1" smtClean="0">
                                <a:latin typeface="Cambria Math" panose="02040503050406030204" pitchFamily="18" charset="0"/>
                              </a:rPr>
                              <m:t>𝑋</m:t>
                            </m:r>
                          </m:e>
                        </m:acc>
                      </m:e>
                      <m:sub>
                        <m:r>
                          <a:rPr lang="en-GB" sz="2300" b="0" i="1" smtClean="0">
                            <a:latin typeface="Cambria Math" panose="02040503050406030204" pitchFamily="18" charset="0"/>
                          </a:rPr>
                          <m:t>1</m:t>
                        </m:r>
                      </m:sub>
                    </m:sSub>
                  </m:oMath>
                </a14:m>
                <a:r>
                  <a:rPr lang="en-GB" sz="2300" dirty="0"/>
                  <a:t> = 81. A second random sample of size n2 = 36, taken from a diﬀerent normal population with a standard deviation σ2 =3 .4, has a mean </a:t>
                </a:r>
                <a14:m>
                  <m:oMath xmlns:m="http://schemas.openxmlformats.org/officeDocument/2006/math">
                    <m:sSub>
                      <m:sSubPr>
                        <m:ctrlPr>
                          <a:rPr lang="en-GB" sz="2300" i="1">
                            <a:latin typeface="Cambria Math" panose="02040503050406030204" pitchFamily="18" charset="0"/>
                          </a:rPr>
                        </m:ctrlPr>
                      </m:sSubPr>
                      <m:e>
                        <m:acc>
                          <m:accPr>
                            <m:chr m:val="̅"/>
                            <m:ctrlPr>
                              <a:rPr lang="en-GB" sz="2300" i="1">
                                <a:latin typeface="Cambria Math" panose="02040503050406030204" pitchFamily="18" charset="0"/>
                              </a:rPr>
                            </m:ctrlPr>
                          </m:accPr>
                          <m:e>
                            <m:r>
                              <a:rPr lang="en-GB" sz="2300" i="1">
                                <a:latin typeface="Cambria Math" panose="02040503050406030204" pitchFamily="18" charset="0"/>
                              </a:rPr>
                              <m:t>𝑋</m:t>
                            </m:r>
                          </m:e>
                        </m:acc>
                      </m:e>
                      <m:sub>
                        <m:r>
                          <a:rPr lang="en-GB" sz="2300" b="0" i="1" smtClean="0">
                            <a:latin typeface="Cambria Math" panose="02040503050406030204" pitchFamily="18" charset="0"/>
                          </a:rPr>
                          <m:t>2</m:t>
                        </m:r>
                      </m:sub>
                    </m:sSub>
                  </m:oMath>
                </a14:m>
                <a:r>
                  <a:rPr lang="en-GB" sz="2300" dirty="0"/>
                  <a:t> = 76. Test the hypothesis that μ1 = μ2 against the alternative, μ1 </a:t>
                </a:r>
                <a:br>
                  <a:rPr lang="en-GB" sz="2300" dirty="0"/>
                </a:br>
                <a14:m>
                  <m:oMath xmlns:m="http://schemas.openxmlformats.org/officeDocument/2006/math">
                    <m:r>
                      <a:rPr lang="en-GB" sz="2300" i="1" dirty="0" smtClean="0">
                        <a:latin typeface="Cambria Math" panose="02040503050406030204" pitchFamily="18" charset="0"/>
                        <a:ea typeface="Cambria Math" panose="02040503050406030204" pitchFamily="18" charset="0"/>
                      </a:rPr>
                      <m:t>≠</m:t>
                    </m:r>
                  </m:oMath>
                </a14:m>
                <a:r>
                  <a:rPr lang="en-GB" sz="2300" dirty="0"/>
                  <a:t> μ2.  </a:t>
                </a:r>
              </a:p>
              <a:p>
                <a:pPr marL="914400" lvl="2" indent="0">
                  <a:buNone/>
                </a:pPr>
                <a:endParaRPr lang="en-GB" sz="2000" dirty="0"/>
              </a:p>
              <a:p>
                <a:pPr marL="457200" lvl="1" indent="0" algn="ctr">
                  <a:buNone/>
                </a:pPr>
                <a:endParaRPr lang="en-GB" sz="2200" dirty="0"/>
              </a:p>
              <a:p>
                <a:endParaRPr lang="LID4096" dirty="0"/>
              </a:p>
            </p:txBody>
          </p:sp>
        </mc:Choice>
        <mc:Fallback xmlns="">
          <p:sp>
            <p:nvSpPr>
              <p:cNvPr id="3" name="Content Placeholder 2">
                <a:extLst>
                  <a:ext uri="{FF2B5EF4-FFF2-40B4-BE49-F238E27FC236}">
                    <a16:creationId xmlns:a16="http://schemas.microsoft.com/office/drawing/2014/main" id="{5982059F-DB79-AD8C-9B3E-A001C5E1AF36}"/>
                  </a:ext>
                </a:extLst>
              </p:cNvPr>
              <p:cNvSpPr>
                <a:spLocks noGrp="1" noRot="1" noChangeAspect="1" noMove="1" noResize="1" noEditPoints="1" noAdjustHandles="1" noChangeArrowheads="1" noChangeShapeType="1" noTextEdit="1"/>
              </p:cNvSpPr>
              <p:nvPr>
                <p:ph idx="1"/>
              </p:nvPr>
            </p:nvSpPr>
            <p:spPr>
              <a:xfrm>
                <a:off x="1298714" y="1706218"/>
                <a:ext cx="10601738" cy="5151782"/>
              </a:xfrm>
              <a:blipFill>
                <a:blip r:embed="rId2"/>
                <a:stretch>
                  <a:fillRect l="-805" t="-947" r="-863"/>
                </a:stretch>
              </a:blipFill>
            </p:spPr>
            <p:txBody>
              <a:bodyPr/>
              <a:lstStyle/>
              <a:p>
                <a:r>
                  <a:rPr lang="LID4096">
                    <a:noFill/>
                  </a:rPr>
                  <a:t> </a:t>
                </a:r>
              </a:p>
            </p:txBody>
          </p:sp>
        </mc:Fallback>
      </mc:AlternateContent>
    </p:spTree>
    <p:extLst>
      <p:ext uri="{BB962C8B-B14F-4D97-AF65-F5344CB8AC3E}">
        <p14:creationId xmlns:p14="http://schemas.microsoft.com/office/powerpoint/2010/main" val="3534199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3. Testing of Hypothesis about Two Population Means …</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marL="0" indent="0">
              <a:buNone/>
            </a:pPr>
            <a:r>
              <a:rPr lang="en-GB" sz="2300" b="1" dirty="0"/>
              <a:t>Example 5:  </a:t>
            </a:r>
            <a:r>
              <a:rPr lang="en-GB" sz="2300" dirty="0"/>
              <a:t> A manufacturer claims that the average tensile strength of thread A exceeds the average tensile strength of thread B by at least 12 kilograms. To test this claim, 50 pieces of each type of thread were tested under similar conditions. Type A thread had an average tensile strength of 86.7 kilograms with a standard deviation of 6.28 kilograms, while type B thread had an average tensile strength of 77.8 kilograms with a standard deviation of 5.61 kilograms. Test the manufacturer’s claim using a 0.05 level of signiﬁcance.</a:t>
            </a:r>
          </a:p>
          <a:p>
            <a:pPr marL="0" indent="0">
              <a:buNone/>
            </a:pPr>
            <a:r>
              <a:rPr lang="en-GB" sz="2300" b="1" dirty="0"/>
              <a:t> </a:t>
            </a:r>
          </a:p>
          <a:p>
            <a:pPr marL="914400" lvl="2" indent="0">
              <a:buNone/>
            </a:pPr>
            <a:endParaRPr lang="en-GB" sz="2000" dirty="0"/>
          </a:p>
          <a:p>
            <a:pPr marL="457200" lvl="1" indent="0" algn="ctr">
              <a:buNone/>
            </a:pPr>
            <a:endParaRPr lang="en-GB" sz="2200" dirty="0"/>
          </a:p>
          <a:p>
            <a:endParaRPr lang="LID4096" dirty="0"/>
          </a:p>
        </p:txBody>
      </p:sp>
    </p:spTree>
    <p:extLst>
      <p:ext uri="{BB962C8B-B14F-4D97-AF65-F5344CB8AC3E}">
        <p14:creationId xmlns:p14="http://schemas.microsoft.com/office/powerpoint/2010/main" val="1077621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3. Testing of Hypothesis about Two Population Means …</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marL="0" indent="0">
              <a:buNone/>
            </a:pPr>
            <a:r>
              <a:rPr lang="en-GB" sz="2300" b="1" dirty="0"/>
              <a:t>Example 6:  </a:t>
            </a:r>
            <a:r>
              <a:rPr lang="en-GB" sz="2300" dirty="0"/>
              <a:t>A study was conducted to see if increasing the substrate concentration has an appreciable eﬀect on the velocity of a chemical reaction. With a substrate concentration of 1.5 moles per liter, the reaction was run 15 times, with an average velocity of 7.5 micromoles per 30 minutes and a standard deviation of 1.5. With a substrate concentration of 2.0 moles per liter, 12 runs were made, yielding an average velocity of 8.8 micromoles per 30 minutes and a sample standard deviation of 1.2. Is there any reason to believe that this increase in substrate concentration causes an increase in the mean velocity of the reaction of more than 0.5 micromole per 30 minutes? Use a 0.01 level of signiﬁcance and assume the populations to be approximately normally distributed with equal variances.</a:t>
            </a:r>
          </a:p>
          <a:p>
            <a:pPr marL="0" indent="0">
              <a:buNone/>
            </a:pPr>
            <a:r>
              <a:rPr lang="en-GB" sz="2300" b="1" dirty="0"/>
              <a:t> </a:t>
            </a:r>
          </a:p>
          <a:p>
            <a:pPr marL="914400" lvl="2" indent="0">
              <a:buNone/>
            </a:pPr>
            <a:endParaRPr lang="en-GB" sz="2000" dirty="0"/>
          </a:p>
          <a:p>
            <a:pPr marL="457200" lvl="1" indent="0" algn="ctr">
              <a:buNone/>
            </a:pPr>
            <a:endParaRPr lang="en-GB" sz="2200" dirty="0"/>
          </a:p>
          <a:p>
            <a:endParaRPr lang="LID4096" dirty="0"/>
          </a:p>
        </p:txBody>
      </p:sp>
    </p:spTree>
    <p:extLst>
      <p:ext uri="{BB962C8B-B14F-4D97-AF65-F5344CB8AC3E}">
        <p14:creationId xmlns:p14="http://schemas.microsoft.com/office/powerpoint/2010/main" val="1172040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3. Testing of Hypothesis about Two Population Means …</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lnSpcReduction="10000"/>
          </a:bodyPr>
          <a:lstStyle/>
          <a:p>
            <a:pPr marL="0" indent="0">
              <a:buNone/>
            </a:pPr>
            <a:r>
              <a:rPr lang="en-GB" sz="2300" b="1"/>
              <a:t>Example 7:  </a:t>
            </a:r>
            <a:r>
              <a:rPr lang="en-GB" sz="2300"/>
              <a:t> </a:t>
            </a:r>
            <a:r>
              <a:rPr lang="en-GB" sz="2300" dirty="0"/>
              <a:t>Five samples of a ferrous-type substance were used to determine if there is a diﬀerence between a laboratory chemical analysis and an X-ray ﬂuorescence analysis of the iron content. Each sample was split into two subsamples and the two types of analysis were applied. Following are the coded data showing the iron content analysis:</a:t>
            </a:r>
          </a:p>
          <a:p>
            <a:pPr marL="0" indent="0">
              <a:buNone/>
            </a:pPr>
            <a:r>
              <a:rPr lang="en-GB" sz="2300" dirty="0"/>
              <a:t>                                          Sample</a:t>
            </a:r>
          </a:p>
          <a:p>
            <a:pPr marL="0" indent="0">
              <a:buNone/>
            </a:pPr>
            <a:r>
              <a:rPr lang="en-GB" sz="2300" dirty="0"/>
              <a:t>Analysis        1             2             3           4           5 </a:t>
            </a:r>
          </a:p>
          <a:p>
            <a:pPr marL="0" indent="0">
              <a:buNone/>
            </a:pPr>
            <a:r>
              <a:rPr lang="en-GB" sz="2300" dirty="0"/>
              <a:t>X-ray           2.0          2.0          2.3        2.1       2.4 </a:t>
            </a:r>
          </a:p>
          <a:p>
            <a:pPr marL="0" indent="0">
              <a:buNone/>
            </a:pPr>
            <a:r>
              <a:rPr lang="en-GB" sz="2300" dirty="0"/>
              <a:t>Chemical   2.2          1.9           2.5        2.3       2.4 </a:t>
            </a:r>
          </a:p>
          <a:p>
            <a:pPr marL="0" indent="0">
              <a:buNone/>
            </a:pPr>
            <a:r>
              <a:rPr lang="en-GB" sz="2300" dirty="0"/>
              <a:t>Assuming that the populations are normal, test at the 0.05 level of signiﬁcance whether the two methods of analysis give, on the average, the same result.</a:t>
            </a:r>
          </a:p>
          <a:p>
            <a:pPr marL="0" indent="0">
              <a:buNone/>
            </a:pPr>
            <a:r>
              <a:rPr lang="en-GB" sz="2300" b="1" dirty="0"/>
              <a:t> </a:t>
            </a:r>
          </a:p>
          <a:p>
            <a:pPr marL="914400" lvl="2" indent="0">
              <a:buNone/>
            </a:pPr>
            <a:endParaRPr lang="en-GB" sz="2000" dirty="0"/>
          </a:p>
          <a:p>
            <a:pPr marL="457200" lvl="1" indent="0" algn="ctr">
              <a:buNone/>
            </a:pPr>
            <a:endParaRPr lang="en-GB" sz="2200" dirty="0"/>
          </a:p>
          <a:p>
            <a:endParaRPr lang="LID4096" dirty="0"/>
          </a:p>
        </p:txBody>
      </p:sp>
    </p:spTree>
    <p:extLst>
      <p:ext uri="{BB962C8B-B14F-4D97-AF65-F5344CB8AC3E}">
        <p14:creationId xmlns:p14="http://schemas.microsoft.com/office/powerpoint/2010/main" val="1132140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D145-EF9A-2C39-969F-5A7CCAB11336}"/>
              </a:ext>
            </a:extLst>
          </p:cNvPr>
          <p:cNvSpPr>
            <a:spLocks noGrp="1"/>
          </p:cNvSpPr>
          <p:nvPr>
            <p:ph type="title"/>
          </p:nvPr>
        </p:nvSpPr>
        <p:spPr/>
        <p:txBody>
          <a:bodyPr/>
          <a:lstStyle/>
          <a:p>
            <a:r>
              <a:rPr lang="en-GB" dirty="0"/>
              <a:t>4. Testing of Hypothesis about Population Proportion</a:t>
            </a:r>
            <a:endParaRPr lang="LID4096" dirty="0"/>
          </a:p>
        </p:txBody>
      </p:sp>
      <p:sp>
        <p:nvSpPr>
          <p:cNvPr id="3" name="Content Placeholder 2">
            <a:extLst>
              <a:ext uri="{FF2B5EF4-FFF2-40B4-BE49-F238E27FC236}">
                <a16:creationId xmlns:a16="http://schemas.microsoft.com/office/drawing/2014/main" id="{37274DEE-2D90-09B7-D2D5-AC3FA117E338}"/>
              </a:ext>
            </a:extLst>
          </p:cNvPr>
          <p:cNvSpPr>
            <a:spLocks noGrp="1"/>
          </p:cNvSpPr>
          <p:nvPr>
            <p:ph idx="1"/>
          </p:nvPr>
        </p:nvSpPr>
        <p:spPr/>
        <p:txBody>
          <a:bodyPr>
            <a:normAutofit/>
          </a:bodyPr>
          <a:lstStyle/>
          <a:p>
            <a:r>
              <a:rPr lang="en-GB" dirty="0"/>
              <a:t>Applicable to situations that do not ask for the mean but rather to know what percentage of the population is in favour of a certain idea or concept such as:</a:t>
            </a:r>
          </a:p>
          <a:p>
            <a:pPr lvl="1"/>
            <a:r>
              <a:rPr lang="en-GB" dirty="0"/>
              <a:t>Will a new product be a success or not?</a:t>
            </a:r>
          </a:p>
          <a:p>
            <a:pPr lvl="1"/>
            <a:r>
              <a:rPr lang="en-GB" dirty="0"/>
              <a:t>Will this certain candidate win or not?</a:t>
            </a:r>
          </a:p>
        </p:txBody>
      </p:sp>
    </p:spTree>
    <p:extLst>
      <p:ext uri="{BB962C8B-B14F-4D97-AF65-F5344CB8AC3E}">
        <p14:creationId xmlns:p14="http://schemas.microsoft.com/office/powerpoint/2010/main" val="3942576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D145-EF9A-2C39-969F-5A7CCAB11336}"/>
              </a:ext>
            </a:extLst>
          </p:cNvPr>
          <p:cNvSpPr>
            <a:spLocks noGrp="1"/>
          </p:cNvSpPr>
          <p:nvPr>
            <p:ph type="title"/>
          </p:nvPr>
        </p:nvSpPr>
        <p:spPr/>
        <p:txBody>
          <a:bodyPr/>
          <a:lstStyle/>
          <a:p>
            <a:r>
              <a:rPr lang="en-GB" dirty="0"/>
              <a:t>4. Testing of Hypothesis about Population Proportion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274DEE-2D90-09B7-D2D5-AC3FA117E338}"/>
                  </a:ext>
                </a:extLst>
              </p:cNvPr>
              <p:cNvSpPr>
                <a:spLocks noGrp="1"/>
              </p:cNvSpPr>
              <p:nvPr>
                <p:ph idx="1"/>
              </p:nvPr>
            </p:nvSpPr>
            <p:spPr/>
            <p:txBody>
              <a:bodyPr>
                <a:normAutofit fontScale="92500" lnSpcReduction="10000"/>
              </a:bodyPr>
              <a:lstStyle/>
              <a:p>
                <a:r>
                  <a:rPr lang="en-GB" dirty="0"/>
                  <a:t>Test-statistic to be used</a:t>
                </a:r>
              </a:p>
              <a:p>
                <a:pPr lvl="1"/>
                <a:r>
                  <a:rPr lang="en-GB" dirty="0"/>
                  <a:t>Binomial variable X with p = p0 (preferably, when sample size is small)</a:t>
                </a:r>
              </a:p>
              <a:p>
                <a:pPr lvl="2"/>
                <a:r>
                  <a:rPr lang="en-GB" dirty="0"/>
                  <a:t>P = P(X ≤ x when p = p0) (H1: &lt;)</a:t>
                </a:r>
              </a:p>
              <a:p>
                <a:pPr lvl="2"/>
                <a:r>
                  <a:rPr lang="en-GB" dirty="0"/>
                  <a:t>P = P(X ≥ x when p = p0) (H1: &gt;)</a:t>
                </a:r>
              </a:p>
              <a:p>
                <a:pPr lvl="2"/>
                <a:r>
                  <a:rPr lang="en-GB" dirty="0"/>
                  <a:t>P =2P(X ≤ x when p = p0) if x &lt; </a:t>
                </a:r>
                <a:r>
                  <a:rPr lang="en-GB" dirty="0" err="1"/>
                  <a:t>npo</a:t>
                </a:r>
                <a:r>
                  <a:rPr lang="en-GB" dirty="0"/>
                  <a:t>  (H1: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a:t>
                </a:r>
              </a:p>
              <a:p>
                <a:pPr lvl="2"/>
                <a:r>
                  <a:rPr lang="en-GB" dirty="0"/>
                  <a:t>P =2P(X ≥ x when p = p0) if x &gt; </a:t>
                </a:r>
                <a:r>
                  <a:rPr lang="en-GB" dirty="0" err="1"/>
                  <a:t>npo</a:t>
                </a:r>
                <a:r>
                  <a:rPr lang="en-GB" dirty="0"/>
                  <a:t> (H1: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a:t>
                </a:r>
              </a:p>
              <a:p>
                <a:pPr lvl="1"/>
                <a:endParaRPr lang="en-GB" dirty="0"/>
              </a:p>
              <a:p>
                <a:endParaRPr lang="en-GB" dirty="0"/>
              </a:p>
              <a:p>
                <a:endParaRPr lang="en-GB" dirty="0"/>
              </a:p>
              <a:p>
                <a:endParaRPr lang="en-GB" dirty="0"/>
              </a:p>
              <a:p>
                <a:pPr lvl="1"/>
                <a:r>
                  <a:rPr lang="en-GB" dirty="0"/>
                  <a:t>When sample size is large i.e., </a:t>
                </a:r>
                <a:r>
                  <a:rPr lang="en-US" altLang="en-US" i="1" dirty="0"/>
                  <a:t>np</a:t>
                </a:r>
                <a:r>
                  <a:rPr lang="en-US" altLang="en-US" baseline="-25000" dirty="0"/>
                  <a:t>0</a:t>
                </a:r>
                <a:r>
                  <a:rPr lang="en-US" altLang="en-US" dirty="0"/>
                  <a:t>(1 – </a:t>
                </a:r>
                <a:r>
                  <a:rPr lang="en-US" altLang="en-US" i="1" dirty="0"/>
                  <a:t>p</a:t>
                </a:r>
                <a:r>
                  <a:rPr lang="en-US" altLang="en-US" baseline="-25000" dirty="0"/>
                  <a:t>0</a:t>
                </a:r>
                <a:r>
                  <a:rPr lang="en-US" altLang="en-US" dirty="0"/>
                  <a:t>) ≥ 10</a:t>
                </a:r>
              </a:p>
            </p:txBody>
          </p:sp>
        </mc:Choice>
        <mc:Fallback xmlns="">
          <p:sp>
            <p:nvSpPr>
              <p:cNvPr id="3" name="Content Placeholder 2">
                <a:extLst>
                  <a:ext uri="{FF2B5EF4-FFF2-40B4-BE49-F238E27FC236}">
                    <a16:creationId xmlns:a16="http://schemas.microsoft.com/office/drawing/2014/main" id="{37274DEE-2D90-09B7-D2D5-AC3FA117E338}"/>
                  </a:ext>
                </a:extLst>
              </p:cNvPr>
              <p:cNvSpPr>
                <a:spLocks noGrp="1" noRot="1" noChangeAspect="1" noMove="1" noResize="1" noEditPoints="1" noAdjustHandles="1" noChangeArrowheads="1" noChangeShapeType="1" noTextEdit="1"/>
              </p:cNvSpPr>
              <p:nvPr>
                <p:ph idx="1"/>
              </p:nvPr>
            </p:nvSpPr>
            <p:spPr>
              <a:blipFill>
                <a:blip r:embed="rId2"/>
                <a:stretch>
                  <a:fillRect l="-342" t="-1129"/>
                </a:stretch>
              </a:blipFill>
            </p:spPr>
            <p:txBody>
              <a:bodyPr/>
              <a:lstStyle/>
              <a:p>
                <a:r>
                  <a:rPr lang="LID4096">
                    <a:noFill/>
                  </a:rPr>
                  <a:t> </a:t>
                </a:r>
              </a:p>
            </p:txBody>
          </p:sp>
        </mc:Fallback>
      </mc:AlternateContent>
      <p:graphicFrame>
        <p:nvGraphicFramePr>
          <p:cNvPr id="4" name="Object 3">
            <a:extLst>
              <a:ext uri="{FF2B5EF4-FFF2-40B4-BE49-F238E27FC236}">
                <a16:creationId xmlns:a16="http://schemas.microsoft.com/office/drawing/2014/main" id="{51CB5CDF-FB13-007E-5667-57A2F4529394}"/>
              </a:ext>
            </a:extLst>
          </p:cNvPr>
          <p:cNvGraphicFramePr>
            <a:graphicFrameLocks noChangeAspect="1"/>
          </p:cNvGraphicFramePr>
          <p:nvPr/>
        </p:nvGraphicFramePr>
        <p:xfrm>
          <a:off x="4505739" y="4287455"/>
          <a:ext cx="1940201" cy="1000163"/>
        </p:xfrm>
        <a:graphic>
          <a:graphicData uri="http://schemas.openxmlformats.org/presentationml/2006/ole">
            <mc:AlternateContent xmlns:mc="http://schemas.openxmlformats.org/markup-compatibility/2006">
              <mc:Choice xmlns:v="urn:schemas-microsoft-com:vml" Requires="v">
                <p:oleObj name="Equation" r:id="rId3" imgW="1054100" imgH="596900" progId="Equation.3">
                  <p:embed/>
                </p:oleObj>
              </mc:Choice>
              <mc:Fallback>
                <p:oleObj name="Equation" r:id="rId3" imgW="1054100" imgH="596900" progId="Equation.3">
                  <p:embed/>
                  <p:pic>
                    <p:nvPicPr>
                      <p:cNvPr id="4" name="Object 3">
                        <a:extLst>
                          <a:ext uri="{FF2B5EF4-FFF2-40B4-BE49-F238E27FC236}">
                            <a16:creationId xmlns:a16="http://schemas.microsoft.com/office/drawing/2014/main" id="{51CB5CDF-FB13-007E-5667-57A2F45293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5739" y="4287455"/>
                        <a:ext cx="1940201" cy="10001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588569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D145-EF9A-2C39-969F-5A7CCAB11336}"/>
              </a:ext>
            </a:extLst>
          </p:cNvPr>
          <p:cNvSpPr>
            <a:spLocks noGrp="1"/>
          </p:cNvSpPr>
          <p:nvPr>
            <p:ph type="title"/>
          </p:nvPr>
        </p:nvSpPr>
        <p:spPr/>
        <p:txBody>
          <a:bodyPr/>
          <a:lstStyle/>
          <a:p>
            <a:r>
              <a:rPr lang="en-GB" dirty="0"/>
              <a:t>4. Testing of Hypothesis about Population Proportion…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274DEE-2D90-09B7-D2D5-AC3FA117E338}"/>
                  </a:ext>
                </a:extLst>
              </p:cNvPr>
              <p:cNvSpPr>
                <a:spLocks noGrp="1"/>
              </p:cNvSpPr>
              <p:nvPr>
                <p:ph idx="1"/>
              </p:nvPr>
            </p:nvSpPr>
            <p:spPr/>
            <p:txBody>
              <a:bodyPr>
                <a:normAutofit/>
              </a:bodyPr>
              <a:lstStyle/>
              <a:p>
                <a:pPr marL="457200" lvl="1" indent="0">
                  <a:buNone/>
                </a:pPr>
                <a:r>
                  <a:rPr lang="en-GB" b="1" dirty="0"/>
                  <a:t>P-value method</a:t>
                </a:r>
              </a:p>
              <a:p>
                <a:pPr lvl="1"/>
                <a:r>
                  <a:rPr lang="en-GB" dirty="0"/>
                  <a:t>Null and alternative hypothesis</a:t>
                </a:r>
              </a:p>
              <a:p>
                <a:pPr lvl="1"/>
                <a:r>
                  <a:rPr lang="en-GB" dirty="0"/>
                  <a:t>Choose a level of signiﬁcance equal to </a:t>
                </a:r>
                <a14:m>
                  <m:oMath xmlns:m="http://schemas.openxmlformats.org/officeDocument/2006/math">
                    <m:r>
                      <a:rPr lang="en-GB" i="1" dirty="0" smtClean="0">
                        <a:latin typeface="Cambria Math" panose="02040503050406030204" pitchFamily="18" charset="0"/>
                        <a:ea typeface="Cambria Math" panose="02040503050406030204" pitchFamily="18" charset="0"/>
                      </a:rPr>
                      <m:t>𝛼</m:t>
                    </m:r>
                  </m:oMath>
                </a14:m>
                <a:endParaRPr lang="en-GB" dirty="0"/>
              </a:p>
              <a:p>
                <a:pPr lvl="1"/>
                <a:r>
                  <a:rPr lang="en-GB" dirty="0"/>
                  <a:t>Test statistic: Binomial variable X with p = p0</a:t>
                </a:r>
              </a:p>
              <a:p>
                <a:pPr lvl="1"/>
                <a:r>
                  <a:rPr lang="en-GB" dirty="0"/>
                  <a:t>Computations: Find x, the number of successes, and compute the appropriate P-value. </a:t>
                </a:r>
              </a:p>
              <a:p>
                <a:pPr lvl="1"/>
                <a:r>
                  <a:rPr lang="en-GB" dirty="0"/>
                  <a:t>Decision: Draw appropriate conclusions based on the P-value. reject H0 in favour of H1 if the computed P-value is less than or equal to </a:t>
                </a:r>
                <a14:m>
                  <m:oMath xmlns:m="http://schemas.openxmlformats.org/officeDocument/2006/math">
                    <m:r>
                      <a:rPr lang="en-GB" i="1" dirty="0" smtClean="0">
                        <a:latin typeface="Cambria Math" panose="02040503050406030204" pitchFamily="18" charset="0"/>
                        <a:ea typeface="Cambria Math" panose="02040503050406030204" pitchFamily="18" charset="0"/>
                      </a:rPr>
                      <m:t>𝛼</m:t>
                    </m:r>
                  </m:oMath>
                </a14:m>
                <a:r>
                  <a:rPr lang="en-GB" dirty="0"/>
                  <a:t>. </a:t>
                </a:r>
                <a:endParaRPr lang="LID4096" dirty="0"/>
              </a:p>
            </p:txBody>
          </p:sp>
        </mc:Choice>
        <mc:Fallback xmlns="">
          <p:sp>
            <p:nvSpPr>
              <p:cNvPr id="3" name="Content Placeholder 2">
                <a:extLst>
                  <a:ext uri="{FF2B5EF4-FFF2-40B4-BE49-F238E27FC236}">
                    <a16:creationId xmlns:a16="http://schemas.microsoft.com/office/drawing/2014/main" id="{37274DEE-2D90-09B7-D2D5-AC3FA117E338}"/>
                  </a:ext>
                </a:extLst>
              </p:cNvPr>
              <p:cNvSpPr>
                <a:spLocks noGrp="1" noRot="1" noChangeAspect="1" noMove="1" noResize="1" noEditPoints="1" noAdjustHandles="1" noChangeArrowheads="1" noChangeShapeType="1" noTextEdit="1"/>
              </p:cNvSpPr>
              <p:nvPr>
                <p:ph idx="1"/>
              </p:nvPr>
            </p:nvSpPr>
            <p:spPr>
              <a:blipFill>
                <a:blip r:embed="rId2"/>
                <a:stretch>
                  <a:fillRect t="-484" r="-752"/>
                </a:stretch>
              </a:blipFill>
            </p:spPr>
            <p:txBody>
              <a:bodyPr/>
              <a:lstStyle/>
              <a:p>
                <a:r>
                  <a:rPr lang="LID4096">
                    <a:noFill/>
                  </a:rPr>
                  <a:t> </a:t>
                </a:r>
              </a:p>
            </p:txBody>
          </p:sp>
        </mc:Fallback>
      </mc:AlternateContent>
    </p:spTree>
    <p:extLst>
      <p:ext uri="{BB962C8B-B14F-4D97-AF65-F5344CB8AC3E}">
        <p14:creationId xmlns:p14="http://schemas.microsoft.com/office/powerpoint/2010/main" val="331313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4. Testing of Hypothesis about Population Proportion… </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a:lnSpc>
                <a:spcPct val="90000"/>
              </a:lnSpc>
              <a:spcBef>
                <a:spcPct val="50000"/>
              </a:spcBef>
              <a:buClrTx/>
              <a:buFontTx/>
              <a:buNone/>
            </a:pPr>
            <a:r>
              <a:rPr lang="en-GB" sz="2300" b="1" dirty="0"/>
              <a:t>Example 8:  </a:t>
            </a:r>
            <a:r>
              <a:rPr lang="en-GB" sz="2300" dirty="0"/>
              <a:t> </a:t>
            </a:r>
            <a:r>
              <a:rPr lang="en-US" altLang="en-US" sz="2400" dirty="0"/>
              <a:t>In 1997, 46% of Americans said they did not trust the media “when it comes to reporting the news fully, accurately and fairly”.  In a 2007 poll of 1010 adults nationwide, 525 stated they did not trust the media.  At the </a:t>
            </a:r>
            <a:r>
              <a:rPr lang="el-GR" altLang="en-US" sz="2400" i="1" dirty="0">
                <a:sym typeface="Symbol" panose="05050102010706020507" pitchFamily="18" charset="2"/>
              </a:rPr>
              <a:t>α </a:t>
            </a:r>
            <a:r>
              <a:rPr lang="en-US" altLang="en-US" sz="2400" dirty="0">
                <a:sym typeface="Symbol" panose="05050102010706020507" pitchFamily="18" charset="2"/>
              </a:rPr>
              <a:t>=</a:t>
            </a:r>
            <a:r>
              <a:rPr lang="el-GR" altLang="en-US" sz="2400" dirty="0">
                <a:sym typeface="Symbol" panose="05050102010706020507" pitchFamily="18" charset="2"/>
              </a:rPr>
              <a:t> </a:t>
            </a:r>
            <a:r>
              <a:rPr lang="en-US" altLang="en-US" sz="2400" dirty="0">
                <a:sym typeface="Symbol" panose="05050102010706020507" pitchFamily="18" charset="2"/>
              </a:rPr>
              <a:t>0.05 level of significance, is there evidence to support the claim that the percentage of Americans that do not trust the media to report fully and accurately has increased since 1997?</a:t>
            </a:r>
          </a:p>
          <a:p>
            <a:pPr marL="0" indent="0">
              <a:buNone/>
            </a:pPr>
            <a:r>
              <a:rPr lang="en-GB" sz="2300" b="1" dirty="0"/>
              <a:t> </a:t>
            </a:r>
          </a:p>
          <a:p>
            <a:pPr marL="914400" lvl="2" indent="0">
              <a:buNone/>
            </a:pPr>
            <a:endParaRPr lang="en-GB" sz="2000" dirty="0"/>
          </a:p>
          <a:p>
            <a:pPr marL="457200" lvl="1" indent="0" algn="ctr">
              <a:buNone/>
            </a:pPr>
            <a:endParaRPr lang="en-GB" sz="2200" dirty="0"/>
          </a:p>
          <a:p>
            <a:endParaRPr lang="LID4096" dirty="0"/>
          </a:p>
        </p:txBody>
      </p:sp>
    </p:spTree>
    <p:extLst>
      <p:ext uri="{BB962C8B-B14F-4D97-AF65-F5344CB8AC3E}">
        <p14:creationId xmlns:p14="http://schemas.microsoft.com/office/powerpoint/2010/main" val="1187070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4. Testing of Hypothesis about Population Proportion… </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a:lnSpc>
                <a:spcPct val="90000"/>
              </a:lnSpc>
              <a:spcBef>
                <a:spcPct val="50000"/>
              </a:spcBef>
              <a:buClrTx/>
              <a:buFontTx/>
              <a:buNone/>
            </a:pPr>
            <a:r>
              <a:rPr lang="en-GB" sz="2300" b="1" dirty="0"/>
              <a:t>Example 9:  </a:t>
            </a:r>
            <a:r>
              <a:rPr lang="en-GB" sz="2300" dirty="0"/>
              <a:t> </a:t>
            </a:r>
            <a:r>
              <a:rPr lang="en-GB" altLang="en-US" sz="2400" dirty="0"/>
              <a:t>A builder claims that heat pumps are installed in 70% of all homes being constructed today in the city of Richmond, Virginia. Would you agree with this claim if a random survey of new homes in this city showed that 8 out of 15 had heat pumps installed? Use a 0.10 level of signiﬁcance. </a:t>
            </a:r>
            <a:r>
              <a:rPr lang="en-GB" sz="2300" b="1" dirty="0"/>
              <a:t> </a:t>
            </a:r>
          </a:p>
          <a:p>
            <a:pPr marL="914400" lvl="2" indent="0">
              <a:buNone/>
            </a:pPr>
            <a:endParaRPr lang="en-GB" sz="2000" dirty="0"/>
          </a:p>
          <a:p>
            <a:pPr marL="457200" lvl="1" indent="0" algn="ctr">
              <a:buNone/>
            </a:pPr>
            <a:endParaRPr lang="en-GB" sz="2200" dirty="0"/>
          </a:p>
          <a:p>
            <a:endParaRPr lang="LID4096" dirty="0"/>
          </a:p>
        </p:txBody>
      </p:sp>
    </p:spTree>
    <p:extLst>
      <p:ext uri="{BB962C8B-B14F-4D97-AF65-F5344CB8AC3E}">
        <p14:creationId xmlns:p14="http://schemas.microsoft.com/office/powerpoint/2010/main" val="2053838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4. Testing of Hypothesis about Population Proportion: Two Populations</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a:lnSpc>
                <a:spcPct val="90000"/>
              </a:lnSpc>
              <a:spcBef>
                <a:spcPct val="50000"/>
              </a:spcBef>
              <a:buClrTx/>
            </a:pPr>
            <a:r>
              <a:rPr lang="en-GB" sz="2300" dirty="0"/>
              <a:t>Test-statistic to be used:</a:t>
            </a:r>
          </a:p>
          <a:p>
            <a:pPr>
              <a:lnSpc>
                <a:spcPct val="90000"/>
              </a:lnSpc>
              <a:spcBef>
                <a:spcPct val="50000"/>
              </a:spcBef>
              <a:buClrTx/>
            </a:pPr>
            <a:endParaRPr lang="en-GB" sz="2300" dirty="0"/>
          </a:p>
          <a:p>
            <a:pPr>
              <a:lnSpc>
                <a:spcPct val="90000"/>
              </a:lnSpc>
              <a:spcBef>
                <a:spcPct val="50000"/>
              </a:spcBef>
              <a:buClrTx/>
            </a:pPr>
            <a:endParaRPr lang="en-GB" sz="2300" dirty="0"/>
          </a:p>
          <a:p>
            <a:pPr lvl="1">
              <a:lnSpc>
                <a:spcPct val="90000"/>
              </a:lnSpc>
              <a:spcBef>
                <a:spcPct val="50000"/>
              </a:spcBef>
              <a:buClrTx/>
            </a:pPr>
            <a:r>
              <a:rPr lang="en-GB" sz="2100" dirty="0"/>
              <a:t>for large sample size</a:t>
            </a:r>
          </a:p>
          <a:p>
            <a:pPr marL="914400" lvl="2" indent="0">
              <a:buNone/>
            </a:pPr>
            <a:endParaRPr lang="en-GB" sz="2000" dirty="0"/>
          </a:p>
          <a:p>
            <a:pPr marL="457200" lvl="1" indent="0" algn="ctr">
              <a:buNone/>
            </a:pPr>
            <a:endParaRPr lang="en-GB" sz="2200" dirty="0"/>
          </a:p>
          <a:p>
            <a:endParaRPr lang="LID4096" dirty="0"/>
          </a:p>
        </p:txBody>
      </p:sp>
      <p:pic>
        <p:nvPicPr>
          <p:cNvPr id="5" name="Picture 4">
            <a:extLst>
              <a:ext uri="{FF2B5EF4-FFF2-40B4-BE49-F238E27FC236}">
                <a16:creationId xmlns:a16="http://schemas.microsoft.com/office/drawing/2014/main" id="{951D155D-DD54-5CF5-81CB-DFF6F3BA50F0}"/>
              </a:ext>
            </a:extLst>
          </p:cNvPr>
          <p:cNvPicPr>
            <a:picLocks noChangeAspect="1"/>
          </p:cNvPicPr>
          <p:nvPr/>
        </p:nvPicPr>
        <p:blipFill>
          <a:blip r:embed="rId2"/>
          <a:stretch>
            <a:fillRect/>
          </a:stretch>
        </p:blipFill>
        <p:spPr>
          <a:xfrm>
            <a:off x="4288527" y="2209800"/>
            <a:ext cx="1971675" cy="609600"/>
          </a:xfrm>
          <a:prstGeom prst="rect">
            <a:avLst/>
          </a:prstGeom>
        </p:spPr>
      </p:pic>
    </p:spTree>
    <p:extLst>
      <p:ext uri="{BB962C8B-B14F-4D97-AF65-F5344CB8AC3E}">
        <p14:creationId xmlns:p14="http://schemas.microsoft.com/office/powerpoint/2010/main" val="3588983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C282-B5BD-17E0-A9E2-1C8EFDDFEE62}"/>
              </a:ext>
            </a:extLst>
          </p:cNvPr>
          <p:cNvSpPr>
            <a:spLocks noGrp="1"/>
          </p:cNvSpPr>
          <p:nvPr>
            <p:ph type="title"/>
          </p:nvPr>
        </p:nvSpPr>
        <p:spPr>
          <a:xfrm>
            <a:off x="2080593" y="425328"/>
            <a:ext cx="8812694" cy="1280890"/>
          </a:xfrm>
        </p:spPr>
        <p:txBody>
          <a:bodyPr/>
          <a:lstStyle/>
          <a:p>
            <a:r>
              <a:rPr lang="en-GB" dirty="0"/>
              <a:t>4. Testing of Hypothesis about Population Proportion: Two Populations</a:t>
            </a:r>
            <a:endParaRPr lang="LID4096" dirty="0"/>
          </a:p>
        </p:txBody>
      </p:sp>
      <p:sp>
        <p:nvSpPr>
          <p:cNvPr id="3" name="Content Placeholder 2">
            <a:extLst>
              <a:ext uri="{FF2B5EF4-FFF2-40B4-BE49-F238E27FC236}">
                <a16:creationId xmlns:a16="http://schemas.microsoft.com/office/drawing/2014/main" id="{5982059F-DB79-AD8C-9B3E-A001C5E1AF36}"/>
              </a:ext>
            </a:extLst>
          </p:cNvPr>
          <p:cNvSpPr>
            <a:spLocks noGrp="1"/>
          </p:cNvSpPr>
          <p:nvPr>
            <p:ph idx="1"/>
          </p:nvPr>
        </p:nvSpPr>
        <p:spPr>
          <a:xfrm>
            <a:off x="1298714" y="1706218"/>
            <a:ext cx="10601738" cy="5151782"/>
          </a:xfrm>
        </p:spPr>
        <p:txBody>
          <a:bodyPr>
            <a:normAutofit/>
          </a:bodyPr>
          <a:lstStyle/>
          <a:p>
            <a:pPr>
              <a:lnSpc>
                <a:spcPct val="90000"/>
              </a:lnSpc>
              <a:spcBef>
                <a:spcPct val="50000"/>
              </a:spcBef>
              <a:buClrTx/>
            </a:pPr>
            <a:r>
              <a:rPr lang="en-GB" sz="2300" b="1" dirty="0"/>
              <a:t>Example 10: </a:t>
            </a:r>
            <a:r>
              <a:rPr lang="en-GB" sz="2400" dirty="0"/>
              <a:t>A vote is to be taken among the residents of a town and the surrounding county to determine whether a proposed chemical plant should be constructed. The construction site is within the town limits, and for this reason many voters in the county believe that the proposal will pass because of the large proportion of town voters who favour the construction. To determine if there is a signiﬁcant diﬀerence in the proportions of town voters and county voters favouring the proposal, a poll is taken. If 120 of 200 town voters favour the proposal and 240 of 500 county residents favour it, would you agree that the proportion of town voters favouring the proposal is higher than the proportion of county voters? Use an α =0 .05 level of signiﬁcance. </a:t>
            </a:r>
          </a:p>
          <a:p>
            <a:pPr marL="914400" lvl="2" indent="0">
              <a:buNone/>
            </a:pPr>
            <a:endParaRPr lang="en-GB" sz="2000" dirty="0"/>
          </a:p>
          <a:p>
            <a:pPr marL="457200" lvl="1" indent="0" algn="ctr">
              <a:buNone/>
            </a:pPr>
            <a:endParaRPr lang="en-GB" sz="2200" dirty="0"/>
          </a:p>
          <a:p>
            <a:endParaRPr lang="LID4096" dirty="0"/>
          </a:p>
        </p:txBody>
      </p:sp>
    </p:spTree>
    <p:extLst>
      <p:ext uri="{BB962C8B-B14F-4D97-AF65-F5344CB8AC3E}">
        <p14:creationId xmlns:p14="http://schemas.microsoft.com/office/powerpoint/2010/main" val="75837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0B22-0765-D188-CC0F-64F376891DF9}"/>
              </a:ext>
            </a:extLst>
          </p:cNvPr>
          <p:cNvSpPr>
            <a:spLocks noGrp="1"/>
          </p:cNvSpPr>
          <p:nvPr>
            <p:ph type="title"/>
          </p:nvPr>
        </p:nvSpPr>
        <p:spPr/>
        <p:txBody>
          <a:bodyPr/>
          <a:lstStyle/>
          <a:p>
            <a:r>
              <a:rPr lang="en-GB" dirty="0"/>
              <a:t>References</a:t>
            </a:r>
            <a:endParaRPr lang="LID4096" dirty="0"/>
          </a:p>
        </p:txBody>
      </p:sp>
      <p:sp>
        <p:nvSpPr>
          <p:cNvPr id="3" name="Content Placeholder 2">
            <a:extLst>
              <a:ext uri="{FF2B5EF4-FFF2-40B4-BE49-F238E27FC236}">
                <a16:creationId xmlns:a16="http://schemas.microsoft.com/office/drawing/2014/main" id="{99D6AF19-6970-E804-A86D-580278B9EBE8}"/>
              </a:ext>
            </a:extLst>
          </p:cNvPr>
          <p:cNvSpPr>
            <a:spLocks noGrp="1"/>
          </p:cNvSpPr>
          <p:nvPr>
            <p:ph idx="1"/>
          </p:nvPr>
        </p:nvSpPr>
        <p:spPr/>
        <p:txBody>
          <a:bodyPr/>
          <a:lstStyle/>
          <a:p>
            <a:r>
              <a:rPr lang="en-GB" dirty="0"/>
              <a:t>Chapter 10, Introduction to statistics, Ronald E. Walpole.</a:t>
            </a:r>
            <a:endParaRPr lang="LID4096" dirty="0"/>
          </a:p>
          <a:p>
            <a:endParaRPr lang="LID4096" dirty="0"/>
          </a:p>
        </p:txBody>
      </p:sp>
    </p:spTree>
    <p:extLst>
      <p:ext uri="{BB962C8B-B14F-4D97-AF65-F5344CB8AC3E}">
        <p14:creationId xmlns:p14="http://schemas.microsoft.com/office/powerpoint/2010/main" val="338262036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383</TotalTime>
  <Words>2171</Words>
  <Application>Microsoft Office PowerPoint</Application>
  <PresentationFormat>Widescreen</PresentationFormat>
  <Paragraphs>150</Paragraphs>
  <Slides>28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6" baseType="lpstr">
      <vt:lpstr>Arial</vt:lpstr>
      <vt:lpstr>Cambria Math</vt:lpstr>
      <vt:lpstr>Century Gothic</vt:lpstr>
      <vt:lpstr>Google Sans</vt:lpstr>
      <vt:lpstr>Symbol</vt:lpstr>
      <vt:lpstr>Wingdings 3</vt:lpstr>
      <vt:lpstr>Wisp</vt:lpstr>
      <vt:lpstr>Equation</vt:lpstr>
      <vt:lpstr>Testing of Hypothesis</vt:lpstr>
      <vt:lpstr>Outline</vt:lpstr>
      <vt:lpstr>1. Introduction to testing of hypothesis</vt:lpstr>
      <vt:lpstr>1. Introduction to testing of hypothesis …</vt:lpstr>
      <vt:lpstr>1. Introduction to testing of hypothesis …</vt:lpstr>
      <vt:lpstr>1. Introduction to testing of hypothesis …</vt:lpstr>
      <vt:lpstr>1. Introduction to testing of hypothesis …</vt:lpstr>
      <vt:lpstr>1. Introduction to testing of hypothesis …</vt:lpstr>
      <vt:lpstr>1. Introduction to testing of hypothesis …</vt:lpstr>
      <vt:lpstr>2. Testing of Hypothesis about Population Mean</vt:lpstr>
      <vt:lpstr>2. Testing of Hypothesis about Population Mean …</vt:lpstr>
      <vt:lpstr>2. Testing of Hypothesis about Population Mean …</vt:lpstr>
      <vt:lpstr>2. Testing of Hypothesis about Population Mean …</vt:lpstr>
      <vt:lpstr>2. Testing of Hypothesis about Population Mean …</vt:lpstr>
      <vt:lpstr>3. Testing of Hypothesis about Two Population Means</vt:lpstr>
      <vt:lpstr>3. Testing of Hypothesis about Two Population Means …</vt:lpstr>
      <vt:lpstr>3. Testing of Hypothesis about Two Population Means …</vt:lpstr>
      <vt:lpstr>3. Testing of Hypothesis about Two Population Means …</vt:lpstr>
      <vt:lpstr>3. Testing of Hypothesis about Two Population Means …</vt:lpstr>
      <vt:lpstr>3. Testing of Hypothesis about Two Population Means …</vt:lpstr>
      <vt:lpstr>4. Testing of Hypothesis about Population Proportion</vt:lpstr>
      <vt:lpstr>4. Testing of Hypothesis about Population Proportion</vt:lpstr>
      <vt:lpstr>4. Testing of Hypothesis about Population Proportion…     </vt:lpstr>
      <vt:lpstr>4. Testing of Hypothesis about Population Proportion… </vt:lpstr>
      <vt:lpstr>4. Testing of Hypothesis about Population Proportion… </vt:lpstr>
      <vt:lpstr>4. Testing of Hypothesis about Population Proportion: Two Populations</vt:lpstr>
      <vt:lpstr>4. Testing of Hypothesis about Population Proportion: Two Populations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of Hypothesis</dc:title>
  <dc:creator>Basharat Mahmood</dc:creator>
  <cp:lastModifiedBy>Basharat Mahmood</cp:lastModifiedBy>
  <cp:revision>92</cp:revision>
  <dcterms:created xsi:type="dcterms:W3CDTF">2023-03-28T03:51:45Z</dcterms:created>
  <dcterms:modified xsi:type="dcterms:W3CDTF">2024-04-29T09:18:23Z</dcterms:modified>
</cp:coreProperties>
</file>