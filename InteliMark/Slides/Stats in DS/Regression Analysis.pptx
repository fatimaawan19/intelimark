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7" r:id="rId15"/>
    <p:sldId id="288" r:id="rId16"/>
    <p:sldId id="272" r:id="rId17"/>
    <p:sldId id="269" r:id="rId18"/>
    <p:sldId id="289" r:id="rId19"/>
    <p:sldId id="290" r:id="rId20"/>
    <p:sldId id="291" r:id="rId21"/>
    <p:sldId id="283" r:id="rId22"/>
    <p:sldId id="284" r:id="rId23"/>
    <p:sldId id="285" r:id="rId24"/>
    <p:sldId id="286" r:id="rId25"/>
    <p:sldId id="292" r:id="rId26"/>
    <p:sldId id="293" r:id="rId27"/>
    <p:sldId id="294" r:id="rId28"/>
    <p:sldId id="256" r:id="rId29"/>
    <p:sldId id="297" r:id="rId30"/>
    <p:sldId id="298" r:id="rId31"/>
    <p:sldId id="299" r:id="rId32"/>
    <p:sldId id="300" r:id="rId33"/>
    <p:sldId id="295" r:id="rId34"/>
    <p:sldId id="296" r:id="rId35"/>
  </p:sldIdLst>
  <p:sldSz cx="6070600" cy="4552950"/>
  <p:notesSz cx="6070600" cy="4552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>
      <p:cViewPr varScale="1">
        <p:scale>
          <a:sx n="101" d="100"/>
          <a:sy n="101" d="100"/>
        </p:scale>
        <p:origin x="154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630488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438525" y="0"/>
            <a:ext cx="2630488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94A3C-3A1E-422A-8049-DC9FBBD8F650}" type="datetimeFigureOut">
              <a:rPr lang="LID4096" smtClean="0"/>
              <a:t>12/11/2023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11363" y="569913"/>
            <a:ext cx="2047875" cy="1535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06425" y="2190750"/>
            <a:ext cx="4857750" cy="1793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324350"/>
            <a:ext cx="2630488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438525" y="4324350"/>
            <a:ext cx="2630488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E253A-DF7A-4DD0-9605-A16802131C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108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E253A-DF7A-4DD0-9605-A16802131C03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799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A141CC1C-60E0-73B7-44B3-5D1314742B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A325CE-1710-41A4-8149-25A3CA8E9C97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59097737-4270-7667-BFBC-C987E546B8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0BE64D1-36EA-175D-BC55-9A19ECEAD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558" y="0"/>
            <a:ext cx="1111827" cy="37653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5846" y="1690747"/>
            <a:ext cx="134186" cy="203619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1885" y="0"/>
            <a:ext cx="10160" cy="4514850"/>
          </a:xfrm>
          <a:custGeom>
            <a:avLst/>
            <a:gdLst/>
            <a:ahLst/>
            <a:cxnLst/>
            <a:rect l="l" t="t" r="r" b="b"/>
            <a:pathLst>
              <a:path w="10159" h="4514850">
                <a:moveTo>
                  <a:pt x="0" y="0"/>
                </a:moveTo>
                <a:lnTo>
                  <a:pt x="9584" y="0"/>
                </a:lnTo>
                <a:lnTo>
                  <a:pt x="9584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40581" y="4015086"/>
            <a:ext cx="0" cy="499745"/>
          </a:xfrm>
          <a:custGeom>
            <a:avLst/>
            <a:gdLst/>
            <a:ahLst/>
            <a:cxnLst/>
            <a:rect l="l" t="t" r="r" b="b"/>
            <a:pathLst>
              <a:path h="499745">
                <a:moveTo>
                  <a:pt x="0" y="499444"/>
                </a:moveTo>
                <a:lnTo>
                  <a:pt x="0" y="0"/>
                </a:lnTo>
              </a:path>
            </a:pathLst>
          </a:custGeom>
          <a:ln w="95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076713" y="3995877"/>
            <a:ext cx="0" cy="518795"/>
          </a:xfrm>
          <a:custGeom>
            <a:avLst/>
            <a:gdLst/>
            <a:ahLst/>
            <a:cxnLst/>
            <a:rect l="l" t="t" r="r" b="b"/>
            <a:pathLst>
              <a:path h="518795">
                <a:moveTo>
                  <a:pt x="0" y="518654"/>
                </a:moveTo>
                <a:lnTo>
                  <a:pt x="0" y="0"/>
                </a:lnTo>
              </a:path>
            </a:pathLst>
          </a:custGeom>
          <a:ln w="19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067129" y="0"/>
            <a:ext cx="10160" cy="1422400"/>
          </a:xfrm>
          <a:custGeom>
            <a:avLst/>
            <a:gdLst/>
            <a:ahLst/>
            <a:cxnLst/>
            <a:rect l="l" t="t" r="r" b="b"/>
            <a:pathLst>
              <a:path w="10160" h="1422400">
                <a:moveTo>
                  <a:pt x="0" y="0"/>
                </a:moveTo>
                <a:lnTo>
                  <a:pt x="9821" y="0"/>
                </a:lnTo>
                <a:lnTo>
                  <a:pt x="9821" y="1421815"/>
                </a:lnTo>
                <a:lnTo>
                  <a:pt x="0" y="14218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526" y="1335478"/>
            <a:ext cx="2823210" cy="97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6E707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2549652"/>
            <a:ext cx="4253865" cy="1138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B4B4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6E707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4B4B4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6E707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847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29629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6E707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809" y="216211"/>
            <a:ext cx="4705082" cy="650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6E707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057" y="966261"/>
            <a:ext cx="5118203" cy="290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B4B4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4234243"/>
            <a:ext cx="1944624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B191-B906-C14B-BD7F-DD593F18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57" y="1133475"/>
            <a:ext cx="4705082" cy="553998"/>
          </a:xfrm>
        </p:spPr>
        <p:txBody>
          <a:bodyPr/>
          <a:lstStyle/>
          <a:p>
            <a:r>
              <a:rPr lang="en-GB" sz="3600"/>
              <a:t>Regression Analysis</a:t>
            </a:r>
            <a:endParaRPr lang="LID4096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E40AE-DC10-5054-3FBE-519C014D9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057" y="2733675"/>
            <a:ext cx="5118203" cy="646331"/>
          </a:xfrm>
        </p:spPr>
        <p:txBody>
          <a:bodyPr/>
          <a:lstStyle/>
          <a:p>
            <a:r>
              <a:rPr lang="en-GB" sz="1400" dirty="0"/>
              <a:t>Dr. Basharat Mahmood</a:t>
            </a:r>
          </a:p>
          <a:p>
            <a:r>
              <a:rPr lang="en-GB" sz="1400" dirty="0"/>
              <a:t>Department of Computer Science</a:t>
            </a:r>
          </a:p>
          <a:p>
            <a:r>
              <a:rPr lang="en-GB" sz="1400" dirty="0"/>
              <a:t>COMSATS University Islamabad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93633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3500" y="78561"/>
            <a:ext cx="4705082" cy="650319"/>
          </a:xfrm>
          <a:prstGeom prst="rect">
            <a:avLst/>
          </a:prstGeom>
        </p:spPr>
        <p:txBody>
          <a:bodyPr vert="horz" wrap="square" lIns="0" tIns="36229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sz="1800" spc="-10" dirty="0">
                <a:solidFill>
                  <a:srgbClr val="6B6E75"/>
                </a:solidFill>
              </a:rPr>
              <a:t>REGRESSION</a:t>
            </a:r>
            <a:r>
              <a:rPr lang="en-GB" sz="1800" spc="-10" dirty="0">
                <a:solidFill>
                  <a:srgbClr val="6B6E75"/>
                </a:solidFill>
              </a:rPr>
              <a:t> ANALYSIS</a:t>
            </a:r>
            <a:endParaRPr sz="1800" dirty="0"/>
          </a:p>
        </p:txBody>
      </p:sp>
      <p:sp>
        <p:nvSpPr>
          <p:cNvPr id="8" name="object 8"/>
          <p:cNvSpPr txBox="1"/>
          <p:nvPr/>
        </p:nvSpPr>
        <p:spPr>
          <a:xfrm>
            <a:off x="304385" y="828675"/>
            <a:ext cx="5461830" cy="3455946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buSzTx/>
            </a:pPr>
            <a:r>
              <a:rPr lang="en-US" alt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Regression analysis </a:t>
            </a: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is used to:</a:t>
            </a:r>
          </a:p>
          <a:p>
            <a:pPr marL="285750" lvl="2" indent="-285750">
              <a:lnSpc>
                <a:spcPct val="9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 Predict the value of a dependent variable based on the value of at least one independent variable</a:t>
            </a:r>
          </a:p>
          <a:p>
            <a:pPr marL="285750" lvl="1" indent="-285750">
              <a:lnSpc>
                <a:spcPct val="9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Explain the impact of changes in an independent variable on the dependent variable</a:t>
            </a:r>
          </a:p>
          <a:p>
            <a:pPr marL="285750" lvl="1" indent="-285750"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Provides an equation to be used for estimating the value of dependent variable against some known value of independent variable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SzTx/>
            </a:pPr>
            <a:r>
              <a:rPr lang="en-US" alt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Dependent variable: </a:t>
            </a: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the variable we wish to predict or explain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SzTx/>
            </a:pPr>
            <a:r>
              <a:rPr lang="en-US" altLang="en-US" sz="17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Independent variable: </a:t>
            </a:r>
            <a:r>
              <a:rPr lang="en-US" altLang="en-US" sz="1700" dirty="0">
                <a:solidFill>
                  <a:srgbClr val="3A3A3A"/>
                </a:solidFill>
                <a:latin typeface="Times New Roman"/>
                <a:cs typeface="Times New Roman"/>
              </a:rPr>
              <a:t>the variable used to predict or explain the dependent variable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29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solidFill>
                  <a:srgbClr val="757980"/>
                </a:solidFill>
              </a:rPr>
              <a:t>UTILITY</a:t>
            </a:r>
            <a:r>
              <a:rPr sz="1800" spc="210" dirty="0">
                <a:solidFill>
                  <a:srgbClr val="757980"/>
                </a:solidFill>
              </a:rPr>
              <a:t> </a:t>
            </a:r>
            <a:r>
              <a:rPr sz="1800" spc="55" dirty="0">
                <a:solidFill>
                  <a:srgbClr val="757980"/>
                </a:solidFill>
              </a:rPr>
              <a:t>OF</a:t>
            </a:r>
            <a:r>
              <a:rPr sz="1800" spc="-10" dirty="0">
                <a:solidFill>
                  <a:srgbClr val="757980"/>
                </a:solidFill>
              </a:rPr>
              <a:t> REGRESSION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353500" y="966261"/>
            <a:ext cx="4058920" cy="122084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8595" indent="-176530">
              <a:lnSpc>
                <a:spcPct val="100000"/>
              </a:lnSpc>
              <a:spcBef>
                <a:spcPts val="400"/>
              </a:spcBef>
              <a:buClr>
                <a:srgbClr val="F49352"/>
              </a:buClr>
              <a:buChar char="o"/>
              <a:tabLst>
                <a:tab pos="189230" algn="l"/>
              </a:tabLst>
            </a:pPr>
            <a:r>
              <a:rPr lang="en-US" sz="1700" spc="50" dirty="0">
                <a:solidFill>
                  <a:srgbClr val="3A3A3A"/>
                </a:solidFill>
                <a:latin typeface="Times New Roman"/>
                <a:cs typeface="Times New Roman"/>
              </a:rPr>
              <a:t>Degree</a:t>
            </a:r>
            <a:r>
              <a:rPr lang="en-US" sz="1700" spc="-20" dirty="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lang="en-US" sz="1750" dirty="0">
                <a:solidFill>
                  <a:srgbClr val="3A3A3A"/>
                </a:solidFill>
                <a:latin typeface="Times New Roman"/>
                <a:cs typeface="Times New Roman"/>
              </a:rPr>
              <a:t>&amp;</a:t>
            </a:r>
            <a:r>
              <a:rPr lang="en-US" sz="1750" spc="10" dirty="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lang="en-US" sz="1700" spc="90" dirty="0">
                <a:solidFill>
                  <a:srgbClr val="4B4B4B"/>
                </a:solidFill>
                <a:latin typeface="Times New Roman"/>
                <a:cs typeface="Times New Roman"/>
              </a:rPr>
              <a:t>Nature</a:t>
            </a:r>
            <a:r>
              <a:rPr lang="en-US" sz="1700" spc="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4B4B4B"/>
                </a:solidFill>
                <a:latin typeface="Times New Roman"/>
                <a:cs typeface="Times New Roman"/>
              </a:rPr>
              <a:t>of</a:t>
            </a:r>
            <a:r>
              <a:rPr lang="en-US" sz="1700" spc="60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lang="en-US" sz="1700" spc="50" dirty="0">
                <a:solidFill>
                  <a:srgbClr val="4B4B4B"/>
                </a:solidFill>
                <a:latin typeface="Times New Roman"/>
                <a:cs typeface="Times New Roman"/>
              </a:rPr>
              <a:t>relationship</a:t>
            </a:r>
            <a:endParaRPr sz="1700" dirty="0">
              <a:latin typeface="Times New Roman"/>
              <a:cs typeface="Times New Roman"/>
            </a:endParaRPr>
          </a:p>
          <a:p>
            <a:pPr marL="189230" indent="-177165">
              <a:lnSpc>
                <a:spcPct val="100000"/>
              </a:lnSpc>
              <a:spcBef>
                <a:spcPts val="305"/>
              </a:spcBef>
              <a:buClr>
                <a:srgbClr val="F49352"/>
              </a:buClr>
              <a:buChar char="o"/>
              <a:tabLst>
                <a:tab pos="189865" algn="l"/>
              </a:tabLst>
            </a:pPr>
            <a:r>
              <a:rPr lang="en-GB" sz="1700" spc="40" dirty="0">
                <a:solidFill>
                  <a:srgbClr val="3A3A3A"/>
                </a:solidFill>
                <a:latin typeface="Times New Roman"/>
                <a:cs typeface="Times New Roman"/>
              </a:rPr>
              <a:t>Forecasting</a:t>
            </a:r>
            <a:endParaRPr sz="1700" dirty="0">
              <a:latin typeface="Times New Roman"/>
              <a:cs typeface="Times New Roman"/>
            </a:endParaRPr>
          </a:p>
          <a:p>
            <a:pPr marL="191135" indent="-179070">
              <a:lnSpc>
                <a:spcPct val="100000"/>
              </a:lnSpc>
              <a:spcBef>
                <a:spcPts val="250"/>
              </a:spcBef>
              <a:buClr>
                <a:srgbClr val="F49352"/>
              </a:buClr>
              <a:buChar char="o"/>
              <a:tabLst>
                <a:tab pos="191770" algn="l"/>
              </a:tabLst>
            </a:pPr>
            <a:r>
              <a:rPr lang="en-GB" sz="1700" dirty="0">
                <a:solidFill>
                  <a:srgbClr val="232123"/>
                </a:solidFill>
                <a:latin typeface="Times New Roman"/>
                <a:cs typeface="Times New Roman"/>
              </a:rPr>
              <a:t>Making data-driven decisions</a:t>
            </a:r>
          </a:p>
          <a:p>
            <a:pPr marL="191135" indent="-179070">
              <a:lnSpc>
                <a:spcPct val="100000"/>
              </a:lnSpc>
              <a:spcBef>
                <a:spcPts val="250"/>
              </a:spcBef>
              <a:buClr>
                <a:srgbClr val="F49352"/>
              </a:buClr>
              <a:buChar char="o"/>
              <a:tabLst>
                <a:tab pos="191770" algn="l"/>
              </a:tabLst>
            </a:pPr>
            <a:r>
              <a:rPr lang="en-GB" sz="1700" dirty="0">
                <a:latin typeface="Times New Roman"/>
                <a:cs typeface="Times New Roman"/>
              </a:rPr>
              <a:t>Recognizing opportunities to improve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717" y="211729"/>
            <a:ext cx="4652645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70" dirty="0">
                <a:solidFill>
                  <a:srgbClr val="5B5B5B"/>
                </a:solidFill>
              </a:rPr>
              <a:t>D</a:t>
            </a:r>
            <a:r>
              <a:rPr sz="1750" spc="70" dirty="0">
                <a:solidFill>
                  <a:srgbClr val="808289"/>
                </a:solidFill>
              </a:rPr>
              <a:t>IFFERENCE</a:t>
            </a:r>
            <a:r>
              <a:rPr sz="1750" spc="285" dirty="0">
                <a:solidFill>
                  <a:srgbClr val="808289"/>
                </a:solidFill>
              </a:rPr>
              <a:t> </a:t>
            </a:r>
            <a:r>
              <a:rPr sz="1750" spc="55" dirty="0">
                <a:solidFill>
                  <a:srgbClr val="5B5B5B"/>
                </a:solidFill>
              </a:rPr>
              <a:t>B</a:t>
            </a:r>
            <a:r>
              <a:rPr sz="1750" spc="55" dirty="0">
                <a:solidFill>
                  <a:srgbClr val="808289"/>
                </a:solidFill>
              </a:rPr>
              <a:t>ETWEEN</a:t>
            </a:r>
            <a:r>
              <a:rPr sz="1750" spc="280" dirty="0">
                <a:solidFill>
                  <a:srgbClr val="808289"/>
                </a:solidFill>
              </a:rPr>
              <a:t> </a:t>
            </a:r>
            <a:r>
              <a:rPr sz="1750" dirty="0">
                <a:solidFill>
                  <a:srgbClr val="6E727B"/>
                </a:solidFill>
              </a:rPr>
              <a:t>CORRELAT</a:t>
            </a:r>
            <a:r>
              <a:rPr sz="1750" dirty="0">
                <a:solidFill>
                  <a:srgbClr val="5B5B5B"/>
                </a:solidFill>
              </a:rPr>
              <a:t>I</a:t>
            </a:r>
            <a:r>
              <a:rPr sz="1750" dirty="0">
                <a:solidFill>
                  <a:srgbClr val="6E727B"/>
                </a:solidFill>
              </a:rPr>
              <a:t>ON</a:t>
            </a:r>
            <a:r>
              <a:rPr sz="1750" spc="275" dirty="0">
                <a:solidFill>
                  <a:srgbClr val="6E727B"/>
                </a:solidFill>
              </a:rPr>
              <a:t> </a:t>
            </a:r>
            <a:r>
              <a:rPr sz="2150" spc="-50" dirty="0">
                <a:solidFill>
                  <a:srgbClr val="6E727B"/>
                </a:solidFill>
              </a:rPr>
              <a:t>&amp;</a:t>
            </a:r>
            <a:endParaRPr sz="2150"/>
          </a:p>
        </p:txBody>
      </p:sp>
      <p:sp>
        <p:nvSpPr>
          <p:cNvPr id="8" name="object 8"/>
          <p:cNvSpPr txBox="1"/>
          <p:nvPr/>
        </p:nvSpPr>
        <p:spPr>
          <a:xfrm>
            <a:off x="347717" y="570304"/>
            <a:ext cx="4876800" cy="35540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spc="-10" dirty="0">
                <a:solidFill>
                  <a:srgbClr val="5B5B5B"/>
                </a:solidFill>
                <a:latin typeface="Times New Roman"/>
                <a:cs typeface="Times New Roman"/>
              </a:rPr>
              <a:t>R</a:t>
            </a:r>
            <a:r>
              <a:rPr sz="1750" spc="-10" dirty="0">
                <a:solidFill>
                  <a:srgbClr val="808289"/>
                </a:solidFill>
                <a:latin typeface="Times New Roman"/>
                <a:cs typeface="Times New Roman"/>
              </a:rPr>
              <a:t>EGRESSION</a:t>
            </a:r>
            <a:endParaRPr sz="1750">
              <a:latin typeface="Times New Roman"/>
              <a:cs typeface="Times New Roman"/>
            </a:endParaRPr>
          </a:p>
          <a:p>
            <a:pPr marL="194310" indent="-177165">
              <a:lnSpc>
                <a:spcPct val="100000"/>
              </a:lnSpc>
              <a:spcBef>
                <a:spcPts val="1300"/>
              </a:spcBef>
              <a:buClr>
                <a:srgbClr val="F49352"/>
              </a:buClr>
              <a:buChar char="o"/>
              <a:tabLst>
                <a:tab pos="194945" algn="l"/>
              </a:tabLst>
            </a:pPr>
            <a:r>
              <a:rPr sz="1750" dirty="0">
                <a:solidFill>
                  <a:srgbClr val="494949"/>
                </a:solidFill>
                <a:latin typeface="Times New Roman"/>
                <a:cs typeface="Times New Roman"/>
              </a:rPr>
              <a:t>Degree &amp;</a:t>
            </a:r>
            <a:r>
              <a:rPr sz="1750" spc="4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spc="65" dirty="0">
                <a:solidFill>
                  <a:srgbClr val="494949"/>
                </a:solidFill>
                <a:latin typeface="Times New Roman"/>
                <a:cs typeface="Times New Roman"/>
              </a:rPr>
              <a:t>Nature</a:t>
            </a:r>
            <a:r>
              <a:rPr sz="1750" spc="1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494949"/>
                </a:solidFill>
                <a:latin typeface="Times New Roman"/>
                <a:cs typeface="Times New Roman"/>
              </a:rPr>
              <a:t>of</a:t>
            </a:r>
            <a:r>
              <a:rPr sz="1750" spc="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494949"/>
                </a:solidFill>
                <a:latin typeface="Times New Roman"/>
                <a:cs typeface="Times New Roman"/>
              </a:rPr>
              <a:t>Relationship</a:t>
            </a:r>
            <a:endParaRPr sz="1750">
              <a:latin typeface="Times New Roman"/>
              <a:cs typeface="Times New Roman"/>
            </a:endParaRPr>
          </a:p>
          <a:p>
            <a:pPr marL="448309" marR="350520" lvl="1" indent="-184150">
              <a:lnSpc>
                <a:spcPts val="1660"/>
              </a:lnSpc>
              <a:spcBef>
                <a:spcPts val="440"/>
              </a:spcBef>
              <a:buClr>
                <a:srgbClr val="F48031"/>
              </a:buClr>
              <a:buChar char="•"/>
              <a:tabLst>
                <a:tab pos="450850" algn="l"/>
              </a:tabLst>
            </a:pP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Correlation</a:t>
            </a:r>
            <a:r>
              <a:rPr sz="1500" spc="14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is</a:t>
            </a:r>
            <a:r>
              <a:rPr sz="1500" spc="13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a</a:t>
            </a:r>
            <a:r>
              <a:rPr sz="1500" spc="1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measure</a:t>
            </a:r>
            <a:r>
              <a:rPr sz="1500" spc="10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of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 degree</a:t>
            </a:r>
            <a:r>
              <a:rPr sz="1500" spc="-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of</a:t>
            </a:r>
            <a:r>
              <a:rPr sz="1500" spc="9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494949"/>
                </a:solidFill>
                <a:latin typeface="Times New Roman"/>
                <a:cs typeface="Times New Roman"/>
              </a:rPr>
              <a:t>relationship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between</a:t>
            </a:r>
            <a:r>
              <a:rPr sz="1500" spc="21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114" dirty="0">
                <a:solidFill>
                  <a:srgbClr val="494949"/>
                </a:solidFill>
                <a:latin typeface="Times New Roman"/>
                <a:cs typeface="Times New Roman"/>
              </a:rPr>
              <a:t>X</a:t>
            </a:r>
            <a:r>
              <a:rPr sz="1500" spc="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94949"/>
                </a:solidFill>
                <a:latin typeface="Times New Roman"/>
                <a:cs typeface="Times New Roman"/>
              </a:rPr>
              <a:t>&amp;</a:t>
            </a:r>
            <a:r>
              <a:rPr sz="1550" spc="3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494949"/>
                </a:solidFill>
                <a:latin typeface="Times New Roman"/>
                <a:cs typeface="Times New Roman"/>
              </a:rPr>
              <a:t>Y</a:t>
            </a:r>
            <a:endParaRPr sz="1500">
              <a:latin typeface="Times New Roman"/>
              <a:cs typeface="Times New Roman"/>
            </a:endParaRPr>
          </a:p>
          <a:p>
            <a:pPr marL="440690" marR="410209" lvl="1" indent="-176530">
              <a:lnSpc>
                <a:spcPct val="93800"/>
              </a:lnSpc>
              <a:spcBef>
                <a:spcPts val="325"/>
              </a:spcBef>
              <a:buClr>
                <a:srgbClr val="F48031"/>
              </a:buClr>
              <a:buChar char="•"/>
              <a:tabLst>
                <a:tab pos="445134" algn="l"/>
              </a:tabLst>
            </a:pP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Regression</a:t>
            </a:r>
            <a:r>
              <a:rPr sz="1500" spc="1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5B5B5B"/>
                </a:solidFill>
                <a:latin typeface="Times New Roman"/>
                <a:cs typeface="Times New Roman"/>
              </a:rPr>
              <a:t>studies</a:t>
            </a:r>
            <a:r>
              <a:rPr sz="1500" spc="140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spc="95" dirty="0">
                <a:solidFill>
                  <a:srgbClr val="494949"/>
                </a:solidFill>
                <a:latin typeface="Times New Roman"/>
                <a:cs typeface="Times New Roman"/>
              </a:rPr>
              <a:t> nature</a:t>
            </a:r>
            <a:r>
              <a:rPr sz="1500" spc="-8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of</a:t>
            </a:r>
            <a:r>
              <a:rPr sz="1500" spc="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40" dirty="0">
                <a:solidFill>
                  <a:srgbClr val="494949"/>
                </a:solidFill>
                <a:latin typeface="Times New Roman"/>
                <a:cs typeface="Times New Roman"/>
              </a:rPr>
              <a:t>relationship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between</a:t>
            </a:r>
            <a:r>
              <a:rPr sz="1500" spc="20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B5B5B"/>
                </a:solidFill>
                <a:latin typeface="Times New Roman"/>
                <a:cs typeface="Times New Roman"/>
              </a:rPr>
              <a:t>the</a:t>
            </a:r>
            <a:r>
              <a:rPr sz="1500" spc="250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variables</a:t>
            </a:r>
            <a:r>
              <a:rPr sz="1500" spc="1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5B5B5B"/>
                </a:solidFill>
                <a:latin typeface="Times New Roman"/>
                <a:cs typeface="Times New Roman"/>
              </a:rPr>
              <a:t>so</a:t>
            </a:r>
            <a:r>
              <a:rPr sz="1500" spc="-20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120" dirty="0">
                <a:solidFill>
                  <a:srgbClr val="494949"/>
                </a:solidFill>
                <a:latin typeface="Times New Roman"/>
                <a:cs typeface="Times New Roman"/>
              </a:rPr>
              <a:t>that</a:t>
            </a:r>
            <a:r>
              <a:rPr sz="1500" spc="-4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5B5B5B"/>
                </a:solidFill>
                <a:latin typeface="Times New Roman"/>
                <a:cs typeface="Times New Roman"/>
              </a:rPr>
              <a:t>one</a:t>
            </a:r>
            <a:r>
              <a:rPr sz="1500" spc="95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may</a:t>
            </a:r>
            <a:r>
              <a:rPr sz="1500" spc="-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be</a:t>
            </a:r>
            <a:r>
              <a:rPr sz="1500" spc="-3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5B5B5B"/>
                </a:solidFill>
                <a:latin typeface="Times New Roman"/>
                <a:cs typeface="Times New Roman"/>
              </a:rPr>
              <a:t>able</a:t>
            </a:r>
            <a:r>
              <a:rPr sz="1500" spc="120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5B5B5B"/>
                </a:solidFill>
                <a:latin typeface="Times New Roman"/>
                <a:cs typeface="Times New Roman"/>
              </a:rPr>
              <a:t>to </a:t>
            </a:r>
            <a:r>
              <a:rPr sz="1500" spc="45" dirty="0">
                <a:solidFill>
                  <a:srgbClr val="494949"/>
                </a:solidFill>
                <a:latin typeface="Times New Roman"/>
                <a:cs typeface="Times New Roman"/>
              </a:rPr>
              <a:t>predict</a:t>
            </a:r>
            <a:r>
              <a:rPr sz="1500" spc="9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spc="1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value</a:t>
            </a:r>
            <a:r>
              <a:rPr sz="1500" spc="-3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494949"/>
                </a:solidFill>
                <a:latin typeface="Times New Roman"/>
                <a:cs typeface="Times New Roman"/>
              </a:rPr>
              <a:t>of</a:t>
            </a:r>
            <a:r>
              <a:rPr sz="1500" spc="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494949"/>
                </a:solidFill>
                <a:latin typeface="Times New Roman"/>
                <a:cs typeface="Times New Roman"/>
              </a:rPr>
              <a:t>one</a:t>
            </a:r>
            <a:r>
              <a:rPr sz="1500" spc="-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variable</a:t>
            </a:r>
            <a:r>
              <a:rPr sz="1500" spc="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on</a:t>
            </a:r>
            <a:r>
              <a:rPr sz="1500" spc="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spc="204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basis</a:t>
            </a:r>
            <a:r>
              <a:rPr sz="1500" spc="-25" dirty="0">
                <a:solidFill>
                  <a:srgbClr val="494949"/>
                </a:solidFill>
                <a:latin typeface="Times New Roman"/>
                <a:cs typeface="Times New Roman"/>
              </a:rPr>
              <a:t> of </a:t>
            </a:r>
            <a:r>
              <a:rPr sz="1500" spc="65" dirty="0">
                <a:solidFill>
                  <a:srgbClr val="5B5B5B"/>
                </a:solidFill>
                <a:latin typeface="Times New Roman"/>
                <a:cs typeface="Times New Roman"/>
              </a:rPr>
              <a:t>another.</a:t>
            </a:r>
            <a:endParaRPr sz="1500">
              <a:latin typeface="Times New Roman"/>
              <a:cs typeface="Times New Roman"/>
            </a:endParaRPr>
          </a:p>
          <a:p>
            <a:pPr marL="199390" indent="-182245">
              <a:lnSpc>
                <a:spcPct val="100000"/>
              </a:lnSpc>
              <a:spcBef>
                <a:spcPts val="220"/>
              </a:spcBef>
              <a:buClr>
                <a:srgbClr val="F49352"/>
              </a:buClr>
              <a:buChar char="o"/>
              <a:tabLst>
                <a:tab pos="200025" algn="l"/>
              </a:tabLst>
            </a:pPr>
            <a:r>
              <a:rPr sz="1750" dirty="0">
                <a:solidFill>
                  <a:srgbClr val="494949"/>
                </a:solidFill>
                <a:latin typeface="Times New Roman"/>
                <a:cs typeface="Times New Roman"/>
              </a:rPr>
              <a:t>Cause</a:t>
            </a:r>
            <a:r>
              <a:rPr sz="1750" spc="12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494949"/>
                </a:solidFill>
                <a:latin typeface="Times New Roman"/>
                <a:cs typeface="Times New Roman"/>
              </a:rPr>
              <a:t>&amp;</a:t>
            </a:r>
            <a:r>
              <a:rPr sz="1750" spc="10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494949"/>
                </a:solidFill>
                <a:latin typeface="Times New Roman"/>
                <a:cs typeface="Times New Roman"/>
              </a:rPr>
              <a:t>Effect</a:t>
            </a:r>
            <a:r>
              <a:rPr sz="1750" spc="4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494949"/>
                </a:solidFill>
                <a:latin typeface="Times New Roman"/>
                <a:cs typeface="Times New Roman"/>
              </a:rPr>
              <a:t>Relationship</a:t>
            </a:r>
            <a:endParaRPr sz="1750">
              <a:latin typeface="Times New Roman"/>
              <a:cs typeface="Times New Roman"/>
            </a:endParaRPr>
          </a:p>
          <a:p>
            <a:pPr marL="446405" marR="87630" lvl="1" indent="-182245">
              <a:lnSpc>
                <a:spcPts val="1660"/>
              </a:lnSpc>
              <a:spcBef>
                <a:spcPts val="440"/>
              </a:spcBef>
              <a:buClr>
                <a:srgbClr val="F48031"/>
              </a:buClr>
              <a:buChar char="•"/>
              <a:tabLst>
                <a:tab pos="450850" algn="l"/>
              </a:tabLst>
            </a:pP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Correlation</a:t>
            </a:r>
            <a:r>
              <a:rPr sz="1500" spc="16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does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not</a:t>
            </a:r>
            <a:r>
              <a:rPr sz="1500" spc="7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always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494949"/>
                </a:solidFill>
                <a:latin typeface="Times New Roman"/>
                <a:cs typeface="Times New Roman"/>
              </a:rPr>
              <a:t>assume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cause </a:t>
            </a:r>
            <a:r>
              <a:rPr sz="1500" spc="60" dirty="0">
                <a:solidFill>
                  <a:srgbClr val="494949"/>
                </a:solidFill>
                <a:latin typeface="Times New Roman"/>
                <a:cs typeface="Times New Roman"/>
              </a:rPr>
              <a:t>and</a:t>
            </a:r>
            <a:r>
              <a:rPr sz="1500" spc="24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Times New Roman"/>
                <a:cs typeface="Times New Roman"/>
              </a:rPr>
              <a:t>effect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relationship</a:t>
            </a:r>
            <a:r>
              <a:rPr sz="1500" spc="2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between</a:t>
            </a:r>
            <a:r>
              <a:rPr sz="1500" spc="22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B5B5B"/>
                </a:solidFill>
                <a:latin typeface="Times New Roman"/>
                <a:cs typeface="Times New Roman"/>
              </a:rPr>
              <a:t>two</a:t>
            </a:r>
            <a:r>
              <a:rPr sz="1500" spc="90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Times New Roman"/>
                <a:cs typeface="Times New Roman"/>
              </a:rPr>
              <a:t>variables.</a:t>
            </a:r>
            <a:endParaRPr sz="1500">
              <a:latin typeface="Times New Roman"/>
              <a:cs typeface="Times New Roman"/>
            </a:endParaRPr>
          </a:p>
          <a:p>
            <a:pPr marL="445134" marR="5080" lvl="1" indent="-180975">
              <a:lnSpc>
                <a:spcPts val="1660"/>
              </a:lnSpc>
              <a:spcBef>
                <a:spcPts val="385"/>
              </a:spcBef>
              <a:buClr>
                <a:srgbClr val="F48031"/>
              </a:buClr>
              <a:buChar char="•"/>
              <a:tabLst>
                <a:tab pos="445134" algn="l"/>
              </a:tabLst>
            </a:pP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Regression</a:t>
            </a:r>
            <a:r>
              <a:rPr sz="1500" spc="9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clearly</a:t>
            </a:r>
            <a:r>
              <a:rPr sz="1500" spc="1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5B5B5B"/>
                </a:solidFill>
                <a:latin typeface="Times New Roman"/>
                <a:cs typeface="Times New Roman"/>
              </a:rPr>
              <a:t>expresses</a:t>
            </a:r>
            <a:r>
              <a:rPr sz="1500" spc="235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spc="16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494949"/>
                </a:solidFill>
                <a:latin typeface="Times New Roman"/>
                <a:cs typeface="Times New Roman"/>
              </a:rPr>
              <a:t>cause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85" dirty="0">
                <a:solidFill>
                  <a:srgbClr val="494949"/>
                </a:solidFill>
                <a:latin typeface="Times New Roman"/>
                <a:cs typeface="Times New Roman"/>
              </a:rPr>
              <a:t>and</a:t>
            </a:r>
            <a:r>
              <a:rPr sz="1500" spc="10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Times New Roman"/>
                <a:cs typeface="Times New Roman"/>
              </a:rPr>
              <a:t>effect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relationship</a:t>
            </a:r>
            <a:r>
              <a:rPr sz="1500" spc="204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between</a:t>
            </a:r>
            <a:r>
              <a:rPr sz="1500" spc="18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two</a:t>
            </a:r>
            <a:r>
              <a:rPr sz="1500" spc="7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494949"/>
                </a:solidFill>
                <a:latin typeface="Times New Roman"/>
                <a:cs typeface="Times New Roman"/>
              </a:rPr>
              <a:t>variables.</a:t>
            </a:r>
            <a:r>
              <a:rPr sz="1500" spc="3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494949"/>
                </a:solidFill>
                <a:latin typeface="Times New Roman"/>
                <a:cs typeface="Times New Roman"/>
              </a:rPr>
              <a:t>independent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variable</a:t>
            </a:r>
            <a:r>
              <a:rPr sz="1500" spc="-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is</a:t>
            </a:r>
            <a:r>
              <a:rPr sz="1500" spc="18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sz="1500" spc="1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494949"/>
                </a:solidFill>
                <a:latin typeface="Times New Roman"/>
                <a:cs typeface="Times New Roman"/>
              </a:rPr>
              <a:t>cause</a:t>
            </a:r>
            <a:r>
              <a:rPr sz="1500" spc="-2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85" dirty="0">
                <a:solidFill>
                  <a:srgbClr val="5B5B5B"/>
                </a:solidFill>
                <a:latin typeface="Times New Roman"/>
                <a:cs typeface="Times New Roman"/>
              </a:rPr>
              <a:t>and</a:t>
            </a:r>
            <a:r>
              <a:rPr sz="1500" spc="15" dirty="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494949"/>
                </a:solidFill>
                <a:latin typeface="Times New Roman"/>
                <a:cs typeface="Times New Roman"/>
              </a:rPr>
              <a:t>dependent</a:t>
            </a:r>
            <a:r>
              <a:rPr sz="1500" spc="4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variable</a:t>
            </a:r>
            <a:r>
              <a:rPr sz="1500" spc="-6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94949"/>
                </a:solidFill>
                <a:latin typeface="Times New Roman"/>
                <a:cs typeface="Times New Roman"/>
              </a:rPr>
              <a:t>is</a:t>
            </a:r>
            <a:r>
              <a:rPr sz="1500" spc="5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B5B5B"/>
                </a:solidFill>
                <a:latin typeface="Times New Roman"/>
                <a:cs typeface="Times New Roman"/>
              </a:rPr>
              <a:t>effect.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7717" y="211729"/>
            <a:ext cx="4652645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70" dirty="0">
                <a:solidFill>
                  <a:srgbClr val="5D5D5E"/>
                </a:solidFill>
              </a:rPr>
              <a:t>D</a:t>
            </a:r>
            <a:r>
              <a:rPr sz="1750" spc="70" dirty="0">
                <a:solidFill>
                  <a:srgbClr val="7E8287"/>
                </a:solidFill>
              </a:rPr>
              <a:t>IFFERENCE</a:t>
            </a:r>
            <a:r>
              <a:rPr sz="1750" spc="285" dirty="0">
                <a:solidFill>
                  <a:srgbClr val="7E8287"/>
                </a:solidFill>
              </a:rPr>
              <a:t> </a:t>
            </a:r>
            <a:r>
              <a:rPr sz="1750" spc="55" dirty="0">
                <a:solidFill>
                  <a:srgbClr val="5D5D5E"/>
                </a:solidFill>
              </a:rPr>
              <a:t>B</a:t>
            </a:r>
            <a:r>
              <a:rPr sz="1750" spc="55" dirty="0">
                <a:solidFill>
                  <a:srgbClr val="7E8287"/>
                </a:solidFill>
              </a:rPr>
              <a:t>ETWEEN</a:t>
            </a:r>
            <a:r>
              <a:rPr sz="1750" spc="280" dirty="0">
                <a:solidFill>
                  <a:srgbClr val="7E8287"/>
                </a:solidFill>
              </a:rPr>
              <a:t> </a:t>
            </a:r>
            <a:r>
              <a:rPr sz="1750" dirty="0">
                <a:solidFill>
                  <a:srgbClr val="6E727B"/>
                </a:solidFill>
              </a:rPr>
              <a:t>CORRELAT</a:t>
            </a:r>
            <a:r>
              <a:rPr sz="1750" dirty="0">
                <a:solidFill>
                  <a:srgbClr val="5D5D5E"/>
                </a:solidFill>
              </a:rPr>
              <a:t>I</a:t>
            </a:r>
            <a:r>
              <a:rPr sz="1750" dirty="0">
                <a:solidFill>
                  <a:srgbClr val="6E727B"/>
                </a:solidFill>
              </a:rPr>
              <a:t>ON</a:t>
            </a:r>
            <a:r>
              <a:rPr sz="1750" spc="275" dirty="0">
                <a:solidFill>
                  <a:srgbClr val="6E727B"/>
                </a:solidFill>
              </a:rPr>
              <a:t> </a:t>
            </a:r>
            <a:r>
              <a:rPr sz="2150" spc="-50" dirty="0">
                <a:solidFill>
                  <a:srgbClr val="6E727B"/>
                </a:solidFill>
              </a:rPr>
              <a:t>&amp;</a:t>
            </a:r>
            <a:endParaRPr sz="21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347717" y="570304"/>
                <a:ext cx="5213350" cy="2297424"/>
              </a:xfrm>
              <a:prstGeom prst="rect">
                <a:avLst/>
              </a:prstGeom>
            </p:spPr>
            <p:txBody>
              <a:bodyPr vert="horz" wrap="square" lIns="0" tIns="1460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15"/>
                  </a:spcBef>
                </a:pPr>
                <a:r>
                  <a:rPr sz="1750" spc="-1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sz="1750" spc="-10" dirty="0">
                    <a:solidFill>
                      <a:srgbClr val="7E8287"/>
                    </a:solidFill>
                    <a:latin typeface="Times New Roman"/>
                    <a:cs typeface="Times New Roman"/>
                  </a:rPr>
                  <a:t>EGRESSION</a:t>
                </a:r>
                <a:endParaRPr sz="1750" dirty="0">
                  <a:latin typeface="Times New Roman"/>
                  <a:cs typeface="Times New Roman"/>
                </a:endParaRPr>
              </a:p>
              <a:p>
                <a:pPr marL="204470" indent="-186690">
                  <a:lnSpc>
                    <a:spcPct val="100000"/>
                  </a:lnSpc>
                  <a:spcBef>
                    <a:spcPts val="1350"/>
                  </a:spcBef>
                  <a:buClr>
                    <a:srgbClr val="EF904D"/>
                  </a:buClr>
                  <a:buChar char="o"/>
                  <a:tabLst>
                    <a:tab pos="205104" algn="l"/>
                  </a:tabLst>
                </a:pPr>
                <a:r>
                  <a:rPr sz="1700" spc="-1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Prediction</a:t>
                </a:r>
                <a:endParaRPr sz="1700" dirty="0">
                  <a:latin typeface="Times New Roman"/>
                  <a:cs typeface="Times New Roman"/>
                </a:endParaRPr>
              </a:p>
              <a:p>
                <a:pPr marL="450215" lvl="1" indent="-186690">
                  <a:lnSpc>
                    <a:spcPct val="100000"/>
                  </a:lnSpc>
                  <a:spcBef>
                    <a:spcPts val="204"/>
                  </a:spcBef>
                  <a:buClr>
                    <a:srgbClr val="F48336"/>
                  </a:buClr>
                  <a:buChar char="•"/>
                  <a:tabLst>
                    <a:tab pos="450850" algn="l"/>
                  </a:tabLst>
                </a:pP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Correlation</a:t>
                </a:r>
                <a:r>
                  <a:rPr sz="1500" spc="15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doesn't</a:t>
                </a:r>
                <a:r>
                  <a:rPr sz="1500" spc="7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6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help</a:t>
                </a:r>
                <a:r>
                  <a:rPr sz="1500" spc="-6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6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in</a:t>
                </a:r>
                <a:r>
                  <a:rPr sz="1500" spc="2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6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making</a:t>
                </a:r>
                <a:r>
                  <a:rPr sz="1500" spc="18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-1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predictions</a:t>
                </a:r>
                <a:endParaRPr sz="1500" dirty="0">
                  <a:latin typeface="Times New Roman"/>
                  <a:cs typeface="Times New Roman"/>
                </a:endParaRPr>
              </a:p>
              <a:p>
                <a:pPr marL="446405" marR="840740" lvl="1" indent="-182245">
                  <a:lnSpc>
                    <a:spcPts val="1660"/>
                  </a:lnSpc>
                  <a:spcBef>
                    <a:spcPts val="489"/>
                  </a:spcBef>
                  <a:buClr>
                    <a:srgbClr val="F48336"/>
                  </a:buClr>
                  <a:buChar char="•"/>
                  <a:tabLst>
                    <a:tab pos="445134" algn="l"/>
                  </a:tabLst>
                </a:pPr>
                <a:r>
                  <a:rPr sz="1500" dirty="0">
                    <a:solidFill>
                      <a:srgbClr val="3A3A3A"/>
                    </a:solidFill>
                    <a:latin typeface="Times New Roman"/>
                    <a:cs typeface="Times New Roman"/>
                  </a:rPr>
                  <a:t>Regr</a:t>
                </a:r>
                <a:r>
                  <a:rPr sz="150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ession</a:t>
                </a:r>
                <a:r>
                  <a:rPr sz="1500" spc="165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6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ena</a:t>
                </a:r>
                <a:r>
                  <a:rPr sz="1500" spc="60" dirty="0">
                    <a:solidFill>
                      <a:srgbClr val="3A3A3A"/>
                    </a:solidFill>
                    <a:latin typeface="Times New Roman"/>
                    <a:cs typeface="Times New Roman"/>
                  </a:rPr>
                  <a:t>bl</a:t>
                </a:r>
                <a:r>
                  <a:rPr sz="1500" spc="6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e</a:t>
                </a:r>
                <a:r>
                  <a:rPr sz="1500" spc="14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6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us</a:t>
                </a:r>
                <a:r>
                  <a:rPr sz="1500" spc="24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to</a:t>
                </a:r>
                <a:r>
                  <a:rPr sz="1500" spc="6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7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make</a:t>
                </a:r>
                <a:r>
                  <a:rPr sz="1500" spc="22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predictions</a:t>
                </a:r>
                <a:r>
                  <a:rPr sz="1500" spc="19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using </a:t>
                </a:r>
                <a:r>
                  <a:rPr sz="1500" spc="4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line</a:t>
                </a:r>
                <a:endParaRPr sz="1500" dirty="0">
                  <a:latin typeface="Times New Roman"/>
                  <a:cs typeface="Times New Roman"/>
                </a:endParaRPr>
              </a:p>
              <a:p>
                <a:pPr marL="194310" indent="-176530">
                  <a:lnSpc>
                    <a:spcPct val="100000"/>
                  </a:lnSpc>
                  <a:spcBef>
                    <a:spcPts val="240"/>
                  </a:spcBef>
                  <a:buClr>
                    <a:srgbClr val="EF904D"/>
                  </a:buClr>
                  <a:buSzPct val="94117"/>
                  <a:buChar char="o"/>
                  <a:tabLst>
                    <a:tab pos="194945" algn="l"/>
                  </a:tabLst>
                </a:pPr>
                <a:r>
                  <a:rPr sz="17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Symmetric</a:t>
                </a:r>
                <a:endParaRPr sz="1700" dirty="0">
                  <a:latin typeface="Times New Roman"/>
                  <a:cs typeface="Times New Roman"/>
                </a:endParaRPr>
              </a:p>
              <a:p>
                <a:pPr marL="450215" lvl="1" indent="-196215">
                  <a:lnSpc>
                    <a:spcPct val="100000"/>
                  </a:lnSpc>
                  <a:spcBef>
                    <a:spcPts val="275"/>
                  </a:spcBef>
                  <a:buClr>
                    <a:srgbClr val="F48336"/>
                  </a:buClr>
                  <a:buChar char="•"/>
                  <a:tabLst>
                    <a:tab pos="450850" algn="l"/>
                  </a:tabLst>
                </a:pP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Co</a:t>
                </a:r>
                <a:r>
                  <a:rPr lang="en-GB" sz="1500" dirty="0" err="1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rr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elation</a:t>
                </a:r>
                <a:r>
                  <a:rPr sz="1500" spc="17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coefficients</a:t>
                </a:r>
                <a:r>
                  <a:rPr sz="1500" spc="9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sz="1500" spc="33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5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symmetrical</a:t>
                </a:r>
                <a:r>
                  <a:rPr sz="1500" spc="7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i.e.</a:t>
                </a:r>
                <a:r>
                  <a:rPr sz="15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8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GB" sz="1100" spc="8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00" spc="80" dirty="0">
                    <a:solidFill>
                      <a:srgbClr val="7E8287"/>
                    </a:solidFill>
                    <a:latin typeface="Times New Roman"/>
                    <a:cs typeface="Times New Roman"/>
                  </a:rPr>
                  <a:t>y</a:t>
                </a:r>
                <a:r>
                  <a:rPr sz="1450" spc="80" dirty="0">
                    <a:solidFill>
                      <a:srgbClr val="4B4B4B"/>
                    </a:solidFill>
                    <a:latin typeface="Arial"/>
                    <a:cs typeface="Arial"/>
                  </a:rPr>
                  <a:t>=</a:t>
                </a:r>
                <a:r>
                  <a:rPr sz="1450" spc="110" dirty="0">
                    <a:solidFill>
                      <a:srgbClr val="4B4B4B"/>
                    </a:solidFill>
                    <a:latin typeface="Arial"/>
                    <a:cs typeface="Arial"/>
                  </a:rPr>
                  <a:t> </a:t>
                </a:r>
                <a:r>
                  <a:rPr sz="1500" spc="-20" dirty="0" err="1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sz="1050" spc="-20" dirty="0" err="1">
                    <a:solidFill>
                      <a:srgbClr val="7E8287"/>
                    </a:solidFill>
                    <a:latin typeface="Times New Roman"/>
                    <a:cs typeface="Times New Roman"/>
                  </a:rPr>
                  <a:t>y</a:t>
                </a:r>
                <a:r>
                  <a:rPr lang="en-GB" sz="1050" spc="-2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500" spc="-2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·</a:t>
                </a:r>
                <a:endParaRPr sz="1500" dirty="0">
                  <a:latin typeface="Times New Roman"/>
                  <a:cs typeface="Times New Roman"/>
                </a:endParaRPr>
              </a:p>
              <a:p>
                <a:pPr marL="444500" lvl="1" indent="-190500">
                  <a:lnSpc>
                    <a:spcPct val="100000"/>
                  </a:lnSpc>
                  <a:spcBef>
                    <a:spcPts val="145"/>
                  </a:spcBef>
                  <a:buClr>
                    <a:srgbClr val="F48336"/>
                  </a:buClr>
                  <a:buChar char="•"/>
                  <a:tabLst>
                    <a:tab pos="445134" algn="l"/>
                  </a:tabLst>
                </a:pPr>
                <a:r>
                  <a:rPr sz="1500" dirty="0">
                    <a:solidFill>
                      <a:srgbClr val="3A3A3A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sz="150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egression</a:t>
                </a:r>
                <a:r>
                  <a:rPr sz="1500" spc="225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coefficients</a:t>
                </a:r>
                <a:r>
                  <a:rPr sz="1500" spc="28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sz="1500" spc="8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 </a:t>
                </a:r>
                <a:r>
                  <a:rPr sz="1500" spc="5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not</a:t>
                </a:r>
                <a:r>
                  <a:rPr sz="1500" spc="12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symmetrical</a:t>
                </a:r>
                <a:r>
                  <a:rPr sz="1500" spc="24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i.e.</a:t>
                </a:r>
                <a:r>
                  <a:rPr sz="1500" spc="35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-40" dirty="0">
                    <a:solidFill>
                      <a:srgbClr val="3A3A3A"/>
                    </a:solidFill>
                    <a:latin typeface="Times New Roman"/>
                    <a:cs typeface="Times New Roman"/>
                  </a:rPr>
                  <a:t>b</a:t>
                </a:r>
                <a:r>
                  <a:rPr sz="1200" spc="-40" dirty="0">
                    <a:solidFill>
                      <a:srgbClr val="5D5D5E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200" spc="-40" dirty="0">
                    <a:solidFill>
                      <a:srgbClr val="7E8287"/>
                    </a:solidFill>
                    <a:latin typeface="Times New Roman"/>
                    <a:cs typeface="Times New Roman"/>
                  </a:rPr>
                  <a:t>y</a:t>
                </a:r>
                <a14:m>
                  <m:oMath xmlns:m="http://schemas.openxmlformats.org/officeDocument/2006/math">
                    <m:r>
                      <a:rPr lang="en-PK" sz="1600" i="1" spc="-40" dirty="0" smtClean="0">
                        <a:solidFill>
                          <a:srgbClr val="5D5D5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≠</m:t>
                    </m:r>
                  </m:oMath>
                </a14:m>
                <a:r>
                  <a:rPr sz="1600" i="1" spc="30" dirty="0">
                    <a:solidFill>
                      <a:srgbClr val="5D5D5E"/>
                    </a:solidFill>
                    <a:latin typeface="Arial"/>
                    <a:cs typeface="Arial"/>
                  </a:rPr>
                  <a:t> </a:t>
                </a:r>
                <a:r>
                  <a:rPr sz="1500" spc="-20" dirty="0" err="1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b</a:t>
                </a:r>
                <a:r>
                  <a:rPr sz="1400" spc="-20" dirty="0" err="1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yx</a:t>
                </a:r>
                <a:r>
                  <a:rPr sz="1400" spc="-20" dirty="0">
                    <a:solidFill>
                      <a:srgbClr val="4B4B4B"/>
                    </a:solidFill>
                    <a:latin typeface="Times New Roman"/>
                    <a:cs typeface="Times New Roman"/>
                  </a:rPr>
                  <a:t>.</a:t>
                </a:r>
                <a:endParaRPr sz="15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17" y="570304"/>
                <a:ext cx="5213350" cy="2297424"/>
              </a:xfrm>
              <a:prstGeom prst="rect">
                <a:avLst/>
              </a:prstGeom>
              <a:blipFill>
                <a:blip r:embed="rId2"/>
                <a:stretch>
                  <a:fillRect l="-2339" t="-2128" b="-39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6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spc="80" dirty="0">
                <a:solidFill>
                  <a:srgbClr val="696E77"/>
                </a:solidFill>
              </a:rPr>
              <a:t>TYPES</a:t>
            </a:r>
            <a:r>
              <a:rPr sz="1750" spc="210" dirty="0">
                <a:solidFill>
                  <a:srgbClr val="696E77"/>
                </a:solidFill>
              </a:rPr>
              <a:t> </a:t>
            </a:r>
            <a:r>
              <a:rPr sz="1750" spc="95" dirty="0">
                <a:solidFill>
                  <a:srgbClr val="696E77"/>
                </a:solidFill>
              </a:rPr>
              <a:t>OF</a:t>
            </a:r>
            <a:r>
              <a:rPr sz="1750" spc="125" dirty="0">
                <a:solidFill>
                  <a:srgbClr val="696E77"/>
                </a:solidFill>
              </a:rPr>
              <a:t> </a:t>
            </a:r>
            <a:r>
              <a:rPr sz="1750" dirty="0">
                <a:solidFill>
                  <a:srgbClr val="696E77"/>
                </a:solidFill>
              </a:rPr>
              <a:t>REGRESSION</a:t>
            </a:r>
            <a:r>
              <a:rPr sz="1750" spc="290" dirty="0">
                <a:solidFill>
                  <a:srgbClr val="696E77"/>
                </a:solidFill>
              </a:rPr>
              <a:t> </a:t>
            </a:r>
            <a:r>
              <a:rPr sz="1750" spc="-10" dirty="0">
                <a:solidFill>
                  <a:srgbClr val="7C7E85"/>
                </a:solidFill>
              </a:rPr>
              <a:t>ANALYSIS</a:t>
            </a:r>
            <a:endParaRPr sz="1750"/>
          </a:p>
        </p:txBody>
      </p:sp>
      <p:sp>
        <p:nvSpPr>
          <p:cNvPr id="8" name="object 8"/>
          <p:cNvSpPr txBox="1"/>
          <p:nvPr/>
        </p:nvSpPr>
        <p:spPr>
          <a:xfrm>
            <a:off x="353276" y="980726"/>
            <a:ext cx="3267710" cy="120609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8595" indent="-176530">
              <a:lnSpc>
                <a:spcPct val="100000"/>
              </a:lnSpc>
              <a:spcBef>
                <a:spcPts val="285"/>
              </a:spcBef>
              <a:buClr>
                <a:srgbClr val="F49554"/>
              </a:buClr>
              <a:buChar char="o"/>
              <a:tabLst>
                <a:tab pos="189230" algn="l"/>
              </a:tabLst>
            </a:pPr>
            <a:r>
              <a:rPr sz="1750" dirty="0">
                <a:solidFill>
                  <a:srgbClr val="3B3B3B"/>
                </a:solidFill>
                <a:latin typeface="Times New Roman"/>
                <a:cs typeface="Times New Roman"/>
              </a:rPr>
              <a:t>Simple</a:t>
            </a:r>
            <a:r>
              <a:rPr sz="1750" spc="254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750" spc="-90" dirty="0">
                <a:solidFill>
                  <a:srgbClr val="3B3B3B"/>
                </a:solidFill>
                <a:latin typeface="Times New Roman"/>
                <a:cs typeface="Times New Roman"/>
              </a:rPr>
              <a:t>&amp;</a:t>
            </a:r>
            <a:r>
              <a:rPr sz="1750" spc="105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B3B3B"/>
                </a:solidFill>
                <a:latin typeface="Times New Roman"/>
                <a:cs typeface="Times New Roman"/>
              </a:rPr>
              <a:t>Multiple</a:t>
            </a:r>
            <a:r>
              <a:rPr sz="1750" spc="130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3B3B3B"/>
                </a:solidFill>
                <a:latin typeface="Times New Roman"/>
                <a:cs typeface="Times New Roman"/>
              </a:rPr>
              <a:t>Regression</a:t>
            </a:r>
            <a:endParaRPr sz="1750" dirty="0">
              <a:latin typeface="Times New Roman"/>
              <a:cs typeface="Times New Roman"/>
            </a:endParaRPr>
          </a:p>
          <a:p>
            <a:pPr marL="187960" indent="-175895">
              <a:lnSpc>
                <a:spcPct val="100000"/>
              </a:lnSpc>
              <a:spcBef>
                <a:spcPts val="195"/>
              </a:spcBef>
              <a:buClr>
                <a:srgbClr val="F49554"/>
              </a:buClr>
              <a:buChar char="o"/>
              <a:tabLst>
                <a:tab pos="188595" algn="l"/>
              </a:tabLst>
            </a:pPr>
            <a:r>
              <a:rPr sz="1750" dirty="0">
                <a:solidFill>
                  <a:srgbClr val="232323"/>
                </a:solidFill>
                <a:latin typeface="Times New Roman"/>
                <a:cs typeface="Times New Roman"/>
              </a:rPr>
              <a:t>L</a:t>
            </a:r>
            <a:r>
              <a:rPr sz="1750" dirty="0">
                <a:solidFill>
                  <a:srgbClr val="4F4F4F"/>
                </a:solidFill>
                <a:latin typeface="Times New Roman"/>
                <a:cs typeface="Times New Roman"/>
              </a:rPr>
              <a:t>inear</a:t>
            </a:r>
            <a:r>
              <a:rPr sz="1750" spc="35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B3B3B"/>
                </a:solidFill>
                <a:latin typeface="Times New Roman"/>
                <a:cs typeface="Times New Roman"/>
              </a:rPr>
              <a:t>&amp;</a:t>
            </a:r>
            <a:r>
              <a:rPr sz="1800" spc="110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lang="de-DE" sz="1750" dirty="0">
                <a:solidFill>
                  <a:srgbClr val="3B3B3B"/>
                </a:solidFill>
                <a:latin typeface="Times New Roman"/>
                <a:cs typeface="Times New Roman"/>
              </a:rPr>
              <a:t>Non-Linear</a:t>
            </a:r>
            <a:r>
              <a:rPr sz="1750" spc="125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232323"/>
                </a:solidFill>
                <a:latin typeface="Times New Roman"/>
                <a:cs typeface="Times New Roman"/>
              </a:rPr>
              <a:t>R</a:t>
            </a:r>
            <a:r>
              <a:rPr sz="1750" spc="-10" dirty="0">
                <a:solidFill>
                  <a:srgbClr val="4F4F4F"/>
                </a:solidFill>
                <a:latin typeface="Times New Roman"/>
                <a:cs typeface="Times New Roman"/>
              </a:rPr>
              <a:t>egression</a:t>
            </a:r>
            <a:endParaRPr sz="1750" dirty="0">
              <a:latin typeface="Times New Roman"/>
              <a:cs typeface="Times New Roman"/>
            </a:endParaRPr>
          </a:p>
          <a:p>
            <a:pPr marL="189230" indent="-177165">
              <a:lnSpc>
                <a:spcPct val="100000"/>
              </a:lnSpc>
              <a:spcBef>
                <a:spcPts val="185"/>
              </a:spcBef>
              <a:buClr>
                <a:srgbClr val="F49554"/>
              </a:buClr>
              <a:buChar char="o"/>
              <a:tabLst>
                <a:tab pos="189865" algn="l"/>
              </a:tabLst>
            </a:pPr>
            <a:r>
              <a:rPr sz="1750" spc="90" dirty="0">
                <a:solidFill>
                  <a:srgbClr val="3B3B3B"/>
                </a:solidFill>
                <a:latin typeface="Times New Roman"/>
                <a:cs typeface="Times New Roman"/>
              </a:rPr>
              <a:t>Partial</a:t>
            </a:r>
            <a:r>
              <a:rPr sz="1750" spc="65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3B3B3B"/>
                </a:solidFill>
                <a:latin typeface="Times New Roman"/>
                <a:cs typeface="Times New Roman"/>
              </a:rPr>
              <a:t>&amp;</a:t>
            </a:r>
            <a:r>
              <a:rPr sz="1800" spc="-95" dirty="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32323"/>
                </a:solidFill>
                <a:latin typeface="Times New Roman"/>
                <a:cs typeface="Times New Roman"/>
              </a:rPr>
              <a:t>T</a:t>
            </a:r>
            <a:r>
              <a:rPr sz="1750" dirty="0">
                <a:solidFill>
                  <a:srgbClr val="4F4F4F"/>
                </a:solidFill>
                <a:latin typeface="Times New Roman"/>
                <a:cs typeface="Times New Roman"/>
              </a:rPr>
              <a:t>otal</a:t>
            </a:r>
            <a:r>
              <a:rPr sz="1750" spc="4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3B3B3B"/>
                </a:solidFill>
                <a:latin typeface="Times New Roman"/>
                <a:cs typeface="Times New Roman"/>
              </a:rPr>
              <a:t>Regression</a:t>
            </a:r>
            <a:endParaRPr lang="en-GB" sz="1750" spc="-10" dirty="0">
              <a:solidFill>
                <a:srgbClr val="3B3B3B"/>
              </a:solidFill>
              <a:latin typeface="Times New Roman"/>
              <a:cs typeface="Times New Roman"/>
            </a:endParaRPr>
          </a:p>
          <a:p>
            <a:pPr marL="189230" indent="-177165">
              <a:lnSpc>
                <a:spcPct val="100000"/>
              </a:lnSpc>
              <a:spcBef>
                <a:spcPts val="185"/>
              </a:spcBef>
              <a:buClr>
                <a:srgbClr val="F49554"/>
              </a:buClr>
              <a:buChar char="o"/>
              <a:tabLst>
                <a:tab pos="189865" algn="l"/>
              </a:tabLst>
            </a:pPr>
            <a:r>
              <a:rPr lang="en-US" sz="1750" spc="-10" dirty="0">
                <a:solidFill>
                  <a:srgbClr val="3B3B3B"/>
                </a:solidFill>
                <a:latin typeface="Times New Roman"/>
                <a:cs typeface="Times New Roman"/>
              </a:rPr>
              <a:t>Logistic Regression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26" y="2785684"/>
            <a:ext cx="182109" cy="1037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1029" y="2766473"/>
            <a:ext cx="498405" cy="172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2791" y="1498652"/>
            <a:ext cx="1571894" cy="23243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18871" y="2785684"/>
            <a:ext cx="191694" cy="10373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1528" y="2766473"/>
            <a:ext cx="479235" cy="17288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9851" y="2939359"/>
            <a:ext cx="0" cy="883919"/>
          </a:xfrm>
          <a:custGeom>
            <a:avLst/>
            <a:gdLst/>
            <a:ahLst/>
            <a:cxnLst/>
            <a:rect l="l" t="t" r="r" b="b"/>
            <a:pathLst>
              <a:path h="883920">
                <a:moveTo>
                  <a:pt x="0" y="883632"/>
                </a:moveTo>
                <a:lnTo>
                  <a:pt x="0" y="0"/>
                </a:lnTo>
              </a:path>
            </a:pathLst>
          </a:custGeom>
          <a:ln w="19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5516" y="2939359"/>
            <a:ext cx="0" cy="883919"/>
          </a:xfrm>
          <a:custGeom>
            <a:avLst/>
            <a:gdLst/>
            <a:ahLst/>
            <a:cxnLst/>
            <a:rect l="l" t="t" r="r" b="b"/>
            <a:pathLst>
              <a:path h="883920">
                <a:moveTo>
                  <a:pt x="0" y="883632"/>
                </a:moveTo>
                <a:lnTo>
                  <a:pt x="0" y="0"/>
                </a:lnTo>
              </a:path>
            </a:pathLst>
          </a:custGeom>
          <a:ln w="19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75101" y="1633119"/>
            <a:ext cx="0" cy="864869"/>
          </a:xfrm>
          <a:custGeom>
            <a:avLst/>
            <a:gdLst/>
            <a:ahLst/>
            <a:cxnLst/>
            <a:rect l="l" t="t" r="r" b="b"/>
            <a:pathLst>
              <a:path h="864869">
                <a:moveTo>
                  <a:pt x="0" y="864423"/>
                </a:moveTo>
                <a:lnTo>
                  <a:pt x="0" y="0"/>
                </a:lnTo>
              </a:path>
            </a:pathLst>
          </a:custGeom>
          <a:ln w="19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90766" y="2939359"/>
            <a:ext cx="0" cy="883919"/>
          </a:xfrm>
          <a:custGeom>
            <a:avLst/>
            <a:gdLst/>
            <a:ahLst/>
            <a:cxnLst/>
            <a:rect l="l" t="t" r="r" b="b"/>
            <a:pathLst>
              <a:path h="883920">
                <a:moveTo>
                  <a:pt x="0" y="883632"/>
                </a:moveTo>
                <a:lnTo>
                  <a:pt x="0" y="0"/>
                </a:lnTo>
              </a:path>
            </a:pathLst>
          </a:custGeom>
          <a:ln w="19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6811" y="2641613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>
                <a:moveTo>
                  <a:pt x="0" y="0"/>
                </a:moveTo>
                <a:lnTo>
                  <a:pt x="1015980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5880" y="2785684"/>
            <a:ext cx="1035685" cy="0"/>
          </a:xfrm>
          <a:custGeom>
            <a:avLst/>
            <a:gdLst/>
            <a:ahLst/>
            <a:cxnLst/>
            <a:rect l="l" t="t" r="r" b="b"/>
            <a:pathLst>
              <a:path w="1035685">
                <a:moveTo>
                  <a:pt x="0" y="0"/>
                </a:moveTo>
                <a:lnTo>
                  <a:pt x="1035150" y="0"/>
                </a:lnTo>
              </a:path>
            </a:pathLst>
          </a:custGeom>
          <a:ln w="19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9236" y="2910545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1727" y="0"/>
                </a:lnTo>
              </a:path>
            </a:pathLst>
          </a:custGeom>
          <a:ln w="288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10566" y="3803782"/>
            <a:ext cx="1399540" cy="0"/>
          </a:xfrm>
          <a:custGeom>
            <a:avLst/>
            <a:gdLst/>
            <a:ahLst/>
            <a:cxnLst/>
            <a:rect l="l" t="t" r="r" b="b"/>
            <a:pathLst>
              <a:path w="1399539">
                <a:moveTo>
                  <a:pt x="0" y="0"/>
                </a:moveTo>
                <a:lnTo>
                  <a:pt x="1399369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04486" y="3803782"/>
            <a:ext cx="1380490" cy="0"/>
          </a:xfrm>
          <a:custGeom>
            <a:avLst/>
            <a:gdLst/>
            <a:ahLst/>
            <a:cxnLst/>
            <a:rect l="l" t="t" r="r" b="b"/>
            <a:pathLst>
              <a:path w="1380489">
                <a:moveTo>
                  <a:pt x="0" y="0"/>
                </a:moveTo>
                <a:lnTo>
                  <a:pt x="1380200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9236" y="3803782"/>
            <a:ext cx="1399540" cy="0"/>
          </a:xfrm>
          <a:custGeom>
            <a:avLst/>
            <a:gdLst/>
            <a:ahLst/>
            <a:cxnLst/>
            <a:rect l="l" t="t" r="r" b="b"/>
            <a:pathLst>
              <a:path w="1399539">
                <a:moveTo>
                  <a:pt x="0" y="0"/>
                </a:moveTo>
                <a:lnTo>
                  <a:pt x="1399369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697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15"/>
              </a:spcBef>
            </a:pPr>
            <a:r>
              <a:rPr sz="1750" spc="75" dirty="0">
                <a:solidFill>
                  <a:srgbClr val="6B6E72"/>
                </a:solidFill>
              </a:rPr>
              <a:t>SIMPLE</a:t>
            </a:r>
            <a:r>
              <a:rPr sz="1750" spc="245" dirty="0">
                <a:solidFill>
                  <a:srgbClr val="6B6E72"/>
                </a:solidFill>
              </a:rPr>
              <a:t> </a:t>
            </a:r>
            <a:r>
              <a:rPr sz="1750" dirty="0">
                <a:solidFill>
                  <a:srgbClr val="6B6E72"/>
                </a:solidFill>
              </a:rPr>
              <a:t>LINEAR</a:t>
            </a:r>
            <a:r>
              <a:rPr sz="1750" spc="310" dirty="0">
                <a:solidFill>
                  <a:srgbClr val="6B6E72"/>
                </a:solidFill>
              </a:rPr>
              <a:t> </a:t>
            </a:r>
            <a:r>
              <a:rPr sz="1750" spc="-10" dirty="0">
                <a:solidFill>
                  <a:srgbClr val="6B6E72"/>
                </a:solidFill>
              </a:rPr>
              <a:t>REGRESSION</a:t>
            </a:r>
            <a:endParaRPr sz="1750"/>
          </a:p>
        </p:txBody>
      </p:sp>
      <p:sp>
        <p:nvSpPr>
          <p:cNvPr id="24" name="object 24"/>
          <p:cNvSpPr txBox="1"/>
          <p:nvPr/>
        </p:nvSpPr>
        <p:spPr>
          <a:xfrm>
            <a:off x="606504" y="3086737"/>
            <a:ext cx="1097915" cy="5251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80035" marR="5080" indent="-267970">
              <a:lnSpc>
                <a:spcPts val="1820"/>
              </a:lnSpc>
              <a:spcBef>
                <a:spcPts val="405"/>
              </a:spcBef>
            </a:pPr>
            <a:r>
              <a:rPr sz="1750" spc="45" dirty="0">
                <a:solidFill>
                  <a:srgbClr val="423D38"/>
                </a:solidFill>
                <a:latin typeface="Times New Roman"/>
                <a:cs typeface="Times New Roman"/>
              </a:rPr>
              <a:t>Regression </a:t>
            </a:r>
            <a:r>
              <a:rPr sz="1750" spc="55" dirty="0">
                <a:solidFill>
                  <a:srgbClr val="2A2623"/>
                </a:solidFill>
                <a:latin typeface="Times New Roman"/>
                <a:cs typeface="Times New Roman"/>
              </a:rPr>
              <a:t>Lin</a:t>
            </a:r>
            <a:r>
              <a:rPr sz="1750" spc="55" dirty="0">
                <a:solidFill>
                  <a:srgbClr val="524D49"/>
                </a:solidFill>
                <a:latin typeface="Times New Roman"/>
                <a:cs typeface="Times New Roman"/>
              </a:rPr>
              <a:t>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22169" y="1665241"/>
            <a:ext cx="1097915" cy="7556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12065" algn="ctr">
              <a:lnSpc>
                <a:spcPts val="1820"/>
              </a:lnSpc>
              <a:spcBef>
                <a:spcPts val="405"/>
              </a:spcBef>
            </a:pPr>
            <a:r>
              <a:rPr sz="1750" spc="75" dirty="0">
                <a:solidFill>
                  <a:srgbClr val="423D38"/>
                </a:solidFill>
                <a:latin typeface="Times New Roman"/>
                <a:cs typeface="Times New Roman"/>
              </a:rPr>
              <a:t>Simple Linear </a:t>
            </a:r>
            <a:r>
              <a:rPr sz="1750" spc="45" dirty="0">
                <a:solidFill>
                  <a:srgbClr val="423D38"/>
                </a:solidFill>
                <a:latin typeface="Times New Roman"/>
                <a:cs typeface="Times New Roman"/>
              </a:rPr>
              <a:t>Regression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22169" y="3086737"/>
            <a:ext cx="1097915" cy="5251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9690" marR="5080" indent="-47625">
              <a:lnSpc>
                <a:spcPts val="1820"/>
              </a:lnSpc>
              <a:spcBef>
                <a:spcPts val="405"/>
              </a:spcBef>
            </a:pPr>
            <a:r>
              <a:rPr sz="1750" spc="45" dirty="0">
                <a:solidFill>
                  <a:srgbClr val="423D38"/>
                </a:solidFill>
                <a:latin typeface="Times New Roman"/>
                <a:cs typeface="Times New Roman"/>
              </a:rPr>
              <a:t>Regression </a:t>
            </a:r>
            <a:r>
              <a:rPr sz="1750" spc="70" dirty="0">
                <a:solidFill>
                  <a:srgbClr val="423D38"/>
                </a:solidFill>
                <a:latin typeface="Times New Roman"/>
                <a:cs typeface="Times New Roman"/>
              </a:rPr>
              <a:t>Equations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4191" y="3086737"/>
            <a:ext cx="1160780" cy="5251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33020">
              <a:lnSpc>
                <a:spcPts val="1820"/>
              </a:lnSpc>
              <a:spcBef>
                <a:spcPts val="405"/>
              </a:spcBef>
            </a:pPr>
            <a:r>
              <a:rPr sz="1750" spc="40" dirty="0">
                <a:solidFill>
                  <a:srgbClr val="423D38"/>
                </a:solidFill>
                <a:latin typeface="Times New Roman"/>
                <a:cs typeface="Times New Roman"/>
              </a:rPr>
              <a:t>Regression </a:t>
            </a:r>
            <a:r>
              <a:rPr sz="1750" spc="-10" dirty="0">
                <a:solidFill>
                  <a:srgbClr val="423D38"/>
                </a:solidFill>
                <a:latin typeface="Times New Roman"/>
                <a:cs typeface="Times New Roman"/>
              </a:rPr>
              <a:t>Coefficients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29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solidFill>
                  <a:srgbClr val="5D5D5D"/>
                </a:solidFill>
              </a:rPr>
              <a:t>R</a:t>
            </a:r>
            <a:r>
              <a:rPr sz="1800" dirty="0">
                <a:solidFill>
                  <a:srgbClr val="808287"/>
                </a:solidFill>
              </a:rPr>
              <a:t>EG</a:t>
            </a:r>
            <a:r>
              <a:rPr sz="1800" dirty="0">
                <a:solidFill>
                  <a:srgbClr val="5D5D5D"/>
                </a:solidFill>
              </a:rPr>
              <a:t>RE</a:t>
            </a:r>
            <a:r>
              <a:rPr sz="1800" dirty="0">
                <a:solidFill>
                  <a:srgbClr val="808287"/>
                </a:solidFill>
              </a:rPr>
              <a:t>SSI</a:t>
            </a:r>
            <a:r>
              <a:rPr sz="1800" dirty="0">
                <a:solidFill>
                  <a:srgbClr val="5D5D5D"/>
                </a:solidFill>
              </a:rPr>
              <a:t>O</a:t>
            </a:r>
            <a:r>
              <a:rPr sz="1800" dirty="0">
                <a:solidFill>
                  <a:srgbClr val="808287"/>
                </a:solidFill>
              </a:rPr>
              <a:t>N</a:t>
            </a:r>
            <a:r>
              <a:rPr sz="1800" spc="340" dirty="0">
                <a:solidFill>
                  <a:srgbClr val="808287"/>
                </a:solidFill>
              </a:rPr>
              <a:t> </a:t>
            </a:r>
            <a:r>
              <a:rPr sz="1800" spc="45" dirty="0">
                <a:solidFill>
                  <a:srgbClr val="5D5D5D"/>
                </a:solidFill>
              </a:rPr>
              <a:t>L</a:t>
            </a:r>
            <a:r>
              <a:rPr sz="1800" spc="45" dirty="0">
                <a:solidFill>
                  <a:srgbClr val="808287"/>
                </a:solidFill>
              </a:rPr>
              <a:t>INES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354170" y="1008919"/>
            <a:ext cx="4989830" cy="32448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92405" marR="13335" indent="-180340">
              <a:lnSpc>
                <a:spcPts val="1820"/>
              </a:lnSpc>
              <a:spcBef>
                <a:spcPts val="204"/>
              </a:spcBef>
              <a:buClr>
                <a:srgbClr val="EF995B"/>
              </a:buClr>
              <a:buChar char="o"/>
              <a:tabLst>
                <a:tab pos="186690" algn="l"/>
              </a:tabLst>
            </a:pPr>
            <a:r>
              <a:rPr sz="1550" spc="55" dirty="0">
                <a:solidFill>
                  <a:srgbClr val="343434"/>
                </a:solidFill>
                <a:latin typeface="Times New Roman"/>
                <a:cs typeface="Times New Roman"/>
              </a:rPr>
              <a:t>Th</a:t>
            </a:r>
            <a:r>
              <a:rPr sz="1550" spc="55" dirty="0">
                <a:solidFill>
                  <a:srgbClr val="5D5D5D"/>
                </a:solidFill>
                <a:latin typeface="Times New Roman"/>
                <a:cs typeface="Times New Roman"/>
              </a:rPr>
              <a:t>e</a:t>
            </a:r>
            <a:r>
              <a:rPr sz="1550" spc="10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550" spc="10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65" dirty="0">
                <a:solidFill>
                  <a:srgbClr val="484848"/>
                </a:solidFill>
                <a:latin typeface="Times New Roman"/>
                <a:cs typeface="Times New Roman"/>
              </a:rPr>
              <a:t>line</a:t>
            </a:r>
            <a:r>
              <a:rPr sz="1550" spc="-6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D5D5D"/>
                </a:solidFill>
                <a:latin typeface="Times New Roman"/>
                <a:cs typeface="Times New Roman"/>
              </a:rPr>
              <a:t>shows</a:t>
            </a:r>
            <a:r>
              <a:rPr sz="1550" spc="11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the</a:t>
            </a:r>
            <a:r>
              <a:rPr sz="1550" spc="13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70" dirty="0">
                <a:solidFill>
                  <a:srgbClr val="484848"/>
                </a:solidFill>
                <a:latin typeface="Times New Roman"/>
                <a:cs typeface="Times New Roman"/>
              </a:rPr>
              <a:t>average</a:t>
            </a:r>
            <a:r>
              <a:rPr sz="1550" spc="50" dirty="0">
                <a:solidFill>
                  <a:srgbClr val="484848"/>
                </a:solidFill>
                <a:latin typeface="Times New Roman"/>
                <a:cs typeface="Times New Roman"/>
              </a:rPr>
              <a:t> relationship </a:t>
            </a:r>
            <a:r>
              <a:rPr sz="1550" spc="45" dirty="0">
                <a:solidFill>
                  <a:srgbClr val="484848"/>
                </a:solidFill>
                <a:latin typeface="Times New Roman"/>
                <a:cs typeface="Times New Roman"/>
              </a:rPr>
              <a:t>between</a:t>
            </a:r>
            <a:r>
              <a:rPr sz="1550" spc="19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two</a:t>
            </a:r>
            <a:r>
              <a:rPr sz="1550" spc="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60" dirty="0">
                <a:solidFill>
                  <a:srgbClr val="484848"/>
                </a:solidFill>
                <a:latin typeface="Times New Roman"/>
                <a:cs typeface="Times New Roman"/>
              </a:rPr>
              <a:t>variables.</a:t>
            </a:r>
            <a:r>
              <a:rPr sz="1550" spc="4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343434"/>
                </a:solidFill>
                <a:latin typeface="Times New Roman"/>
                <a:cs typeface="Times New Roman"/>
              </a:rPr>
              <a:t>It</a:t>
            </a:r>
            <a:r>
              <a:rPr sz="1550" spc="17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484848"/>
                </a:solidFill>
                <a:latin typeface="Times New Roman"/>
                <a:cs typeface="Times New Roman"/>
              </a:rPr>
              <a:t>is</a:t>
            </a:r>
            <a:r>
              <a:rPr sz="1550" spc="7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also</a:t>
            </a:r>
            <a:r>
              <a:rPr sz="1550" spc="-5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484848"/>
                </a:solidFill>
                <a:latin typeface="Times New Roman"/>
                <a:cs typeface="Times New Roman"/>
              </a:rPr>
              <a:t>called</a:t>
            </a:r>
            <a:r>
              <a:rPr sz="1550" spc="-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60" dirty="0">
                <a:solidFill>
                  <a:srgbClr val="343434"/>
                </a:solidFill>
                <a:latin typeface="Times New Roman"/>
                <a:cs typeface="Times New Roman"/>
              </a:rPr>
              <a:t>Line</a:t>
            </a:r>
            <a:r>
              <a:rPr sz="1550" spc="-2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of</a:t>
            </a:r>
            <a:r>
              <a:rPr sz="1550" spc="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70" dirty="0">
                <a:solidFill>
                  <a:srgbClr val="484848"/>
                </a:solidFill>
                <a:latin typeface="Times New Roman"/>
                <a:cs typeface="Times New Roman"/>
              </a:rPr>
              <a:t>Best</a:t>
            </a:r>
            <a:r>
              <a:rPr sz="1550" spc="4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60" dirty="0">
                <a:solidFill>
                  <a:srgbClr val="484848"/>
                </a:solidFill>
                <a:latin typeface="Times New Roman"/>
                <a:cs typeface="Times New Roman"/>
              </a:rPr>
              <a:t>Fit.</a:t>
            </a:r>
            <a:endParaRPr sz="1550">
              <a:latin typeface="Times New Roman"/>
              <a:cs typeface="Times New Roman"/>
            </a:endParaRPr>
          </a:p>
          <a:p>
            <a:pPr marL="200025" marR="313055" indent="-187960">
              <a:lnSpc>
                <a:spcPts val="1820"/>
              </a:lnSpc>
              <a:spcBef>
                <a:spcPts val="295"/>
              </a:spcBef>
              <a:buClr>
                <a:srgbClr val="EF995B"/>
              </a:buClr>
              <a:buSzPct val="96875"/>
              <a:buChar char="o"/>
              <a:tabLst>
                <a:tab pos="187325" algn="l"/>
              </a:tabLst>
            </a:pPr>
            <a:r>
              <a:rPr sz="1600" dirty="0">
                <a:solidFill>
                  <a:srgbClr val="484848"/>
                </a:solidFill>
                <a:latin typeface="Times New Roman"/>
                <a:cs typeface="Times New Roman"/>
              </a:rPr>
              <a:t>If</a:t>
            </a:r>
            <a:r>
              <a:rPr sz="1600" spc="114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two</a:t>
            </a:r>
            <a:r>
              <a:rPr sz="1550" spc="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65" dirty="0">
                <a:solidFill>
                  <a:srgbClr val="484848"/>
                </a:solidFill>
                <a:latin typeface="Times New Roman"/>
                <a:cs typeface="Times New Roman"/>
              </a:rPr>
              <a:t>variables</a:t>
            </a:r>
            <a:r>
              <a:rPr sz="1550" spc="4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X</a:t>
            </a:r>
            <a:r>
              <a:rPr sz="1550" spc="-4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84848"/>
                </a:solidFill>
                <a:latin typeface="Arial"/>
                <a:cs typeface="Arial"/>
              </a:rPr>
              <a:t>&amp;</a:t>
            </a:r>
            <a:r>
              <a:rPr sz="1500" spc="165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1550" spc="100" dirty="0">
                <a:solidFill>
                  <a:srgbClr val="484848"/>
                </a:solidFill>
                <a:latin typeface="Times New Roman"/>
                <a:cs typeface="Times New Roman"/>
              </a:rPr>
              <a:t>Y</a:t>
            </a:r>
            <a:r>
              <a:rPr sz="1550" spc="-12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484848"/>
                </a:solidFill>
                <a:latin typeface="Times New Roman"/>
                <a:cs typeface="Times New Roman"/>
              </a:rPr>
              <a:t>are</a:t>
            </a:r>
            <a:r>
              <a:rPr sz="1550" spc="229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given,</a:t>
            </a:r>
            <a:r>
              <a:rPr sz="1550" spc="16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90" dirty="0">
                <a:solidFill>
                  <a:srgbClr val="484848"/>
                </a:solidFill>
                <a:latin typeface="Times New Roman"/>
                <a:cs typeface="Times New Roman"/>
              </a:rPr>
              <a:t>then</a:t>
            </a:r>
            <a:r>
              <a:rPr sz="1550" spc="6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100" dirty="0">
                <a:solidFill>
                  <a:srgbClr val="484848"/>
                </a:solidFill>
                <a:latin typeface="Times New Roman"/>
                <a:cs typeface="Times New Roman"/>
              </a:rPr>
              <a:t>there</a:t>
            </a:r>
            <a:r>
              <a:rPr sz="1550" spc="-5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105" dirty="0">
                <a:solidFill>
                  <a:srgbClr val="484848"/>
                </a:solidFill>
                <a:latin typeface="Times New Roman"/>
                <a:cs typeface="Times New Roman"/>
              </a:rPr>
              <a:t>are</a:t>
            </a:r>
            <a:r>
              <a:rPr sz="1550" spc="10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484848"/>
                </a:solidFill>
                <a:latin typeface="Times New Roman"/>
                <a:cs typeface="Times New Roman"/>
              </a:rPr>
              <a:t>two </a:t>
            </a:r>
            <a:r>
              <a:rPr sz="1550" spc="45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550" spc="8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343434"/>
                </a:solidFill>
                <a:latin typeface="Times New Roman"/>
                <a:cs typeface="Times New Roman"/>
              </a:rPr>
              <a:t>line</a:t>
            </a:r>
            <a:r>
              <a:rPr sz="1550" spc="55" dirty="0">
                <a:solidFill>
                  <a:srgbClr val="5D5D5D"/>
                </a:solidFill>
                <a:latin typeface="Times New Roman"/>
                <a:cs typeface="Times New Roman"/>
              </a:rPr>
              <a:t>s:</a:t>
            </a:r>
            <a:endParaRPr sz="1550">
              <a:latin typeface="Times New Roman"/>
              <a:cs typeface="Times New Roman"/>
            </a:endParaRPr>
          </a:p>
          <a:p>
            <a:pPr marL="438150" lvl="1" indent="-189230">
              <a:lnSpc>
                <a:spcPct val="100000"/>
              </a:lnSpc>
              <a:spcBef>
                <a:spcPts val="220"/>
              </a:spcBef>
              <a:buClr>
                <a:srgbClr val="F27E2B"/>
              </a:buClr>
              <a:buChar char="•"/>
              <a:tabLst>
                <a:tab pos="438784" algn="l"/>
              </a:tabLst>
            </a:pP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300" spc="31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60" dirty="0">
                <a:solidFill>
                  <a:srgbClr val="484848"/>
                </a:solidFill>
                <a:latin typeface="Times New Roman"/>
                <a:cs typeface="Times New Roman"/>
              </a:rPr>
              <a:t>Line</a:t>
            </a:r>
            <a:r>
              <a:rPr sz="1300" spc="4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o</a:t>
            </a:r>
            <a:r>
              <a:rPr sz="1300" dirty="0">
                <a:solidFill>
                  <a:srgbClr val="343434"/>
                </a:solidFill>
                <a:latin typeface="Times New Roman"/>
                <a:cs typeface="Times New Roman"/>
              </a:rPr>
              <a:t>f</a:t>
            </a:r>
            <a:r>
              <a:rPr sz="1300" spc="12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X</a:t>
            </a:r>
            <a:r>
              <a:rPr sz="1300" spc="3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on</a:t>
            </a:r>
            <a:r>
              <a:rPr sz="1300" spc="21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484848"/>
                </a:solidFill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marL="438150" lvl="1" indent="-189230">
              <a:lnSpc>
                <a:spcPct val="100000"/>
              </a:lnSpc>
              <a:spcBef>
                <a:spcPts val="254"/>
              </a:spcBef>
              <a:buClr>
                <a:srgbClr val="F27E2B"/>
              </a:buClr>
              <a:buChar char="•"/>
              <a:tabLst>
                <a:tab pos="438150" algn="l"/>
                <a:tab pos="438784" algn="l"/>
              </a:tabLst>
            </a:pP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300" spc="22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85" dirty="0">
                <a:solidFill>
                  <a:srgbClr val="5D5D5D"/>
                </a:solidFill>
                <a:latin typeface="Times New Roman"/>
                <a:cs typeface="Times New Roman"/>
              </a:rPr>
              <a:t>Line</a:t>
            </a:r>
            <a:r>
              <a:rPr sz="1300" spc="2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of</a:t>
            </a:r>
            <a:r>
              <a:rPr sz="1300" spc="10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Y</a:t>
            </a:r>
            <a:r>
              <a:rPr sz="1300" spc="4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on</a:t>
            </a:r>
            <a:r>
              <a:rPr sz="1300" spc="229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484848"/>
                </a:solidFill>
                <a:latin typeface="Times New Roman"/>
                <a:cs typeface="Times New Roman"/>
              </a:rPr>
              <a:t>X</a:t>
            </a:r>
            <a:endParaRPr sz="1300">
              <a:latin typeface="Times New Roman"/>
              <a:cs typeface="Times New Roman"/>
            </a:endParaRPr>
          </a:p>
          <a:p>
            <a:pPr marL="203835" indent="-191770">
              <a:lnSpc>
                <a:spcPct val="100000"/>
              </a:lnSpc>
              <a:spcBef>
                <a:spcPts val="305"/>
              </a:spcBef>
              <a:buClr>
                <a:srgbClr val="EF995B"/>
              </a:buClr>
              <a:buChar char="o"/>
              <a:tabLst>
                <a:tab pos="204470" algn="l"/>
              </a:tabLst>
            </a:pPr>
            <a:r>
              <a:rPr sz="1550" spc="85" dirty="0">
                <a:solidFill>
                  <a:srgbClr val="484848"/>
                </a:solidFill>
                <a:latin typeface="Times New Roman"/>
                <a:cs typeface="Times New Roman"/>
              </a:rPr>
              <a:t>Nature</a:t>
            </a:r>
            <a:r>
              <a:rPr sz="1550" spc="6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of</a:t>
            </a:r>
            <a:r>
              <a:rPr sz="1550" spc="13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550" spc="28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484848"/>
                </a:solidFill>
                <a:latin typeface="Times New Roman"/>
                <a:cs typeface="Times New Roman"/>
              </a:rPr>
              <a:t>Lines</a:t>
            </a:r>
            <a:endParaRPr sz="1550">
              <a:latin typeface="Times New Roman"/>
              <a:cs typeface="Times New Roman"/>
            </a:endParaRPr>
          </a:p>
          <a:p>
            <a:pPr marL="424815" lvl="1" indent="-175895">
              <a:lnSpc>
                <a:spcPct val="100000"/>
              </a:lnSpc>
              <a:spcBef>
                <a:spcPts val="234"/>
              </a:spcBef>
              <a:buClr>
                <a:srgbClr val="F27E2B"/>
              </a:buClr>
              <a:buChar char="•"/>
              <a:tabLst>
                <a:tab pos="425450" algn="l"/>
              </a:tabLst>
            </a:pPr>
            <a:r>
              <a:rPr sz="1350" dirty="0">
                <a:solidFill>
                  <a:srgbClr val="5D5D5D"/>
                </a:solidFill>
                <a:latin typeface="Arial"/>
                <a:cs typeface="Arial"/>
              </a:rPr>
              <a:t>If</a:t>
            </a:r>
            <a:r>
              <a:rPr sz="1350" spc="240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r</a:t>
            </a:r>
            <a:r>
              <a:rPr sz="1300" spc="6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343434"/>
                </a:solidFill>
                <a:latin typeface="Arial"/>
                <a:cs typeface="Arial"/>
              </a:rPr>
              <a:t>=</a:t>
            </a:r>
            <a:r>
              <a:rPr sz="1350" spc="-10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808287"/>
                </a:solidFill>
                <a:latin typeface="Times New Roman"/>
                <a:cs typeface="Times New Roman"/>
              </a:rPr>
              <a:t>±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1,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105" dirty="0">
                <a:solidFill>
                  <a:srgbClr val="484848"/>
                </a:solidFill>
                <a:latin typeface="Times New Roman"/>
                <a:cs typeface="Times New Roman"/>
              </a:rPr>
              <a:t>then</a:t>
            </a:r>
            <a:r>
              <a:rPr sz="1300" spc="9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100" dirty="0">
                <a:solidFill>
                  <a:srgbClr val="5D5D5D"/>
                </a:solidFill>
                <a:latin typeface="Times New Roman"/>
                <a:cs typeface="Times New Roman"/>
              </a:rPr>
              <a:t>the</a:t>
            </a:r>
            <a:r>
              <a:rPr sz="1300" spc="-3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5D5D5D"/>
                </a:solidFill>
                <a:latin typeface="Times New Roman"/>
                <a:cs typeface="Times New Roman"/>
              </a:rPr>
              <a:t>two</a:t>
            </a:r>
            <a:r>
              <a:rPr sz="1300" spc="6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5D5D5D"/>
                </a:solidFill>
                <a:latin typeface="Times New Roman"/>
                <a:cs typeface="Times New Roman"/>
              </a:rPr>
              <a:t>regression</a:t>
            </a:r>
            <a:r>
              <a:rPr sz="1300" spc="13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5D5D5D"/>
                </a:solidFill>
                <a:latin typeface="Times New Roman"/>
                <a:cs typeface="Times New Roman"/>
              </a:rPr>
              <a:t>lines</a:t>
            </a:r>
            <a:r>
              <a:rPr sz="1300" spc="-5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5D5D5D"/>
                </a:solidFill>
                <a:latin typeface="Times New Roman"/>
                <a:cs typeface="Times New Roman"/>
              </a:rPr>
              <a:t>are</a:t>
            </a:r>
            <a:r>
              <a:rPr sz="1300" spc="13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40" dirty="0">
                <a:solidFill>
                  <a:srgbClr val="5D5D5D"/>
                </a:solidFill>
                <a:latin typeface="Times New Roman"/>
                <a:cs typeface="Times New Roman"/>
              </a:rPr>
              <a:t>coincident.</a:t>
            </a:r>
            <a:endParaRPr sz="1300">
              <a:latin typeface="Times New Roman"/>
              <a:cs typeface="Times New Roman"/>
            </a:endParaRPr>
          </a:p>
          <a:p>
            <a:pPr marL="434340" marR="81915" lvl="1" indent="-184785">
              <a:lnSpc>
                <a:spcPct val="100000"/>
              </a:lnSpc>
              <a:spcBef>
                <a:spcPts val="145"/>
              </a:spcBef>
              <a:buClr>
                <a:srgbClr val="F27E2B"/>
              </a:buClr>
              <a:buChar char="•"/>
              <a:tabLst>
                <a:tab pos="425450" algn="l"/>
              </a:tabLst>
            </a:pPr>
            <a:r>
              <a:rPr sz="1350" dirty="0">
                <a:solidFill>
                  <a:srgbClr val="5D5D5D"/>
                </a:solidFill>
                <a:latin typeface="Arial"/>
                <a:cs typeface="Arial"/>
              </a:rPr>
              <a:t>If</a:t>
            </a:r>
            <a:r>
              <a:rPr sz="1350" spc="215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r</a:t>
            </a:r>
            <a:r>
              <a:rPr sz="1300" spc="4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5D5D5D"/>
                </a:solidFill>
                <a:latin typeface="Arial"/>
                <a:cs typeface="Arial"/>
              </a:rPr>
              <a:t>=</a:t>
            </a:r>
            <a:r>
              <a:rPr sz="1400" spc="-130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300" spc="65" dirty="0">
                <a:solidFill>
                  <a:srgbClr val="484848"/>
                </a:solidFill>
                <a:latin typeface="Times New Roman"/>
                <a:cs typeface="Times New Roman"/>
              </a:rPr>
              <a:t>0</a:t>
            </a:r>
            <a:r>
              <a:rPr sz="1300" spc="65" dirty="0">
                <a:solidFill>
                  <a:srgbClr val="808287"/>
                </a:solidFill>
                <a:latin typeface="Times New Roman"/>
                <a:cs typeface="Times New Roman"/>
              </a:rPr>
              <a:t>,</a:t>
            </a:r>
            <a:r>
              <a:rPr sz="1300" spc="40" dirty="0">
                <a:solidFill>
                  <a:srgbClr val="808287"/>
                </a:solidFill>
                <a:latin typeface="Times New Roman"/>
                <a:cs typeface="Times New Roman"/>
              </a:rPr>
              <a:t> </a:t>
            </a:r>
            <a:r>
              <a:rPr sz="1300" spc="105" dirty="0">
                <a:solidFill>
                  <a:srgbClr val="484848"/>
                </a:solidFill>
                <a:latin typeface="Times New Roman"/>
                <a:cs typeface="Times New Roman"/>
              </a:rPr>
              <a:t>then</a:t>
            </a:r>
            <a:r>
              <a:rPr sz="1300" spc="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100" dirty="0">
                <a:solidFill>
                  <a:srgbClr val="484848"/>
                </a:solidFill>
                <a:latin typeface="Times New Roman"/>
                <a:cs typeface="Times New Roman"/>
              </a:rPr>
              <a:t>the</a:t>
            </a:r>
            <a:r>
              <a:rPr sz="1300" spc="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5D5D5D"/>
                </a:solidFill>
                <a:latin typeface="Times New Roman"/>
                <a:cs typeface="Times New Roman"/>
              </a:rPr>
              <a:t>two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300" spc="12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5D5D5D"/>
                </a:solidFill>
                <a:latin typeface="Times New Roman"/>
                <a:cs typeface="Times New Roman"/>
              </a:rPr>
              <a:t>lines</a:t>
            </a:r>
            <a:r>
              <a:rPr sz="1300" spc="-5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80" dirty="0">
                <a:solidFill>
                  <a:srgbClr val="484848"/>
                </a:solidFill>
                <a:latin typeface="Times New Roman"/>
                <a:cs typeface="Times New Roman"/>
              </a:rPr>
              <a:t>intersect</a:t>
            </a:r>
            <a:r>
              <a:rPr sz="1300" spc="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5D5D5D"/>
                </a:solidFill>
                <a:latin typeface="Times New Roman"/>
                <a:cs typeface="Times New Roman"/>
              </a:rPr>
              <a:t>each</a:t>
            </a:r>
            <a:r>
              <a:rPr sz="1300" spc="-2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90" dirty="0">
                <a:solidFill>
                  <a:srgbClr val="5D5D5D"/>
                </a:solidFill>
                <a:latin typeface="Times New Roman"/>
                <a:cs typeface="Times New Roman"/>
              </a:rPr>
              <a:t>other</a:t>
            </a:r>
            <a:r>
              <a:rPr sz="1300" spc="-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at </a:t>
            </a:r>
            <a:r>
              <a:rPr sz="1300" spc="35" dirty="0">
                <a:solidFill>
                  <a:srgbClr val="5D5D5D"/>
                </a:solidFill>
                <a:latin typeface="Times New Roman"/>
                <a:cs typeface="Times New Roman"/>
              </a:rPr>
              <a:t>90°.</a:t>
            </a:r>
            <a:endParaRPr sz="1300">
              <a:latin typeface="Times New Roman"/>
              <a:cs typeface="Times New Roman"/>
            </a:endParaRPr>
          </a:p>
          <a:p>
            <a:pPr marL="440055" marR="5080" lvl="1" indent="-190500">
              <a:lnSpc>
                <a:spcPts val="1510"/>
              </a:lnSpc>
              <a:spcBef>
                <a:spcPts val="355"/>
              </a:spcBef>
              <a:buClr>
                <a:srgbClr val="F27E2B"/>
              </a:buClr>
              <a:buChar char="•"/>
              <a:tabLst>
                <a:tab pos="427355" algn="l"/>
              </a:tabLst>
            </a:pPr>
            <a:r>
              <a:rPr sz="1300" spc="70" dirty="0">
                <a:solidFill>
                  <a:srgbClr val="484848"/>
                </a:solidFill>
                <a:latin typeface="Times New Roman"/>
                <a:cs typeface="Times New Roman"/>
              </a:rPr>
              <a:t>The</a:t>
            </a:r>
            <a:r>
              <a:rPr sz="1300" spc="18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90" dirty="0">
                <a:solidFill>
                  <a:srgbClr val="484848"/>
                </a:solidFill>
                <a:latin typeface="Times New Roman"/>
                <a:cs typeface="Times New Roman"/>
              </a:rPr>
              <a:t>nearer</a:t>
            </a:r>
            <a:r>
              <a:rPr sz="1300" spc="6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90" dirty="0">
                <a:solidFill>
                  <a:srgbClr val="5D5D5D"/>
                </a:solidFill>
                <a:latin typeface="Times New Roman"/>
                <a:cs typeface="Times New Roman"/>
              </a:rPr>
              <a:t>the</a:t>
            </a:r>
            <a:r>
              <a:rPr sz="1300" spc="7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regress</a:t>
            </a:r>
            <a:r>
              <a:rPr sz="1300" spc="50" dirty="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on</a:t>
            </a:r>
            <a:r>
              <a:rPr sz="1300" spc="16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484848"/>
                </a:solidFill>
                <a:latin typeface="Times New Roman"/>
                <a:cs typeface="Times New Roman"/>
              </a:rPr>
              <a:t>Lines</a:t>
            </a:r>
            <a:r>
              <a:rPr sz="1300" spc="-6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are</a:t>
            </a:r>
            <a:r>
              <a:rPr sz="1300" spc="459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to</a:t>
            </a:r>
            <a:r>
              <a:rPr sz="1300" spc="18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eac</a:t>
            </a:r>
            <a:r>
              <a:rPr sz="1300" dirty="0">
                <a:solidFill>
                  <a:srgbClr val="343434"/>
                </a:solidFill>
                <a:latin typeface="Times New Roman"/>
                <a:cs typeface="Times New Roman"/>
              </a:rPr>
              <a:t>h</a:t>
            </a:r>
            <a:r>
              <a:rPr sz="1300" spc="14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5D5D5D"/>
                </a:solidFill>
                <a:latin typeface="Times New Roman"/>
                <a:cs typeface="Times New Roman"/>
              </a:rPr>
              <a:t>other,</a:t>
            </a:r>
            <a:r>
              <a:rPr sz="1300" spc="3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5D5D5D"/>
                </a:solidFill>
                <a:latin typeface="Times New Roman"/>
                <a:cs typeface="Times New Roman"/>
              </a:rPr>
              <a:t>the</a:t>
            </a:r>
            <a:r>
              <a:rPr sz="1300" spc="9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5D5D5D"/>
                </a:solidFill>
                <a:latin typeface="Times New Roman"/>
                <a:cs typeface="Times New Roman"/>
              </a:rPr>
              <a:t>greater </a:t>
            </a:r>
            <a:r>
              <a:rPr sz="1300" spc="50" dirty="0">
                <a:solidFill>
                  <a:srgbClr val="5D5D5D"/>
                </a:solidFill>
                <a:latin typeface="Times New Roman"/>
                <a:cs typeface="Times New Roman"/>
              </a:rPr>
              <a:t>will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65" dirty="0">
                <a:solidFill>
                  <a:srgbClr val="5D5D5D"/>
                </a:solidFill>
                <a:latin typeface="Times New Roman"/>
                <a:cs typeface="Times New Roman"/>
              </a:rPr>
              <a:t>be</a:t>
            </a:r>
            <a:r>
              <a:rPr sz="1300" spc="-4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5D5D5D"/>
                </a:solidFill>
                <a:latin typeface="Times New Roman"/>
                <a:cs typeface="Times New Roman"/>
              </a:rPr>
              <a:t>the</a:t>
            </a:r>
            <a:r>
              <a:rPr sz="1300" spc="15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484848"/>
                </a:solidFill>
                <a:latin typeface="Times New Roman"/>
                <a:cs typeface="Times New Roman"/>
              </a:rPr>
              <a:t>degree</a:t>
            </a:r>
            <a:r>
              <a:rPr sz="1300" spc="-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of</a:t>
            </a:r>
            <a:r>
              <a:rPr sz="1300" spc="1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45" dirty="0">
                <a:solidFill>
                  <a:srgbClr val="5D5D5D"/>
                </a:solidFill>
                <a:latin typeface="Times New Roman"/>
                <a:cs typeface="Times New Roman"/>
              </a:rPr>
              <a:t>correlation.</a:t>
            </a:r>
            <a:endParaRPr sz="1300">
              <a:latin typeface="Times New Roman"/>
              <a:cs typeface="Times New Roman"/>
            </a:endParaRPr>
          </a:p>
          <a:p>
            <a:pPr marL="434975" marR="546735" lvl="1" indent="-186055">
              <a:lnSpc>
                <a:spcPts val="1510"/>
              </a:lnSpc>
              <a:spcBef>
                <a:spcPts val="305"/>
              </a:spcBef>
              <a:buClr>
                <a:srgbClr val="F27E2B"/>
              </a:buClr>
              <a:buChar char="•"/>
              <a:tabLst>
                <a:tab pos="425450" algn="l"/>
              </a:tabLst>
            </a:pPr>
            <a:r>
              <a:rPr sz="1350" dirty="0">
                <a:solidFill>
                  <a:srgbClr val="5D5D5D"/>
                </a:solidFill>
                <a:latin typeface="Arial"/>
                <a:cs typeface="Arial"/>
              </a:rPr>
              <a:t>If</a:t>
            </a:r>
            <a:r>
              <a:rPr sz="1350" spc="215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484848"/>
                </a:solidFill>
                <a:latin typeface="Times New Roman"/>
                <a:cs typeface="Times New Roman"/>
              </a:rPr>
              <a:t>regression</a:t>
            </a:r>
            <a:r>
              <a:rPr sz="1300" spc="7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85" dirty="0">
                <a:solidFill>
                  <a:srgbClr val="5D5D5D"/>
                </a:solidFill>
                <a:latin typeface="Times New Roman"/>
                <a:cs typeface="Times New Roman"/>
              </a:rPr>
              <a:t>lines</a:t>
            </a:r>
            <a:r>
              <a:rPr sz="1300" spc="-2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5D5D5D"/>
                </a:solidFill>
                <a:latin typeface="Times New Roman"/>
                <a:cs typeface="Times New Roman"/>
              </a:rPr>
              <a:t>rise</a:t>
            </a:r>
            <a:r>
              <a:rPr sz="1300" spc="-7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60" dirty="0">
                <a:solidFill>
                  <a:srgbClr val="5D5D5D"/>
                </a:solidFill>
                <a:latin typeface="Times New Roman"/>
                <a:cs typeface="Times New Roman"/>
              </a:rPr>
              <a:t>from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484848"/>
                </a:solidFill>
                <a:latin typeface="Times New Roman"/>
                <a:cs typeface="Times New Roman"/>
              </a:rPr>
              <a:t>left</a:t>
            </a:r>
            <a:r>
              <a:rPr sz="1300" spc="9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484848"/>
                </a:solidFill>
                <a:latin typeface="Times New Roman"/>
                <a:cs typeface="Times New Roman"/>
              </a:rPr>
              <a:t>to</a:t>
            </a:r>
            <a:r>
              <a:rPr sz="1300" spc="4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80" dirty="0">
                <a:solidFill>
                  <a:srgbClr val="5D5D5D"/>
                </a:solidFill>
                <a:latin typeface="Times New Roman"/>
                <a:cs typeface="Times New Roman"/>
              </a:rPr>
              <a:t>right</a:t>
            </a:r>
            <a:r>
              <a:rPr sz="1300" spc="6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75" dirty="0">
                <a:solidFill>
                  <a:srgbClr val="484848"/>
                </a:solidFill>
                <a:latin typeface="Times New Roman"/>
                <a:cs typeface="Times New Roman"/>
              </a:rPr>
              <a:t>upward,</a:t>
            </a:r>
            <a:r>
              <a:rPr sz="1300" spc="9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300" spc="85" dirty="0">
                <a:solidFill>
                  <a:srgbClr val="5D5D5D"/>
                </a:solidFill>
                <a:latin typeface="Times New Roman"/>
                <a:cs typeface="Times New Roman"/>
              </a:rPr>
              <a:t>then </a:t>
            </a:r>
            <a:r>
              <a:rPr sz="1300" spc="55" dirty="0">
                <a:solidFill>
                  <a:srgbClr val="5D5D5D"/>
                </a:solidFill>
                <a:latin typeface="Times New Roman"/>
                <a:cs typeface="Times New Roman"/>
              </a:rPr>
              <a:t>correlation</a:t>
            </a:r>
            <a:r>
              <a:rPr sz="1300" spc="125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5D5D5D"/>
                </a:solidFill>
                <a:latin typeface="Times New Roman"/>
                <a:cs typeface="Times New Roman"/>
              </a:rPr>
              <a:t>is</a:t>
            </a:r>
            <a:r>
              <a:rPr sz="1300" spc="170" dirty="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484848"/>
                </a:solidFill>
                <a:latin typeface="Times New Roman"/>
                <a:cs typeface="Times New Roman"/>
              </a:rPr>
              <a:t>positive.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347717" y="560699"/>
                <a:ext cx="5411098" cy="2247859"/>
              </a:xfrm>
              <a:prstGeom prst="rect">
                <a:avLst/>
              </a:prstGeom>
            </p:spPr>
            <p:txBody>
              <a:bodyPr vert="horz" wrap="square" lIns="0" tIns="1460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15"/>
                  </a:spcBef>
                </a:pPr>
                <a:r>
                  <a:rPr lang="en-US" sz="1750" dirty="0">
                    <a:solidFill>
                      <a:srgbClr val="6B6E70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750" spc="140" dirty="0">
                    <a:solidFill>
                      <a:srgbClr val="6B6E70"/>
                    </a:solidFill>
                    <a:latin typeface="Times New Roman"/>
                    <a:cs typeface="Times New Roman"/>
                  </a:rPr>
                  <a:t>  </a:t>
                </a:r>
                <a:r>
                  <a:rPr lang="en-US" sz="1750" spc="-10" dirty="0">
                    <a:solidFill>
                      <a:srgbClr val="6B6E70"/>
                    </a:solidFill>
                    <a:latin typeface="Times New Roman"/>
                    <a:cs typeface="Times New Roman"/>
                  </a:rPr>
                  <a:t>EQUATIONS</a:t>
                </a:r>
                <a:endParaRPr lang="en-US" sz="1750" dirty="0">
                  <a:latin typeface="Times New Roman"/>
                  <a:cs typeface="Times New Roman"/>
                </a:endParaRPr>
              </a:p>
              <a:p>
                <a:pPr marL="189865" marR="5080" indent="-172085">
                  <a:lnSpc>
                    <a:spcPts val="1970"/>
                  </a:lnSpc>
                  <a:spcBef>
                    <a:spcPts val="1550"/>
                  </a:spcBef>
                  <a:buClr>
                    <a:srgbClr val="DD9762"/>
                  </a:buClr>
                  <a:buChar char="o"/>
                  <a:tabLst>
                    <a:tab pos="194945" algn="l"/>
                  </a:tabLst>
                </a:pPr>
                <a:r>
                  <a:rPr lang="en-US" sz="1700" dirty="0">
                    <a:solidFill>
                      <a:srgbClr val="282828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7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egression</a:t>
                </a:r>
                <a:r>
                  <a:rPr lang="en-US" sz="1700" spc="25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75" dirty="0">
                    <a:solidFill>
                      <a:srgbClr val="282828"/>
                    </a:solidFill>
                    <a:latin typeface="Times New Roman"/>
                    <a:cs typeface="Times New Roman"/>
                  </a:rPr>
                  <a:t>Equ</a:t>
                </a:r>
                <a:r>
                  <a:rPr lang="en-US" sz="1700" spc="7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ations</a:t>
                </a:r>
                <a:r>
                  <a:rPr lang="en-US" sz="1700" spc="17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6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lang="en-US" sz="1700" spc="22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6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US" sz="1700" spc="204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3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algebraic </a:t>
                </a:r>
                <a:r>
                  <a:rPr lang="en-US" sz="1700" spc="5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formu</a:t>
                </a:r>
                <a:r>
                  <a:rPr lang="en-US" sz="1700" spc="55" dirty="0">
                    <a:solidFill>
                      <a:srgbClr val="282828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US" sz="1700" spc="5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ation</a:t>
                </a:r>
                <a:r>
                  <a:rPr lang="en-US" sz="1700" spc="6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US" sz="1700" spc="2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5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regression </a:t>
                </a:r>
                <a:r>
                  <a:rPr lang="en-US" sz="1700" spc="6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lines</a:t>
                </a:r>
                <a:r>
                  <a:rPr lang="en-US" sz="1700" spc="60" dirty="0">
                    <a:solidFill>
                      <a:srgbClr val="111111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700" dirty="0">
                  <a:latin typeface="Times New Roman"/>
                  <a:cs typeface="Times New Roman"/>
                </a:endParaRPr>
              </a:p>
              <a:p>
                <a:pPr marL="191770" indent="-173990">
                  <a:lnSpc>
                    <a:spcPct val="100000"/>
                  </a:lnSpc>
                  <a:spcBef>
                    <a:spcPts val="170"/>
                  </a:spcBef>
                  <a:buClr>
                    <a:srgbClr val="DD9762"/>
                  </a:buClr>
                  <a:buChar char="o"/>
                  <a:tabLst>
                    <a:tab pos="192405" algn="l"/>
                  </a:tabLst>
                </a:pPr>
                <a:r>
                  <a:rPr lang="en-US" sz="1700" spc="80" dirty="0">
                    <a:solidFill>
                      <a:srgbClr val="282828"/>
                    </a:solidFill>
                    <a:latin typeface="Times New Roman"/>
                    <a:cs typeface="Times New Roman"/>
                  </a:rPr>
                  <a:t>Th</a:t>
                </a:r>
                <a:r>
                  <a:rPr lang="en-US" sz="1700" spc="8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ere</a:t>
                </a:r>
                <a:r>
                  <a:rPr lang="en-US" sz="1700" spc="7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6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lang="en-US" sz="1700" spc="12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5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two</a:t>
                </a:r>
                <a:r>
                  <a:rPr lang="en-US" sz="1700" spc="-6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5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700" spc="10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700" spc="5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equations:</a:t>
                </a:r>
                <a:endParaRPr lang="en-US" sz="1700" dirty="0">
                  <a:latin typeface="Times New Roman"/>
                  <a:cs typeface="Times New Roman"/>
                </a:endParaRPr>
              </a:p>
              <a:p>
                <a:pPr marL="444500" lvl="1" indent="-190500">
                  <a:spcBef>
                    <a:spcPts val="280"/>
                  </a:spcBef>
                  <a:buClr>
                    <a:srgbClr val="DD9762"/>
                  </a:buClr>
                  <a:buChar char="•"/>
                  <a:tabLst>
                    <a:tab pos="445134" algn="l"/>
                  </a:tabLst>
                </a:pPr>
                <a:r>
                  <a:rPr lang="en-US" sz="150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500" spc="38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Equation</a:t>
                </a:r>
                <a:r>
                  <a:rPr lang="en-US" sz="1500" spc="28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00" spc="5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of Y</a:t>
                </a:r>
                <a:r>
                  <a:rPr lang="en-US" sz="1500" spc="2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on</a:t>
                </a:r>
                <a:r>
                  <a:rPr lang="en-US" sz="1500" spc="14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00" spc="-5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X</a:t>
                </a:r>
                <a:endParaRPr lang="en-US" sz="1500" dirty="0">
                  <a:latin typeface="Times New Roman"/>
                  <a:cs typeface="Times New Roman"/>
                </a:endParaRPr>
              </a:p>
              <a:p>
                <a:pPr marL="629285" lvl="2" indent="-130175">
                  <a:spcBef>
                    <a:spcPts val="265"/>
                  </a:spcBef>
                  <a:buClr>
                    <a:srgbClr val="C69C80"/>
                  </a:buClr>
                  <a:buChar char="o"/>
                  <a:tabLst>
                    <a:tab pos="629920" algn="l"/>
                  </a:tabLst>
                </a:pPr>
                <a:r>
                  <a:rPr lang="en-US" sz="1400" spc="65" dirty="0">
                    <a:solidFill>
                      <a:srgbClr val="525252"/>
                    </a:solidFill>
                    <a:latin typeface="Arial"/>
                    <a:cs typeface="Arial"/>
                  </a:rPr>
                  <a:t>Y=</a:t>
                </a:r>
                <a:r>
                  <a:rPr lang="en-US" sz="1400" spc="160" dirty="0">
                    <a:solidFill>
                      <a:srgbClr val="525252"/>
                    </a:solidFill>
                    <a:latin typeface="Arial"/>
                    <a:cs typeface="Arial"/>
                  </a:rPr>
                  <a:t> </a:t>
                </a:r>
                <a:r>
                  <a:rPr lang="en-US" sz="1400" spc="60" dirty="0">
                    <a:solidFill>
                      <a:srgbClr val="525252"/>
                    </a:solidFill>
                    <a:latin typeface="Arial"/>
                    <a:cs typeface="Arial"/>
                  </a:rPr>
                  <a:t>a+</a:t>
                </a:r>
                <a:r>
                  <a:rPr lang="en-US" sz="1400" spc="95" dirty="0">
                    <a:solidFill>
                      <a:srgbClr val="525252"/>
                    </a:solidFill>
                    <a:latin typeface="Arial"/>
                    <a:cs typeface="Arial"/>
                  </a:rPr>
                  <a:t> </a:t>
                </a:r>
                <a:r>
                  <a:rPr lang="en-US" sz="1400" spc="25" dirty="0" err="1">
                    <a:solidFill>
                      <a:srgbClr val="525252"/>
                    </a:solidFill>
                    <a:latin typeface="Arial"/>
                    <a:cs typeface="Arial"/>
                  </a:rPr>
                  <a:t>bX</a:t>
                </a:r>
                <a:endParaRPr lang="en-US" sz="1400" dirty="0">
                  <a:latin typeface="Arial"/>
                  <a:cs typeface="Arial"/>
                </a:endParaRPr>
              </a:p>
              <a:p>
                <a:pPr marL="629285" lvl="2" indent="-130175">
                  <a:buClr>
                    <a:srgbClr val="C69C80"/>
                  </a:buClr>
                  <a:buSzPct val="95833"/>
                  <a:buFont typeface="Times New Roman"/>
                  <a:buChar char="o"/>
                  <a:tabLst>
                    <a:tab pos="629920" algn="l"/>
                  </a:tabLst>
                </a:pPr>
                <a:r>
                  <a:rPr lang="en-US" sz="1400" spc="55" dirty="0">
                    <a:solidFill>
                      <a:srgbClr val="525252"/>
                    </a:solidFill>
                    <a:latin typeface="Arial"/>
                    <a:cs typeface="Arial"/>
                  </a:rPr>
                  <a:t>Y</a:t>
                </a:r>
                <a:r>
                  <a:rPr lang="en-US" sz="1400" spc="-100" dirty="0">
                    <a:solidFill>
                      <a:srgbClr val="525252"/>
                    </a:solidFill>
                    <a:latin typeface="Arial"/>
                    <a:cs typeface="Arial"/>
                  </a:rPr>
                  <a:t> </a:t>
                </a:r>
                <a:r>
                  <a:rPr lang="en-US" sz="1400" dirty="0">
                    <a:solidFill>
                      <a:srgbClr val="7E8085"/>
                    </a:solidFill>
                    <a:latin typeface="Arial"/>
                    <a:cs typeface="Arial"/>
                  </a:rPr>
                  <a:t>-</a:t>
                </a:r>
                <a:r>
                  <a:rPr lang="en-US" sz="1400" spc="160" dirty="0">
                    <a:solidFill>
                      <a:srgbClr val="7E8085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40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ar-AE" sz="140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𝑌</m:t>
                        </m:r>
                      </m:e>
                    </m:acc>
                  </m:oMath>
                </a14:m>
                <a:r>
                  <a:rPr lang="ar-AE" sz="1400" spc="-16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lang="ar-AE" sz="1400" spc="-12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i="1" spc="-10" dirty="0" err="1">
                    <a:solidFill>
                      <a:srgbClr val="525252"/>
                    </a:solidFill>
                    <a:latin typeface="Arial"/>
                    <a:cs typeface="Arial"/>
                  </a:rPr>
                  <a:t>b</a:t>
                </a:r>
                <a:r>
                  <a:rPr lang="en-US" sz="800" i="1" spc="-10" dirty="0" err="1">
                    <a:solidFill>
                      <a:srgbClr val="525252"/>
                    </a:solidFill>
                    <a:latin typeface="Arial"/>
                    <a:cs typeface="Arial"/>
                  </a:rPr>
                  <a:t>yx</a:t>
                </a:r>
                <a:r>
                  <a:rPr lang="en-US" sz="1400" i="1" dirty="0">
                    <a:solidFill>
                      <a:srgbClr val="525252"/>
                    </a:solidFill>
                    <a:latin typeface="Arial"/>
                    <a:cs typeface="Arial"/>
                  </a:rPr>
                  <a:t>(X</a:t>
                </a:r>
                <a:r>
                  <a:rPr lang="en-US" sz="1400" i="1" spc="355" dirty="0">
                    <a:solidFill>
                      <a:srgbClr val="525252"/>
                    </a:solidFill>
                    <a:latin typeface="Arial"/>
                    <a:cs typeface="Arial"/>
                  </a:rPr>
                  <a:t> </a:t>
                </a:r>
                <a:r>
                  <a:rPr lang="en-US" sz="1400" dirty="0">
                    <a:solidFill>
                      <a:srgbClr val="3D3D3D"/>
                    </a:solidFill>
                    <a:latin typeface="Arial"/>
                    <a:cs typeface="Arial"/>
                  </a:rPr>
                  <a:t>-</a:t>
                </a:r>
                <a:r>
                  <a:rPr lang="en-US" sz="1400" spc="409" dirty="0">
                    <a:solidFill>
                      <a:srgbClr val="3D3D3D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400" b="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en-GB" sz="1400" b="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GB" sz="1400" spc="-25" dirty="0">
                    <a:solidFill>
                      <a:srgbClr val="525252"/>
                    </a:solidFill>
                    <a:latin typeface="Arial"/>
                    <a:cs typeface="Arial"/>
                  </a:rPr>
                  <a:t> )</a:t>
                </a:r>
              </a:p>
              <a:p>
                <a:pPr marL="629285" lvl="2" indent="-130175">
                  <a:lnSpc>
                    <a:spcPts val="2005"/>
                  </a:lnSpc>
                  <a:buClr>
                    <a:srgbClr val="C69C80"/>
                  </a:buClr>
                  <a:buSzPct val="95833"/>
                  <a:buFont typeface="Times New Roman"/>
                  <a:buChar char="o"/>
                  <a:tabLst>
                    <a:tab pos="629920" algn="l"/>
                  </a:tabLst>
                </a:pP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17" y="560699"/>
                <a:ext cx="5411098" cy="2247859"/>
              </a:xfrm>
              <a:prstGeom prst="rect">
                <a:avLst/>
              </a:prstGeom>
              <a:blipFill>
                <a:blip r:embed="rId2"/>
                <a:stretch>
                  <a:fillRect l="-2252" t="-216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596900" y="2733675"/>
                <a:ext cx="2738755" cy="729046"/>
              </a:xfrm>
              <a:prstGeom prst="rect">
                <a:avLst/>
              </a:prstGeom>
            </p:spPr>
            <p:txBody>
              <a:bodyPr vert="horz" wrap="square" lIns="0" tIns="41275" rIns="0" bIns="0" rtlCol="0">
                <a:spAutoFit/>
              </a:bodyPr>
              <a:lstStyle/>
              <a:p>
                <a:pPr marL="192405" indent="-180340">
                  <a:spcBef>
                    <a:spcPts val="325"/>
                  </a:spcBef>
                  <a:buClr>
                    <a:srgbClr val="F27E42"/>
                  </a:buClr>
                  <a:buChar char="•"/>
                  <a:tabLst>
                    <a:tab pos="193040" algn="l"/>
                  </a:tabLst>
                </a:pPr>
                <a:r>
                  <a:rPr sz="150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sz="1500" spc="14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spc="50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Equation</a:t>
                </a:r>
                <a:r>
                  <a:rPr sz="1500" spc="135" dirty="0">
                    <a:solidFill>
                      <a:srgbClr val="3D3D3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500" spc="9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X </a:t>
                </a:r>
                <a:r>
                  <a:rPr sz="1500" spc="5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on</a:t>
                </a:r>
                <a:r>
                  <a:rPr sz="1500" spc="-15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50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Y</a:t>
                </a:r>
                <a:endParaRPr sz="1500" dirty="0">
                  <a:latin typeface="Times New Roman"/>
                  <a:cs typeface="Times New Roman"/>
                </a:endParaRPr>
              </a:p>
              <a:p>
                <a:pPr marL="257175">
                  <a:spcBef>
                    <a:spcPts val="185"/>
                  </a:spcBef>
                </a:pPr>
                <a:r>
                  <a:rPr sz="1400" spc="200" dirty="0">
                    <a:solidFill>
                      <a:srgbClr val="C69C80"/>
                    </a:solidFill>
                    <a:latin typeface="Arial"/>
                    <a:cs typeface="Arial"/>
                  </a:rPr>
                  <a:t>o</a:t>
                </a:r>
                <a:r>
                  <a:rPr sz="1400" spc="200" dirty="0">
                    <a:solidFill>
                      <a:srgbClr val="525252"/>
                    </a:solidFill>
                    <a:latin typeface="Arial"/>
                    <a:cs typeface="Arial"/>
                  </a:rPr>
                  <a:t>X</a:t>
                </a:r>
                <a:r>
                  <a:rPr sz="1400" spc="200" dirty="0">
                    <a:solidFill>
                      <a:srgbClr val="6B6E70"/>
                    </a:solidFill>
                    <a:latin typeface="Arial"/>
                    <a:cs typeface="Arial"/>
                  </a:rPr>
                  <a:t>=</a:t>
                </a:r>
                <a:r>
                  <a:rPr sz="1400" spc="200" dirty="0">
                    <a:solidFill>
                      <a:srgbClr val="525252"/>
                    </a:solidFill>
                    <a:latin typeface="Arial"/>
                    <a:cs typeface="Arial"/>
                  </a:rPr>
                  <a:t>a+bY</a:t>
                </a:r>
                <a:endParaRPr sz="1400" dirty="0">
                  <a:latin typeface="Arial"/>
                  <a:cs typeface="Arial"/>
                </a:endParaRPr>
              </a:p>
              <a:p>
                <a:pPr marL="257810"/>
                <a:r>
                  <a:rPr sz="1400" spc="145" dirty="0">
                    <a:solidFill>
                      <a:srgbClr val="C69C80"/>
                    </a:solidFill>
                    <a:latin typeface="Times New Roman"/>
                    <a:cs typeface="Times New Roman"/>
                  </a:rPr>
                  <a:t>o</a:t>
                </a:r>
                <a:r>
                  <a:rPr sz="1400" spc="80" dirty="0">
                    <a:solidFill>
                      <a:srgbClr val="C69C8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400" dirty="0">
                    <a:solidFill>
                      <a:srgbClr val="3D3D3D"/>
                    </a:solidFill>
                    <a:latin typeface="Arial"/>
                    <a:cs typeface="Arial"/>
                  </a:rPr>
                  <a:t>X</a:t>
                </a:r>
                <a:r>
                  <a:rPr sz="1400" spc="-55" dirty="0">
                    <a:solidFill>
                      <a:srgbClr val="3D3D3D"/>
                    </a:solidFill>
                    <a:latin typeface="Arial"/>
                    <a:cs typeface="Arial"/>
                  </a:rPr>
                  <a:t> </a:t>
                </a:r>
                <a:r>
                  <a:rPr sz="1400" dirty="0">
                    <a:solidFill>
                      <a:srgbClr val="3D3D3D"/>
                    </a:solidFill>
                    <a:latin typeface="Arial"/>
                    <a:cs typeface="Arial"/>
                  </a:rPr>
                  <a:t>-</a:t>
                </a:r>
                <a:r>
                  <a:rPr sz="1400" spc="409" dirty="0">
                    <a:solidFill>
                      <a:srgbClr val="3D3D3D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400" b="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en-GB" sz="1400" b="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𝑋</m:t>
                        </m:r>
                      </m:e>
                    </m:acc>
                    <m:r>
                      <a:rPr lang="en-GB" sz="1400" b="0" i="1" spc="-260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GB" sz="1400" spc="-8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  </a:t>
                </a:r>
                <a:r>
                  <a:rPr sz="1400" spc="-80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sz="1400" spc="-114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-114" dirty="0">
                    <a:solidFill>
                      <a:srgbClr val="525252"/>
                    </a:solidFill>
                    <a:latin typeface="Times New Roman"/>
                    <a:cs typeface="Times New Roman"/>
                  </a:rPr>
                  <a:t>  </a:t>
                </a:r>
                <a:r>
                  <a:rPr sz="1400" i="1" dirty="0" err="1">
                    <a:solidFill>
                      <a:srgbClr val="3D3D3D"/>
                    </a:solidFill>
                    <a:latin typeface="Arial"/>
                    <a:cs typeface="Arial"/>
                  </a:rPr>
                  <a:t>b</a:t>
                </a:r>
                <a:r>
                  <a:rPr sz="1000" i="1" dirty="0" err="1">
                    <a:solidFill>
                      <a:srgbClr val="3D3D3D"/>
                    </a:solidFill>
                    <a:latin typeface="Arial"/>
                    <a:cs typeface="Arial"/>
                  </a:rPr>
                  <a:t>xy</a:t>
                </a:r>
                <a:r>
                  <a:rPr sz="1400" i="1" spc="5" dirty="0">
                    <a:solidFill>
                      <a:srgbClr val="3D3D3D"/>
                    </a:solidFill>
                    <a:latin typeface="Arial"/>
                    <a:cs typeface="Arial"/>
                  </a:rPr>
                  <a:t> </a:t>
                </a:r>
                <a:r>
                  <a:rPr sz="1400" i="1" dirty="0">
                    <a:solidFill>
                      <a:srgbClr val="525252"/>
                    </a:solidFill>
                    <a:latin typeface="Arial"/>
                    <a:cs typeface="Arial"/>
                  </a:rPr>
                  <a:t>(Y</a:t>
                </a:r>
                <a:r>
                  <a:rPr sz="1400" i="1" spc="420" dirty="0">
                    <a:solidFill>
                      <a:srgbClr val="525252"/>
                    </a:solidFill>
                    <a:latin typeface="Arial"/>
                    <a:cs typeface="Arial"/>
                  </a:rPr>
                  <a:t> </a:t>
                </a:r>
                <a:r>
                  <a:rPr sz="1400" dirty="0">
                    <a:solidFill>
                      <a:srgbClr val="3D3D3D"/>
                    </a:solidFill>
                    <a:latin typeface="Arial"/>
                    <a:cs typeface="Arial"/>
                  </a:rPr>
                  <a:t>-</a:t>
                </a:r>
                <a:r>
                  <a:rPr lang="en-GB" sz="1400" dirty="0">
                    <a:solidFill>
                      <a:srgbClr val="3D3D3D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140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ar-AE" sz="1400" i="1" spc="-260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GB" sz="1400" dirty="0">
                    <a:latin typeface="Arial"/>
                    <a:cs typeface="Arial"/>
                  </a:rPr>
                  <a:t> )</a:t>
                </a:r>
                <a:endParaRPr sz="14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" y="2733675"/>
                <a:ext cx="2738755" cy="729046"/>
              </a:xfrm>
              <a:prstGeom prst="rect">
                <a:avLst/>
              </a:prstGeom>
              <a:blipFill>
                <a:blip r:embed="rId3"/>
                <a:stretch>
                  <a:fillRect l="-3563" t="-2500" r="-2673" b="-141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229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solidFill>
                  <a:srgbClr val="6E7075"/>
                </a:solidFill>
              </a:rPr>
              <a:t>REGRESSION</a:t>
            </a:r>
            <a:r>
              <a:rPr sz="1800" spc="375" dirty="0">
                <a:solidFill>
                  <a:srgbClr val="6E7075"/>
                </a:solidFill>
              </a:rPr>
              <a:t> </a:t>
            </a:r>
            <a:r>
              <a:rPr sz="1800" spc="-10" dirty="0">
                <a:solidFill>
                  <a:srgbClr val="6E7075"/>
                </a:solidFill>
              </a:rPr>
              <a:t>COEFFICIENTS</a:t>
            </a:r>
            <a:endParaRPr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53276" y="1002515"/>
                <a:ext cx="5349024" cy="2272930"/>
              </a:xfrm>
              <a:prstGeom prst="rect">
                <a:avLst/>
              </a:prstGeom>
            </p:spPr>
            <p:txBody>
              <a:bodyPr vert="horz" wrap="square" lIns="0" tIns="36195" rIns="0" bIns="0" rtlCol="0">
                <a:spAutoFit/>
              </a:bodyPr>
              <a:lstStyle/>
              <a:p>
                <a:pPr marL="297815" marR="5080" indent="-285750" algn="just">
                  <a:lnSpc>
                    <a:spcPct val="91800"/>
                  </a:lnSpc>
                  <a:spcBef>
                    <a:spcPts val="285"/>
                  </a:spcBef>
                  <a:buClr>
                    <a:srgbClr val="F0904D"/>
                  </a:buClr>
                  <a:buFont typeface="Arial" panose="020B0604020202020204" pitchFamily="34" charset="0"/>
                  <a:buChar char="•"/>
                  <a:tabLst>
                    <a:tab pos="189865" algn="l"/>
                  </a:tabLst>
                </a:pP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sz="1600" spc="1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coefficient</a:t>
                </a:r>
                <a:r>
                  <a:rPr sz="1600" spc="23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5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measures</a:t>
                </a:r>
                <a:r>
                  <a:rPr sz="1600" spc="8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600" spc="15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-1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average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change</a:t>
                </a:r>
                <a:r>
                  <a:rPr sz="1600" spc="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in</a:t>
                </a:r>
                <a:r>
                  <a:rPr sz="1600" spc="2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600" spc="30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value</a:t>
                </a:r>
                <a:r>
                  <a:rPr sz="1600" spc="7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600" spc="12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one</a:t>
                </a:r>
                <a:r>
                  <a:rPr sz="1600" spc="9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variable</a:t>
                </a:r>
                <a:r>
                  <a:rPr sz="1600" spc="10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for</a:t>
                </a:r>
                <a:r>
                  <a:rPr sz="1600" spc="11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sz="1600" spc="229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5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unit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change</a:t>
                </a:r>
                <a:r>
                  <a:rPr sz="1600" spc="1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in</a:t>
                </a:r>
                <a:r>
                  <a:rPr sz="1600" spc="21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600" spc="26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value</a:t>
                </a:r>
                <a:r>
                  <a:rPr sz="1600" spc="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600" spc="9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6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another</a:t>
                </a:r>
                <a:r>
                  <a:rPr sz="1600" spc="229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-1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variable.</a:t>
                </a:r>
                <a:endParaRPr sz="1600" dirty="0">
                  <a:latin typeface="Times New Roman"/>
                  <a:cs typeface="Times New Roman"/>
                </a:endParaRPr>
              </a:p>
              <a:p>
                <a:pPr marL="297815" indent="-285750" algn="just">
                  <a:lnSpc>
                    <a:spcPct val="100000"/>
                  </a:lnSpc>
                  <a:spcBef>
                    <a:spcPts val="245"/>
                  </a:spcBef>
                  <a:buClr>
                    <a:srgbClr val="F0904D"/>
                  </a:buClr>
                  <a:buFont typeface="Arial" panose="020B0604020202020204" pitchFamily="34" charset="0"/>
                  <a:buChar char="•"/>
                  <a:tabLst>
                    <a:tab pos="186690" algn="l"/>
                  </a:tabLst>
                </a:pPr>
                <a:r>
                  <a:rPr sz="1600" spc="55" dirty="0">
                    <a:solidFill>
                      <a:srgbClr val="212121"/>
                    </a:solidFill>
                    <a:latin typeface="Times New Roman"/>
                    <a:cs typeface="Times New Roman"/>
                  </a:rPr>
                  <a:t>These</a:t>
                </a:r>
                <a:r>
                  <a:rPr sz="1600" dirty="0">
                    <a:solidFill>
                      <a:srgbClr val="21212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6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represent</a:t>
                </a:r>
                <a:r>
                  <a:rPr sz="1600" spc="26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6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sz="1600" spc="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slope</a:t>
                </a:r>
                <a:r>
                  <a:rPr sz="1600" spc="-6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sz="1600" spc="1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sz="1600" spc="8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3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line</a:t>
                </a:r>
                <a:endParaRPr sz="1600" dirty="0">
                  <a:latin typeface="Times New Roman"/>
                  <a:cs typeface="Times New Roman"/>
                </a:endParaRPr>
              </a:p>
              <a:p>
                <a:pPr marL="297815" indent="-285750" algn="just">
                  <a:lnSpc>
                    <a:spcPct val="100000"/>
                  </a:lnSpc>
                  <a:spcBef>
                    <a:spcPts val="245"/>
                  </a:spcBef>
                  <a:buClr>
                    <a:srgbClr val="F0904D"/>
                  </a:buClr>
                  <a:buFont typeface="Arial" panose="020B0604020202020204" pitchFamily="34" charset="0"/>
                  <a:buChar char="•"/>
                  <a:tabLst>
                    <a:tab pos="186690" algn="l"/>
                  </a:tabLst>
                </a:pPr>
                <a:r>
                  <a:rPr sz="1600" spc="70" dirty="0">
                    <a:solidFill>
                      <a:srgbClr val="212121"/>
                    </a:solidFill>
                    <a:latin typeface="Times New Roman"/>
                    <a:cs typeface="Times New Roman"/>
                  </a:rPr>
                  <a:t>There</a:t>
                </a:r>
                <a:r>
                  <a:rPr sz="1600" spc="110" dirty="0">
                    <a:solidFill>
                      <a:srgbClr val="21212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6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sz="1600" spc="204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two</a:t>
                </a:r>
                <a:r>
                  <a:rPr sz="1600" spc="2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sz="1600" spc="13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600" spc="-1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coefficients:</a:t>
                </a:r>
                <a:endParaRPr lang="en-GB" sz="1600" spc="-10" dirty="0">
                  <a:solidFill>
                    <a:srgbClr val="4F4F4F"/>
                  </a:solidFill>
                  <a:latin typeface="Times New Roman"/>
                  <a:cs typeface="Times New Roman"/>
                </a:endParaRPr>
              </a:p>
              <a:p>
                <a:pPr marL="297815" indent="-285750">
                  <a:spcBef>
                    <a:spcPts val="990"/>
                  </a:spcBef>
                  <a:buClr>
                    <a:srgbClr val="F27E31"/>
                  </a:buClr>
                  <a:buFont typeface="Arial" panose="020B0604020202020204" pitchFamily="34" charset="0"/>
                  <a:buChar char="•"/>
                  <a:tabLst>
                    <a:tab pos="201930" algn="l"/>
                  </a:tabLst>
                </a:pPr>
                <a:r>
                  <a:rPr lang="en-US" sz="1600" spc="4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600" spc="114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coefficient</a:t>
                </a:r>
                <a:r>
                  <a:rPr lang="en-US" sz="1600" spc="14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US" sz="1600" spc="-3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Y</a:t>
                </a:r>
                <a:r>
                  <a:rPr lang="en-US" sz="1600" spc="-1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on</a:t>
                </a:r>
                <a:r>
                  <a:rPr lang="en-US" sz="1600" spc="105" dirty="0">
                    <a:solidFill>
                      <a:srgbClr val="3F3F3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𝑏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𝑦𝑥</m:t>
                        </m:r>
                      </m:sub>
                    </m:sSub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𝑟</m:t>
                    </m:r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.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ar-AE" sz="1600" spc="30" dirty="0">
                  <a:solidFill>
                    <a:srgbClr val="4F4F4F"/>
                  </a:solidFill>
                  <a:latin typeface="Times New Roman"/>
                  <a:cs typeface="Times New Roman"/>
                </a:endParaRPr>
              </a:p>
              <a:p>
                <a:pPr marL="297815" indent="-285750">
                  <a:lnSpc>
                    <a:spcPct val="100000"/>
                  </a:lnSpc>
                  <a:spcBef>
                    <a:spcPts val="990"/>
                  </a:spcBef>
                  <a:buClr>
                    <a:srgbClr val="F27E31"/>
                  </a:buClr>
                  <a:buFont typeface="Arial" panose="020B0604020202020204" pitchFamily="34" charset="0"/>
                  <a:buChar char="•"/>
                  <a:tabLst>
                    <a:tab pos="201930" algn="l"/>
                  </a:tabLst>
                </a:pPr>
                <a:r>
                  <a:rPr lang="en-US" sz="1600" spc="4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600" spc="14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coefficient</a:t>
                </a:r>
                <a:r>
                  <a:rPr lang="en-US" sz="1600" spc="18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US" sz="1600" spc="75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lang="en-US" sz="1600" spc="1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on</a:t>
                </a:r>
                <a:r>
                  <a:rPr lang="en-US" sz="1600" spc="15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Y:</a:t>
                </a:r>
                <a:r>
                  <a:rPr lang="en-US" sz="1600" spc="-40" dirty="0">
                    <a:solidFill>
                      <a:srgbClr val="4F4F4F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𝑏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𝑥𝑦</m:t>
                        </m:r>
                      </m:sub>
                    </m:sSub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𝑟</m:t>
                    </m:r>
                    <m:r>
                      <a:rPr lang="en-GB" sz="1600" b="0" i="1" smtClean="0">
                        <a:solidFill>
                          <a:srgbClr val="4F4F4F"/>
                        </a:solidFill>
                        <a:latin typeface="Cambria Math" panose="02040503050406030204" pitchFamily="18" charset="0"/>
                        <a:cs typeface="Times New Roman"/>
                      </a:rPr>
                      <m:t>.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rgbClr val="4F4F4F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𝜎</m:t>
                            </m:r>
                          </m:e>
                          <m:sub>
                            <m:r>
                              <a:rPr lang="en-GB" sz="1600" b="0" i="1" smtClean="0">
                                <a:solidFill>
                                  <a:srgbClr val="4F4F4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sz="16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76" y="1002515"/>
                <a:ext cx="5349024" cy="2272930"/>
              </a:xfrm>
              <a:prstGeom prst="rect">
                <a:avLst/>
              </a:prstGeom>
              <a:blipFill>
                <a:blip r:embed="rId2"/>
                <a:stretch>
                  <a:fillRect l="-1938" t="-1877" r="-2281" b="-10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4808" y="216211"/>
            <a:ext cx="5205091" cy="298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9" marR="5080" indent="-5080">
              <a:lnSpc>
                <a:spcPct val="112000"/>
              </a:lnSpc>
              <a:spcBef>
                <a:spcPts val="95"/>
              </a:spcBef>
            </a:pPr>
            <a:r>
              <a:rPr sz="1800" dirty="0">
                <a:solidFill>
                  <a:srgbClr val="4D4D4D"/>
                </a:solidFill>
              </a:rPr>
              <a:t>P</a:t>
            </a:r>
            <a:r>
              <a:rPr sz="1800" dirty="0">
                <a:solidFill>
                  <a:srgbClr val="7E8289"/>
                </a:solidFill>
              </a:rPr>
              <a:t>ROPERTIES</a:t>
            </a:r>
            <a:r>
              <a:rPr sz="1800" spc="340" dirty="0">
                <a:solidFill>
                  <a:srgbClr val="7E8289"/>
                </a:solidFill>
              </a:rPr>
              <a:t> </a:t>
            </a:r>
            <a:r>
              <a:rPr sz="1800" dirty="0">
                <a:solidFill>
                  <a:srgbClr val="6E7279"/>
                </a:solidFill>
              </a:rPr>
              <a:t>OF</a:t>
            </a:r>
            <a:r>
              <a:rPr sz="1800" spc="145" dirty="0">
                <a:solidFill>
                  <a:srgbClr val="6E7279"/>
                </a:solidFill>
              </a:rPr>
              <a:t> </a:t>
            </a:r>
            <a:r>
              <a:rPr sz="1800" spc="-10" dirty="0">
                <a:solidFill>
                  <a:srgbClr val="6E7279"/>
                </a:solidFill>
              </a:rPr>
              <a:t>REGRESSION COEFFICIENTS</a:t>
            </a:r>
            <a:endParaRPr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53946" y="989710"/>
                <a:ext cx="5557269" cy="2372637"/>
              </a:xfrm>
              <a:prstGeom prst="rect">
                <a:avLst/>
              </a:prstGeom>
            </p:spPr>
            <p:txBody>
              <a:bodyPr vert="horz" wrap="square" lIns="0" tIns="14605" rIns="0" bIns="0" rtlCol="0">
                <a:spAutoFit/>
              </a:bodyPr>
              <a:lstStyle/>
              <a:p>
                <a:pPr marL="298450" indent="-285750">
                  <a:spcBef>
                    <a:spcPts val="115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Coefficient</a:t>
                </a:r>
                <a:r>
                  <a:rPr lang="en-US" sz="1400" spc="12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-2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US" sz="1400" spc="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5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correlation</a:t>
                </a:r>
                <a:r>
                  <a:rPr lang="en-US" sz="1400" spc="4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is</a:t>
                </a:r>
                <a:r>
                  <a:rPr lang="en-US" sz="1400" spc="2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6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US" sz="1400" spc="229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dirty="0">
                    <a:solidFill>
                      <a:srgbClr val="4D4D4D"/>
                    </a:solidFill>
                    <a:uFill>
                      <a:solidFill>
                        <a:srgbClr val="4D4D4D"/>
                      </a:solidFill>
                    </a:uFill>
                    <a:latin typeface="Times New Roman"/>
                    <a:cs typeface="Times New Roman"/>
                  </a:rPr>
                  <a:t>geometric</a:t>
                </a:r>
                <a:r>
                  <a:rPr lang="en-US" sz="1400" spc="195" dirty="0">
                    <a:solidFill>
                      <a:srgbClr val="4D4D4D"/>
                    </a:solidFill>
                    <a:uFill>
                      <a:solidFill>
                        <a:srgbClr val="4D4D4D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US" sz="1400" spc="75" dirty="0">
                    <a:solidFill>
                      <a:srgbClr val="4D4D4D"/>
                    </a:solidFill>
                    <a:uFill>
                      <a:solidFill>
                        <a:srgbClr val="4D4D4D"/>
                      </a:solidFill>
                    </a:uFill>
                    <a:latin typeface="Times New Roman"/>
                    <a:cs typeface="Times New Roman"/>
                  </a:rPr>
                  <a:t>mean</a:t>
                </a:r>
                <a:r>
                  <a:rPr lang="en-US" sz="1400" spc="11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-2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of </a:t>
                </a:r>
                <a:r>
                  <a:rPr lang="en-US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US" sz="1400" spc="459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6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400" spc="6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coefficients</a:t>
                </a:r>
                <a:r>
                  <a:rPr lang="en-US" sz="1400" dirty="0">
                    <a:solidFill>
                      <a:srgbClr val="242323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lang="en-US" sz="1400" spc="-105" dirty="0">
                    <a:solidFill>
                      <a:srgbClr val="242323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400" spc="5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i.e.,</a:t>
                </a:r>
                <a:r>
                  <a:rPr lang="en-US" sz="1400" spc="-4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pc="65" dirty="0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𝑟</m:t>
                    </m:r>
                    <m:r>
                      <a:rPr lang="en-US" sz="1400" b="0" i="1" spc="65" dirty="0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1400" b="0" i="1" spc="65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ar-AE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𝑥𝑦</m:t>
                            </m:r>
                          </m:sub>
                        </m:sSub>
                        <m:r>
                          <a:rPr lang="en-GB" sz="1400" b="0" i="1" spc="65" dirty="0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.</m:t>
                        </m:r>
                        <m:sSub>
                          <m:sSubPr>
                            <m:ctrlPr>
                              <a:rPr lang="en-GB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400" b="0" i="1" spc="65" dirty="0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𝑦𝑥</m:t>
                            </m:r>
                          </m:sub>
                        </m:sSub>
                      </m:e>
                    </m:rad>
                  </m:oMath>
                </a14:m>
                <a:endParaRPr lang="en-GB" sz="1400" dirty="0">
                  <a:latin typeface="Times New Roman"/>
                  <a:cs typeface="Times New Roman"/>
                </a:endParaRPr>
              </a:p>
              <a:p>
                <a:pPr marL="297815" marR="5080" indent="-285750">
                  <a:spcBef>
                    <a:spcPts val="380"/>
                  </a:spcBef>
                  <a:buClr>
                    <a:srgbClr val="F2904D"/>
                  </a:buClr>
                  <a:buFont typeface="Arial" panose="020B0604020202020204" pitchFamily="34" charset="0"/>
                  <a:buChar char="•"/>
                  <a:tabLst>
                    <a:tab pos="194945" algn="l"/>
                  </a:tabLst>
                </a:pPr>
                <a:r>
                  <a:rPr lang="en-GB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Both</a:t>
                </a:r>
                <a:r>
                  <a:rPr lang="en-GB" sz="1400" spc="15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1400" spc="27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5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GB" sz="1400" spc="19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coefficients</a:t>
                </a:r>
                <a:r>
                  <a:rPr lang="en-GB" sz="1400" spc="19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11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must</a:t>
                </a:r>
                <a:r>
                  <a:rPr lang="en-GB" sz="1400" spc="9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7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have</a:t>
                </a:r>
                <a:r>
                  <a:rPr lang="en-GB" sz="1400" spc="1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4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 </a:t>
                </a:r>
                <a:r>
                  <a:rPr lang="en-GB" sz="1400" spc="1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same</a:t>
                </a:r>
                <a:r>
                  <a:rPr lang="en-GB" sz="1400" spc="-1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5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algebraic</a:t>
                </a:r>
                <a:r>
                  <a:rPr lang="en-GB" sz="1400" spc="-1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4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sign</a:t>
                </a:r>
                <a:r>
                  <a:rPr lang="en-GB" sz="1400" spc="40" dirty="0">
                    <a:solidFill>
                      <a:srgbClr val="0A0A0A"/>
                    </a:solidFill>
                    <a:latin typeface="Times New Roman"/>
                    <a:cs typeface="Times New Roman"/>
                  </a:rPr>
                  <a:t>.</a:t>
                </a:r>
                <a:endParaRPr lang="en-GB" sz="1400" dirty="0">
                  <a:latin typeface="Times New Roman"/>
                  <a:cs typeface="Times New Roman"/>
                </a:endParaRPr>
              </a:p>
              <a:p>
                <a:pPr marL="297815" marR="5080" indent="-285750">
                  <a:spcBef>
                    <a:spcPts val="380"/>
                  </a:spcBef>
                  <a:buClr>
                    <a:srgbClr val="F2904D"/>
                  </a:buClr>
                  <a:buFont typeface="Arial" panose="020B0604020202020204" pitchFamily="34" charset="0"/>
                  <a:buChar char="•"/>
                  <a:tabLst>
                    <a:tab pos="194945" algn="l"/>
                  </a:tabLst>
                </a:pPr>
                <a:r>
                  <a:rPr lang="en-GB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Coefficient</a:t>
                </a:r>
                <a:r>
                  <a:rPr lang="en-GB" sz="1400" spc="7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-2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1400" spc="-3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5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correlation</a:t>
                </a:r>
                <a:r>
                  <a:rPr lang="en-GB" sz="1400" spc="204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9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must</a:t>
                </a:r>
                <a:r>
                  <a:rPr lang="en-GB" sz="1400" spc="4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7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have</a:t>
                </a:r>
                <a:r>
                  <a:rPr lang="en-GB" sz="1400" spc="5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6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1400" spc="3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114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same</a:t>
                </a:r>
                <a:r>
                  <a:rPr lang="en-GB" sz="1400" spc="-2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4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sign </a:t>
                </a:r>
                <a:r>
                  <a:rPr lang="en-GB" sz="1400" spc="6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as</a:t>
                </a:r>
                <a:r>
                  <a:rPr lang="en-GB" sz="1400" spc="6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13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1400" spc="-7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1400" spc="11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1400" spc="254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6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GB" sz="1400" spc="-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-1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coefficients.</a:t>
                </a:r>
              </a:p>
              <a:p>
                <a:pPr marL="297815" marR="78740" indent="-285750">
                  <a:spcBef>
                    <a:spcPts val="375"/>
                  </a:spcBef>
                  <a:buClr>
                    <a:srgbClr val="F2904D"/>
                  </a:buClr>
                  <a:buFont typeface="Arial" panose="020B0604020202020204" pitchFamily="34" charset="0"/>
                  <a:buChar char="•"/>
                  <a:tabLst>
                    <a:tab pos="198755" algn="l"/>
                  </a:tabLst>
                </a:pPr>
                <a:r>
                  <a:rPr lang="en-GB" sz="1400" spc="6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Arithmetic </a:t>
                </a:r>
                <a:r>
                  <a:rPr lang="en-GB" sz="1400" spc="9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mean</a:t>
                </a:r>
                <a:r>
                  <a:rPr lang="en-GB" sz="1400" spc="-2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1400" spc="9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5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two</a:t>
                </a:r>
                <a:r>
                  <a:rPr lang="en-GB" sz="1400" spc="-4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6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GB" sz="1400" spc="5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coefficients</a:t>
                </a:r>
                <a:r>
                  <a:rPr lang="en-GB" sz="1400" spc="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-2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is </a:t>
                </a:r>
                <a:r>
                  <a:rPr lang="en-GB" sz="1400" spc="7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equal</a:t>
                </a:r>
                <a:r>
                  <a:rPr lang="en-GB" sz="1400" spc="-3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7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to</a:t>
                </a:r>
                <a:r>
                  <a:rPr lang="en-GB" sz="1400" spc="-5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7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or</a:t>
                </a:r>
                <a:r>
                  <a:rPr lang="en-GB" sz="1400" spc="-30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9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greater</a:t>
                </a:r>
                <a:r>
                  <a:rPr lang="en-GB" sz="1400" spc="10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120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than</a:t>
                </a:r>
                <a:r>
                  <a:rPr lang="en-GB" sz="1400" spc="65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114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1400" spc="-114" dirty="0">
                    <a:solidFill>
                      <a:srgbClr val="4D4D4D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1400" spc="45" dirty="0">
                    <a:solidFill>
                      <a:srgbClr val="3B3B3B"/>
                    </a:solidFill>
                    <a:latin typeface="Times New Roman"/>
                    <a:cs typeface="Times New Roman"/>
                  </a:rPr>
                  <a:t>correlation coefficient i.e.,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spc="45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40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400" b="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400" b="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𝑥𝑦</m:t>
                            </m:r>
                          </m:sub>
                        </m:sSub>
                        <m:r>
                          <a:rPr lang="en-GB" sz="1400" b="0" i="1" spc="45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GB" sz="1400" b="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1400" b="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𝑏</m:t>
                            </m:r>
                          </m:e>
                          <m:sub>
                            <m:r>
                              <a:rPr lang="en-GB" sz="1400" b="0" i="1" spc="45" smtClean="0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𝑦𝑥</m:t>
                            </m:r>
                          </m:sub>
                        </m:sSub>
                      </m:num>
                      <m:den>
                        <m:r>
                          <a:rPr lang="en-GB" sz="1400" b="0" i="1" spc="45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GB" sz="1400" i="1" spc="45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≥</m:t>
                    </m:r>
                    <m:r>
                      <a:rPr lang="en-GB" sz="1400" b="0" i="1" spc="45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𝑟</m:t>
                    </m:r>
                  </m:oMath>
                </a14:m>
                <a:endParaRPr lang="en-GB" sz="1400" dirty="0">
                  <a:latin typeface="Times New Roman"/>
                  <a:cs typeface="Times New Roman"/>
                </a:endParaRPr>
              </a:p>
              <a:p>
                <a:pPr marL="200025" marR="78740" indent="-187960">
                  <a:lnSpc>
                    <a:spcPts val="1739"/>
                  </a:lnSpc>
                  <a:spcBef>
                    <a:spcPts val="375"/>
                  </a:spcBef>
                  <a:buClr>
                    <a:srgbClr val="F2904D"/>
                  </a:buClr>
                  <a:buChar char="o"/>
                  <a:tabLst>
                    <a:tab pos="198755" algn="l"/>
                  </a:tabLst>
                </a:pPr>
                <a:endParaRPr lang="en-GB" sz="17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115"/>
                  </a:spcBef>
                </a:pPr>
                <a:endParaRPr sz="17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46" y="989710"/>
                <a:ext cx="5557269" cy="2372637"/>
              </a:xfrm>
              <a:prstGeom prst="rect">
                <a:avLst/>
              </a:prstGeom>
              <a:blipFill>
                <a:blip r:embed="rId2"/>
                <a:stretch>
                  <a:fillRect l="-1535" t="-1538" r="-109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541" y="1268139"/>
            <a:ext cx="5003223" cy="27661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3276" y="560699"/>
            <a:ext cx="422211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dirty="0">
                <a:solidFill>
                  <a:srgbClr val="6D7075"/>
                </a:solidFill>
                <a:latin typeface="Times New Roman"/>
                <a:cs typeface="Times New Roman"/>
              </a:rPr>
              <a:t>OBTAINING</a:t>
            </a:r>
            <a:r>
              <a:rPr sz="1750" spc="45" dirty="0">
                <a:solidFill>
                  <a:srgbClr val="6D7075"/>
                </a:solidFill>
                <a:latin typeface="Times New Roman"/>
                <a:cs typeface="Times New Roman"/>
              </a:rPr>
              <a:t>  </a:t>
            </a:r>
            <a:r>
              <a:rPr sz="1750" dirty="0">
                <a:solidFill>
                  <a:srgbClr val="6D7075"/>
                </a:solidFill>
                <a:latin typeface="Times New Roman"/>
                <a:cs typeface="Times New Roman"/>
              </a:rPr>
              <a:t>REGRESSION</a:t>
            </a:r>
            <a:r>
              <a:rPr sz="1750" spc="50" dirty="0">
                <a:solidFill>
                  <a:srgbClr val="6D7075"/>
                </a:solidFill>
                <a:latin typeface="Times New Roman"/>
                <a:cs typeface="Times New Roman"/>
              </a:rPr>
              <a:t>  </a:t>
            </a:r>
            <a:r>
              <a:rPr sz="1750" spc="-10" dirty="0">
                <a:solidFill>
                  <a:srgbClr val="6D7075"/>
                </a:solidFill>
                <a:latin typeface="Times New Roman"/>
                <a:cs typeface="Times New Roman"/>
              </a:rPr>
              <a:t>EQUATIONS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710" y="50268"/>
            <a:ext cx="5954552" cy="6092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1905">
              <a:lnSpc>
                <a:spcPct val="112000"/>
              </a:lnSpc>
              <a:spcBef>
                <a:spcPts val="95"/>
              </a:spcBef>
            </a:pPr>
            <a:r>
              <a:rPr sz="1750" dirty="0">
                <a:solidFill>
                  <a:srgbClr val="6B6E74"/>
                </a:solidFill>
              </a:rPr>
              <a:t>REGRESSION</a:t>
            </a:r>
            <a:r>
              <a:rPr sz="1750" spc="65" dirty="0">
                <a:solidFill>
                  <a:srgbClr val="6B6E74"/>
                </a:solidFill>
              </a:rPr>
              <a:t>  </a:t>
            </a:r>
            <a:r>
              <a:rPr sz="1750" dirty="0">
                <a:solidFill>
                  <a:srgbClr val="6B6E74"/>
                </a:solidFill>
              </a:rPr>
              <a:t>EQUATIONS</a:t>
            </a:r>
            <a:r>
              <a:rPr sz="1750" spc="415" dirty="0">
                <a:solidFill>
                  <a:srgbClr val="6B6E74"/>
                </a:solidFill>
              </a:rPr>
              <a:t> </a:t>
            </a:r>
            <a:r>
              <a:rPr sz="1750" dirty="0">
                <a:solidFill>
                  <a:srgbClr val="7E8087"/>
                </a:solidFill>
              </a:rPr>
              <a:t>USING</a:t>
            </a:r>
            <a:r>
              <a:rPr sz="1750" spc="275" dirty="0">
                <a:solidFill>
                  <a:srgbClr val="7E8087"/>
                </a:solidFill>
              </a:rPr>
              <a:t> </a:t>
            </a:r>
            <a:r>
              <a:rPr sz="1800" b="1" dirty="0">
                <a:solidFill>
                  <a:srgbClr val="6B6E74"/>
                </a:solidFill>
                <a:latin typeface="Times New Roman"/>
                <a:cs typeface="Times New Roman"/>
              </a:rPr>
              <a:t>N</a:t>
            </a:r>
            <a:r>
              <a:rPr sz="1800" b="1" dirty="0">
                <a:solidFill>
                  <a:srgbClr val="525252"/>
                </a:solidFill>
                <a:latin typeface="Times New Roman"/>
                <a:cs typeface="Times New Roman"/>
              </a:rPr>
              <a:t>O</a:t>
            </a:r>
            <a:r>
              <a:rPr sz="1800" b="1" dirty="0">
                <a:solidFill>
                  <a:srgbClr val="6B6E74"/>
                </a:solidFill>
                <a:latin typeface="Times New Roman"/>
                <a:cs typeface="Times New Roman"/>
              </a:rPr>
              <a:t>RMAL</a:t>
            </a:r>
            <a:r>
              <a:rPr sz="1800" b="1" spc="45" dirty="0">
                <a:solidFill>
                  <a:srgbClr val="6B6E74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B6E74"/>
                </a:solidFill>
                <a:latin typeface="Times New Roman"/>
                <a:cs typeface="Times New Roman"/>
              </a:rPr>
              <a:t>E</a:t>
            </a:r>
            <a:r>
              <a:rPr sz="1800" b="1" spc="-10" dirty="0">
                <a:solidFill>
                  <a:srgbClr val="525252"/>
                </a:solidFill>
                <a:latin typeface="Times New Roman"/>
                <a:cs typeface="Times New Roman"/>
              </a:rPr>
              <a:t>Q</a:t>
            </a:r>
            <a:r>
              <a:rPr sz="1800" b="1" spc="-10" dirty="0">
                <a:solidFill>
                  <a:srgbClr val="6B6E74"/>
                </a:solidFill>
                <a:latin typeface="Times New Roman"/>
                <a:cs typeface="Times New Roman"/>
              </a:rPr>
              <a:t>UATI</a:t>
            </a:r>
            <a:r>
              <a:rPr sz="1800" b="1" spc="-10" dirty="0">
                <a:solidFill>
                  <a:srgbClr val="525252"/>
                </a:solidFill>
                <a:latin typeface="Times New Roman"/>
                <a:cs typeface="Times New Roman"/>
              </a:rPr>
              <a:t>O</a:t>
            </a:r>
            <a:r>
              <a:rPr sz="1800" b="1" spc="-10" dirty="0">
                <a:solidFill>
                  <a:srgbClr val="6B6E74"/>
                </a:solidFill>
                <a:latin typeface="Times New Roman"/>
                <a:cs typeface="Times New Roman"/>
              </a:rPr>
              <a:t>NS</a:t>
            </a:r>
            <a:endParaRPr sz="1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139700" y="697574"/>
                <a:ext cx="5930900" cy="4490012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198755" indent="-173990">
                  <a:lnSpc>
                    <a:spcPct val="100000"/>
                  </a:lnSpc>
                  <a:spcBef>
                    <a:spcPts val="430"/>
                  </a:spcBef>
                  <a:buClr>
                    <a:srgbClr val="EF9759"/>
                  </a:buClr>
                  <a:buSzPct val="87096"/>
                  <a:buFont typeface="Arial"/>
                  <a:buChar char="o"/>
                  <a:tabLst>
                    <a:tab pos="199390" algn="l"/>
                  </a:tabLst>
                </a:pPr>
                <a:r>
                  <a:rPr lang="en-US" sz="1550" spc="9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This</a:t>
                </a:r>
                <a:r>
                  <a:rPr lang="en-US" sz="1550" spc="-2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method</a:t>
                </a:r>
                <a:r>
                  <a:rPr lang="en-US" sz="1550" spc="7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is</a:t>
                </a:r>
                <a:r>
                  <a:rPr lang="en-US" sz="1550" spc="1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6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also</a:t>
                </a:r>
                <a:r>
                  <a:rPr lang="en-US" sz="1550" spc="-6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called</a:t>
                </a:r>
                <a:r>
                  <a:rPr lang="en-US" sz="1550" spc="4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as </a:t>
                </a:r>
                <a:r>
                  <a:rPr lang="en-US" sz="1550" spc="8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Least</a:t>
                </a:r>
                <a:r>
                  <a:rPr lang="en-US" sz="1550" spc="-1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8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Square</a:t>
                </a:r>
                <a:r>
                  <a:rPr lang="en-US" sz="1550" spc="2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Method.</a:t>
                </a:r>
                <a:endParaRPr lang="en-US" sz="155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marL="197485" marR="321310" indent="-172720">
                  <a:lnSpc>
                    <a:spcPts val="1739"/>
                  </a:lnSpc>
                  <a:spcBef>
                    <a:spcPts val="490"/>
                  </a:spcBef>
                  <a:buClr>
                    <a:srgbClr val="EF9759"/>
                  </a:buClr>
                  <a:buChar char="o"/>
                  <a:tabLst>
                    <a:tab pos="203835" algn="l"/>
                  </a:tabLst>
                </a:pPr>
                <a:r>
                  <a:rPr lang="en-US" sz="1550" spc="7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Under</a:t>
                </a:r>
                <a:r>
                  <a:rPr lang="en-US" sz="1550" spc="17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8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this</a:t>
                </a:r>
                <a:r>
                  <a:rPr lang="en-US" sz="1550" spc="3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method,</a:t>
                </a:r>
                <a:r>
                  <a:rPr lang="en-US" sz="1550" spc="-1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550" spc="7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equations</a:t>
                </a:r>
                <a:r>
                  <a:rPr lang="en-US" sz="1550" spc="2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7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can</a:t>
                </a:r>
                <a:r>
                  <a:rPr lang="en-US" sz="1550" spc="8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4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be </a:t>
                </a:r>
                <a:r>
                  <a:rPr lang="en-US" sz="1550" spc="5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calculated</a:t>
                </a:r>
                <a:r>
                  <a:rPr lang="en-US" sz="1550" spc="16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by</a:t>
                </a:r>
                <a:r>
                  <a:rPr lang="en-US" sz="1550" spc="1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solving</a:t>
                </a:r>
                <a:r>
                  <a:rPr lang="en-US" sz="1550" spc="1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two</a:t>
                </a:r>
                <a:r>
                  <a:rPr lang="en-US" sz="1550" spc="6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7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normal</a:t>
                </a:r>
                <a:r>
                  <a:rPr lang="en-US" sz="1550" spc="18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550" spc="5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equations:</a:t>
                </a:r>
                <a:endParaRPr lang="en-US" sz="155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marL="450850" lvl="1" indent="-189230">
                  <a:lnSpc>
                    <a:spcPct val="100000"/>
                  </a:lnSpc>
                  <a:spcBef>
                    <a:spcPts val="270"/>
                  </a:spcBef>
                  <a:buClr>
                    <a:srgbClr val="F6822D"/>
                  </a:buClr>
                  <a:buChar char="•"/>
                  <a:tabLst>
                    <a:tab pos="451484" algn="l"/>
                    <a:tab pos="3473450" algn="l"/>
                  </a:tabLst>
                </a:pPr>
                <a:r>
                  <a:rPr lang="en-US" sz="1350" spc="6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For</a:t>
                </a:r>
                <a:r>
                  <a:rPr lang="en-US" sz="1350" spc="9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3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regression</a:t>
                </a:r>
                <a:r>
                  <a:rPr lang="en-US" sz="1350" spc="12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3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equation</a:t>
                </a:r>
                <a:r>
                  <a:rPr lang="en-US" sz="1350" spc="1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350" spc="6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Yon</a:t>
                </a:r>
                <a:r>
                  <a:rPr lang="en-US" sz="1350" spc="28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3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X:</a:t>
                </a:r>
                <a:r>
                  <a:rPr lang="en-US" sz="1350" spc="85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350" i="1" spc="-65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𝑌</m:t>
                    </m:r>
                    <m:r>
                      <a:rPr lang="en-US" sz="1350" i="1" spc="2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350" i="1" spc="-2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US" sz="1350" i="1" spc="-25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𝑎</m:t>
                    </m:r>
                    <m:r>
                      <a:rPr lang="en-US" sz="1350" i="1" spc="-25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+ </m:t>
                    </m:r>
                    <m:r>
                      <a:rPr lang="en-US" sz="1350" i="1" spc="-25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𝑏𝑋</m:t>
                    </m:r>
                  </m:oMath>
                </a14:m>
                <a:endParaRPr lang="en-US" sz="135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marL="629920" lvl="2" indent="-124460">
                  <a:lnSpc>
                    <a:spcPts val="1380"/>
                  </a:lnSpc>
                  <a:spcBef>
                    <a:spcPts val="40"/>
                  </a:spcBef>
                  <a:buClr>
                    <a:srgbClr val="DB996E"/>
                  </a:buClr>
                  <a:buSzPct val="104761"/>
                  <a:buFont typeface="Times New Roman"/>
                  <a:buChar char="o"/>
                  <a:tabLst>
                    <a:tab pos="630555" algn="l"/>
                  </a:tabLs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ar-AE" sz="1200" i="1" spc="-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/>
                      <m:sup/>
                      <m:e>
                        <m:r>
                          <a:rPr lang="ar-AE" sz="1200" b="0" i="1" spc="-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</m:nary>
                    <m:r>
                      <a:rPr lang="ar-AE" sz="1200" i="1" spc="-1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ar-AE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ar-AE" sz="1200" i="1" spc="2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ar-AE" sz="1200" i="1" spc="11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𝑁𝑎</m:t>
                    </m:r>
                    <m:r>
                      <a:rPr lang="ar-AE" sz="1200" i="1" spc="11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ar-AE" sz="1200" i="1" spc="11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ar-AE" sz="1200" i="1" spc="1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/>
                      <m:sup/>
                      <m:e>
                        <m:r>
                          <a:rPr lang="en-GB" sz="1200" b="0" i="1" spc="11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𝑋</m:t>
                        </m:r>
                      </m:e>
                    </m:nary>
                  </m:oMath>
                </a14:m>
                <a:endParaRPr lang="ar-AE" sz="1200" dirty="0">
                  <a:solidFill>
                    <a:schemeClr val="tx1"/>
                  </a:solidFill>
                  <a:latin typeface="Arial"/>
                  <a:cs typeface="Arial"/>
                </a:endParaRPr>
              </a:p>
              <a:p>
                <a:pPr marL="629920" lvl="2" indent="-124460">
                  <a:lnSpc>
                    <a:spcPts val="1920"/>
                  </a:lnSpc>
                  <a:buClr>
                    <a:srgbClr val="DB996E"/>
                  </a:buClr>
                  <a:buSzPct val="90476"/>
                  <a:buFont typeface="Arial"/>
                  <a:buChar char="o"/>
                  <a:tabLst>
                    <a:tab pos="630555" algn="l"/>
                  </a:tabLs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/>
                      <m:sup/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𝑋𝑌</m:t>
                        </m:r>
                      </m:e>
                    </m:nary>
                    <m:r>
                      <a:rPr lang="en-US" sz="1200" i="1" spc="-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sz="1200" i="1" spc="-16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US" sz="1200" i="1" spc="-204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𝑎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/>
                      <m:sup/>
                      <m:e>
                        <m:r>
                          <a:rPr lang="en-GB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𝑋</m:t>
                        </m:r>
                      </m:e>
                    </m:nary>
                    <m:r>
                      <a:rPr lang="en-US" sz="1200" i="1" spc="3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sz="1200" i="1" spc="-25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en-US" sz="1200" i="1" spc="-9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sz="1200" i="1" spc="-2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200" i="1" spc="-2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200" i="1" spc="-2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GB" sz="1200" b="0" i="1" spc="-2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𝑋</m:t>
                            </m:r>
                          </m:e>
                          <m:sup>
                            <m:r>
                              <a:rPr lang="en-GB" sz="1200" b="0" i="1" spc="-2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200" baseline="26143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marL="452120" lvl="1" indent="-190500">
                  <a:lnSpc>
                    <a:spcPct val="100000"/>
                  </a:lnSpc>
                  <a:spcBef>
                    <a:spcPts val="1165"/>
                  </a:spcBef>
                  <a:buClr>
                    <a:srgbClr val="F6822D"/>
                  </a:buClr>
                  <a:buChar char="•"/>
                  <a:tabLst>
                    <a:tab pos="452120" algn="l"/>
                    <a:tab pos="452755" algn="l"/>
                  </a:tabLst>
                </a:pPr>
                <a:r>
                  <a:rPr lang="en-US" sz="13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Another</a:t>
                </a:r>
                <a:r>
                  <a:rPr lang="en-US" sz="1350" spc="32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350" spc="-1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Method</a:t>
                </a:r>
              </a:p>
              <a:p>
                <a:pPr marL="629920" lvl="2" indent="-124460">
                  <a:spcBef>
                    <a:spcPts val="1165"/>
                  </a:spcBef>
                  <a:buClr>
                    <a:srgbClr val="DB996E"/>
                  </a:buClr>
                  <a:buChar char="o"/>
                  <a:tabLst>
                    <a:tab pos="630555" algn="l"/>
                  </a:tabLst>
                </a:pPr>
                <a14:m>
                  <m:oMath xmlns:m="http://schemas.openxmlformats.org/officeDocument/2006/math"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𝑛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14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GB" sz="14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𝑋𝑌</m:t>
                            </m:r>
                            <m:r>
                              <a:rPr lang="en-GB" sz="14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GB" sz="1400" i="1" spc="-1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sz="1400" i="1" spc="-1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𝑋</m:t>
                                    </m:r>
                                  </m:e>
                                </m:nary>
                              </m:e>
                            </m:d>
                            <m:d>
                              <m:dPr>
                                <m:ctrlP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GB" sz="1400" i="1" spc="-1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GB" sz="1400" i="1" spc="-1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𝑌</m:t>
                                    </m:r>
                                  </m:e>
                                </m:nary>
                              </m:e>
                            </m:d>
                          </m:e>
                        </m:nary>
                      </m:num>
                      <m:den>
                        <m: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𝑛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14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1400" i="1" spc="-1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1400" i="1" spc="-1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subHide m:val="on"/>
                                        <m:supHide m:val="on"/>
                                        <m:ctrlPr>
                                          <a:rPr lang="en-GB" sz="1400" i="1" spc="-1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en-GB" sz="1400" i="1" spc="-1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𝑋</m:t>
                                        </m:r>
                                      </m:e>
                                    </m:nary>
                                  </m:e>
                                </m:d>
                              </m:e>
                              <m:sup>
                                <m:r>
                                  <a:rPr lang="en-GB" sz="1400" i="1" spc="-1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400" i="1" spc="-1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Arial"/>
                  </a:rPr>
                  <a:t>   </a:t>
                </a:r>
              </a:p>
              <a:p>
                <a:pPr marL="629920" lvl="2" indent="-124460">
                  <a:spcBef>
                    <a:spcPts val="1165"/>
                  </a:spcBef>
                  <a:buClr>
                    <a:srgbClr val="DB996E"/>
                  </a:buClr>
                  <a:buChar char="o"/>
                  <a:tabLst>
                    <a:tab pos="630555" algn="l"/>
                  </a:tabLst>
                </a:pPr>
                <a14:m>
                  <m:oMath xmlns:m="http://schemas.openxmlformats.org/officeDocument/2006/math"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𝑎</m:t>
                    </m:r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𝑌</m:t>
                        </m:r>
                      </m:e>
                    </m:acc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en-GB" sz="1400" i="1" spc="-1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GB" sz="1400" i="1" spc="-1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𝑋</m:t>
                        </m:r>
                      </m:e>
                    </m:acc>
                  </m:oMath>
                </a14:m>
                <a:endParaRPr lang="en-US" sz="1400" i="1" spc="-10" dirty="0">
                  <a:solidFill>
                    <a:schemeClr val="tx1"/>
                  </a:solidFill>
                  <a:latin typeface="Cambria Math" panose="02040503050406030204" pitchFamily="18" charset="0"/>
                  <a:cs typeface="Arial"/>
                </a:endParaRPr>
              </a:p>
              <a:p>
                <a:pPr marL="189865" marR="5080" indent="-177800">
                  <a:lnSpc>
                    <a:spcPts val="1820"/>
                  </a:lnSpc>
                  <a:spcBef>
                    <a:spcPts val="204"/>
                  </a:spcBef>
                  <a:buClr>
                    <a:srgbClr val="EF9759"/>
                  </a:buClr>
                  <a:buChar char="o"/>
                  <a:tabLst>
                    <a:tab pos="198755" algn="l"/>
                  </a:tabLst>
                </a:pPr>
                <a:r>
                  <a:rPr lang="en-GB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Here a is the Y - intercept, indicates the minimum value of Y for X = 0</a:t>
                </a:r>
              </a:p>
              <a:p>
                <a:pPr marL="12065" marR="147320">
                  <a:lnSpc>
                    <a:spcPts val="1820"/>
                  </a:lnSpc>
                  <a:spcBef>
                    <a:spcPts val="295"/>
                  </a:spcBef>
                  <a:buClr>
                    <a:srgbClr val="EF9759"/>
                  </a:buClr>
                  <a:buSzPct val="96875"/>
                  <a:tabLst>
                    <a:tab pos="194310" algn="l"/>
                  </a:tabLst>
                </a:pPr>
                <a:r>
                  <a:rPr lang="en-GB" sz="155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&amp; b is the slope of the line, indicates the absolute increase in Y for a unit increase in X.</a:t>
                </a:r>
              </a:p>
              <a:p>
                <a:pPr marL="452120" lvl="1" indent="-190500">
                  <a:spcBef>
                    <a:spcPts val="1165"/>
                  </a:spcBef>
                  <a:buClr>
                    <a:srgbClr val="F6822D"/>
                  </a:buClr>
                  <a:buChar char="•"/>
                  <a:tabLst>
                    <a:tab pos="452120" algn="l"/>
                    <a:tab pos="452755" algn="l"/>
                  </a:tabLst>
                </a:pP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/>
                </a:endParaRPr>
              </a:p>
              <a:p>
                <a:pPr marL="452120" indent="-190500">
                  <a:spcBef>
                    <a:spcPts val="1165"/>
                  </a:spcBef>
                  <a:buClr>
                    <a:srgbClr val="F6822D"/>
                  </a:buClr>
                  <a:buChar char="•"/>
                  <a:tabLst>
                    <a:tab pos="452120" algn="l"/>
                    <a:tab pos="452755" algn="l"/>
                  </a:tabLst>
                </a:pPr>
                <a:endParaRPr lang="en-US" sz="1200" i="1" spc="-10" dirty="0">
                  <a:solidFill>
                    <a:schemeClr val="tx1"/>
                  </a:solidFill>
                  <a:latin typeface="Cambria Math" panose="02040503050406030204" pitchFamily="18" charset="0"/>
                  <a:cs typeface="Arial"/>
                </a:endParaRPr>
              </a:p>
              <a:p>
                <a:pPr marL="452120" lvl="1" indent="-190500">
                  <a:lnSpc>
                    <a:spcPct val="100000"/>
                  </a:lnSpc>
                  <a:spcBef>
                    <a:spcPts val="1165"/>
                  </a:spcBef>
                  <a:buClr>
                    <a:srgbClr val="F6822D"/>
                  </a:buClr>
                  <a:buChar char="•"/>
                  <a:tabLst>
                    <a:tab pos="452120" algn="l"/>
                    <a:tab pos="452755" algn="l"/>
                  </a:tabLst>
                </a:pPr>
                <a:endParaRPr sz="135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697574"/>
                <a:ext cx="5930900" cy="4490012"/>
              </a:xfrm>
              <a:prstGeom prst="rect">
                <a:avLst/>
              </a:prstGeom>
              <a:blipFill>
                <a:blip r:embed="rId2"/>
                <a:stretch>
                  <a:fillRect l="-1850" t="-1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B710-EC6C-2574-7578-8D6A8191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452765"/>
            <a:ext cx="4705082" cy="261610"/>
          </a:xfrm>
        </p:spPr>
        <p:txBody>
          <a:bodyPr/>
          <a:lstStyle/>
          <a:p>
            <a:r>
              <a:rPr lang="en-GB" dirty="0"/>
              <a:t>Residual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7DC5E-F448-C86B-8F49-3AE1309A0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00" y="981075"/>
            <a:ext cx="5562600" cy="1569660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LID4096" dirty="0">
                <a:latin typeface="Times New Roman" panose="02020603050405020304" pitchFamily="18" charset="0"/>
              </a:rPr>
              <a:t>The difference between the observed value </a:t>
            </a:r>
            <a:r>
              <a:rPr lang="en-US" altLang="LID4096" dirty="0" err="1">
                <a:latin typeface="Times New Roman" panose="02020603050405020304" pitchFamily="18" charset="0"/>
              </a:rPr>
              <a:t>y</a:t>
            </a:r>
            <a:r>
              <a:rPr lang="en-US" altLang="LID4096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LID4096" dirty="0">
                <a:latin typeface="Times New Roman" panose="02020603050405020304" pitchFamily="18" charset="0"/>
              </a:rPr>
              <a:t> and the corresponding fitted value</a:t>
            </a:r>
            <a:r>
              <a:rPr lang="en-US" altLang="LID4096" dirty="0"/>
              <a:t> </a:t>
            </a:r>
            <a:r>
              <a:rPr lang="en-US" altLang="LID4096" dirty="0">
                <a:latin typeface="Times New Roman" panose="02020603050405020304" pitchFamily="18" charset="0"/>
              </a:rPr>
              <a:t>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LID4096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LID4096" dirty="0">
                <a:latin typeface="Times New Roman" panose="02020603050405020304" pitchFamily="18" charset="0"/>
              </a:rPr>
              <a:t>Residuals are highly useful for studying whether a given regression model is appropriate for the data at hand.</a:t>
            </a:r>
          </a:p>
          <a:p>
            <a:endParaRPr lang="LID4096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708DA15-2CE5-D706-5826-9F32B6785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344602"/>
              </p:ext>
            </p:extLst>
          </p:nvPr>
        </p:nvGraphicFramePr>
        <p:xfrm>
          <a:off x="1282700" y="1514475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28600" progId="Equation.3">
                  <p:embed/>
                </p:oleObj>
              </mc:Choice>
              <mc:Fallback>
                <p:oleObj name="Equation" r:id="rId2" imgW="685800" imgH="228600" progId="Equation.3">
                  <p:embed/>
                  <p:pic>
                    <p:nvPicPr>
                      <p:cNvPr id="13314" name="Object 4">
                        <a:extLst>
                          <a:ext uri="{FF2B5EF4-FFF2-40B4-BE49-F238E27FC236}">
                            <a16:creationId xmlns:a16="http://schemas.microsoft.com/office/drawing/2014/main" id="{5BC12347-0076-3EF2-4495-AC3D907C6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1514475"/>
                        <a:ext cx="1676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364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864C-2305-DA6D-6493-7B3D3A6F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9" y="216211"/>
            <a:ext cx="4705082" cy="276999"/>
          </a:xfrm>
        </p:spPr>
        <p:txBody>
          <a:bodyPr/>
          <a:lstStyle/>
          <a:p>
            <a:r>
              <a:rPr lang="en-US" altLang="LID4096" sz="1800" dirty="0">
                <a:latin typeface="Times New Roman" panose="02020603050405020304" pitchFamily="18" charset="0"/>
              </a:rPr>
              <a:t>Estimation of the variance</a:t>
            </a:r>
            <a:r>
              <a:rPr lang="en-US" altLang="LID4096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of the </a:t>
            </a:r>
            <a:r>
              <a:rPr lang="en-US" altLang="LID4096" sz="1800" dirty="0">
                <a:latin typeface="Times New Roman" panose="02020603050405020304" pitchFamily="18" charset="0"/>
              </a:rPr>
              <a:t>error terms, </a:t>
            </a:r>
            <a:r>
              <a:rPr lang="en-US" altLang="LID4096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LID4096" sz="18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18CAB-A957-23FF-1A29-E842DA92F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634" y="676275"/>
            <a:ext cx="5118203" cy="3167021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</a:rPr>
              <a:t>The variance </a:t>
            </a: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LID4096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</a:rPr>
              <a:t>of the error terms </a:t>
            </a: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LID4096" baseline="-2500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in the regression model needs to be estimated for a variety of purposes.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It gives an indication of the variability of the probability distributions of y.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LID4096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It is needed for making inference concerning regression function and the prediction of y. </a:t>
            </a:r>
          </a:p>
          <a:p>
            <a:pPr marL="285750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LID4096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To estimate </a:t>
            </a:r>
            <a:r>
              <a:rPr lang="en-US" altLang="LID4096" sz="1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we work with the variance and take the square root to obtain the standard deviation.</a:t>
            </a:r>
          </a:p>
          <a:p>
            <a:pPr marL="285750" indent="-28575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LID4096" sz="1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For simple linear regression, the estimate of </a:t>
            </a:r>
            <a:r>
              <a:rPr lang="en-US" altLang="LID4096" sz="1800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LID4096" sz="1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 the average squared residual.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LID4096" dirty="0">
              <a:latin typeface="Times New Roman" panose="02020603050405020304" pitchFamily="18" charset="0"/>
            </a:endParaRPr>
          </a:p>
          <a:p>
            <a:endParaRPr lang="LID4096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4F48565-CC11-E4B2-CCD2-4073C6B6D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92534"/>
              </p:ext>
            </p:extLst>
          </p:nvPr>
        </p:nvGraphicFramePr>
        <p:xfrm>
          <a:off x="1181894" y="3372311"/>
          <a:ext cx="370681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393480" progId="Equation.3">
                  <p:embed/>
                </p:oleObj>
              </mc:Choice>
              <mc:Fallback>
                <p:oleObj name="Equation" r:id="rId2" imgW="2336760" imgH="393480" progId="Equation.3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0308B2A8-7D93-B064-53E8-F912556DE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894" y="3372311"/>
                        <a:ext cx="370681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323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2262" y="107680"/>
            <a:ext cx="4764405" cy="2279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 marR="43180" indent="-5715">
              <a:lnSpc>
                <a:spcPct val="114199"/>
              </a:lnSpc>
              <a:spcBef>
                <a:spcPts val="95"/>
              </a:spcBef>
            </a:pPr>
            <a:r>
              <a:rPr sz="1600" dirty="0">
                <a:solidFill>
                  <a:srgbClr val="838589"/>
                </a:solidFill>
                <a:latin typeface="Times New Roman"/>
                <a:cs typeface="Times New Roman"/>
              </a:rPr>
              <a:t>REGRESSION</a:t>
            </a:r>
            <a:r>
              <a:rPr sz="1600" spc="434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38589"/>
                </a:solidFill>
                <a:latin typeface="Times New Roman"/>
                <a:cs typeface="Times New Roman"/>
              </a:rPr>
              <a:t>EQUATIONS</a:t>
            </a:r>
            <a:r>
              <a:rPr sz="1600" spc="200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spc="50" dirty="0">
                <a:solidFill>
                  <a:srgbClr val="838589"/>
                </a:solidFill>
                <a:latin typeface="Times New Roman"/>
                <a:cs typeface="Times New Roman"/>
              </a:rPr>
              <a:t>USING</a:t>
            </a:r>
            <a:r>
              <a:rPr sz="1600" spc="250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6E6E70"/>
                </a:solidFill>
                <a:latin typeface="Times New Roman"/>
                <a:cs typeface="Times New Roman"/>
              </a:rPr>
              <a:t>R</a:t>
            </a:r>
            <a:r>
              <a:rPr sz="1600" spc="-10" dirty="0">
                <a:solidFill>
                  <a:srgbClr val="838589"/>
                </a:solidFill>
                <a:latin typeface="Times New Roman"/>
                <a:cs typeface="Times New Roman"/>
              </a:rPr>
              <a:t>EGRESSION </a:t>
            </a:r>
            <a:r>
              <a:rPr sz="1600" dirty="0">
                <a:solidFill>
                  <a:srgbClr val="838589"/>
                </a:solidFill>
                <a:latin typeface="Times New Roman"/>
                <a:cs typeface="Times New Roman"/>
              </a:rPr>
              <a:t>COEFFICIENTS</a:t>
            </a:r>
            <a:r>
              <a:rPr sz="1600" spc="395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6E6E70"/>
                </a:solidFill>
                <a:latin typeface="Times New Roman"/>
                <a:cs typeface="Times New Roman"/>
              </a:rPr>
              <a:t>(U</a:t>
            </a:r>
            <a:r>
              <a:rPr sz="1600" spc="65" dirty="0">
                <a:solidFill>
                  <a:srgbClr val="838589"/>
                </a:solidFill>
                <a:latin typeface="Times New Roman"/>
                <a:cs typeface="Times New Roman"/>
              </a:rPr>
              <a:t>SING</a:t>
            </a:r>
            <a:r>
              <a:rPr sz="1600" spc="95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38589"/>
                </a:solidFill>
                <a:latin typeface="Times New Roman"/>
                <a:cs typeface="Times New Roman"/>
              </a:rPr>
              <a:t>ACTUAL</a:t>
            </a:r>
            <a:r>
              <a:rPr sz="1600" spc="140" dirty="0">
                <a:solidFill>
                  <a:srgbClr val="83858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6E6E70"/>
                </a:solidFill>
                <a:latin typeface="Times New Roman"/>
                <a:cs typeface="Times New Roman"/>
              </a:rPr>
              <a:t>V</a:t>
            </a:r>
            <a:r>
              <a:rPr sz="1600" spc="-10" dirty="0">
                <a:solidFill>
                  <a:srgbClr val="838589"/>
                </a:solidFill>
                <a:latin typeface="Times New Roman"/>
                <a:cs typeface="Times New Roman"/>
              </a:rPr>
              <a:t>ALUES)</a:t>
            </a:r>
            <a:endParaRPr sz="16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  <a:spcBef>
                <a:spcPts val="1335"/>
              </a:spcBef>
              <a:tabLst>
                <a:tab pos="2956560" algn="l"/>
              </a:tabLst>
            </a:pPr>
            <a:r>
              <a:rPr sz="1750" dirty="0">
                <a:solidFill>
                  <a:srgbClr val="DF9562"/>
                </a:solidFill>
                <a:latin typeface="Times New Roman"/>
                <a:cs typeface="Times New Roman"/>
              </a:rPr>
              <a:t>o</a:t>
            </a:r>
            <a:r>
              <a:rPr sz="1750" spc="120" dirty="0">
                <a:solidFill>
                  <a:srgbClr val="DF9562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13131"/>
                </a:solidFill>
                <a:latin typeface="Times New Roman"/>
                <a:cs typeface="Times New Roman"/>
              </a:rPr>
              <a:t>Regression</a:t>
            </a:r>
            <a:r>
              <a:rPr sz="1750" spc="9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750" spc="50" dirty="0">
                <a:solidFill>
                  <a:srgbClr val="313131"/>
                </a:solidFill>
                <a:latin typeface="Times New Roman"/>
                <a:cs typeface="Times New Roman"/>
              </a:rPr>
              <a:t>Equation</a:t>
            </a:r>
            <a:r>
              <a:rPr sz="1750" spc="4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4B4B4B"/>
                </a:solidFill>
                <a:latin typeface="Times New Roman"/>
                <a:cs typeface="Times New Roman"/>
              </a:rPr>
              <a:t>of</a:t>
            </a:r>
            <a:r>
              <a:rPr sz="1750" spc="3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313131"/>
                </a:solidFill>
                <a:latin typeface="Times New Roman"/>
                <a:cs typeface="Times New Roman"/>
              </a:rPr>
              <a:t>Yon</a:t>
            </a:r>
            <a:r>
              <a:rPr sz="1750" dirty="0">
                <a:solidFill>
                  <a:srgbClr val="313131"/>
                </a:solidFill>
                <a:latin typeface="Times New Roman"/>
                <a:cs typeface="Times New Roman"/>
              </a:rPr>
              <a:t>	</a:t>
            </a:r>
            <a:r>
              <a:rPr sz="1750" spc="-50" dirty="0">
                <a:solidFill>
                  <a:srgbClr val="313131"/>
                </a:solidFill>
                <a:latin typeface="Times New Roman"/>
                <a:cs typeface="Times New Roman"/>
              </a:rPr>
              <a:t>X</a:t>
            </a:r>
            <a:endParaRPr sz="1750" dirty="0"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endParaRPr lang="en-GB" sz="1000" spc="-50" dirty="0">
              <a:solidFill>
                <a:srgbClr val="313131"/>
              </a:solidFill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endParaRPr lang="en-US" sz="1000" spc="-50" dirty="0">
              <a:solidFill>
                <a:srgbClr val="313131"/>
              </a:solidFill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endParaRPr lang="en-GB" sz="1000" dirty="0">
              <a:solidFill>
                <a:srgbClr val="313131"/>
              </a:solidFill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endParaRPr lang="en-US" sz="1000" dirty="0">
              <a:solidFill>
                <a:srgbClr val="313131"/>
              </a:solidFill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endParaRPr lang="en-US" sz="1000" dirty="0">
              <a:solidFill>
                <a:srgbClr val="313131"/>
              </a:solidFill>
              <a:latin typeface="Times New Roman"/>
              <a:cs typeface="Times New Roman"/>
            </a:endParaRPr>
          </a:p>
          <a:p>
            <a:pPr marR="4445" algn="ctr">
              <a:lnSpc>
                <a:spcPts val="880"/>
              </a:lnSpc>
              <a:spcBef>
                <a:spcPts val="315"/>
              </a:spcBef>
              <a:tabLst>
                <a:tab pos="996315" algn="l"/>
                <a:tab pos="2261235" algn="l"/>
              </a:tabLst>
            </a:pPr>
            <a:r>
              <a:rPr sz="1000" dirty="0">
                <a:solidFill>
                  <a:srgbClr val="313131"/>
                </a:solidFill>
                <a:latin typeface="Times New Roman"/>
                <a:cs typeface="Times New Roman"/>
              </a:rPr>
              <a:t>		</a:t>
            </a:r>
            <a:endParaRPr sz="10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  <a:spcBef>
                <a:spcPts val="595"/>
              </a:spcBef>
            </a:pPr>
            <a:r>
              <a:rPr sz="1750" spc="70" dirty="0">
                <a:solidFill>
                  <a:srgbClr val="DF9562"/>
                </a:solidFill>
                <a:latin typeface="Times New Roman"/>
                <a:cs typeface="Times New Roman"/>
              </a:rPr>
              <a:t>o</a:t>
            </a:r>
            <a:r>
              <a:rPr sz="1750" spc="45" dirty="0">
                <a:solidFill>
                  <a:srgbClr val="DF9562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13131"/>
                </a:solidFill>
                <a:latin typeface="Times New Roman"/>
                <a:cs typeface="Times New Roman"/>
              </a:rPr>
              <a:t>Regression</a:t>
            </a:r>
            <a:r>
              <a:rPr sz="1750" spc="8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750" spc="50" dirty="0">
                <a:solidFill>
                  <a:srgbClr val="313131"/>
                </a:solidFill>
                <a:latin typeface="Times New Roman"/>
                <a:cs typeface="Times New Roman"/>
              </a:rPr>
              <a:t>Equation</a:t>
            </a:r>
            <a:r>
              <a:rPr sz="1750" spc="2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4B4B4B"/>
                </a:solidFill>
                <a:latin typeface="Times New Roman"/>
                <a:cs typeface="Times New Roman"/>
              </a:rPr>
              <a:t>of</a:t>
            </a:r>
            <a:r>
              <a:rPr sz="1750" spc="114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750" spc="-145" dirty="0">
                <a:solidFill>
                  <a:srgbClr val="313131"/>
                </a:solidFill>
                <a:latin typeface="Times New Roman"/>
                <a:cs typeface="Times New Roman"/>
              </a:rPr>
              <a:t>X</a:t>
            </a:r>
            <a:r>
              <a:rPr sz="1750" spc="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4B4B4B"/>
                </a:solidFill>
                <a:latin typeface="Times New Roman"/>
                <a:cs typeface="Times New Roman"/>
              </a:rPr>
              <a:t>on</a:t>
            </a:r>
            <a:r>
              <a:rPr sz="1750" spc="-20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750" spc="-50" dirty="0">
                <a:solidFill>
                  <a:srgbClr val="4B4B4B"/>
                </a:solidFill>
                <a:latin typeface="Times New Roman"/>
                <a:cs typeface="Times New Roman"/>
              </a:rPr>
              <a:t>Y</a:t>
            </a:r>
            <a:endParaRPr sz="1750" dirty="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22FF19-B397-71E4-BCDC-72F06ADDC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51" y="1438275"/>
            <a:ext cx="3505200" cy="381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A85BC84-15DF-DC8F-B0B6-D8D7E529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51" y="2657475"/>
            <a:ext cx="3429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747" y="323321"/>
            <a:ext cx="244157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sz="1750" dirty="0">
                <a:solidFill>
                  <a:srgbClr val="7E8083"/>
                </a:solidFill>
                <a:latin typeface="Times New Roman"/>
                <a:cs typeface="Times New Roman"/>
              </a:rPr>
              <a:t>RACTICE</a:t>
            </a:r>
            <a:r>
              <a:rPr sz="1750" spc="390" dirty="0">
                <a:solidFill>
                  <a:srgbClr val="7E8083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sz="1750" spc="-10" dirty="0">
                <a:solidFill>
                  <a:srgbClr val="7E8083"/>
                </a:solidFill>
                <a:latin typeface="Times New Roman"/>
                <a:cs typeface="Times New Roman"/>
              </a:rPr>
              <a:t>R</a:t>
            </a:r>
            <a:r>
              <a:rPr sz="1750" spc="-10" dirty="0">
                <a:solidFill>
                  <a:srgbClr val="69696B"/>
                </a:solidFill>
                <a:latin typeface="Times New Roman"/>
                <a:cs typeface="Times New Roman"/>
              </a:rPr>
              <a:t>OBL</a:t>
            </a:r>
            <a:r>
              <a:rPr sz="1750" spc="-10" dirty="0">
                <a:solidFill>
                  <a:srgbClr val="7E8083"/>
                </a:solidFill>
                <a:latin typeface="Times New Roman"/>
                <a:cs typeface="Times New Roman"/>
              </a:rPr>
              <a:t>EMS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901" y="989709"/>
            <a:ext cx="5525930" cy="1999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solidFill>
                  <a:srgbClr val="3D3D3D"/>
                </a:solidFill>
                <a:latin typeface="Times New Roman"/>
                <a:cs typeface="Times New Roman"/>
              </a:rPr>
              <a:t>Ql:</a:t>
            </a:r>
            <a:r>
              <a:rPr sz="1550" spc="3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3D3D3D"/>
                </a:solidFill>
                <a:latin typeface="Times New Roman"/>
                <a:cs typeface="Times New Roman"/>
              </a:rPr>
              <a:t>Calculate</a:t>
            </a:r>
            <a:r>
              <a:rPr sz="1550" spc="13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sz="1550" spc="12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525252"/>
                </a:solidFill>
                <a:latin typeface="Times New Roman"/>
                <a:cs typeface="Times New Roman"/>
              </a:rPr>
              <a:t>regression</a:t>
            </a:r>
            <a:r>
              <a:rPr sz="1550" spc="7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25252"/>
                </a:solidFill>
                <a:latin typeface="Times New Roman"/>
                <a:cs typeface="Times New Roman"/>
              </a:rPr>
              <a:t>equation</a:t>
            </a:r>
            <a:r>
              <a:rPr sz="1550" spc="120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sz="1550" spc="2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25252"/>
                </a:solidFill>
                <a:latin typeface="Times New Roman"/>
                <a:cs typeface="Times New Roman"/>
              </a:rPr>
              <a:t>X</a:t>
            </a:r>
            <a:r>
              <a:rPr sz="1550" spc="-12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D3D3D"/>
                </a:solidFill>
                <a:latin typeface="Times New Roman"/>
                <a:cs typeface="Times New Roman"/>
              </a:rPr>
              <a:t>on</a:t>
            </a:r>
            <a:r>
              <a:rPr sz="1550" spc="12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D3D3D"/>
                </a:solidFill>
                <a:latin typeface="Times New Roman"/>
                <a:cs typeface="Times New Roman"/>
              </a:rPr>
              <a:t>Y </a:t>
            </a:r>
            <a:r>
              <a:rPr sz="1550" spc="50" dirty="0">
                <a:solidFill>
                  <a:srgbClr val="3D3D3D"/>
                </a:solidFill>
                <a:latin typeface="Times New Roman"/>
                <a:cs typeface="Times New Roman"/>
              </a:rPr>
              <a:t>using</a:t>
            </a:r>
            <a:r>
              <a:rPr lang="en-GB" sz="1550" spc="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lang="en-US" sz="1550" spc="55" dirty="0">
                <a:solidFill>
                  <a:srgbClr val="525252"/>
                </a:solidFill>
                <a:latin typeface="Times New Roman"/>
                <a:cs typeface="Times New Roman"/>
              </a:rPr>
              <a:t>method</a:t>
            </a:r>
            <a:r>
              <a:rPr lang="en-US" sz="1550" spc="-30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lang="en-US" sz="1550" dirty="0">
                <a:solidFill>
                  <a:srgbClr val="3D3D3D"/>
                </a:solidFill>
                <a:latin typeface="Times New Roman"/>
                <a:cs typeface="Times New Roman"/>
              </a:rPr>
              <a:t>of</a:t>
            </a:r>
            <a:r>
              <a:rPr lang="en-US" sz="1550" spc="-8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lang="en-US" sz="1550" spc="100" dirty="0">
                <a:solidFill>
                  <a:srgbClr val="525252"/>
                </a:solidFill>
                <a:latin typeface="Times New Roman"/>
                <a:cs typeface="Times New Roman"/>
              </a:rPr>
              <a:t>least</a:t>
            </a:r>
            <a:r>
              <a:rPr lang="en-US" sz="1550" spc="-25" dirty="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lang="en-US" sz="1550" spc="60" dirty="0">
                <a:solidFill>
                  <a:srgbClr val="525252"/>
                </a:solidFill>
                <a:latin typeface="Times New Roman"/>
                <a:cs typeface="Times New Roman"/>
              </a:rPr>
              <a:t>squares: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550" spc="60" dirty="0">
              <a:solidFill>
                <a:srgbClr val="52525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550" spc="60" dirty="0">
              <a:solidFill>
                <a:srgbClr val="52525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550" spc="60" dirty="0">
              <a:solidFill>
                <a:srgbClr val="52525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550" spc="60" dirty="0">
              <a:solidFill>
                <a:srgbClr val="52525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1550" spc="60" dirty="0">
              <a:solidFill>
                <a:srgbClr val="52525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GB" sz="1550" dirty="0">
                <a:latin typeface="Times New Roman"/>
                <a:cs typeface="Times New Roman"/>
              </a:rPr>
              <a:t>Also find the variance of the error terms. </a:t>
            </a:r>
            <a:endParaRPr sz="1550" dirty="0">
              <a:latin typeface="Times New Roman"/>
              <a:cs typeface="Times New Roman"/>
            </a:endParaRPr>
          </a:p>
        </p:txBody>
      </p:sp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F769D1D6-4D06-5D14-3A22-D2F786041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649762"/>
              </p:ext>
            </p:extLst>
          </p:nvPr>
        </p:nvGraphicFramePr>
        <p:xfrm>
          <a:off x="641790" y="1733206"/>
          <a:ext cx="404706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152">
                  <a:extLst>
                    <a:ext uri="{9D8B030D-6E8A-4147-A177-3AD203B41FA5}">
                      <a16:colId xmlns:a16="http://schemas.microsoft.com/office/drawing/2014/main" val="1250444126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156046192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1538202831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316919438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1131335765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1876545470"/>
                    </a:ext>
                  </a:extLst>
                </a:gridCol>
                <a:gridCol w="578152">
                  <a:extLst>
                    <a:ext uri="{9D8B030D-6E8A-4147-A177-3AD203B41FA5}">
                      <a16:colId xmlns:a16="http://schemas.microsoft.com/office/drawing/2014/main" val="3751070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167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279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0636-89B0-028A-D56A-BDCDE51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9" y="216211"/>
            <a:ext cx="4705082" cy="507831"/>
          </a:xfrm>
        </p:spPr>
        <p:txBody>
          <a:bodyPr/>
          <a:lstStyle/>
          <a:p>
            <a:r>
              <a:rPr lang="en-US" sz="160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dirty="0">
                <a:solidFill>
                  <a:srgbClr val="7E8083"/>
                </a:solidFill>
                <a:latin typeface="Times New Roman"/>
                <a:cs typeface="Times New Roman"/>
              </a:rPr>
              <a:t>RACTICE</a:t>
            </a:r>
            <a:r>
              <a:rPr lang="en-US" sz="1600" spc="390" dirty="0">
                <a:solidFill>
                  <a:srgbClr val="7E8083"/>
                </a:solidFill>
                <a:latin typeface="Times New Roman"/>
                <a:cs typeface="Times New Roman"/>
              </a:rPr>
              <a:t> </a:t>
            </a:r>
            <a:r>
              <a:rPr lang="en-US" sz="1600" spc="-1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R</a:t>
            </a:r>
            <a:r>
              <a:rPr lang="en-US" sz="1600" spc="-10" dirty="0">
                <a:solidFill>
                  <a:srgbClr val="69696B"/>
                </a:solidFill>
                <a:latin typeface="Times New Roman"/>
                <a:cs typeface="Times New Roman"/>
              </a:rPr>
              <a:t>OBL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EMS</a:t>
            </a:r>
            <a:br>
              <a:rPr lang="en-US" sz="1600" dirty="0">
                <a:latin typeface="Times New Roman"/>
                <a:cs typeface="Times New Roman"/>
              </a:rPr>
            </a:br>
            <a:endParaRPr lang="LID4096" dirty="0"/>
          </a:p>
        </p:txBody>
      </p:sp>
      <p:pic>
        <p:nvPicPr>
          <p:cNvPr id="5" name="Picture 4" descr="A white paper with red writing on it&#10;&#10;Description automatically generated with low confidence">
            <a:extLst>
              <a:ext uri="{FF2B5EF4-FFF2-40B4-BE49-F238E27FC236}">
                <a16:creationId xmlns:a16="http://schemas.microsoft.com/office/drawing/2014/main" id="{F386E710-BE4F-D21F-1151-5D375BC5D4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1" y="523874"/>
            <a:ext cx="3810000" cy="381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80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3F52-BB15-0864-A957-2E13739C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9" y="216211"/>
            <a:ext cx="4705082" cy="507831"/>
          </a:xfrm>
        </p:spPr>
        <p:txBody>
          <a:bodyPr/>
          <a:lstStyle/>
          <a:p>
            <a:r>
              <a:rPr lang="en-US" sz="160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dirty="0">
                <a:solidFill>
                  <a:srgbClr val="7E8083"/>
                </a:solidFill>
                <a:latin typeface="Times New Roman"/>
                <a:cs typeface="Times New Roman"/>
              </a:rPr>
              <a:t>RACTICE</a:t>
            </a:r>
            <a:r>
              <a:rPr lang="en-US" sz="1600" spc="390" dirty="0">
                <a:solidFill>
                  <a:srgbClr val="7E8083"/>
                </a:solidFill>
                <a:latin typeface="Times New Roman"/>
                <a:cs typeface="Times New Roman"/>
              </a:rPr>
              <a:t> </a:t>
            </a:r>
            <a:r>
              <a:rPr lang="en-US" sz="1600" spc="-1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R</a:t>
            </a:r>
            <a:r>
              <a:rPr lang="en-US" sz="1600" spc="-10" dirty="0">
                <a:solidFill>
                  <a:srgbClr val="69696B"/>
                </a:solidFill>
                <a:latin typeface="Times New Roman"/>
                <a:cs typeface="Times New Roman"/>
              </a:rPr>
              <a:t>OBL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EMS</a:t>
            </a:r>
            <a:br>
              <a:rPr lang="en-US" sz="1600" dirty="0">
                <a:latin typeface="Times New Roman"/>
                <a:cs typeface="Times New Roman"/>
              </a:rPr>
            </a:br>
            <a:endParaRPr lang="LID4096" dirty="0"/>
          </a:p>
        </p:txBody>
      </p:sp>
      <p:pic>
        <p:nvPicPr>
          <p:cNvPr id="5" name="Picture 4" descr="A white paper with red writing on it&#10;&#10;Description automatically generated with low confidence">
            <a:extLst>
              <a:ext uri="{FF2B5EF4-FFF2-40B4-BE49-F238E27FC236}">
                <a16:creationId xmlns:a16="http://schemas.microsoft.com/office/drawing/2014/main" id="{51246AB6-AF78-598D-8CCE-02608ACD8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1" y="523874"/>
            <a:ext cx="45720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80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3F52-BB15-0864-A957-2E13739C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9" y="216211"/>
            <a:ext cx="4705082" cy="507831"/>
          </a:xfrm>
        </p:spPr>
        <p:txBody>
          <a:bodyPr/>
          <a:lstStyle/>
          <a:p>
            <a:r>
              <a:rPr lang="en-US" sz="160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dirty="0">
                <a:solidFill>
                  <a:srgbClr val="7E8083"/>
                </a:solidFill>
                <a:latin typeface="Times New Roman"/>
                <a:cs typeface="Times New Roman"/>
              </a:rPr>
              <a:t>RACTICE</a:t>
            </a:r>
            <a:r>
              <a:rPr lang="en-US" sz="1600" spc="390" dirty="0">
                <a:solidFill>
                  <a:srgbClr val="7E8083"/>
                </a:solidFill>
                <a:latin typeface="Times New Roman"/>
                <a:cs typeface="Times New Roman"/>
              </a:rPr>
              <a:t> </a:t>
            </a:r>
            <a:r>
              <a:rPr lang="en-US" sz="1600" spc="-10" dirty="0">
                <a:solidFill>
                  <a:srgbClr val="525252"/>
                </a:solidFill>
                <a:latin typeface="Times New Roman"/>
                <a:cs typeface="Times New Roman"/>
              </a:rPr>
              <a:t>P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R</a:t>
            </a:r>
            <a:r>
              <a:rPr lang="en-US" sz="1600" spc="-10" dirty="0">
                <a:solidFill>
                  <a:srgbClr val="69696B"/>
                </a:solidFill>
                <a:latin typeface="Times New Roman"/>
                <a:cs typeface="Times New Roman"/>
              </a:rPr>
              <a:t>OBL</a:t>
            </a:r>
            <a:r>
              <a:rPr lang="en-US" sz="1600" spc="-10" dirty="0">
                <a:solidFill>
                  <a:srgbClr val="7E8083"/>
                </a:solidFill>
                <a:latin typeface="Times New Roman"/>
                <a:cs typeface="Times New Roman"/>
              </a:rPr>
              <a:t>EMS</a:t>
            </a:r>
            <a:br>
              <a:rPr lang="en-US" sz="1600" dirty="0">
                <a:latin typeface="Times New Roman"/>
                <a:cs typeface="Times New Roman"/>
              </a:rPr>
            </a:b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8D794-13A6-05F5-CAB2-006957D26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254"/>
            <a:ext cx="6070600" cy="22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3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338" y="0"/>
            <a:ext cx="19685" cy="4514850"/>
          </a:xfrm>
          <a:custGeom>
            <a:avLst/>
            <a:gdLst/>
            <a:ahLst/>
            <a:cxnLst/>
            <a:rect l="l" t="t" r="r" b="b"/>
            <a:pathLst>
              <a:path w="19684" h="4514850">
                <a:moveTo>
                  <a:pt x="0" y="0"/>
                </a:moveTo>
                <a:lnTo>
                  <a:pt x="19169" y="0"/>
                </a:lnTo>
                <a:lnTo>
                  <a:pt x="19169" y="4514530"/>
                </a:lnTo>
                <a:lnTo>
                  <a:pt x="0" y="4514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2262" y="107680"/>
            <a:ext cx="5770000" cy="551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 marR="43180" indent="-5715">
              <a:lnSpc>
                <a:spcPct val="114199"/>
              </a:lnSpc>
              <a:spcBef>
                <a:spcPts val="95"/>
              </a:spcBef>
            </a:pPr>
            <a:r>
              <a:rPr lang="en-GB" sz="1600" dirty="0">
                <a:solidFill>
                  <a:srgbClr val="838589"/>
                </a:solidFill>
                <a:latin typeface="Times New Roman"/>
                <a:cs typeface="Times New Roman"/>
              </a:rPr>
              <a:t>INFERENCE CONCERNING THE REGRESSION COEFFICIENTS</a:t>
            </a:r>
            <a:endParaRPr lang="en-GB" sz="160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4402E-A668-0E7C-7E71-D6F22D7C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012" y="2903163"/>
            <a:ext cx="1295400" cy="50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D571B0-B1B9-0186-3C1A-B24FCF17B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2" y="3619499"/>
            <a:ext cx="1238250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EAD751-D87C-C5DA-3A44-E5E3B9710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62" y="3603253"/>
            <a:ext cx="1704975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85E399-1C89-68C2-FFB4-1BD83B138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62" y="949697"/>
            <a:ext cx="5770000" cy="10743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99D181-D376-C219-8B02-8D69C5F42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62" y="2931739"/>
            <a:ext cx="1257300" cy="4476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40EDE9-9A77-3849-F80D-372CD6DFCF4F}"/>
              </a:ext>
            </a:extLst>
          </p:cNvPr>
          <p:cNvSpPr txBox="1"/>
          <p:nvPr/>
        </p:nvSpPr>
        <p:spPr>
          <a:xfrm>
            <a:off x="262262" y="2535614"/>
            <a:ext cx="2838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Where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213479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6DAB56-7FA9-3AE3-80F0-25FEF6F898F7}"/>
              </a:ext>
            </a:extLst>
          </p:cNvPr>
          <p:cNvSpPr txBox="1"/>
          <p:nvPr/>
        </p:nvSpPr>
        <p:spPr>
          <a:xfrm>
            <a:off x="107950" y="219075"/>
            <a:ext cx="5854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spc="395" dirty="0">
                <a:solidFill>
                  <a:srgbClr val="838589"/>
                </a:solidFill>
                <a:latin typeface="Times New Roman"/>
                <a:cs typeface="Times New Roman"/>
              </a:rPr>
              <a:t>TESTING ABOUT REGRESSION COEFFICIENT</a:t>
            </a:r>
            <a:endParaRPr lang="LID4096" sz="16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F7A74-2CE4-B491-9978-691A7EB6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362075"/>
            <a:ext cx="54768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36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9487E-2876-0500-8B88-124D92D572E2}"/>
              </a:ext>
            </a:extLst>
          </p:cNvPr>
          <p:cNvSpPr txBox="1"/>
          <p:nvPr/>
        </p:nvSpPr>
        <p:spPr>
          <a:xfrm>
            <a:off x="34925" y="796170"/>
            <a:ext cx="32321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GB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was conducted at Virginia Tech to determine</a:t>
            </a:r>
          </a:p>
          <a:p>
            <a:pPr algn="just"/>
            <a:r>
              <a:rPr lang="en-GB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certain static arm-strength measures have an influence on the “dynamic lift” characteristics of an individual. Twenty-five individuals were subjected to strength tests and then were asked to perform a weightlifting test in which weight was dynamically lifted overhead.</a:t>
            </a:r>
          </a:p>
          <a:p>
            <a:pPr algn="just"/>
            <a:r>
              <a:rPr lang="en-GB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are given here.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38100"/>
            <a:ext cx="5854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spc="395">
                <a:solidFill>
                  <a:srgbClr val="838589"/>
                </a:solidFill>
                <a:latin typeface="Times New Roman"/>
                <a:cs typeface="Times New Roman"/>
              </a:rPr>
              <a:t>TESTING ABOUT REGRESSION COEFFICIENT</a:t>
            </a:r>
            <a:endParaRPr lang="LID4096" sz="16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F5BB7-8438-78DD-C5B5-B198FAD2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554057"/>
            <a:ext cx="27463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8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9487E-2876-0500-8B88-124D92D572E2}"/>
              </a:ext>
            </a:extLst>
          </p:cNvPr>
          <p:cNvSpPr txBox="1"/>
          <p:nvPr/>
        </p:nvSpPr>
        <p:spPr>
          <a:xfrm>
            <a:off x="34924" y="796170"/>
            <a:ext cx="58546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a linear regression line for the given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residuals and verify that they add to zero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95% confidence interval for b in the regression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hypothesis that b = 1.0 against the alternative that b &lt; 1.0.</a:t>
            </a:r>
          </a:p>
          <a:p>
            <a:pPr algn="l"/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38100"/>
            <a:ext cx="5854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spc="395">
                <a:solidFill>
                  <a:srgbClr val="838589"/>
                </a:solidFill>
                <a:latin typeface="Times New Roman"/>
                <a:cs typeface="Times New Roman"/>
              </a:rPr>
              <a:t>TESTING ABOUT REGRESSION COEFFICIENT</a:t>
            </a:r>
            <a:endParaRPr lang="LID4096" sz="16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9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red writing on it&#10;&#10;Description automatically generated with low confidence">
            <a:extLst>
              <a:ext uri="{FF2B5EF4-FFF2-40B4-BE49-F238E27FC236}">
                <a16:creationId xmlns:a16="http://schemas.microsoft.com/office/drawing/2014/main" id="{087704EE-736F-6D6F-DD93-B5820109B1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839" y="66674"/>
            <a:ext cx="3302921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47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red writing on it&#10;&#10;Description automatically generated with low confidence">
            <a:extLst>
              <a:ext uri="{FF2B5EF4-FFF2-40B4-BE49-F238E27FC236}">
                <a16:creationId xmlns:a16="http://schemas.microsoft.com/office/drawing/2014/main" id="{0992396D-9CCB-CEBB-3D74-59DA460682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98" y="0"/>
            <a:ext cx="3338004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62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handwriting, whiteboard, document&#10;&#10;Description automatically generated">
            <a:extLst>
              <a:ext uri="{FF2B5EF4-FFF2-40B4-BE49-F238E27FC236}">
                <a16:creationId xmlns:a16="http://schemas.microsoft.com/office/drawing/2014/main" id="{B3A0815A-0833-850C-6698-5BC433F3C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663" y="0"/>
            <a:ext cx="3079274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42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DC880C3-EAF7-71B6-CF39-C012A3F06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5883" y="303530"/>
            <a:ext cx="5160010" cy="369332"/>
          </a:xfrm>
        </p:spPr>
        <p:txBody>
          <a:bodyPr/>
          <a:lstStyle/>
          <a:p>
            <a:r>
              <a:rPr lang="en-US" altLang="en-US" sz="2400" dirty="0">
                <a:solidFill>
                  <a:srgbClr val="4B4B4B"/>
                </a:solidFill>
                <a:ea typeface="+mn-ea"/>
              </a:rPr>
              <a:t>Multiple Regression Analysis (MRA)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ED6E858-5853-2966-8440-5E6B7638F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057" y="966261"/>
            <a:ext cx="5118203" cy="2662267"/>
          </a:xfrm>
        </p:spPr>
        <p:txBody>
          <a:bodyPr/>
          <a:lstStyle/>
          <a:p>
            <a:r>
              <a:rPr lang="en-US" altLang="en-US" dirty="0"/>
              <a:t>Method for studying the relationship between a dependent variable and two or more independent variables.</a:t>
            </a:r>
          </a:p>
          <a:p>
            <a:endParaRPr lang="en-US" altLang="en-US" dirty="0"/>
          </a:p>
          <a:p>
            <a:pPr algn="ctr"/>
            <a:r>
              <a:rPr lang="en-US" altLang="en-US" dirty="0"/>
              <a:t>Y’ = a + b</a:t>
            </a:r>
            <a:r>
              <a:rPr lang="en-US" altLang="en-US" baseline="-25000" dirty="0"/>
              <a:t>1</a:t>
            </a: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 + b</a:t>
            </a:r>
            <a:r>
              <a:rPr lang="en-US" altLang="en-US" baseline="-25000" dirty="0"/>
              <a:t>2</a:t>
            </a:r>
            <a:r>
              <a:rPr lang="en-US" altLang="en-US" dirty="0"/>
              <a:t>X</a:t>
            </a:r>
            <a:r>
              <a:rPr lang="en-US" altLang="en-US" baseline="-25000" dirty="0"/>
              <a:t>2 </a:t>
            </a:r>
            <a:r>
              <a:rPr lang="en-US" altLang="en-US" dirty="0"/>
              <a:t>+ …</a:t>
            </a:r>
            <a:r>
              <a:rPr lang="en-US" altLang="en-US" dirty="0" err="1"/>
              <a:t>b</a:t>
            </a:r>
            <a:r>
              <a:rPr lang="en-US" altLang="en-US" baseline="-25000" dirty="0" err="1"/>
              <a:t>k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Purposes: </a:t>
            </a:r>
          </a:p>
          <a:p>
            <a:pPr lvl="1"/>
            <a:r>
              <a:rPr lang="en-US" altLang="en-US" dirty="0"/>
              <a:t>Prediction</a:t>
            </a:r>
          </a:p>
          <a:p>
            <a:pPr lvl="1"/>
            <a:r>
              <a:rPr lang="en-US" altLang="en-US" dirty="0"/>
              <a:t>Explanation</a:t>
            </a:r>
          </a:p>
          <a:p>
            <a:pPr lvl="1"/>
            <a:r>
              <a:rPr lang="en-US" altLang="en-US" dirty="0"/>
              <a:t>Theory building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9487E-2876-0500-8B88-124D92D572E2}"/>
              </a:ext>
            </a:extLst>
          </p:cNvPr>
          <p:cNvSpPr txBox="1"/>
          <p:nvPr/>
        </p:nvSpPr>
        <p:spPr>
          <a:xfrm>
            <a:off x="0" y="904875"/>
            <a:ext cx="58546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dirty="0">
                <a:latin typeface="+mn-lt"/>
                <a:ea typeface="+mn-ea"/>
                <a:cs typeface="+mn-cs"/>
              </a:rPr>
              <a:t>The following are situations where we can use multiple regression: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Testing if IQ and level of education affect income (IQ and years of education are the IV and income is the DV).</a:t>
            </a:r>
          </a:p>
          <a:p>
            <a:pPr marL="45720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Testing if study time and pre-test scores affect final grades (DV is final grades, and study time and pre-test scores are the IV).</a:t>
            </a:r>
          </a:p>
          <a:p>
            <a:pPr marL="45720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Testing if exercise and amount of salt in the diet affect blood pressure (exercise and salt are the IV and blood pressure is the DV).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Multiple Regression Analysis (MRA)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9258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/>
              <p:nvPr/>
            </p:nvSpPr>
            <p:spPr>
              <a:xfrm>
                <a:off x="215900" y="1057275"/>
                <a:ext cx="5724525" cy="4053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en-US" baseline="-25000" dirty="0"/>
                  <a:t>Multiple Regression with Two independent variables</a:t>
                </a:r>
              </a:p>
              <a:p>
                <a:pPr algn="ctr"/>
                <a:endParaRPr lang="en-US" altLang="en-US" dirty="0"/>
              </a:p>
              <a:p>
                <a:pPr algn="ctr"/>
                <a:r>
                  <a:rPr lang="en-US" altLang="en-US" dirty="0"/>
                  <a:t>Y’ = a + b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X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+ b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X</a:t>
                </a:r>
                <a:r>
                  <a:rPr lang="en-US" altLang="en-US" baseline="-25000" dirty="0"/>
                  <a:t>2</a:t>
                </a:r>
              </a:p>
              <a:p>
                <a:pPr algn="l"/>
                <a:r>
                  <a:rPr lang="en-US" altLang="en-US" baseline="-25000" dirty="0"/>
                  <a:t>Normal Equations</a:t>
                </a:r>
              </a:p>
              <a:p>
                <a:pPr algn="l"/>
                <a:endParaRPr lang="en-US" altLang="en-US" baseline="-250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𝑛𝑎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en-US" sz="1400" baseline="-25000" dirty="0"/>
              </a:p>
              <a:p>
                <a:pPr algn="l"/>
                <a:endParaRPr lang="en-US" altLang="en-US" sz="1400" baseline="-250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b="0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nary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algn="l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1057275"/>
                <a:ext cx="5724525" cy="4053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Multiple Regression Analysis (MRA)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2671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/>
              <p:nvPr/>
            </p:nvSpPr>
            <p:spPr>
              <a:xfrm>
                <a:off x="215900" y="1057275"/>
                <a:ext cx="5724525" cy="3929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en-US" baseline="-25000" dirty="0"/>
                  <a:t>Multiple Regression with Two independent variables</a:t>
                </a:r>
              </a:p>
              <a:p>
                <a:pPr algn="ctr"/>
                <a:endParaRPr lang="en-US" altLang="en-US" dirty="0"/>
              </a:p>
              <a:p>
                <a:pPr algn="ctr"/>
                <a:r>
                  <a:rPr lang="en-US" altLang="en-US" dirty="0"/>
                  <a:t>Y’ = a + b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X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+ b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X</a:t>
                </a:r>
                <a:r>
                  <a:rPr lang="en-US" altLang="en-US" baseline="-25000" dirty="0"/>
                  <a:t>2</a:t>
                </a:r>
              </a:p>
              <a:p>
                <a:pPr algn="l"/>
                <a:r>
                  <a:rPr lang="en-US" altLang="en-US" baseline="-25000" dirty="0"/>
                  <a:t>Normal Equations</a:t>
                </a:r>
              </a:p>
              <a:p>
                <a:pPr algn="l"/>
                <a:endParaRPr lang="en-US" altLang="en-US" baseline="-25000" dirty="0"/>
              </a:p>
              <a:p>
                <a:pPr algn="ctr"/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sz="1400" b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altLang="en-US" sz="1400" baseline="-25000" dirty="0"/>
              </a:p>
              <a:p>
                <a:pPr algn="l"/>
                <a:endParaRPr lang="en-US" altLang="en-US" sz="1400" baseline="-250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nary>
                            </m:e>
                          </m:d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nary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algn="l"/>
                <a:endParaRPr lang="en-US" dirty="0"/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nary>
                          </m:e>
                        </m:d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nary>
                          </m:e>
                        </m:d>
                      </m:num>
                      <m:den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d>
                          <m:d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GB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GB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algn="l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1057275"/>
                <a:ext cx="5724525" cy="3929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Multiple Regression Analysis (MRA)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1020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/>
              <p:nvPr/>
            </p:nvSpPr>
            <p:spPr>
              <a:xfrm>
                <a:off x="346075" y="1057275"/>
                <a:ext cx="5724525" cy="3475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en-US" baseline="-25000" dirty="0"/>
                  <a:t>Coefficient of Determination</a:t>
                </a:r>
              </a:p>
              <a:p>
                <a:pPr algn="ctr"/>
                <a:endParaRPr lang="en-US" alt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</m:e>
                          </m:nary>
                          <m:sSub>
                            <m:sSubPr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altLang="en-US" i="1" dirty="0">
                    <a:latin typeface="Cambria Math" panose="02040503050406030204" pitchFamily="18" charset="0"/>
                  </a:rPr>
                  <a:t>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GB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GB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algn="l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  <a:p>
                <a:pPr algn="ctr"/>
                <a:endParaRPr lang="en-US" altLang="en-US" baseline="-25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69487E-2876-0500-8B88-124D92D57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5" y="1057275"/>
                <a:ext cx="5724525" cy="3475631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Multiple Regression Analysis (MRA)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1564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9487E-2876-0500-8B88-124D92D572E2}"/>
              </a:ext>
            </a:extLst>
          </p:cNvPr>
          <p:cNvSpPr txBox="1"/>
          <p:nvPr/>
        </p:nvSpPr>
        <p:spPr>
          <a:xfrm>
            <a:off x="34924" y="796170"/>
            <a:ext cx="58546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regression, describes the fitting of a nonlinear relationship between the value of x and 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lvl="3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click on a post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working hours per week vs. overall happiness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pc="395" dirty="0">
                <a:solidFill>
                  <a:srgbClr val="838589"/>
                </a:solidFill>
                <a:latin typeface="Times New Roman"/>
                <a:cs typeface="Times New Roman"/>
              </a:rPr>
              <a:t>Polynomial Regression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87D72-771E-19A5-31BA-0A5F6BD2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2505075"/>
            <a:ext cx="43084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66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CF829B-9725-8454-B3B0-C1B4B6680F06}"/>
              </a:ext>
            </a:extLst>
          </p:cNvPr>
          <p:cNvSpPr txBox="1"/>
          <p:nvPr/>
        </p:nvSpPr>
        <p:spPr>
          <a:xfrm>
            <a:off x="107950" y="295275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pc="395" dirty="0">
                <a:solidFill>
                  <a:srgbClr val="838589"/>
                </a:solidFill>
                <a:latin typeface="Times New Roman"/>
                <a:cs typeface="Times New Roman"/>
              </a:rPr>
              <a:t>Polynomial Regression</a:t>
            </a:r>
            <a:endParaRPr lang="LID4096" sz="2400" spc="395" dirty="0">
              <a:solidFill>
                <a:srgbClr val="838589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520E29C-F50C-0AFC-F24C-1DBF88E609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233180"/>
                  </p:ext>
                </p:extLst>
              </p:nvPr>
            </p:nvGraphicFramePr>
            <p:xfrm>
              <a:off x="292100" y="1521650"/>
              <a:ext cx="5118100" cy="273196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118100">
                      <a:extLst>
                        <a:ext uri="{9D8B030D-6E8A-4147-A177-3AD203B41FA5}">
                          <a16:colId xmlns:a16="http://schemas.microsoft.com/office/drawing/2014/main" val="7272414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𝑏𝑥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sz="1100" kern="100" dirty="0">
                            <a:effectLst/>
                          </a:endParaRP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ar-AE" sz="1100" kern="1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𝑛𝑎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ar-AE" sz="1100" kern="100" dirty="0">
                            <a:effectLst/>
                          </a:endParaRP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ar-AE" sz="1100" kern="1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ar-AE" sz="1100" kern="100" dirty="0">
                            <a:effectLst/>
                          </a:endParaRP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ar-AE" sz="1100" kern="1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sz="11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11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ar-AE" sz="11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ar-AE" sz="11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sz="11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ar-AE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/>
                    </a:tc>
                    <a:extLst>
                      <a:ext uri="{0D108BD9-81ED-4DB2-BD59-A6C34878D82A}">
                        <a16:rowId xmlns:a16="http://schemas.microsoft.com/office/drawing/2014/main" val="7102790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520E29C-F50C-0AFC-F24C-1DBF88E609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233180"/>
                  </p:ext>
                </p:extLst>
              </p:nvPr>
            </p:nvGraphicFramePr>
            <p:xfrm>
              <a:off x="292100" y="1521650"/>
              <a:ext cx="5118100" cy="273602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118100">
                      <a:extLst>
                        <a:ext uri="{9D8B030D-6E8A-4147-A177-3AD203B41FA5}">
                          <a16:colId xmlns:a16="http://schemas.microsoft.com/office/drawing/2014/main" val="727241401"/>
                        </a:ext>
                      </a:extLst>
                    </a:gridCol>
                  </a:tblGrid>
                  <a:tr h="2736025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114300" marR="114300" marT="0" marB="0">
                        <a:blipFill>
                          <a:blip r:embed="rId2"/>
                          <a:stretch>
                            <a:fillRect l="-119" t="-222" r="-238" b="-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2790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D210D67-AFD0-969F-7FB4-58985778EF68}"/>
              </a:ext>
            </a:extLst>
          </p:cNvPr>
          <p:cNvSpPr txBox="1"/>
          <p:nvPr/>
        </p:nvSpPr>
        <p:spPr>
          <a:xfrm>
            <a:off x="317500" y="1057275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Quadratic regression calculation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5587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</TotalTime>
  <Words>1343</Words>
  <Application>Microsoft Office PowerPoint</Application>
  <PresentationFormat>Custom</PresentationFormat>
  <Paragraphs>213</Paragraphs>
  <Slides>34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Regression Analysis</vt:lpstr>
      <vt:lpstr>REGRESSION ANALYSIS</vt:lpstr>
      <vt:lpstr>UTILITY OF REGRESSION</vt:lpstr>
      <vt:lpstr>DIFFERENCE BETWEEN CORRELATION &amp;</vt:lpstr>
      <vt:lpstr>DIFFERENCE BETWEEN CORRELATION &amp;</vt:lpstr>
      <vt:lpstr>TYPES OF REGRESSION ANALYSIS</vt:lpstr>
      <vt:lpstr>SIMPLE LINEAR REGRESSION</vt:lpstr>
      <vt:lpstr>REGRESSION LINES</vt:lpstr>
      <vt:lpstr>PowerPoint Presentation</vt:lpstr>
      <vt:lpstr>REGRESSION COEFFICIENTS</vt:lpstr>
      <vt:lpstr>PROPERTIES OF REGRESSION COEFFICIENTS</vt:lpstr>
      <vt:lpstr>PowerPoint Presentation</vt:lpstr>
      <vt:lpstr>REGRESSION  EQUATIONS USING NORMAL EQUATIONS</vt:lpstr>
      <vt:lpstr>Residual</vt:lpstr>
      <vt:lpstr>Estimation of the variance of the error terms, 2</vt:lpstr>
      <vt:lpstr>PowerPoint Presentation</vt:lpstr>
      <vt:lpstr>PowerPoint Presentation</vt:lpstr>
      <vt:lpstr>PRACTICE PROBLEMS </vt:lpstr>
      <vt:lpstr>PRACTICE PROBLEMS </vt:lpstr>
      <vt:lpstr>PRACTICE PROBLEMS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 Regression Analysis (MRA)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Analysis</dc:title>
  <dc:creator>basharat</dc:creator>
  <cp:lastModifiedBy>Basharat Mahmood</cp:lastModifiedBy>
  <cp:revision>42</cp:revision>
  <dcterms:created xsi:type="dcterms:W3CDTF">2023-05-17T06:26:26Z</dcterms:created>
  <dcterms:modified xsi:type="dcterms:W3CDTF">2023-12-11T10:47:03Z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2022-12-30T00:00:00Z</vt:filetime>
  </property>
  <property fmtid="{D5CDD505-2E9C-101B-9397-08002B2CF9AE}" pid="3" name="LastSaved">
    <vt:filetime>2023-05-17T00:00:00Z</vt:filetime>
  </property>
</Properties>
</file>