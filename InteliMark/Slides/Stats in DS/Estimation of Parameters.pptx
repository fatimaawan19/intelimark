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3" r:id="rId17"/>
    <p:sldId id="272" r:id="rId18"/>
    <p:sldId id="277" r:id="rId19"/>
    <p:sldId id="276" r:id="rId20"/>
    <p:sldId id="275"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6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8" name="Footer Placeholder 7"/>
          <p:cNvSpPr>
            <a:spLocks noGrp="1"/>
          </p:cNvSpPr>
          <p:nvPr>
            <p:ph type="ftr" sz="quarter" idx="11"/>
          </p:nvPr>
        </p:nvSpPr>
        <p:spPr/>
        <p:txBody>
          <a:bodyPr/>
          <a:lstStyle/>
          <a:p>
            <a:endParaRPr lang="LID4096"/>
          </a:p>
        </p:txBody>
      </p:sp>
      <p:sp>
        <p:nvSpPr>
          <p:cNvPr id="9" name="Slide Number Placeholder 8"/>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3408664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919214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426077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347627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8" name="Footer Placeholder 7"/>
          <p:cNvSpPr>
            <a:spLocks noGrp="1"/>
          </p:cNvSpPr>
          <p:nvPr>
            <p:ph type="ftr" sz="quarter" idx="11"/>
          </p:nvPr>
        </p:nvSpPr>
        <p:spPr/>
        <p:txBody>
          <a:bodyPr/>
          <a:lstStyle/>
          <a:p>
            <a:endParaRPr lang="LID4096"/>
          </a:p>
        </p:txBody>
      </p:sp>
      <p:sp>
        <p:nvSpPr>
          <p:cNvPr id="9" name="Slide Number Placeholder 8"/>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1695608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824416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3" name="Footer Placeholder 2"/>
          <p:cNvSpPr>
            <a:spLocks noGrp="1"/>
          </p:cNvSpPr>
          <p:nvPr>
            <p:ph type="ftr" sz="quarter" idx="11"/>
          </p:nvPr>
        </p:nvSpPr>
        <p:spPr/>
        <p:txBody>
          <a:bodyPr/>
          <a:lstStyle/>
          <a:p>
            <a:endParaRPr lang="LID4096"/>
          </a:p>
        </p:txBody>
      </p:sp>
      <p:sp>
        <p:nvSpPr>
          <p:cNvPr id="4" name="Slide Number Placeholder 3"/>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344725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591060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442400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556721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3654726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27A90536-F6A4-4CED-AD6E-318CD5F087EB}" type="slidenum">
              <a:rPr lang="LID4096" smtClean="0"/>
              <a:t>‹#›</a:t>
            </a:fld>
            <a:endParaRPr lang="LID4096"/>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94489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15137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266376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618836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1207503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9C6181-B2D3-4476-AC05-14E7D3DE40D8}" type="datetimeFigureOut">
              <a:rPr lang="LID4096" smtClean="0"/>
              <a:t>10/20/2023</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27A90536-F6A4-4CED-AD6E-318CD5F087EB}" type="slidenum">
              <a:rPr lang="LID4096" smtClean="0"/>
              <a:t>‹#›</a:t>
            </a:fld>
            <a:endParaRPr lang="LID4096"/>
          </a:p>
        </p:txBody>
      </p:sp>
    </p:spTree>
    <p:extLst>
      <p:ext uri="{BB962C8B-B14F-4D97-AF65-F5344CB8AC3E}">
        <p14:creationId xmlns:p14="http://schemas.microsoft.com/office/powerpoint/2010/main" val="2556662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A9C6181-B2D3-4476-AC05-14E7D3DE40D8}" type="datetimeFigureOut">
              <a:rPr lang="LID4096" smtClean="0"/>
              <a:t>10/20/2023</a:t>
            </a:fld>
            <a:endParaRPr lang="LID4096"/>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LID4096"/>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27A90536-F6A4-4CED-AD6E-318CD5F087EB}" type="slidenum">
              <a:rPr lang="LID4096" smtClean="0"/>
              <a:t>‹#›</a:t>
            </a:fld>
            <a:endParaRPr lang="LID4096"/>
          </a:p>
        </p:txBody>
      </p:sp>
    </p:spTree>
    <p:extLst>
      <p:ext uri="{BB962C8B-B14F-4D97-AF65-F5344CB8AC3E}">
        <p14:creationId xmlns:p14="http://schemas.microsoft.com/office/powerpoint/2010/main" val="18404565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57086-153B-4197-9FA7-E98F855558FE}"/>
              </a:ext>
            </a:extLst>
          </p:cNvPr>
          <p:cNvSpPr>
            <a:spLocks noGrp="1"/>
          </p:cNvSpPr>
          <p:nvPr>
            <p:ph type="ctrTitle"/>
          </p:nvPr>
        </p:nvSpPr>
        <p:spPr>
          <a:xfrm>
            <a:off x="1523999" y="1122363"/>
            <a:ext cx="10018643" cy="2572012"/>
          </a:xfrm>
        </p:spPr>
        <p:txBody>
          <a:bodyPr>
            <a:normAutofit/>
          </a:bodyPr>
          <a:lstStyle/>
          <a:p>
            <a:pPr algn="l"/>
            <a:r>
              <a:rPr lang="en-GB" sz="6600" b="1" dirty="0"/>
              <a:t>Estimation of Parameters</a:t>
            </a:r>
            <a:endParaRPr lang="LID4096" sz="6600" b="1" dirty="0"/>
          </a:p>
        </p:txBody>
      </p:sp>
      <p:sp>
        <p:nvSpPr>
          <p:cNvPr id="3" name="Subtitle 2">
            <a:extLst>
              <a:ext uri="{FF2B5EF4-FFF2-40B4-BE49-F238E27FC236}">
                <a16:creationId xmlns:a16="http://schemas.microsoft.com/office/drawing/2014/main" id="{54112CBA-EA01-7148-336B-52978FD5B6E2}"/>
              </a:ext>
            </a:extLst>
          </p:cNvPr>
          <p:cNvSpPr>
            <a:spLocks noGrp="1"/>
          </p:cNvSpPr>
          <p:nvPr>
            <p:ph type="subTitle" idx="1"/>
          </p:nvPr>
        </p:nvSpPr>
        <p:spPr>
          <a:xfrm>
            <a:off x="2209799" y="3694375"/>
            <a:ext cx="9144000" cy="731851"/>
          </a:xfrm>
        </p:spPr>
        <p:txBody>
          <a:bodyPr>
            <a:noAutofit/>
          </a:bodyPr>
          <a:lstStyle/>
          <a:p>
            <a:pPr algn="ctr"/>
            <a:r>
              <a:rPr lang="en-GB" sz="2800" dirty="0"/>
              <a:t>By: Basharat Mahmood</a:t>
            </a:r>
          </a:p>
          <a:p>
            <a:pPr algn="ctr"/>
            <a:r>
              <a:rPr lang="en-GB" sz="2800" dirty="0"/>
              <a:t>Department of Computer Science, </a:t>
            </a:r>
          </a:p>
          <a:p>
            <a:pPr algn="ctr"/>
            <a:r>
              <a:rPr lang="en-GB" sz="2800" dirty="0"/>
              <a:t>COMSATS University of Islamabad, Pakistan.</a:t>
            </a:r>
            <a:endParaRPr lang="LID4096" sz="2800" dirty="0"/>
          </a:p>
        </p:txBody>
      </p:sp>
    </p:spTree>
    <p:extLst>
      <p:ext uri="{BB962C8B-B14F-4D97-AF65-F5344CB8AC3E}">
        <p14:creationId xmlns:p14="http://schemas.microsoft.com/office/powerpoint/2010/main" val="1320207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85946-81BB-48B8-4624-99E99DE3B9D0}"/>
              </a:ext>
            </a:extLst>
          </p:cNvPr>
          <p:cNvSpPr>
            <a:spLocks noGrp="1"/>
          </p:cNvSpPr>
          <p:nvPr>
            <p:ph type="title"/>
          </p:nvPr>
        </p:nvSpPr>
        <p:spPr/>
        <p:txBody>
          <a:bodyPr/>
          <a:lstStyle/>
          <a:p>
            <a:r>
              <a:rPr lang="en-GB" dirty="0"/>
              <a:t>Outline</a:t>
            </a:r>
            <a:endParaRPr lang="LID4096" dirty="0"/>
          </a:p>
        </p:txBody>
      </p:sp>
      <p:sp>
        <p:nvSpPr>
          <p:cNvPr id="6" name="Content Placeholder 5">
            <a:extLst>
              <a:ext uri="{FF2B5EF4-FFF2-40B4-BE49-F238E27FC236}">
                <a16:creationId xmlns:a16="http://schemas.microsoft.com/office/drawing/2014/main" id="{ACA1AF51-8A43-E969-AED9-EA7750D7D93F}"/>
              </a:ext>
            </a:extLst>
          </p:cNvPr>
          <p:cNvSpPr>
            <a:spLocks noGrp="1"/>
          </p:cNvSpPr>
          <p:nvPr>
            <p:ph idx="1"/>
          </p:nvPr>
        </p:nvSpPr>
        <p:spPr/>
        <p:txBody>
          <a:bodyPr/>
          <a:lstStyle/>
          <a:p>
            <a:r>
              <a:rPr lang="en-GB" dirty="0"/>
              <a:t>Introduction to Estimation</a:t>
            </a:r>
          </a:p>
          <a:p>
            <a:r>
              <a:rPr lang="en-GB" dirty="0"/>
              <a:t>Estimation of Population Mean</a:t>
            </a:r>
          </a:p>
          <a:p>
            <a:r>
              <a:rPr lang="en-GB" dirty="0"/>
              <a:t>Estimation of Difference between Population Means</a:t>
            </a:r>
          </a:p>
          <a:p>
            <a:r>
              <a:rPr lang="en-GB" dirty="0"/>
              <a:t>Estimation of Population Proportion</a:t>
            </a:r>
          </a:p>
          <a:p>
            <a:r>
              <a:rPr lang="en-GB" dirty="0"/>
              <a:t>Estimation of difference between Population Proportion</a:t>
            </a:r>
          </a:p>
          <a:p>
            <a:r>
              <a:rPr lang="en-GB" dirty="0"/>
              <a:t>Estimation of Variance</a:t>
            </a:r>
            <a:endParaRPr lang="LID4096" dirty="0"/>
          </a:p>
        </p:txBody>
      </p:sp>
    </p:spTree>
    <p:extLst>
      <p:ext uri="{BB962C8B-B14F-4D97-AF65-F5344CB8AC3E}">
        <p14:creationId xmlns:p14="http://schemas.microsoft.com/office/powerpoint/2010/main" val="64193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ED450-98FC-D496-1004-B2DF5A4D6D55}"/>
              </a:ext>
            </a:extLst>
          </p:cNvPr>
          <p:cNvSpPr>
            <a:spLocks noGrp="1"/>
          </p:cNvSpPr>
          <p:nvPr>
            <p:ph type="title"/>
          </p:nvPr>
        </p:nvSpPr>
        <p:spPr/>
        <p:txBody>
          <a:bodyPr/>
          <a:lstStyle/>
          <a:p>
            <a:r>
              <a:rPr lang="en-GB" dirty="0"/>
              <a:t>Introduction to Estimation</a:t>
            </a:r>
            <a:endParaRPr lang="LID4096" dirty="0"/>
          </a:p>
        </p:txBody>
      </p:sp>
      <p:sp>
        <p:nvSpPr>
          <p:cNvPr id="3" name="Content Placeholder 2">
            <a:extLst>
              <a:ext uri="{FF2B5EF4-FFF2-40B4-BE49-F238E27FC236}">
                <a16:creationId xmlns:a16="http://schemas.microsoft.com/office/drawing/2014/main" id="{0930B9F9-1725-3ECE-DB37-F199191387B1}"/>
              </a:ext>
            </a:extLst>
          </p:cNvPr>
          <p:cNvSpPr>
            <a:spLocks noGrp="1"/>
          </p:cNvSpPr>
          <p:nvPr>
            <p:ph idx="1"/>
          </p:nvPr>
        </p:nvSpPr>
        <p:spPr/>
        <p:txBody>
          <a:bodyPr>
            <a:normAutofit/>
          </a:bodyPr>
          <a:lstStyle/>
          <a:p>
            <a:r>
              <a:rPr lang="en-GB" b="0" i="0" dirty="0">
                <a:solidFill>
                  <a:schemeClr val="tx1"/>
                </a:solidFill>
                <a:effectLst/>
                <a:latin typeface="Titillium"/>
              </a:rPr>
              <a:t>The procedure of making judgment or decision about a population parameter is referred to as statistical estimation or simply estimation</a:t>
            </a:r>
          </a:p>
          <a:p>
            <a:pPr lvl="1"/>
            <a:r>
              <a:rPr lang="en-US" altLang="LID4096" dirty="0"/>
              <a:t>a sample is selected from the population and the sample data are then used to estimate the population parameters.</a:t>
            </a:r>
          </a:p>
          <a:p>
            <a:r>
              <a:rPr lang="en-GB" altLang="LID4096" dirty="0"/>
              <a:t>The main purpose of estimation in statistics is to be able to measure the behaviour of data within a population</a:t>
            </a:r>
            <a:endParaRPr lang="en-US" altLang="LID4096" dirty="0"/>
          </a:p>
          <a:p>
            <a:endParaRPr lang="LID4096" dirty="0"/>
          </a:p>
        </p:txBody>
      </p:sp>
    </p:spTree>
    <p:extLst>
      <p:ext uri="{BB962C8B-B14F-4D97-AF65-F5344CB8AC3E}">
        <p14:creationId xmlns:p14="http://schemas.microsoft.com/office/powerpoint/2010/main" val="3304305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9FA63-6E01-C0B7-5A22-78AB152B383A}"/>
              </a:ext>
            </a:extLst>
          </p:cNvPr>
          <p:cNvSpPr>
            <a:spLocks noGrp="1"/>
          </p:cNvSpPr>
          <p:nvPr>
            <p:ph type="title"/>
          </p:nvPr>
        </p:nvSpPr>
        <p:spPr/>
        <p:txBody>
          <a:bodyPr/>
          <a:lstStyle/>
          <a:p>
            <a:r>
              <a:rPr lang="en-GB" dirty="0"/>
              <a:t>Introduction to Estimation …</a:t>
            </a:r>
            <a:endParaRPr lang="LID4096" dirty="0"/>
          </a:p>
        </p:txBody>
      </p:sp>
      <p:sp>
        <p:nvSpPr>
          <p:cNvPr id="3" name="Content Placeholder 2">
            <a:extLst>
              <a:ext uri="{FF2B5EF4-FFF2-40B4-BE49-F238E27FC236}">
                <a16:creationId xmlns:a16="http://schemas.microsoft.com/office/drawing/2014/main" id="{84EF9D66-4BE8-D69E-827E-6E9182B6837E}"/>
              </a:ext>
            </a:extLst>
          </p:cNvPr>
          <p:cNvSpPr>
            <a:spLocks noGrp="1"/>
          </p:cNvSpPr>
          <p:nvPr>
            <p:ph idx="1"/>
          </p:nvPr>
        </p:nvSpPr>
        <p:spPr/>
        <p:txBody>
          <a:bodyPr>
            <a:normAutofit/>
          </a:bodyPr>
          <a:lstStyle/>
          <a:p>
            <a:r>
              <a:rPr lang="en-US" altLang="en-US" b="1" dirty="0"/>
              <a:t>Estimate:</a:t>
            </a:r>
            <a:r>
              <a:rPr lang="en-US" altLang="en-US" dirty="0"/>
              <a:t>  a number computed by using the data collected from a sample</a:t>
            </a:r>
          </a:p>
          <a:p>
            <a:pPr lvl="1"/>
            <a:r>
              <a:rPr lang="en-US" altLang="LID4096" b="1" dirty="0"/>
              <a:t>Point estimate</a:t>
            </a:r>
            <a:r>
              <a:rPr lang="en-US" altLang="LID4096" dirty="0"/>
              <a:t>: A single statistic value that is the “best guess” for the parameter value</a:t>
            </a:r>
          </a:p>
          <a:p>
            <a:pPr lvl="1"/>
            <a:r>
              <a:rPr lang="en-US" altLang="LID4096" b="1" dirty="0"/>
              <a:t>Interval estimate</a:t>
            </a:r>
            <a:r>
              <a:rPr lang="en-US" altLang="LID4096" dirty="0"/>
              <a:t>: An interval of numbers around the point estimate, that has a fixed “confidence level” of containing the parameter value.  Called a </a:t>
            </a:r>
            <a:r>
              <a:rPr lang="en-US" altLang="LID4096" b="1" i="1" dirty="0"/>
              <a:t>confidence interval</a:t>
            </a:r>
            <a:r>
              <a:rPr lang="en-US" altLang="LID4096" dirty="0"/>
              <a:t>.  </a:t>
            </a:r>
          </a:p>
          <a:p>
            <a:r>
              <a:rPr lang="en-US" altLang="en-US" b="1" dirty="0"/>
              <a:t>Estimator:</a:t>
            </a:r>
            <a:r>
              <a:rPr lang="en-US" altLang="en-US" dirty="0"/>
              <a:t> formula used to compute an estimate</a:t>
            </a:r>
          </a:p>
          <a:p>
            <a:endParaRPr lang="LID4096" dirty="0"/>
          </a:p>
        </p:txBody>
      </p:sp>
    </p:spTree>
    <p:extLst>
      <p:ext uri="{BB962C8B-B14F-4D97-AF65-F5344CB8AC3E}">
        <p14:creationId xmlns:p14="http://schemas.microsoft.com/office/powerpoint/2010/main" val="2771986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4DC21-CA91-9493-085F-AC664FFA9281}"/>
              </a:ext>
            </a:extLst>
          </p:cNvPr>
          <p:cNvSpPr>
            <a:spLocks noGrp="1"/>
          </p:cNvSpPr>
          <p:nvPr>
            <p:ph type="title"/>
          </p:nvPr>
        </p:nvSpPr>
        <p:spPr/>
        <p:txBody>
          <a:bodyPr/>
          <a:lstStyle/>
          <a:p>
            <a:r>
              <a:rPr lang="en-GB" dirty="0"/>
              <a:t>Introduction to Estimation …</a:t>
            </a:r>
            <a:endParaRPr lang="LID4096" dirty="0"/>
          </a:p>
        </p:txBody>
      </p:sp>
      <p:sp>
        <p:nvSpPr>
          <p:cNvPr id="3" name="Content Placeholder 2">
            <a:extLst>
              <a:ext uri="{FF2B5EF4-FFF2-40B4-BE49-F238E27FC236}">
                <a16:creationId xmlns:a16="http://schemas.microsoft.com/office/drawing/2014/main" id="{1F920D3E-99D6-8845-F4D4-96B24E40FB53}"/>
              </a:ext>
            </a:extLst>
          </p:cNvPr>
          <p:cNvSpPr>
            <a:spLocks noGrp="1"/>
          </p:cNvSpPr>
          <p:nvPr>
            <p:ph idx="1"/>
          </p:nvPr>
        </p:nvSpPr>
        <p:spPr>
          <a:xfrm>
            <a:off x="692426" y="1348547"/>
            <a:ext cx="10515600" cy="4351338"/>
          </a:xfrm>
        </p:spPr>
        <p:txBody>
          <a:bodyPr/>
          <a:lstStyle/>
          <a:p>
            <a:r>
              <a:rPr lang="en-GB" dirty="0"/>
              <a:t>The Estimation Process</a:t>
            </a:r>
            <a:endParaRPr lang="LID4096" dirty="0"/>
          </a:p>
        </p:txBody>
      </p:sp>
      <p:pic>
        <p:nvPicPr>
          <p:cNvPr id="4" name="Picture 3">
            <a:extLst>
              <a:ext uri="{FF2B5EF4-FFF2-40B4-BE49-F238E27FC236}">
                <a16:creationId xmlns:a16="http://schemas.microsoft.com/office/drawing/2014/main" id="{11869646-FB6D-FC54-7837-C83A6662FA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4911" y="1831975"/>
            <a:ext cx="8535988" cy="466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729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FD1AD-473B-B925-8811-B89A94A5A788}"/>
              </a:ext>
            </a:extLst>
          </p:cNvPr>
          <p:cNvSpPr>
            <a:spLocks noGrp="1"/>
          </p:cNvSpPr>
          <p:nvPr>
            <p:ph type="title"/>
          </p:nvPr>
        </p:nvSpPr>
        <p:spPr/>
        <p:txBody>
          <a:bodyPr/>
          <a:lstStyle/>
          <a:p>
            <a:r>
              <a:rPr lang="en-GB" dirty="0"/>
              <a:t>Introduction to Estimation …</a:t>
            </a:r>
            <a:endParaRPr lang="LID4096" dirty="0"/>
          </a:p>
        </p:txBody>
      </p:sp>
      <p:sp>
        <p:nvSpPr>
          <p:cNvPr id="3" name="Content Placeholder 2">
            <a:extLst>
              <a:ext uri="{FF2B5EF4-FFF2-40B4-BE49-F238E27FC236}">
                <a16:creationId xmlns:a16="http://schemas.microsoft.com/office/drawing/2014/main" id="{6485FDE9-F948-1D4F-DA02-5BB7B5C2E1DF}"/>
              </a:ext>
            </a:extLst>
          </p:cNvPr>
          <p:cNvSpPr>
            <a:spLocks noGrp="1"/>
          </p:cNvSpPr>
          <p:nvPr>
            <p:ph idx="1"/>
          </p:nvPr>
        </p:nvSpPr>
        <p:spPr/>
        <p:txBody>
          <a:bodyPr/>
          <a:lstStyle/>
          <a:p>
            <a:r>
              <a:rPr lang="en-US" altLang="en-US" b="1" dirty="0"/>
              <a:t>Interval Estimation</a:t>
            </a:r>
            <a:r>
              <a:rPr lang="en-US" altLang="en-US" dirty="0"/>
              <a:t>: an inferential statistical procedure used to estimate population parameters from sample data through the building of confidence intervals</a:t>
            </a:r>
          </a:p>
          <a:p>
            <a:r>
              <a:rPr lang="en-US" altLang="en-US" b="1" dirty="0"/>
              <a:t>Confidence Intervals:</a:t>
            </a:r>
            <a:r>
              <a:rPr lang="en-US" altLang="en-US" dirty="0"/>
              <a:t> a range of values computed from sample data that has a known probability of capturing some population parameter of interest</a:t>
            </a:r>
          </a:p>
          <a:p>
            <a:endParaRPr lang="LID4096" dirty="0"/>
          </a:p>
        </p:txBody>
      </p:sp>
    </p:spTree>
    <p:extLst>
      <p:ext uri="{BB962C8B-B14F-4D97-AF65-F5344CB8AC3E}">
        <p14:creationId xmlns:p14="http://schemas.microsoft.com/office/powerpoint/2010/main" val="3086515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1B0A-BFC1-2C7B-31E9-3355ECB66713}"/>
              </a:ext>
            </a:extLst>
          </p:cNvPr>
          <p:cNvSpPr>
            <a:spLocks noGrp="1"/>
          </p:cNvSpPr>
          <p:nvPr>
            <p:ph type="title"/>
          </p:nvPr>
        </p:nvSpPr>
        <p:spPr/>
        <p:txBody>
          <a:bodyPr/>
          <a:lstStyle/>
          <a:p>
            <a:r>
              <a:rPr lang="en-GB" dirty="0"/>
              <a:t>Introduction to Estimation …</a:t>
            </a:r>
            <a:endParaRPr lang="LID4096" dirty="0"/>
          </a:p>
        </p:txBody>
      </p:sp>
      <p:sp>
        <p:nvSpPr>
          <p:cNvPr id="3" name="Content Placeholder 2">
            <a:extLst>
              <a:ext uri="{FF2B5EF4-FFF2-40B4-BE49-F238E27FC236}">
                <a16:creationId xmlns:a16="http://schemas.microsoft.com/office/drawing/2014/main" id="{7437AE2C-08E5-AC79-2D14-B61909C226FB}"/>
              </a:ext>
            </a:extLst>
          </p:cNvPr>
          <p:cNvSpPr>
            <a:spLocks noGrp="1"/>
          </p:cNvSpPr>
          <p:nvPr>
            <p:ph idx="1"/>
          </p:nvPr>
        </p:nvSpPr>
        <p:spPr>
          <a:xfrm>
            <a:off x="838200" y="1690688"/>
            <a:ext cx="10515600" cy="4486275"/>
          </a:xfrm>
        </p:spPr>
        <p:txBody>
          <a:bodyPr/>
          <a:lstStyle/>
          <a:p>
            <a:pPr marL="0" indent="0">
              <a:buNone/>
            </a:pPr>
            <a:r>
              <a:rPr lang="en-US" altLang="en-US" dirty="0"/>
              <a:t>Steps to Confidence Interval</a:t>
            </a:r>
            <a:endParaRPr lang="en-US" altLang="en-US" sz="2800" dirty="0"/>
          </a:p>
          <a:p>
            <a:r>
              <a:rPr lang="en-US" altLang="en-US" sz="2800" dirty="0"/>
              <a:t>Compute the sample statistic (e.g. a mean)</a:t>
            </a:r>
          </a:p>
          <a:p>
            <a:r>
              <a:rPr lang="en-US" altLang="en-US" sz="2800" dirty="0"/>
              <a:t>Compute the standard error of the mean</a:t>
            </a:r>
          </a:p>
          <a:p>
            <a:r>
              <a:rPr lang="en-US" altLang="en-US" sz="2800" dirty="0"/>
              <a:t>Decide about the level of confidence that is desired (usually 95% or 99%)</a:t>
            </a:r>
          </a:p>
          <a:p>
            <a:r>
              <a:rPr lang="en-US" altLang="en-US" sz="2800" dirty="0"/>
              <a:t>Find tabled value for 95% or 99% confidence interval</a:t>
            </a:r>
          </a:p>
          <a:p>
            <a:r>
              <a:rPr lang="en-US" altLang="en-US" sz="2800" dirty="0"/>
              <a:t>Multiply standard error of the mean by the tabled value</a:t>
            </a:r>
          </a:p>
          <a:p>
            <a:r>
              <a:rPr lang="en-US" altLang="en-US" sz="2800" dirty="0"/>
              <a:t>Form interval by adding and subtracting calculated value to and from the mean</a:t>
            </a:r>
          </a:p>
          <a:p>
            <a:endParaRPr lang="LID4096" dirty="0"/>
          </a:p>
        </p:txBody>
      </p:sp>
    </p:spTree>
    <p:extLst>
      <p:ext uri="{BB962C8B-B14F-4D97-AF65-F5344CB8AC3E}">
        <p14:creationId xmlns:p14="http://schemas.microsoft.com/office/powerpoint/2010/main" val="1906834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25F4-A846-EBC6-6454-978EF9E5C83A}"/>
              </a:ext>
            </a:extLst>
          </p:cNvPr>
          <p:cNvSpPr>
            <a:spLocks noGrp="1"/>
          </p:cNvSpPr>
          <p:nvPr>
            <p:ph type="title"/>
          </p:nvPr>
        </p:nvSpPr>
        <p:spPr/>
        <p:txBody>
          <a:bodyPr/>
          <a:lstStyle/>
          <a:p>
            <a:r>
              <a:rPr lang="en-GB" b="1" dirty="0"/>
              <a:t>Estimation of Population Mean</a:t>
            </a:r>
            <a:endParaRPr lang="LID4096" b="1" dirty="0"/>
          </a:p>
        </p:txBody>
      </p:sp>
      <p:sp>
        <p:nvSpPr>
          <p:cNvPr id="3" name="Content Placeholder 2">
            <a:extLst>
              <a:ext uri="{FF2B5EF4-FFF2-40B4-BE49-F238E27FC236}">
                <a16:creationId xmlns:a16="http://schemas.microsoft.com/office/drawing/2014/main" id="{8142C096-7A07-B46A-E3A1-616ECDBCD482}"/>
              </a:ext>
            </a:extLst>
          </p:cNvPr>
          <p:cNvSpPr>
            <a:spLocks noGrp="1"/>
          </p:cNvSpPr>
          <p:nvPr>
            <p:ph idx="1"/>
          </p:nvPr>
        </p:nvSpPr>
        <p:spPr/>
        <p:txBody>
          <a:bodyPr/>
          <a:lstStyle/>
          <a:p>
            <a:r>
              <a:rPr lang="en-GB" b="0" i="0" dirty="0">
                <a:solidFill>
                  <a:schemeClr val="tx1"/>
                </a:solidFill>
                <a:effectLst/>
                <a:latin typeface="Google Sans"/>
              </a:rPr>
              <a:t>Mean estimation is a statistical inference problem in which a sample is used to produce a point estimate of the mean of an unknown distribution</a:t>
            </a:r>
            <a:endParaRPr lang="LID4096" dirty="0">
              <a:solidFill>
                <a:schemeClr val="tx1"/>
              </a:solidFill>
            </a:endParaRPr>
          </a:p>
        </p:txBody>
      </p:sp>
    </p:spTree>
    <p:extLst>
      <p:ext uri="{BB962C8B-B14F-4D97-AF65-F5344CB8AC3E}">
        <p14:creationId xmlns:p14="http://schemas.microsoft.com/office/powerpoint/2010/main" val="3453568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25F4-A846-EBC6-6454-978EF9E5C83A}"/>
              </a:ext>
            </a:extLst>
          </p:cNvPr>
          <p:cNvSpPr>
            <a:spLocks noGrp="1"/>
          </p:cNvSpPr>
          <p:nvPr>
            <p:ph type="title"/>
          </p:nvPr>
        </p:nvSpPr>
        <p:spPr/>
        <p:txBody>
          <a:bodyPr/>
          <a:lstStyle/>
          <a:p>
            <a:r>
              <a:rPr lang="en-GB" b="1" dirty="0"/>
              <a:t>Estimation of Population Mean…</a:t>
            </a:r>
            <a:endParaRPr lang="LID4096"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42C096-7A07-B46A-E3A1-616ECDBCD482}"/>
                  </a:ext>
                </a:extLst>
              </p:cNvPr>
              <p:cNvSpPr>
                <a:spLocks noGrp="1"/>
              </p:cNvSpPr>
              <p:nvPr>
                <p:ph idx="1"/>
              </p:nvPr>
            </p:nvSpPr>
            <p:spPr/>
            <p:txBody>
              <a:bodyPr>
                <a:normAutofit lnSpcReduction="10000"/>
              </a:bodyPr>
              <a:lstStyle/>
              <a:p>
                <a:r>
                  <a:rPr lang="en-GB" dirty="0"/>
                  <a:t>Confidence Interval for Population Mean (when </a:t>
                </a:r>
                <a14:m>
                  <m:oMath xmlns:m="http://schemas.openxmlformats.org/officeDocument/2006/math">
                    <m:r>
                      <a:rPr lang="en-GB" i="1" smtClean="0">
                        <a:latin typeface="Cambria Math" panose="02040503050406030204" pitchFamily="18" charset="0"/>
                        <a:ea typeface="Cambria Math" panose="02040503050406030204" pitchFamily="18" charset="0"/>
                      </a:rPr>
                      <m:t>𝜎</m:t>
                    </m:r>
                  </m:oMath>
                </a14:m>
                <a:r>
                  <a:rPr lang="en-GB" dirty="0"/>
                  <a:t> known)</a:t>
                </a:r>
              </a:p>
              <a:p>
                <a:pPr lvl="4"/>
                <a14:m>
                  <m:oMath xmlns:m="http://schemas.openxmlformats.org/officeDocument/2006/math">
                    <m:acc>
                      <m:accPr>
                        <m:chr m:val="̅"/>
                        <m:ctrlPr>
                          <a:rPr lang="en-GB" sz="3200" i="1" smtClean="0">
                            <a:latin typeface="Cambria Math" panose="02040503050406030204" pitchFamily="18" charset="0"/>
                          </a:rPr>
                        </m:ctrlPr>
                      </m:accPr>
                      <m:e>
                        <m:r>
                          <a:rPr lang="en-GB" sz="3200" b="0" i="1" smtClean="0">
                            <a:latin typeface="Cambria Math" panose="02040503050406030204" pitchFamily="18" charset="0"/>
                          </a:rPr>
                          <m:t>𝑋</m:t>
                        </m:r>
                      </m:e>
                    </m:acc>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𝑍</m:t>
                        </m:r>
                      </m:e>
                      <m:sub>
                        <m:f>
                          <m:fPr>
                            <m:ctrlPr>
                              <a:rPr lang="en-GB" sz="3200" b="0" i="1" smtClean="0">
                                <a:latin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𝛼</m:t>
                            </m:r>
                          </m:num>
                          <m:den>
                            <m:r>
                              <a:rPr lang="en-GB" sz="3200" b="0" i="1" smtClean="0">
                                <a:latin typeface="Cambria Math" panose="02040503050406030204" pitchFamily="18" charset="0"/>
                              </a:rPr>
                              <m:t>2</m:t>
                            </m:r>
                          </m:den>
                        </m:f>
                      </m:sub>
                    </m:sSub>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𝜎</m:t>
                        </m:r>
                      </m:num>
                      <m:den>
                        <m:rad>
                          <m:radPr>
                            <m:degHide m:val="on"/>
                            <m:ctrlPr>
                              <a:rPr lang="en-GB" sz="3200" b="0" i="1" smtClean="0">
                                <a:latin typeface="Cambria Math" panose="02040503050406030204" pitchFamily="18" charset="0"/>
                              </a:rPr>
                            </m:ctrlPr>
                          </m:radPr>
                          <m:deg/>
                          <m:e>
                            <m:r>
                              <a:rPr lang="en-GB" sz="3200" b="0" i="1" smtClean="0">
                                <a:latin typeface="Cambria Math" panose="02040503050406030204" pitchFamily="18" charset="0"/>
                              </a:rPr>
                              <m:t>𝑛</m:t>
                            </m:r>
                          </m:e>
                        </m:rad>
                      </m:den>
                    </m:f>
                    <m:r>
                      <a:rPr lang="en-GB" sz="3200" b="0" i="1" smtClean="0">
                        <a:latin typeface="Cambria Math" panose="02040503050406030204" pitchFamily="18" charset="0"/>
                        <a:ea typeface="Cambria Math" panose="02040503050406030204" pitchFamily="18" charset="0"/>
                      </a:rPr>
                      <m:t>&lt;</m:t>
                    </m:r>
                    <m:r>
                      <a:rPr lang="en-GB" sz="3200" b="0" i="1" smtClean="0">
                        <a:latin typeface="Cambria Math" panose="02040503050406030204" pitchFamily="18" charset="0"/>
                        <a:ea typeface="Cambria Math" panose="02040503050406030204" pitchFamily="18" charset="0"/>
                      </a:rPr>
                      <m:t>𝜇</m:t>
                    </m:r>
                    <m:r>
                      <a:rPr lang="en-GB" sz="3200" b="0" i="1" smtClean="0">
                        <a:latin typeface="Cambria Math" panose="02040503050406030204" pitchFamily="18" charset="0"/>
                        <a:ea typeface="Cambria Math" panose="02040503050406030204" pitchFamily="18" charset="0"/>
                      </a:rPr>
                      <m:t>&lt;</m:t>
                    </m:r>
                    <m:acc>
                      <m:accPr>
                        <m:chr m:val="̅"/>
                        <m:ctrlPr>
                          <a:rPr lang="en-GB" sz="3200" i="1" smtClean="0">
                            <a:latin typeface="Cambria Math" panose="02040503050406030204" pitchFamily="18" charset="0"/>
                          </a:rPr>
                        </m:ctrlPr>
                      </m:accPr>
                      <m:e>
                        <m:r>
                          <a:rPr lang="en-GB" sz="3200" b="0" i="1" smtClean="0">
                            <a:latin typeface="Cambria Math" panose="02040503050406030204" pitchFamily="18" charset="0"/>
                          </a:rPr>
                          <m:t>𝑋</m:t>
                        </m:r>
                      </m:e>
                    </m:acc>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𝑍</m:t>
                        </m:r>
                      </m:e>
                      <m:sub>
                        <m:f>
                          <m:fPr>
                            <m:ctrlPr>
                              <a:rPr lang="en-GB" sz="3200" b="0" i="1" smtClean="0">
                                <a:latin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𝛼</m:t>
                            </m:r>
                          </m:num>
                          <m:den>
                            <m:r>
                              <a:rPr lang="en-GB" sz="3200" b="0" i="1" smtClean="0">
                                <a:latin typeface="Cambria Math" panose="02040503050406030204" pitchFamily="18" charset="0"/>
                              </a:rPr>
                              <m:t>2</m:t>
                            </m:r>
                          </m:den>
                        </m:f>
                      </m:sub>
                    </m:sSub>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𝜎</m:t>
                        </m:r>
                      </m:num>
                      <m:den>
                        <m:rad>
                          <m:radPr>
                            <m:degHide m:val="on"/>
                            <m:ctrlPr>
                              <a:rPr lang="en-GB" sz="3200" b="0" i="1" smtClean="0">
                                <a:latin typeface="Cambria Math" panose="02040503050406030204" pitchFamily="18" charset="0"/>
                              </a:rPr>
                            </m:ctrlPr>
                          </m:radPr>
                          <m:deg/>
                          <m:e>
                            <m:r>
                              <a:rPr lang="en-GB" sz="3200" b="0" i="1" smtClean="0">
                                <a:latin typeface="Cambria Math" panose="02040503050406030204" pitchFamily="18" charset="0"/>
                              </a:rPr>
                              <m:t>𝑛</m:t>
                            </m:r>
                          </m:e>
                        </m:rad>
                      </m:den>
                    </m:f>
                  </m:oMath>
                </a14:m>
                <a:endParaRPr lang="en-GB" sz="3200" dirty="0"/>
              </a:p>
              <a:p>
                <a:r>
                  <a:rPr lang="en-GB" dirty="0"/>
                  <a:t>Confidence Interval for Population Mean (when </a:t>
                </a:r>
                <a14:m>
                  <m:oMath xmlns:m="http://schemas.openxmlformats.org/officeDocument/2006/math">
                    <m:r>
                      <a:rPr lang="en-GB" i="1" smtClean="0">
                        <a:latin typeface="Cambria Math" panose="02040503050406030204" pitchFamily="18" charset="0"/>
                        <a:ea typeface="Cambria Math" panose="02040503050406030204" pitchFamily="18" charset="0"/>
                      </a:rPr>
                      <m:t>𝜎</m:t>
                    </m:r>
                  </m:oMath>
                </a14:m>
                <a:r>
                  <a:rPr lang="en-GB" dirty="0"/>
                  <a:t> un-known , large-size)</a:t>
                </a:r>
              </a:p>
              <a:p>
                <a:pPr lvl="4"/>
                <a14:m>
                  <m:oMath xmlns:m="http://schemas.openxmlformats.org/officeDocument/2006/math">
                    <m:acc>
                      <m:accPr>
                        <m:chr m:val="̅"/>
                        <m:ctrlPr>
                          <a:rPr lang="en-GB" sz="3200" i="1" smtClean="0">
                            <a:latin typeface="Cambria Math" panose="02040503050406030204" pitchFamily="18" charset="0"/>
                          </a:rPr>
                        </m:ctrlPr>
                      </m:accPr>
                      <m:e>
                        <m:r>
                          <a:rPr lang="en-GB" sz="3200" b="0" i="1" smtClean="0">
                            <a:latin typeface="Cambria Math" panose="02040503050406030204" pitchFamily="18" charset="0"/>
                          </a:rPr>
                          <m:t>𝑋</m:t>
                        </m:r>
                      </m:e>
                    </m:acc>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𝑍</m:t>
                        </m:r>
                      </m:e>
                      <m:sub>
                        <m:f>
                          <m:fPr>
                            <m:ctrlPr>
                              <a:rPr lang="en-GB" sz="3200" b="0" i="1" smtClean="0">
                                <a:latin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𝛼</m:t>
                            </m:r>
                          </m:num>
                          <m:den>
                            <m:r>
                              <a:rPr lang="en-GB" sz="3200" b="0" i="1" smtClean="0">
                                <a:latin typeface="Cambria Math" panose="02040503050406030204" pitchFamily="18" charset="0"/>
                              </a:rPr>
                              <m:t>2</m:t>
                            </m:r>
                          </m:den>
                        </m:f>
                      </m:sub>
                    </m:sSub>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a:rPr lang="en-GB" sz="3200" b="0" i="1" smtClean="0">
                            <a:latin typeface="Cambria Math" panose="02040503050406030204" pitchFamily="18" charset="0"/>
                          </a:rPr>
                          <m:t>𝑠</m:t>
                        </m:r>
                      </m:num>
                      <m:den>
                        <m:rad>
                          <m:radPr>
                            <m:degHide m:val="on"/>
                            <m:ctrlPr>
                              <a:rPr lang="en-GB" sz="3200" b="0" i="1" smtClean="0">
                                <a:latin typeface="Cambria Math" panose="02040503050406030204" pitchFamily="18" charset="0"/>
                              </a:rPr>
                            </m:ctrlPr>
                          </m:radPr>
                          <m:deg/>
                          <m:e>
                            <m:r>
                              <a:rPr lang="en-GB" sz="3200" b="0" i="1" smtClean="0">
                                <a:latin typeface="Cambria Math" panose="02040503050406030204" pitchFamily="18" charset="0"/>
                              </a:rPr>
                              <m:t>𝑛</m:t>
                            </m:r>
                          </m:e>
                        </m:rad>
                      </m:den>
                    </m:f>
                    <m:r>
                      <a:rPr lang="en-GB" sz="3200" b="0" i="1" smtClean="0">
                        <a:latin typeface="Cambria Math" panose="02040503050406030204" pitchFamily="18" charset="0"/>
                        <a:ea typeface="Cambria Math" panose="02040503050406030204" pitchFamily="18" charset="0"/>
                      </a:rPr>
                      <m:t>&lt;</m:t>
                    </m:r>
                    <m:r>
                      <a:rPr lang="en-GB" sz="3200" b="0" i="1" smtClean="0">
                        <a:latin typeface="Cambria Math" panose="02040503050406030204" pitchFamily="18" charset="0"/>
                        <a:ea typeface="Cambria Math" panose="02040503050406030204" pitchFamily="18" charset="0"/>
                      </a:rPr>
                      <m:t>𝜇</m:t>
                    </m:r>
                    <m:r>
                      <a:rPr lang="en-GB" sz="3200" b="0" i="1" smtClean="0">
                        <a:latin typeface="Cambria Math" panose="02040503050406030204" pitchFamily="18" charset="0"/>
                        <a:ea typeface="Cambria Math" panose="02040503050406030204" pitchFamily="18" charset="0"/>
                      </a:rPr>
                      <m:t>&lt;</m:t>
                    </m:r>
                    <m:acc>
                      <m:accPr>
                        <m:chr m:val="̅"/>
                        <m:ctrlPr>
                          <a:rPr lang="en-GB" sz="3200" i="1" smtClean="0">
                            <a:latin typeface="Cambria Math" panose="02040503050406030204" pitchFamily="18" charset="0"/>
                          </a:rPr>
                        </m:ctrlPr>
                      </m:accPr>
                      <m:e>
                        <m:r>
                          <a:rPr lang="en-GB" sz="3200" b="0" i="1" smtClean="0">
                            <a:latin typeface="Cambria Math" panose="02040503050406030204" pitchFamily="18" charset="0"/>
                          </a:rPr>
                          <m:t>𝑋</m:t>
                        </m:r>
                      </m:e>
                    </m:acc>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𝑍</m:t>
                        </m:r>
                      </m:e>
                      <m:sub>
                        <m:f>
                          <m:fPr>
                            <m:ctrlPr>
                              <a:rPr lang="en-GB" sz="3200" b="0" i="1" smtClean="0">
                                <a:latin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𝛼</m:t>
                            </m:r>
                          </m:num>
                          <m:den>
                            <m:r>
                              <a:rPr lang="en-GB" sz="3200" b="0" i="1" smtClean="0">
                                <a:latin typeface="Cambria Math" panose="02040503050406030204" pitchFamily="18" charset="0"/>
                              </a:rPr>
                              <m:t>2</m:t>
                            </m:r>
                          </m:den>
                        </m:f>
                      </m:sub>
                    </m:sSub>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a:rPr lang="en-GB" sz="3200" b="0" i="1" smtClean="0">
                            <a:latin typeface="Cambria Math" panose="02040503050406030204" pitchFamily="18" charset="0"/>
                          </a:rPr>
                          <m:t>𝑠</m:t>
                        </m:r>
                      </m:num>
                      <m:den>
                        <m:rad>
                          <m:radPr>
                            <m:degHide m:val="on"/>
                            <m:ctrlPr>
                              <a:rPr lang="en-GB" sz="3200" b="0" i="1" smtClean="0">
                                <a:latin typeface="Cambria Math" panose="02040503050406030204" pitchFamily="18" charset="0"/>
                              </a:rPr>
                            </m:ctrlPr>
                          </m:radPr>
                          <m:deg/>
                          <m:e>
                            <m:r>
                              <a:rPr lang="en-GB" sz="3200" b="0" i="1" smtClean="0">
                                <a:latin typeface="Cambria Math" panose="02040503050406030204" pitchFamily="18" charset="0"/>
                              </a:rPr>
                              <m:t>𝑛</m:t>
                            </m:r>
                          </m:e>
                        </m:rad>
                      </m:den>
                    </m:f>
                  </m:oMath>
                </a14:m>
                <a:endParaRPr lang="en-GB" sz="3200" dirty="0"/>
              </a:p>
              <a:p>
                <a:r>
                  <a:rPr lang="en-GB" dirty="0"/>
                  <a:t>Confidence Interval for Population Mean (when </a:t>
                </a:r>
                <a14:m>
                  <m:oMath xmlns:m="http://schemas.openxmlformats.org/officeDocument/2006/math">
                    <m:r>
                      <a:rPr lang="en-GB" i="1" smtClean="0">
                        <a:latin typeface="Cambria Math" panose="02040503050406030204" pitchFamily="18" charset="0"/>
                        <a:ea typeface="Cambria Math" panose="02040503050406030204" pitchFamily="18" charset="0"/>
                      </a:rPr>
                      <m:t>𝜎</m:t>
                    </m:r>
                  </m:oMath>
                </a14:m>
                <a:r>
                  <a:rPr lang="en-GB" dirty="0"/>
                  <a:t> un-known , small-size)</a:t>
                </a:r>
              </a:p>
              <a:p>
                <a:pPr lvl="4"/>
                <a14:m>
                  <m:oMath xmlns:m="http://schemas.openxmlformats.org/officeDocument/2006/math">
                    <m:acc>
                      <m:accPr>
                        <m:chr m:val="̅"/>
                        <m:ctrlPr>
                          <a:rPr lang="en-GB" sz="3200" i="1" smtClean="0">
                            <a:latin typeface="Cambria Math" panose="02040503050406030204" pitchFamily="18" charset="0"/>
                          </a:rPr>
                        </m:ctrlPr>
                      </m:accPr>
                      <m:e>
                        <m:r>
                          <a:rPr lang="en-GB" sz="3200" b="0" i="1" smtClean="0">
                            <a:latin typeface="Cambria Math" panose="02040503050406030204" pitchFamily="18" charset="0"/>
                          </a:rPr>
                          <m:t>𝑋</m:t>
                        </m:r>
                      </m:e>
                    </m:acc>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𝑡</m:t>
                        </m:r>
                      </m:e>
                      <m:sub>
                        <m:f>
                          <m:fPr>
                            <m:ctrlPr>
                              <a:rPr lang="en-GB" sz="3200" i="1">
                                <a:latin typeface="Cambria Math" panose="02040503050406030204" pitchFamily="18" charset="0"/>
                              </a:rPr>
                            </m:ctrlPr>
                          </m:fPr>
                          <m:num>
                            <m:r>
                              <a:rPr lang="en-GB" sz="3200" i="1">
                                <a:latin typeface="Cambria Math" panose="02040503050406030204" pitchFamily="18" charset="0"/>
                                <a:ea typeface="Cambria Math" panose="02040503050406030204" pitchFamily="18" charset="0"/>
                              </a:rPr>
                              <m:t>𝛼</m:t>
                            </m:r>
                          </m:num>
                          <m:den>
                            <m:r>
                              <a:rPr lang="en-GB" sz="3200" i="1">
                                <a:latin typeface="Cambria Math" panose="02040503050406030204" pitchFamily="18" charset="0"/>
                              </a:rPr>
                              <m:t>2</m:t>
                            </m:r>
                          </m:den>
                        </m:f>
                      </m:sub>
                    </m:sSub>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a:rPr lang="en-GB" sz="3200" b="0" i="1" smtClean="0">
                            <a:latin typeface="Cambria Math" panose="02040503050406030204" pitchFamily="18" charset="0"/>
                          </a:rPr>
                          <m:t>𝑠</m:t>
                        </m:r>
                      </m:num>
                      <m:den>
                        <m:rad>
                          <m:radPr>
                            <m:degHide m:val="on"/>
                            <m:ctrlPr>
                              <a:rPr lang="en-GB" sz="3200" b="0" i="1" smtClean="0">
                                <a:latin typeface="Cambria Math" panose="02040503050406030204" pitchFamily="18" charset="0"/>
                              </a:rPr>
                            </m:ctrlPr>
                          </m:radPr>
                          <m:deg/>
                          <m:e>
                            <m:r>
                              <a:rPr lang="en-GB" sz="3200" b="0" i="1" smtClean="0">
                                <a:latin typeface="Cambria Math" panose="02040503050406030204" pitchFamily="18" charset="0"/>
                              </a:rPr>
                              <m:t>𝑛</m:t>
                            </m:r>
                          </m:e>
                        </m:rad>
                      </m:den>
                    </m:f>
                    <m:r>
                      <a:rPr lang="en-GB" sz="3200" b="0" i="1" smtClean="0">
                        <a:latin typeface="Cambria Math" panose="02040503050406030204" pitchFamily="18" charset="0"/>
                        <a:ea typeface="Cambria Math" panose="02040503050406030204" pitchFamily="18" charset="0"/>
                      </a:rPr>
                      <m:t>&lt;</m:t>
                    </m:r>
                    <m:r>
                      <a:rPr lang="en-GB" sz="3200" b="0" i="1" smtClean="0">
                        <a:latin typeface="Cambria Math" panose="02040503050406030204" pitchFamily="18" charset="0"/>
                        <a:ea typeface="Cambria Math" panose="02040503050406030204" pitchFamily="18" charset="0"/>
                      </a:rPr>
                      <m:t>𝜇</m:t>
                    </m:r>
                    <m:r>
                      <a:rPr lang="en-GB" sz="3200" b="0" i="1" smtClean="0">
                        <a:latin typeface="Cambria Math" panose="02040503050406030204" pitchFamily="18" charset="0"/>
                        <a:ea typeface="Cambria Math" panose="02040503050406030204" pitchFamily="18" charset="0"/>
                      </a:rPr>
                      <m:t>&lt;</m:t>
                    </m:r>
                    <m:acc>
                      <m:accPr>
                        <m:chr m:val="̅"/>
                        <m:ctrlPr>
                          <a:rPr lang="en-GB" sz="3200" i="1" smtClean="0">
                            <a:latin typeface="Cambria Math" panose="02040503050406030204" pitchFamily="18" charset="0"/>
                          </a:rPr>
                        </m:ctrlPr>
                      </m:accPr>
                      <m:e>
                        <m:r>
                          <a:rPr lang="en-GB" sz="3200" b="0" i="1" smtClean="0">
                            <a:latin typeface="Cambria Math" panose="02040503050406030204" pitchFamily="18" charset="0"/>
                          </a:rPr>
                          <m:t>𝑋</m:t>
                        </m:r>
                      </m:e>
                    </m:acc>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𝑡</m:t>
                        </m:r>
                      </m:e>
                      <m:sub>
                        <m:f>
                          <m:fPr>
                            <m:ctrlPr>
                              <a:rPr lang="en-GB" sz="3200" i="1">
                                <a:latin typeface="Cambria Math" panose="02040503050406030204" pitchFamily="18" charset="0"/>
                              </a:rPr>
                            </m:ctrlPr>
                          </m:fPr>
                          <m:num>
                            <m:r>
                              <a:rPr lang="en-GB" sz="3200" i="1">
                                <a:latin typeface="Cambria Math" panose="02040503050406030204" pitchFamily="18" charset="0"/>
                                <a:ea typeface="Cambria Math" panose="02040503050406030204" pitchFamily="18" charset="0"/>
                              </a:rPr>
                              <m:t>𝛼</m:t>
                            </m:r>
                          </m:num>
                          <m:den>
                            <m:r>
                              <a:rPr lang="en-GB" sz="3200" i="1">
                                <a:latin typeface="Cambria Math" panose="02040503050406030204" pitchFamily="18" charset="0"/>
                              </a:rPr>
                              <m:t>2</m:t>
                            </m:r>
                          </m:den>
                        </m:f>
                      </m:sub>
                    </m:sSub>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r>
                          <a:rPr lang="en-GB" sz="3200" b="0" i="1" smtClean="0">
                            <a:latin typeface="Cambria Math" panose="02040503050406030204" pitchFamily="18" charset="0"/>
                          </a:rPr>
                          <m:t>𝑠</m:t>
                        </m:r>
                      </m:num>
                      <m:den>
                        <m:rad>
                          <m:radPr>
                            <m:degHide m:val="on"/>
                            <m:ctrlPr>
                              <a:rPr lang="en-GB" sz="3200" b="0" i="1" smtClean="0">
                                <a:latin typeface="Cambria Math" panose="02040503050406030204" pitchFamily="18" charset="0"/>
                              </a:rPr>
                            </m:ctrlPr>
                          </m:radPr>
                          <m:deg/>
                          <m:e>
                            <m:r>
                              <a:rPr lang="en-GB" sz="3200" b="0" i="1" smtClean="0">
                                <a:latin typeface="Cambria Math" panose="02040503050406030204" pitchFamily="18" charset="0"/>
                              </a:rPr>
                              <m:t>𝑛</m:t>
                            </m:r>
                          </m:e>
                        </m:rad>
                      </m:den>
                    </m:f>
                  </m:oMath>
                </a14:m>
                <a:endParaRPr lang="LID4096" dirty="0"/>
              </a:p>
            </p:txBody>
          </p:sp>
        </mc:Choice>
        <mc:Fallback xmlns="">
          <p:sp>
            <p:nvSpPr>
              <p:cNvPr id="3" name="Content Placeholder 2">
                <a:extLst>
                  <a:ext uri="{FF2B5EF4-FFF2-40B4-BE49-F238E27FC236}">
                    <a16:creationId xmlns:a16="http://schemas.microsoft.com/office/drawing/2014/main" id="{8142C096-7A07-B46A-E3A1-616ECDBCD482}"/>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432752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25F4-A846-EBC6-6454-978EF9E5C83A}"/>
              </a:ext>
            </a:extLst>
          </p:cNvPr>
          <p:cNvSpPr>
            <a:spLocks noGrp="1"/>
          </p:cNvSpPr>
          <p:nvPr>
            <p:ph type="title"/>
          </p:nvPr>
        </p:nvSpPr>
        <p:spPr/>
        <p:txBody>
          <a:bodyPr/>
          <a:lstStyle/>
          <a:p>
            <a:r>
              <a:rPr lang="en-GB" b="1" dirty="0"/>
              <a:t>Estimation of Population Mean…</a:t>
            </a:r>
            <a:endParaRPr lang="LID4096" b="1" dirty="0"/>
          </a:p>
        </p:txBody>
      </p:sp>
      <p:sp>
        <p:nvSpPr>
          <p:cNvPr id="3" name="Content Placeholder 2">
            <a:extLst>
              <a:ext uri="{FF2B5EF4-FFF2-40B4-BE49-F238E27FC236}">
                <a16:creationId xmlns:a16="http://schemas.microsoft.com/office/drawing/2014/main" id="{8142C096-7A07-B46A-E3A1-616ECDBCD482}"/>
              </a:ext>
            </a:extLst>
          </p:cNvPr>
          <p:cNvSpPr>
            <a:spLocks noGrp="1"/>
          </p:cNvSpPr>
          <p:nvPr>
            <p:ph idx="1"/>
          </p:nvPr>
        </p:nvSpPr>
        <p:spPr/>
        <p:txBody>
          <a:bodyPr/>
          <a:lstStyle/>
          <a:p>
            <a:pPr marL="0" indent="0" algn="just">
              <a:buNone/>
            </a:pPr>
            <a:r>
              <a:rPr lang="en-GB" b="1" dirty="0"/>
              <a:t>Example 1:  </a:t>
            </a:r>
            <a:r>
              <a:rPr lang="en-GB"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Suppose we are interested in the mean scores on an exam. A random sample of 36 scores is taken and gives a sample mean (sample mean score) of 68 In this example we have the unusual knowledge that the population standard deviation is 3 points. Find a 95% and 99% confidence interval estimate for the population mean exam score (the mean score on all exams).</a:t>
            </a:r>
            <a:endParaRPr lang="en-GB"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2821175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25F4-A846-EBC6-6454-978EF9E5C83A}"/>
              </a:ext>
            </a:extLst>
          </p:cNvPr>
          <p:cNvSpPr>
            <a:spLocks noGrp="1"/>
          </p:cNvSpPr>
          <p:nvPr>
            <p:ph type="title"/>
          </p:nvPr>
        </p:nvSpPr>
        <p:spPr/>
        <p:txBody>
          <a:bodyPr/>
          <a:lstStyle/>
          <a:p>
            <a:r>
              <a:rPr lang="en-GB" b="1" dirty="0"/>
              <a:t>Estimation of Population Mean…</a:t>
            </a:r>
            <a:endParaRPr lang="LID4096" b="1" dirty="0"/>
          </a:p>
        </p:txBody>
      </p:sp>
      <p:sp>
        <p:nvSpPr>
          <p:cNvPr id="3" name="Content Placeholder 2">
            <a:extLst>
              <a:ext uri="{FF2B5EF4-FFF2-40B4-BE49-F238E27FC236}">
                <a16:creationId xmlns:a16="http://schemas.microsoft.com/office/drawing/2014/main" id="{8142C096-7A07-B46A-E3A1-616ECDBCD482}"/>
              </a:ext>
            </a:extLst>
          </p:cNvPr>
          <p:cNvSpPr>
            <a:spLocks noGrp="1"/>
          </p:cNvSpPr>
          <p:nvPr>
            <p:ph idx="1"/>
          </p:nvPr>
        </p:nvSpPr>
        <p:spPr/>
        <p:txBody>
          <a:bodyPr/>
          <a:lstStyle/>
          <a:p>
            <a:pPr marL="0" indent="0" algn="just">
              <a:buNone/>
            </a:pPr>
            <a:r>
              <a:rPr lang="en-GB" b="1" dirty="0"/>
              <a:t>Example 2:  </a:t>
            </a:r>
            <a:r>
              <a:rPr lang="en-GB"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Spring break can be a very expensive holiday. A sample of 80 students is surveyed, and the average amount spent by students is $593.84. The sample standard deviation is approximately $369.34. Construct a 92% confidence interval for the population mean amount of money spent by spring breakers.</a:t>
            </a:r>
            <a:endParaRPr lang="en-GB" dirty="0">
              <a:solidFill>
                <a:schemeClr val="tx1"/>
              </a:solidFill>
            </a:endParaRPr>
          </a:p>
        </p:txBody>
      </p:sp>
    </p:spTree>
    <p:extLst>
      <p:ext uri="{BB962C8B-B14F-4D97-AF65-F5344CB8AC3E}">
        <p14:creationId xmlns:p14="http://schemas.microsoft.com/office/powerpoint/2010/main" val="1985686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25F4-A846-EBC6-6454-978EF9E5C83A}"/>
              </a:ext>
            </a:extLst>
          </p:cNvPr>
          <p:cNvSpPr>
            <a:spLocks noGrp="1"/>
          </p:cNvSpPr>
          <p:nvPr>
            <p:ph type="title"/>
          </p:nvPr>
        </p:nvSpPr>
        <p:spPr/>
        <p:txBody>
          <a:bodyPr/>
          <a:lstStyle/>
          <a:p>
            <a:r>
              <a:rPr lang="en-GB" b="1" dirty="0"/>
              <a:t>Estimation of Population Mean…</a:t>
            </a:r>
            <a:endParaRPr lang="LID4096" b="1" dirty="0"/>
          </a:p>
        </p:txBody>
      </p:sp>
      <p:sp>
        <p:nvSpPr>
          <p:cNvPr id="3" name="Content Placeholder 2">
            <a:extLst>
              <a:ext uri="{FF2B5EF4-FFF2-40B4-BE49-F238E27FC236}">
                <a16:creationId xmlns:a16="http://schemas.microsoft.com/office/drawing/2014/main" id="{8142C096-7A07-B46A-E3A1-616ECDBCD482}"/>
              </a:ext>
            </a:extLst>
          </p:cNvPr>
          <p:cNvSpPr>
            <a:spLocks noGrp="1"/>
          </p:cNvSpPr>
          <p:nvPr>
            <p:ph idx="1"/>
          </p:nvPr>
        </p:nvSpPr>
        <p:spPr/>
        <p:txBody>
          <a:bodyPr/>
          <a:lstStyle/>
          <a:p>
            <a:pPr marL="0" indent="0" algn="just">
              <a:buNone/>
            </a:pPr>
            <a:r>
              <a:rPr lang="en-GB" b="1" dirty="0"/>
              <a:t>Example 3: </a:t>
            </a:r>
            <a:r>
              <a:rPr lang="en-GB" dirty="0"/>
              <a:t>The contents of 7 similar containers of sulfuric acid are 9.8, 10.2, 10.4, 9.8, 10.0, 10.2 and 9.6 Litters. Find a 95% confidence interval for the mean content of all such containers.</a:t>
            </a:r>
          </a:p>
        </p:txBody>
      </p:sp>
    </p:spTree>
    <p:extLst>
      <p:ext uri="{BB962C8B-B14F-4D97-AF65-F5344CB8AC3E}">
        <p14:creationId xmlns:p14="http://schemas.microsoft.com/office/powerpoint/2010/main" val="1267913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p:txBody>
          <a:bodyPr>
            <a:normAutofit/>
          </a:bodyPr>
          <a:lstStyle/>
          <a:p>
            <a:r>
              <a:rPr lang="en-GB" sz="3600" b="0" i="0" dirty="0">
                <a:solidFill>
                  <a:schemeClr val="tx1"/>
                </a:solidFill>
                <a:effectLst/>
                <a:latin typeface="Google Sans"/>
              </a:rPr>
              <a:t>The confidence interval for the difference in means provides an estimate of the absolute difference in means of the outcome variable of interest between the comparison groups</a:t>
            </a:r>
          </a:p>
          <a:p>
            <a:r>
              <a:rPr lang="en-GB" sz="3600" b="0" i="0" dirty="0">
                <a:solidFill>
                  <a:schemeClr val="tx1"/>
                </a:solidFill>
                <a:effectLst/>
                <a:latin typeface="Google Sans"/>
              </a:rPr>
              <a:t>It is often of interest to make a judgment as to whether there is a statistically meaningful difference between comparison groups</a:t>
            </a:r>
            <a:endParaRPr lang="LID4096" sz="3600" dirty="0">
              <a:solidFill>
                <a:schemeClr val="tx1"/>
              </a:solidFill>
            </a:endParaRPr>
          </a:p>
        </p:txBody>
      </p:sp>
    </p:spTree>
    <p:extLst>
      <p:ext uri="{BB962C8B-B14F-4D97-AF65-F5344CB8AC3E}">
        <p14:creationId xmlns:p14="http://schemas.microsoft.com/office/powerpoint/2010/main" val="2668424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391478"/>
                <a:ext cx="11834191" cy="4785485"/>
              </a:xfrm>
            </p:spPr>
            <p:txBody>
              <a:bodyPr>
                <a:normAutofit fontScale="92500"/>
              </a:bodyPr>
              <a:lstStyle/>
              <a:p>
                <a:r>
                  <a:rPr lang="en-GB" dirty="0"/>
                  <a:t>(</a:t>
                </a:r>
                <a14:m>
                  <m:oMath xmlns:m="http://schemas.openxmlformats.org/officeDocument/2006/math">
                    <m:r>
                      <a:rPr lang="en-GB" b="0" i="1" smtClean="0">
                        <a:latin typeface="Cambria Math" panose="02040503050406030204" pitchFamily="18" charset="0"/>
                      </a:rPr>
                      <m:t>1−</m:t>
                    </m:r>
                    <m:r>
                      <a:rPr lang="en-GB" b="0" i="1" smtClean="0">
                        <a:latin typeface="Cambria Math" panose="02040503050406030204" pitchFamily="18" charset="0"/>
                        <a:ea typeface="Cambria Math" panose="02040503050406030204" pitchFamily="18" charset="0"/>
                      </a:rPr>
                      <m:t>𝛼</m:t>
                    </m:r>
                  </m:oMath>
                </a14:m>
                <a:r>
                  <a:rPr lang="en-GB" dirty="0"/>
                  <a:t>)100% C.I limits for difference between Population Means (when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2</m:t>
                        </m:r>
                      </m:sub>
                    </m:sSub>
                  </m:oMath>
                </a14:m>
                <a:r>
                  <a:rPr lang="en-GB" dirty="0"/>
                  <a:t>are known)</a:t>
                </a:r>
              </a:p>
              <a:p>
                <a:pPr marL="457200" lvl="1" indent="0">
                  <a:buNone/>
                </a:pPr>
                <a14:m>
                  <m:oMathPara xmlns:m="http://schemas.openxmlformats.org/officeDocument/2006/math">
                    <m:oMathParaPr>
                      <m:jc m:val="centerGroup"/>
                    </m:oMathParaPr>
                    <m:oMath xmlns:m="http://schemas.openxmlformats.org/officeDocument/2006/math">
                      <m:d>
                        <m:dPr>
                          <m:ctrlPr>
                            <a:rPr lang="en-GB" sz="3200" i="1" smtClean="0">
                              <a:latin typeface="Cambria Math" panose="02040503050406030204" pitchFamily="18" charset="0"/>
                            </a:rPr>
                          </m:ctrlPr>
                        </m:dPr>
                        <m:e>
                          <m:sSub>
                            <m:sSubPr>
                              <m:ctrlPr>
                                <a:rPr lang="en-GB" sz="3200" i="1">
                                  <a:latin typeface="Cambria Math" panose="02040503050406030204" pitchFamily="18" charset="0"/>
                                </a:rPr>
                              </m:ctrlPr>
                            </m:sSubPr>
                            <m:e>
                              <m:acc>
                                <m:accPr>
                                  <m:chr m:val="̅"/>
                                  <m:ctrlPr>
                                    <a:rPr lang="en-GB" sz="3200" i="1">
                                      <a:latin typeface="Cambria Math" panose="02040503050406030204" pitchFamily="18" charset="0"/>
                                    </a:rPr>
                                  </m:ctrlPr>
                                </m:accPr>
                                <m:e>
                                  <m:r>
                                    <a:rPr lang="en-GB" sz="3200" b="0" i="1" smtClean="0">
                                      <a:latin typeface="Cambria Math" panose="02040503050406030204" pitchFamily="18" charset="0"/>
                                    </a:rPr>
                                    <m:t>𝑥</m:t>
                                  </m:r>
                                </m:e>
                              </m:acc>
                            </m:e>
                            <m:sub>
                              <m:r>
                                <a:rPr lang="en-GB" sz="3200" i="1">
                                  <a:latin typeface="Cambria Math" panose="02040503050406030204" pitchFamily="18" charset="0"/>
                                </a:rPr>
                                <m:t>1</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acc>
                                <m:accPr>
                                  <m:chr m:val="̅"/>
                                  <m:ctrlPr>
                                    <a:rPr lang="en-GB" sz="3200" i="1">
                                      <a:latin typeface="Cambria Math" panose="02040503050406030204" pitchFamily="18" charset="0"/>
                                    </a:rPr>
                                  </m:ctrlPr>
                                </m:accPr>
                                <m:e>
                                  <m:r>
                                    <a:rPr lang="en-GB" sz="3200" b="0" i="1" smtClean="0">
                                      <a:latin typeface="Cambria Math" panose="02040503050406030204" pitchFamily="18" charset="0"/>
                                    </a:rPr>
                                    <m:t>𝑥</m:t>
                                  </m:r>
                                </m:e>
                              </m:acc>
                            </m:e>
                            <m:sub>
                              <m:r>
                                <a:rPr lang="en-GB" sz="3200" i="1">
                                  <a:latin typeface="Cambria Math" panose="02040503050406030204" pitchFamily="18" charset="0"/>
                                </a:rPr>
                                <m:t>2</m:t>
                              </m:r>
                            </m:sub>
                          </m:sSub>
                        </m:e>
                      </m:d>
                      <m:r>
                        <a:rPr lang="en-GB" sz="3200" b="0" i="1" smtClean="0">
                          <a:latin typeface="Cambria Math" panose="02040503050406030204" pitchFamily="18" charset="0"/>
                        </a:rPr>
                        <m:t>−</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𝑍</m:t>
                          </m:r>
                        </m:e>
                        <m:sub>
                          <m:f>
                            <m:fPr>
                              <m:ctrlPr>
                                <a:rPr lang="en-GB" sz="3200" b="0" i="1" smtClean="0">
                                  <a:latin typeface="Cambria Math" panose="02040503050406030204" pitchFamily="18" charset="0"/>
                                </a:rPr>
                              </m:ctrlPr>
                            </m:fPr>
                            <m:num>
                              <m:r>
                                <a:rPr lang="en-GB" sz="3200" b="0" i="1" smtClean="0">
                                  <a:latin typeface="Cambria Math" panose="02040503050406030204" pitchFamily="18" charset="0"/>
                                  <a:ea typeface="Cambria Math" panose="02040503050406030204" pitchFamily="18" charset="0"/>
                                </a:rPr>
                                <m:t>𝛼</m:t>
                              </m:r>
                            </m:num>
                            <m:den>
                              <m:r>
                                <a:rPr lang="en-GB" sz="3200" b="0" i="1" smtClean="0">
                                  <a:latin typeface="Cambria Math" panose="02040503050406030204" pitchFamily="18" charset="0"/>
                                </a:rPr>
                                <m:t>2</m:t>
                              </m:r>
                            </m:den>
                          </m:f>
                        </m:sub>
                      </m:sSub>
                      <m:r>
                        <a:rPr lang="en-GB" sz="3200" b="0" i="1" smtClean="0">
                          <a:latin typeface="Cambria Math" panose="02040503050406030204" pitchFamily="18" charset="0"/>
                        </a:rPr>
                        <m:t>∗</m:t>
                      </m:r>
                      <m:rad>
                        <m:radPr>
                          <m:degHide m:val="on"/>
                          <m:ctrlPr>
                            <a:rPr lang="en-GB" sz="3200" b="0" i="1" smtClean="0">
                              <a:latin typeface="Cambria Math" panose="02040503050406030204" pitchFamily="18" charset="0"/>
                            </a:rPr>
                          </m:ctrlPr>
                        </m:radPr>
                        <m:deg/>
                        <m:e>
                          <m:f>
                            <m:fPr>
                              <m:ctrlPr>
                                <a:rPr lang="en-GB" sz="3200" b="0" i="1" smtClean="0">
                                  <a:latin typeface="Cambria Math" panose="02040503050406030204" pitchFamily="18" charset="0"/>
                                </a:rPr>
                              </m:ctrlPr>
                            </m:fPr>
                            <m:num>
                              <m:sSubSup>
                                <m:sSubSupPr>
                                  <m:ctrlPr>
                                    <a:rPr lang="en-GB" sz="3200" b="0" i="1" smtClean="0">
                                      <a:latin typeface="Cambria Math" panose="02040503050406030204" pitchFamily="18" charset="0"/>
                                    </a:rPr>
                                  </m:ctrlPr>
                                </m:sSubSupPr>
                                <m:e>
                                  <m:r>
                                    <a:rPr lang="en-GB" sz="3200" b="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1</m:t>
                                  </m:r>
                                </m:sub>
                                <m:sup>
                                  <m:r>
                                    <a:rPr lang="en-GB" sz="3200" b="0" i="1" smtClean="0">
                                      <a:latin typeface="Cambria Math" panose="02040503050406030204" pitchFamily="18" charset="0"/>
                                    </a:rPr>
                                    <m:t>2</m:t>
                                  </m:r>
                                </m:sup>
                              </m:sSubSup>
                            </m:num>
                            <m:den>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𝑛</m:t>
                                  </m:r>
                                </m:e>
                                <m:sub>
                                  <m:r>
                                    <a:rPr lang="en-GB" sz="3200" b="0" i="1" smtClean="0">
                                      <a:latin typeface="Cambria Math" panose="02040503050406030204" pitchFamily="18" charset="0"/>
                                    </a:rPr>
                                    <m:t>1</m:t>
                                  </m:r>
                                </m:sub>
                              </m:sSub>
                            </m:den>
                          </m:f>
                          <m:r>
                            <a:rPr lang="en-GB" sz="3200" b="0" i="1" smtClean="0">
                              <a:latin typeface="Cambria Math" panose="02040503050406030204" pitchFamily="18" charset="0"/>
                            </a:rPr>
                            <m:t>+</m:t>
                          </m:r>
                          <m:f>
                            <m:fPr>
                              <m:ctrlPr>
                                <a:rPr lang="en-GB" sz="3200" b="0" i="1" smtClean="0">
                                  <a:latin typeface="Cambria Math" panose="02040503050406030204" pitchFamily="18" charset="0"/>
                                </a:rPr>
                              </m:ctrlPr>
                            </m:fPr>
                            <m:num>
                              <m:sSubSup>
                                <m:sSubSupPr>
                                  <m:ctrlPr>
                                    <a:rPr lang="en-GB" sz="3200" b="0" i="1" smtClean="0">
                                      <a:latin typeface="Cambria Math" panose="02040503050406030204" pitchFamily="18" charset="0"/>
                                    </a:rPr>
                                  </m:ctrlPr>
                                </m:sSubSupPr>
                                <m:e>
                                  <m:r>
                                    <a:rPr lang="en-GB" sz="3200" b="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2</m:t>
                                  </m:r>
                                </m:sub>
                                <m:sup>
                                  <m:r>
                                    <a:rPr lang="en-GB" sz="3200" b="0" i="1" smtClean="0">
                                      <a:latin typeface="Cambria Math" panose="02040503050406030204" pitchFamily="18" charset="0"/>
                                    </a:rPr>
                                    <m:t>2</m:t>
                                  </m:r>
                                </m:sup>
                              </m:sSubSup>
                            </m:num>
                            <m:den>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𝑛</m:t>
                                  </m:r>
                                </m:e>
                                <m:sub>
                                  <m:r>
                                    <a:rPr lang="en-GB" sz="3200" b="0" i="1" smtClean="0">
                                      <a:latin typeface="Cambria Math" panose="02040503050406030204" pitchFamily="18" charset="0"/>
                                    </a:rPr>
                                    <m:t>2</m:t>
                                  </m:r>
                                </m:sub>
                              </m:sSub>
                            </m:den>
                          </m:f>
                        </m:e>
                      </m:rad>
                      <m:r>
                        <a:rPr lang="en-GB" sz="3200" b="0" i="1" smtClean="0">
                          <a:latin typeface="Cambria Math" panose="02040503050406030204" pitchFamily="18" charset="0"/>
                          <a:ea typeface="Cambria Math" panose="02040503050406030204" pitchFamily="18" charset="0"/>
                        </a:rPr>
                        <m:t>&lt;</m:t>
                      </m:r>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𝜇</m:t>
                          </m:r>
                        </m:e>
                        <m:sub>
                          <m:r>
                            <a:rPr lang="en-GB" sz="3200" i="1">
                              <a:latin typeface="Cambria Math" panose="02040503050406030204" pitchFamily="18" charset="0"/>
                              <a:ea typeface="Cambria Math" panose="02040503050406030204" pitchFamily="18" charset="0"/>
                            </a:rPr>
                            <m:t>1</m:t>
                          </m:r>
                        </m:sub>
                      </m:sSub>
                      <m:r>
                        <a:rPr lang="en-GB" sz="3200" i="1">
                          <a:latin typeface="Cambria Math" panose="02040503050406030204" pitchFamily="18" charset="0"/>
                          <a:ea typeface="Cambria Math" panose="02040503050406030204" pitchFamily="18" charset="0"/>
                        </a:rPr>
                        <m:t>−</m:t>
                      </m:r>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𝜇</m:t>
                          </m:r>
                        </m:e>
                        <m:sub>
                          <m:r>
                            <a:rPr lang="en-GB" sz="3200" i="1">
                              <a:latin typeface="Cambria Math" panose="02040503050406030204" pitchFamily="18" charset="0"/>
                              <a:ea typeface="Cambria Math" panose="02040503050406030204" pitchFamily="18" charset="0"/>
                            </a:rPr>
                            <m:t>2</m:t>
                          </m:r>
                        </m:sub>
                      </m:sSub>
                      <m:r>
                        <a:rPr lang="en-GB" sz="3200" b="0" i="1" smtClean="0">
                          <a:latin typeface="Cambria Math" panose="02040503050406030204" pitchFamily="18" charset="0"/>
                          <a:ea typeface="Cambria Math" panose="02040503050406030204" pitchFamily="18" charset="0"/>
                        </a:rPr>
                        <m:t>&lt;</m:t>
                      </m:r>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acc>
                                <m:accPr>
                                  <m:chr m:val="̅"/>
                                  <m:ctrlPr>
                                    <a:rPr lang="en-GB" sz="3200" i="1">
                                      <a:latin typeface="Cambria Math" panose="02040503050406030204" pitchFamily="18" charset="0"/>
                                    </a:rPr>
                                  </m:ctrlPr>
                                </m:accPr>
                                <m:e>
                                  <m:r>
                                    <a:rPr lang="en-GB" sz="3200" b="0" i="1" smtClean="0">
                                      <a:latin typeface="Cambria Math" panose="02040503050406030204" pitchFamily="18" charset="0"/>
                                    </a:rPr>
                                    <m:t>𝑥</m:t>
                                  </m:r>
                                </m:e>
                              </m:acc>
                            </m:e>
                            <m:sub>
                              <m:r>
                                <a:rPr lang="en-GB" sz="3200" i="1">
                                  <a:latin typeface="Cambria Math" panose="02040503050406030204" pitchFamily="18" charset="0"/>
                                </a:rPr>
                                <m:t>1</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acc>
                                <m:accPr>
                                  <m:chr m:val="̅"/>
                                  <m:ctrlPr>
                                    <a:rPr lang="en-GB" sz="3200" i="1">
                                      <a:latin typeface="Cambria Math" panose="02040503050406030204" pitchFamily="18" charset="0"/>
                                    </a:rPr>
                                  </m:ctrlPr>
                                </m:accPr>
                                <m:e>
                                  <m:r>
                                    <a:rPr lang="en-GB" sz="3200" b="0" i="1" smtClean="0">
                                      <a:latin typeface="Cambria Math" panose="02040503050406030204" pitchFamily="18" charset="0"/>
                                    </a:rPr>
                                    <m:t>𝑥</m:t>
                                  </m:r>
                                </m:e>
                              </m:acc>
                            </m:e>
                            <m:sub>
                              <m:r>
                                <a:rPr lang="en-GB" sz="3200" i="1">
                                  <a:latin typeface="Cambria Math" panose="02040503050406030204" pitchFamily="18" charset="0"/>
                                </a:rPr>
                                <m:t>2</m:t>
                              </m:r>
                            </m:sub>
                          </m:sSub>
                        </m:e>
                      </m:d>
                      <m:r>
                        <a:rPr lang="en-GB" sz="3200" b="0" i="1" smtClean="0">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f>
                            <m:fPr>
                              <m:ctrlPr>
                                <a:rPr lang="en-GB" sz="3200" i="1">
                                  <a:latin typeface="Cambria Math" panose="02040503050406030204" pitchFamily="18" charset="0"/>
                                </a:rPr>
                              </m:ctrlPr>
                            </m:fPr>
                            <m:num>
                              <m:r>
                                <a:rPr lang="en-GB" sz="3200" i="1">
                                  <a:latin typeface="Cambria Math" panose="02040503050406030204" pitchFamily="18" charset="0"/>
                                  <a:ea typeface="Cambria Math" panose="02040503050406030204" pitchFamily="18" charset="0"/>
                                </a:rPr>
                                <m:t>𝛼</m:t>
                              </m:r>
                            </m:num>
                            <m:den>
                              <m:r>
                                <a:rPr lang="en-GB" sz="3200" i="1">
                                  <a:latin typeface="Cambria Math" panose="02040503050406030204" pitchFamily="18" charset="0"/>
                                </a:rPr>
                                <m:t>2</m:t>
                              </m:r>
                            </m:den>
                          </m:f>
                        </m:sub>
                      </m:sSub>
                      <m:r>
                        <a:rPr lang="en-GB" sz="3200" i="1">
                          <a:latin typeface="Cambria Math" panose="02040503050406030204" pitchFamily="18" charset="0"/>
                        </a:rPr>
                        <m:t>∗</m:t>
                      </m:r>
                      <m:rad>
                        <m:radPr>
                          <m:degHide m:val="on"/>
                          <m:ctrlPr>
                            <a:rPr lang="en-GB" sz="3200" i="1">
                              <a:latin typeface="Cambria Math" panose="02040503050406030204" pitchFamily="18" charset="0"/>
                            </a:rPr>
                          </m:ctrlPr>
                        </m:radPr>
                        <m:deg/>
                        <m:e>
                          <m:f>
                            <m:fPr>
                              <m:ctrlPr>
                                <a:rPr lang="en-GB" sz="3200" i="1">
                                  <a:latin typeface="Cambria Math" panose="02040503050406030204" pitchFamily="18" charset="0"/>
                                </a:rPr>
                              </m:ctrlPr>
                            </m:fPr>
                            <m:num>
                              <m:sSubSup>
                                <m:sSubSupPr>
                                  <m:ctrlPr>
                                    <a:rPr lang="en-GB" sz="3200" i="1">
                                      <a:latin typeface="Cambria Math" panose="02040503050406030204" pitchFamily="18" charset="0"/>
                                    </a:rPr>
                                  </m:ctrlPr>
                                </m:sSubSupPr>
                                <m:e>
                                  <m:r>
                                    <a:rPr lang="en-GB" sz="3200" i="1">
                                      <a:latin typeface="Cambria Math" panose="02040503050406030204" pitchFamily="18" charset="0"/>
                                      <a:ea typeface="Cambria Math" panose="02040503050406030204" pitchFamily="18" charset="0"/>
                                    </a:rPr>
                                    <m:t>𝜎</m:t>
                                  </m:r>
                                </m:e>
                                <m:sub>
                                  <m:r>
                                    <a:rPr lang="en-GB" sz="3200" i="1">
                                      <a:latin typeface="Cambria Math" panose="02040503050406030204" pitchFamily="18" charset="0"/>
                                    </a:rPr>
                                    <m:t>1</m:t>
                                  </m:r>
                                </m:sub>
                                <m:sup>
                                  <m:r>
                                    <a:rPr lang="en-GB" sz="3200" i="1">
                                      <a:latin typeface="Cambria Math" panose="02040503050406030204" pitchFamily="18" charset="0"/>
                                    </a:rPr>
                                    <m:t>2</m:t>
                                  </m:r>
                                </m:sup>
                              </m:sSubSup>
                            </m:num>
                            <m:den>
                              <m:sSub>
                                <m:sSubPr>
                                  <m:ctrlPr>
                                    <a:rPr lang="en-GB" sz="3200" i="1">
                                      <a:latin typeface="Cambria Math" panose="02040503050406030204" pitchFamily="18" charset="0"/>
                                    </a:rPr>
                                  </m:ctrlPr>
                                </m:sSubPr>
                                <m:e>
                                  <m:r>
                                    <a:rPr lang="en-GB" sz="3200" i="1">
                                      <a:latin typeface="Cambria Math" panose="02040503050406030204" pitchFamily="18" charset="0"/>
                                    </a:rPr>
                                    <m:t>𝑛</m:t>
                                  </m:r>
                                </m:e>
                                <m:sub>
                                  <m:r>
                                    <a:rPr lang="en-GB" sz="3200" i="1">
                                      <a:latin typeface="Cambria Math" panose="02040503050406030204" pitchFamily="18" charset="0"/>
                                    </a:rPr>
                                    <m:t>1</m:t>
                                  </m:r>
                                </m:sub>
                              </m:sSub>
                            </m:den>
                          </m:f>
                          <m:r>
                            <a:rPr lang="en-GB" sz="3200" i="1">
                              <a:latin typeface="Cambria Math" panose="02040503050406030204" pitchFamily="18" charset="0"/>
                            </a:rPr>
                            <m:t>+</m:t>
                          </m:r>
                          <m:f>
                            <m:fPr>
                              <m:ctrlPr>
                                <a:rPr lang="en-GB" sz="3200" i="1">
                                  <a:latin typeface="Cambria Math" panose="02040503050406030204" pitchFamily="18" charset="0"/>
                                </a:rPr>
                              </m:ctrlPr>
                            </m:fPr>
                            <m:num>
                              <m:sSubSup>
                                <m:sSubSupPr>
                                  <m:ctrlPr>
                                    <a:rPr lang="en-GB" sz="3200" i="1">
                                      <a:latin typeface="Cambria Math" panose="02040503050406030204" pitchFamily="18" charset="0"/>
                                    </a:rPr>
                                  </m:ctrlPr>
                                </m:sSubSupPr>
                                <m:e>
                                  <m:r>
                                    <a:rPr lang="en-GB" sz="3200" i="1">
                                      <a:latin typeface="Cambria Math" panose="02040503050406030204" pitchFamily="18" charset="0"/>
                                      <a:ea typeface="Cambria Math" panose="02040503050406030204" pitchFamily="18" charset="0"/>
                                    </a:rPr>
                                    <m:t>𝜎</m:t>
                                  </m:r>
                                </m:e>
                                <m:sub>
                                  <m:r>
                                    <a:rPr lang="en-GB" sz="3200" i="1">
                                      <a:latin typeface="Cambria Math" panose="02040503050406030204" pitchFamily="18" charset="0"/>
                                    </a:rPr>
                                    <m:t>2</m:t>
                                  </m:r>
                                </m:sub>
                                <m:sup>
                                  <m:r>
                                    <a:rPr lang="en-GB" sz="3200" i="1">
                                      <a:latin typeface="Cambria Math" panose="02040503050406030204" pitchFamily="18" charset="0"/>
                                    </a:rPr>
                                    <m:t>2</m:t>
                                  </m:r>
                                </m:sup>
                              </m:sSubSup>
                            </m:num>
                            <m:den>
                              <m:sSub>
                                <m:sSubPr>
                                  <m:ctrlPr>
                                    <a:rPr lang="en-GB" sz="3200" i="1">
                                      <a:latin typeface="Cambria Math" panose="02040503050406030204" pitchFamily="18" charset="0"/>
                                    </a:rPr>
                                  </m:ctrlPr>
                                </m:sSubPr>
                                <m:e>
                                  <m:r>
                                    <a:rPr lang="en-GB" sz="3200" i="1">
                                      <a:latin typeface="Cambria Math" panose="02040503050406030204" pitchFamily="18" charset="0"/>
                                    </a:rPr>
                                    <m:t>𝑛</m:t>
                                  </m:r>
                                </m:e>
                                <m:sub>
                                  <m:r>
                                    <a:rPr lang="en-GB" sz="3200" i="1">
                                      <a:latin typeface="Cambria Math" panose="02040503050406030204" pitchFamily="18" charset="0"/>
                                    </a:rPr>
                                    <m:t>2</m:t>
                                  </m:r>
                                </m:sub>
                              </m:sSub>
                            </m:den>
                          </m:f>
                        </m:e>
                      </m:rad>
                    </m:oMath>
                  </m:oMathPara>
                </a14:m>
                <a:endParaRPr lang="en-GB" sz="3200" dirty="0"/>
              </a:p>
              <a:p>
                <a:r>
                  <a:rPr lang="en-GB" dirty="0"/>
                  <a:t>(</a:t>
                </a:r>
                <a14:m>
                  <m:oMath xmlns:m="http://schemas.openxmlformats.org/officeDocument/2006/math">
                    <m:r>
                      <a:rPr lang="en-GB" i="1">
                        <a:latin typeface="Cambria Math" panose="02040503050406030204" pitchFamily="18" charset="0"/>
                      </a:rPr>
                      <m:t>1−</m:t>
                    </m:r>
                    <m:r>
                      <a:rPr lang="en-GB" i="1">
                        <a:latin typeface="Cambria Math" panose="02040503050406030204" pitchFamily="18" charset="0"/>
                        <a:ea typeface="Cambria Math" panose="02040503050406030204" pitchFamily="18" charset="0"/>
                      </a:rPr>
                      <m:t>𝛼</m:t>
                    </m:r>
                  </m:oMath>
                </a14:m>
                <a:r>
                  <a:rPr lang="en-GB" dirty="0"/>
                  <a:t>)100% C.I limits for difference between Population Means(when</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2</m:t>
                        </m:r>
                      </m:sub>
                    </m:sSub>
                  </m:oMath>
                </a14:m>
                <a:r>
                  <a:rPr lang="en-GB" dirty="0"/>
                  <a:t> are un-known , large-sample size)</a:t>
                </a:r>
              </a:p>
              <a:p>
                <a:pPr marL="0" indent="0">
                  <a:buNone/>
                </a:pPr>
                <a14:m>
                  <m:oMathPara xmlns:m="http://schemas.openxmlformats.org/officeDocument/2006/math">
                    <m:oMathParaPr>
                      <m:jc m:val="centerGroup"/>
                    </m:oMathParaPr>
                    <m:oMath xmlns:m="http://schemas.openxmlformats.org/officeDocument/2006/math">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acc>
                                <m:accPr>
                                  <m:chr m:val="̅"/>
                                  <m:ctrlPr>
                                    <a:rPr lang="en-GB" sz="3200" i="1">
                                      <a:latin typeface="Cambria Math" panose="02040503050406030204" pitchFamily="18" charset="0"/>
                                    </a:rPr>
                                  </m:ctrlPr>
                                </m:accPr>
                                <m:e>
                                  <m:r>
                                    <a:rPr lang="en-GB" sz="3200" i="1">
                                      <a:latin typeface="Cambria Math" panose="02040503050406030204" pitchFamily="18" charset="0"/>
                                    </a:rPr>
                                    <m:t>𝑥</m:t>
                                  </m:r>
                                </m:e>
                              </m:acc>
                            </m:e>
                            <m:sub>
                              <m:r>
                                <a:rPr lang="en-GB" sz="3200" i="1">
                                  <a:latin typeface="Cambria Math" panose="02040503050406030204" pitchFamily="18" charset="0"/>
                                </a:rPr>
                                <m:t>1</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acc>
                                <m:accPr>
                                  <m:chr m:val="̅"/>
                                  <m:ctrlPr>
                                    <a:rPr lang="en-GB" sz="3200" i="1">
                                      <a:latin typeface="Cambria Math" panose="02040503050406030204" pitchFamily="18" charset="0"/>
                                    </a:rPr>
                                  </m:ctrlPr>
                                </m:accPr>
                                <m:e>
                                  <m:r>
                                    <a:rPr lang="en-GB" sz="3200" i="1">
                                      <a:latin typeface="Cambria Math" panose="02040503050406030204" pitchFamily="18" charset="0"/>
                                    </a:rPr>
                                    <m:t>𝑥</m:t>
                                  </m:r>
                                </m:e>
                              </m:acc>
                            </m:e>
                            <m:sub>
                              <m:r>
                                <a:rPr lang="en-GB" sz="3200" i="1">
                                  <a:latin typeface="Cambria Math" panose="02040503050406030204" pitchFamily="18" charset="0"/>
                                </a:rPr>
                                <m:t>2</m:t>
                              </m:r>
                            </m:sub>
                          </m:sSub>
                        </m:e>
                      </m:d>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f>
                            <m:fPr>
                              <m:ctrlPr>
                                <a:rPr lang="en-GB" sz="3200" i="1">
                                  <a:latin typeface="Cambria Math" panose="02040503050406030204" pitchFamily="18" charset="0"/>
                                </a:rPr>
                              </m:ctrlPr>
                            </m:fPr>
                            <m:num>
                              <m:r>
                                <a:rPr lang="en-GB" sz="3200" i="1">
                                  <a:latin typeface="Cambria Math" panose="02040503050406030204" pitchFamily="18" charset="0"/>
                                  <a:ea typeface="Cambria Math" panose="02040503050406030204" pitchFamily="18" charset="0"/>
                                </a:rPr>
                                <m:t>𝛼</m:t>
                              </m:r>
                            </m:num>
                            <m:den>
                              <m:r>
                                <a:rPr lang="en-GB" sz="3200" i="1">
                                  <a:latin typeface="Cambria Math" panose="02040503050406030204" pitchFamily="18" charset="0"/>
                                </a:rPr>
                                <m:t>2</m:t>
                              </m:r>
                            </m:den>
                          </m:f>
                        </m:sub>
                      </m:sSub>
                      <m:r>
                        <a:rPr lang="en-GB" sz="3200" i="1">
                          <a:latin typeface="Cambria Math" panose="02040503050406030204" pitchFamily="18" charset="0"/>
                        </a:rPr>
                        <m:t>∗</m:t>
                      </m:r>
                      <m:rad>
                        <m:radPr>
                          <m:degHide m:val="on"/>
                          <m:ctrlPr>
                            <a:rPr lang="en-GB" sz="3200" i="1">
                              <a:latin typeface="Cambria Math" panose="02040503050406030204" pitchFamily="18" charset="0"/>
                            </a:rPr>
                          </m:ctrlPr>
                        </m:radPr>
                        <m:deg/>
                        <m:e>
                          <m:f>
                            <m:fPr>
                              <m:ctrlPr>
                                <a:rPr lang="en-GB" sz="3200" i="1">
                                  <a:latin typeface="Cambria Math" panose="02040503050406030204" pitchFamily="18" charset="0"/>
                                </a:rPr>
                              </m:ctrlPr>
                            </m:fPr>
                            <m:num>
                              <m:sSubSup>
                                <m:sSubSupPr>
                                  <m:ctrlPr>
                                    <a:rPr lang="en-GB" sz="3200" i="1" smtClean="0">
                                      <a:latin typeface="Cambria Math" panose="02040503050406030204" pitchFamily="18" charset="0"/>
                                    </a:rPr>
                                  </m:ctrlPr>
                                </m:sSubSupPr>
                                <m:e>
                                  <m:r>
                                    <a:rPr lang="en-GB" sz="3200" b="0" i="1" smtClean="0">
                                      <a:latin typeface="Cambria Math" panose="02040503050406030204" pitchFamily="18" charset="0"/>
                                      <a:ea typeface="Cambria Math" panose="02040503050406030204" pitchFamily="18" charset="0"/>
                                    </a:rPr>
                                    <m:t>𝑠</m:t>
                                  </m:r>
                                </m:e>
                                <m:sub>
                                  <m:r>
                                    <a:rPr lang="en-GB" sz="3200" i="1">
                                      <a:latin typeface="Cambria Math" panose="02040503050406030204" pitchFamily="18" charset="0"/>
                                    </a:rPr>
                                    <m:t>1</m:t>
                                  </m:r>
                                </m:sub>
                                <m:sup>
                                  <m:r>
                                    <a:rPr lang="en-GB" sz="3200" i="1">
                                      <a:latin typeface="Cambria Math" panose="02040503050406030204" pitchFamily="18" charset="0"/>
                                    </a:rPr>
                                    <m:t>2</m:t>
                                  </m:r>
                                </m:sup>
                              </m:sSubSup>
                            </m:num>
                            <m:den>
                              <m:sSub>
                                <m:sSubPr>
                                  <m:ctrlPr>
                                    <a:rPr lang="en-GB" sz="3200" i="1">
                                      <a:latin typeface="Cambria Math" panose="02040503050406030204" pitchFamily="18" charset="0"/>
                                    </a:rPr>
                                  </m:ctrlPr>
                                </m:sSubPr>
                                <m:e>
                                  <m:r>
                                    <a:rPr lang="en-GB" sz="3200" i="1">
                                      <a:latin typeface="Cambria Math" panose="02040503050406030204" pitchFamily="18" charset="0"/>
                                    </a:rPr>
                                    <m:t>𝑛</m:t>
                                  </m:r>
                                </m:e>
                                <m:sub>
                                  <m:r>
                                    <a:rPr lang="en-GB" sz="3200" i="1">
                                      <a:latin typeface="Cambria Math" panose="02040503050406030204" pitchFamily="18" charset="0"/>
                                    </a:rPr>
                                    <m:t>1</m:t>
                                  </m:r>
                                </m:sub>
                              </m:sSub>
                            </m:den>
                          </m:f>
                          <m:r>
                            <a:rPr lang="en-GB" sz="3200" i="1">
                              <a:latin typeface="Cambria Math" panose="02040503050406030204" pitchFamily="18" charset="0"/>
                            </a:rPr>
                            <m:t>+</m:t>
                          </m:r>
                          <m:f>
                            <m:fPr>
                              <m:ctrlPr>
                                <a:rPr lang="en-GB" sz="3200" i="1">
                                  <a:latin typeface="Cambria Math" panose="02040503050406030204" pitchFamily="18" charset="0"/>
                                </a:rPr>
                              </m:ctrlPr>
                            </m:fPr>
                            <m:num>
                              <m:sSubSup>
                                <m:sSubSupPr>
                                  <m:ctrlPr>
                                    <a:rPr lang="en-GB" sz="3200" i="1">
                                      <a:latin typeface="Cambria Math" panose="02040503050406030204" pitchFamily="18" charset="0"/>
                                    </a:rPr>
                                  </m:ctrlPr>
                                </m:sSubSupPr>
                                <m:e>
                                  <m:r>
                                    <a:rPr lang="en-GB" sz="3200" b="0" i="1" smtClean="0">
                                      <a:latin typeface="Cambria Math" panose="02040503050406030204" pitchFamily="18" charset="0"/>
                                    </a:rPr>
                                    <m:t>𝑠</m:t>
                                  </m:r>
                                </m:e>
                                <m:sub>
                                  <m:r>
                                    <a:rPr lang="en-GB" sz="3200" i="1">
                                      <a:latin typeface="Cambria Math" panose="02040503050406030204" pitchFamily="18" charset="0"/>
                                    </a:rPr>
                                    <m:t>2</m:t>
                                  </m:r>
                                </m:sub>
                                <m:sup>
                                  <m:r>
                                    <a:rPr lang="en-GB" sz="3200" i="1">
                                      <a:latin typeface="Cambria Math" panose="02040503050406030204" pitchFamily="18" charset="0"/>
                                    </a:rPr>
                                    <m:t>2</m:t>
                                  </m:r>
                                </m:sup>
                              </m:sSubSup>
                            </m:num>
                            <m:den>
                              <m:sSub>
                                <m:sSubPr>
                                  <m:ctrlPr>
                                    <a:rPr lang="en-GB" sz="3200" i="1">
                                      <a:latin typeface="Cambria Math" panose="02040503050406030204" pitchFamily="18" charset="0"/>
                                    </a:rPr>
                                  </m:ctrlPr>
                                </m:sSubPr>
                                <m:e>
                                  <m:r>
                                    <a:rPr lang="en-GB" sz="3200" i="1">
                                      <a:latin typeface="Cambria Math" panose="02040503050406030204" pitchFamily="18" charset="0"/>
                                    </a:rPr>
                                    <m:t>𝑛</m:t>
                                  </m:r>
                                </m:e>
                                <m:sub>
                                  <m:r>
                                    <a:rPr lang="en-GB" sz="3200" i="1">
                                      <a:latin typeface="Cambria Math" panose="02040503050406030204" pitchFamily="18" charset="0"/>
                                    </a:rPr>
                                    <m:t>2</m:t>
                                  </m:r>
                                </m:sub>
                              </m:sSub>
                            </m:den>
                          </m:f>
                        </m:e>
                      </m:rad>
                      <m:r>
                        <a:rPr lang="en-GB" sz="3200" i="1">
                          <a:latin typeface="Cambria Math" panose="02040503050406030204" pitchFamily="18" charset="0"/>
                          <a:ea typeface="Cambria Math" panose="02040503050406030204" pitchFamily="18" charset="0"/>
                        </a:rPr>
                        <m:t>&lt;</m:t>
                      </m:r>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𝜇</m:t>
                          </m:r>
                        </m:e>
                        <m:sub>
                          <m:r>
                            <a:rPr lang="en-GB" sz="3200" i="1">
                              <a:latin typeface="Cambria Math" panose="02040503050406030204" pitchFamily="18" charset="0"/>
                              <a:ea typeface="Cambria Math" panose="02040503050406030204" pitchFamily="18" charset="0"/>
                            </a:rPr>
                            <m:t>1</m:t>
                          </m:r>
                        </m:sub>
                      </m:sSub>
                      <m:r>
                        <a:rPr lang="en-GB" sz="3200" i="1">
                          <a:latin typeface="Cambria Math" panose="02040503050406030204" pitchFamily="18" charset="0"/>
                          <a:ea typeface="Cambria Math" panose="02040503050406030204" pitchFamily="18" charset="0"/>
                        </a:rPr>
                        <m:t>−</m:t>
                      </m:r>
                      <m:sSub>
                        <m:sSubPr>
                          <m:ctrlPr>
                            <a:rPr lang="en-GB" sz="3200" i="1">
                              <a:latin typeface="Cambria Math" panose="02040503050406030204" pitchFamily="18" charset="0"/>
                              <a:ea typeface="Cambria Math" panose="02040503050406030204" pitchFamily="18" charset="0"/>
                            </a:rPr>
                          </m:ctrlPr>
                        </m:sSubPr>
                        <m:e>
                          <m:r>
                            <a:rPr lang="en-GB" sz="3200" i="1">
                              <a:latin typeface="Cambria Math" panose="02040503050406030204" pitchFamily="18" charset="0"/>
                              <a:ea typeface="Cambria Math" panose="02040503050406030204" pitchFamily="18" charset="0"/>
                            </a:rPr>
                            <m:t>𝜇</m:t>
                          </m:r>
                        </m:e>
                        <m:sub>
                          <m:r>
                            <a:rPr lang="en-GB" sz="3200" i="1">
                              <a:latin typeface="Cambria Math" panose="02040503050406030204" pitchFamily="18" charset="0"/>
                              <a:ea typeface="Cambria Math" panose="02040503050406030204" pitchFamily="18" charset="0"/>
                            </a:rPr>
                            <m:t>2</m:t>
                          </m:r>
                        </m:sub>
                      </m:sSub>
                      <m:r>
                        <a:rPr lang="en-GB" sz="3200" i="1">
                          <a:latin typeface="Cambria Math" panose="02040503050406030204" pitchFamily="18" charset="0"/>
                          <a:ea typeface="Cambria Math" panose="02040503050406030204" pitchFamily="18" charset="0"/>
                        </a:rPr>
                        <m:t>&lt;</m:t>
                      </m:r>
                      <m:d>
                        <m:dPr>
                          <m:ctrlPr>
                            <a:rPr lang="en-GB" sz="3200" i="1">
                              <a:latin typeface="Cambria Math" panose="02040503050406030204" pitchFamily="18" charset="0"/>
                            </a:rPr>
                          </m:ctrlPr>
                        </m:dPr>
                        <m:e>
                          <m:sSub>
                            <m:sSubPr>
                              <m:ctrlPr>
                                <a:rPr lang="en-GB" sz="3200" i="1">
                                  <a:latin typeface="Cambria Math" panose="02040503050406030204" pitchFamily="18" charset="0"/>
                                </a:rPr>
                              </m:ctrlPr>
                            </m:sSubPr>
                            <m:e>
                              <m:acc>
                                <m:accPr>
                                  <m:chr m:val="̅"/>
                                  <m:ctrlPr>
                                    <a:rPr lang="en-GB" sz="3200" i="1">
                                      <a:latin typeface="Cambria Math" panose="02040503050406030204" pitchFamily="18" charset="0"/>
                                    </a:rPr>
                                  </m:ctrlPr>
                                </m:accPr>
                                <m:e>
                                  <m:r>
                                    <a:rPr lang="en-GB" sz="3200" i="1">
                                      <a:latin typeface="Cambria Math" panose="02040503050406030204" pitchFamily="18" charset="0"/>
                                    </a:rPr>
                                    <m:t>𝑥</m:t>
                                  </m:r>
                                </m:e>
                              </m:acc>
                            </m:e>
                            <m:sub>
                              <m:r>
                                <a:rPr lang="en-GB" sz="3200" i="1">
                                  <a:latin typeface="Cambria Math" panose="02040503050406030204" pitchFamily="18" charset="0"/>
                                </a:rPr>
                                <m:t>1</m:t>
                              </m:r>
                            </m:sub>
                          </m:sSub>
                          <m:r>
                            <a:rPr lang="en-GB" sz="3200" i="1">
                              <a:latin typeface="Cambria Math" panose="02040503050406030204" pitchFamily="18" charset="0"/>
                            </a:rPr>
                            <m:t>−</m:t>
                          </m:r>
                          <m:sSub>
                            <m:sSubPr>
                              <m:ctrlPr>
                                <a:rPr lang="en-GB" sz="3200" i="1">
                                  <a:latin typeface="Cambria Math" panose="02040503050406030204" pitchFamily="18" charset="0"/>
                                </a:rPr>
                              </m:ctrlPr>
                            </m:sSubPr>
                            <m:e>
                              <m:acc>
                                <m:accPr>
                                  <m:chr m:val="̅"/>
                                  <m:ctrlPr>
                                    <a:rPr lang="en-GB" sz="3200" i="1">
                                      <a:latin typeface="Cambria Math" panose="02040503050406030204" pitchFamily="18" charset="0"/>
                                    </a:rPr>
                                  </m:ctrlPr>
                                </m:accPr>
                                <m:e>
                                  <m:r>
                                    <a:rPr lang="en-GB" sz="3200" i="1">
                                      <a:latin typeface="Cambria Math" panose="02040503050406030204" pitchFamily="18" charset="0"/>
                                    </a:rPr>
                                    <m:t>𝑥</m:t>
                                  </m:r>
                                </m:e>
                              </m:acc>
                            </m:e>
                            <m:sub>
                              <m:r>
                                <a:rPr lang="en-GB" sz="3200" i="1">
                                  <a:latin typeface="Cambria Math" panose="02040503050406030204" pitchFamily="18" charset="0"/>
                                </a:rPr>
                                <m:t>2</m:t>
                              </m:r>
                            </m:sub>
                          </m:sSub>
                        </m:e>
                      </m:d>
                      <m:r>
                        <a:rPr lang="en-GB" sz="3200" i="1">
                          <a:latin typeface="Cambria Math" panose="02040503050406030204" pitchFamily="18" charset="0"/>
                        </a:rPr>
                        <m:t>+</m:t>
                      </m:r>
                      <m:sSub>
                        <m:sSubPr>
                          <m:ctrlPr>
                            <a:rPr lang="en-GB" sz="3200" i="1">
                              <a:latin typeface="Cambria Math" panose="02040503050406030204" pitchFamily="18" charset="0"/>
                            </a:rPr>
                          </m:ctrlPr>
                        </m:sSubPr>
                        <m:e>
                          <m:r>
                            <a:rPr lang="en-GB" sz="3200" i="1">
                              <a:latin typeface="Cambria Math" panose="02040503050406030204" pitchFamily="18" charset="0"/>
                            </a:rPr>
                            <m:t>𝑍</m:t>
                          </m:r>
                        </m:e>
                        <m:sub>
                          <m:f>
                            <m:fPr>
                              <m:ctrlPr>
                                <a:rPr lang="en-GB" sz="3200" i="1">
                                  <a:latin typeface="Cambria Math" panose="02040503050406030204" pitchFamily="18" charset="0"/>
                                </a:rPr>
                              </m:ctrlPr>
                            </m:fPr>
                            <m:num>
                              <m:r>
                                <a:rPr lang="en-GB" sz="3200" i="1">
                                  <a:latin typeface="Cambria Math" panose="02040503050406030204" pitchFamily="18" charset="0"/>
                                  <a:ea typeface="Cambria Math" panose="02040503050406030204" pitchFamily="18" charset="0"/>
                                </a:rPr>
                                <m:t>𝛼</m:t>
                              </m:r>
                            </m:num>
                            <m:den>
                              <m:r>
                                <a:rPr lang="en-GB" sz="3200" i="1">
                                  <a:latin typeface="Cambria Math" panose="02040503050406030204" pitchFamily="18" charset="0"/>
                                </a:rPr>
                                <m:t>2</m:t>
                              </m:r>
                            </m:den>
                          </m:f>
                        </m:sub>
                      </m:sSub>
                      <m:r>
                        <a:rPr lang="en-GB" sz="3200" i="1">
                          <a:latin typeface="Cambria Math" panose="02040503050406030204" pitchFamily="18" charset="0"/>
                        </a:rPr>
                        <m:t>∗</m:t>
                      </m:r>
                      <m:rad>
                        <m:radPr>
                          <m:degHide m:val="on"/>
                          <m:ctrlPr>
                            <a:rPr lang="en-GB" sz="3200" i="1">
                              <a:latin typeface="Cambria Math" panose="02040503050406030204" pitchFamily="18" charset="0"/>
                            </a:rPr>
                          </m:ctrlPr>
                        </m:radPr>
                        <m:deg/>
                        <m:e>
                          <m:f>
                            <m:fPr>
                              <m:ctrlPr>
                                <a:rPr lang="en-GB" sz="3200" i="1">
                                  <a:latin typeface="Cambria Math" panose="02040503050406030204" pitchFamily="18" charset="0"/>
                                </a:rPr>
                              </m:ctrlPr>
                            </m:fPr>
                            <m:num>
                              <m:sSubSup>
                                <m:sSubSupPr>
                                  <m:ctrlPr>
                                    <a:rPr lang="en-GB" sz="3200" i="1">
                                      <a:latin typeface="Cambria Math" panose="02040503050406030204" pitchFamily="18" charset="0"/>
                                    </a:rPr>
                                  </m:ctrlPr>
                                </m:sSubSupPr>
                                <m:e>
                                  <m:r>
                                    <a:rPr lang="en-GB" sz="3200" b="0" i="1" smtClean="0">
                                      <a:latin typeface="Cambria Math" panose="02040503050406030204" pitchFamily="18" charset="0"/>
                                      <a:ea typeface="Cambria Math" panose="02040503050406030204" pitchFamily="18" charset="0"/>
                                    </a:rPr>
                                    <m:t>𝑠</m:t>
                                  </m:r>
                                </m:e>
                                <m:sub>
                                  <m:r>
                                    <a:rPr lang="en-GB" sz="3200" i="1">
                                      <a:latin typeface="Cambria Math" panose="02040503050406030204" pitchFamily="18" charset="0"/>
                                    </a:rPr>
                                    <m:t>1</m:t>
                                  </m:r>
                                </m:sub>
                                <m:sup>
                                  <m:r>
                                    <a:rPr lang="en-GB" sz="3200" i="1">
                                      <a:latin typeface="Cambria Math" panose="02040503050406030204" pitchFamily="18" charset="0"/>
                                    </a:rPr>
                                    <m:t>2</m:t>
                                  </m:r>
                                </m:sup>
                              </m:sSubSup>
                            </m:num>
                            <m:den>
                              <m:sSub>
                                <m:sSubPr>
                                  <m:ctrlPr>
                                    <a:rPr lang="en-GB" sz="3200" i="1">
                                      <a:latin typeface="Cambria Math" panose="02040503050406030204" pitchFamily="18" charset="0"/>
                                    </a:rPr>
                                  </m:ctrlPr>
                                </m:sSubPr>
                                <m:e>
                                  <m:r>
                                    <a:rPr lang="en-GB" sz="3200" i="1">
                                      <a:latin typeface="Cambria Math" panose="02040503050406030204" pitchFamily="18" charset="0"/>
                                    </a:rPr>
                                    <m:t>𝑛</m:t>
                                  </m:r>
                                </m:e>
                                <m:sub>
                                  <m:r>
                                    <a:rPr lang="en-GB" sz="3200" i="1">
                                      <a:latin typeface="Cambria Math" panose="02040503050406030204" pitchFamily="18" charset="0"/>
                                    </a:rPr>
                                    <m:t>1</m:t>
                                  </m:r>
                                </m:sub>
                              </m:sSub>
                            </m:den>
                          </m:f>
                          <m:r>
                            <a:rPr lang="en-GB" sz="3200" i="1">
                              <a:latin typeface="Cambria Math" panose="02040503050406030204" pitchFamily="18" charset="0"/>
                            </a:rPr>
                            <m:t>+</m:t>
                          </m:r>
                          <m:f>
                            <m:fPr>
                              <m:ctrlPr>
                                <a:rPr lang="en-GB" sz="3200" i="1">
                                  <a:latin typeface="Cambria Math" panose="02040503050406030204" pitchFamily="18" charset="0"/>
                                </a:rPr>
                              </m:ctrlPr>
                            </m:fPr>
                            <m:num>
                              <m:sSubSup>
                                <m:sSubSupPr>
                                  <m:ctrlPr>
                                    <a:rPr lang="en-GB" sz="3200" i="1">
                                      <a:latin typeface="Cambria Math" panose="02040503050406030204" pitchFamily="18" charset="0"/>
                                    </a:rPr>
                                  </m:ctrlPr>
                                </m:sSubSupPr>
                                <m:e>
                                  <m:r>
                                    <a:rPr lang="en-GB" sz="3200" b="0" i="1" smtClean="0">
                                      <a:latin typeface="Cambria Math" panose="02040503050406030204" pitchFamily="18" charset="0"/>
                                      <a:ea typeface="Cambria Math" panose="02040503050406030204" pitchFamily="18" charset="0"/>
                                    </a:rPr>
                                    <m:t>𝑠</m:t>
                                  </m:r>
                                </m:e>
                                <m:sub>
                                  <m:r>
                                    <a:rPr lang="en-GB" sz="3200" i="1">
                                      <a:latin typeface="Cambria Math" panose="02040503050406030204" pitchFamily="18" charset="0"/>
                                    </a:rPr>
                                    <m:t>2</m:t>
                                  </m:r>
                                </m:sub>
                                <m:sup>
                                  <m:r>
                                    <a:rPr lang="en-GB" sz="3200" i="1">
                                      <a:latin typeface="Cambria Math" panose="02040503050406030204" pitchFamily="18" charset="0"/>
                                    </a:rPr>
                                    <m:t>2</m:t>
                                  </m:r>
                                </m:sup>
                              </m:sSubSup>
                            </m:num>
                            <m:den>
                              <m:sSub>
                                <m:sSubPr>
                                  <m:ctrlPr>
                                    <a:rPr lang="en-GB" sz="3200" i="1">
                                      <a:latin typeface="Cambria Math" panose="02040503050406030204" pitchFamily="18" charset="0"/>
                                    </a:rPr>
                                  </m:ctrlPr>
                                </m:sSubPr>
                                <m:e>
                                  <m:r>
                                    <a:rPr lang="en-GB" sz="3200" i="1">
                                      <a:latin typeface="Cambria Math" panose="02040503050406030204" pitchFamily="18" charset="0"/>
                                    </a:rPr>
                                    <m:t>𝑛</m:t>
                                  </m:r>
                                </m:e>
                                <m:sub>
                                  <m:r>
                                    <a:rPr lang="en-GB" sz="3200" i="1">
                                      <a:latin typeface="Cambria Math" panose="02040503050406030204" pitchFamily="18" charset="0"/>
                                    </a:rPr>
                                    <m:t>2</m:t>
                                  </m:r>
                                </m:sub>
                              </m:sSub>
                            </m:den>
                          </m:f>
                        </m:e>
                      </m:rad>
                    </m:oMath>
                  </m:oMathPara>
                </a14:m>
                <a:endParaRPr lang="en-GB" sz="3200" dirty="0"/>
              </a:p>
              <a:p>
                <a:pPr lvl="4"/>
                <a:endParaRPr lang="LID4096" dirty="0"/>
              </a:p>
            </p:txBody>
          </p:sp>
        </mc:Choice>
        <mc:Fallback>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391478"/>
                <a:ext cx="11834191" cy="4785485"/>
              </a:xfr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1894435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497496"/>
                <a:ext cx="11158329" cy="4679467"/>
              </a:xfrm>
            </p:spPr>
            <p:txBody>
              <a:bodyPr>
                <a:normAutofit/>
              </a:bodyPr>
              <a:lstStyle/>
              <a:p>
                <a:r>
                  <a:rPr lang="en-GB" dirty="0"/>
                  <a:t>(</a:t>
                </a:r>
                <a14:m>
                  <m:oMath xmlns:m="http://schemas.openxmlformats.org/officeDocument/2006/math">
                    <m:r>
                      <a:rPr lang="en-GB" i="1">
                        <a:latin typeface="Cambria Math" panose="02040503050406030204" pitchFamily="18" charset="0"/>
                      </a:rPr>
                      <m:t>1−</m:t>
                    </m:r>
                    <m:r>
                      <a:rPr lang="en-GB" i="1">
                        <a:latin typeface="Cambria Math" panose="02040503050406030204" pitchFamily="18" charset="0"/>
                        <a:ea typeface="Cambria Math" panose="02040503050406030204" pitchFamily="18" charset="0"/>
                      </a:rPr>
                      <m:t>𝛼</m:t>
                    </m:r>
                  </m:oMath>
                </a14:m>
                <a:r>
                  <a:rPr lang="en-GB" dirty="0"/>
                  <a:t>)100% C.I limits for difference between Population Means (dependent samples,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b="0" i="1" smtClean="0">
                            <a:latin typeface="Cambria Math" panose="02040503050406030204" pitchFamily="18" charset="0"/>
                          </a:rPr>
                          <m:t>2</m:t>
                        </m:r>
                      </m:sub>
                    </m:sSub>
                  </m:oMath>
                </a14:m>
                <a:r>
                  <a:rPr lang="en-GB" dirty="0"/>
                  <a:t> and un-known , small-sample size)</a:t>
                </a:r>
              </a:p>
              <a:p>
                <a:pPr marL="0" indent="0">
                  <a:buNone/>
                </a:pPr>
                <a14:m>
                  <m:oMathPara xmlns:m="http://schemas.openxmlformats.org/officeDocument/2006/math">
                    <m:oMathParaPr>
                      <m:jc m:val="centerGroup"/>
                    </m:oMathParaPr>
                    <m:oMath xmlns:m="http://schemas.openxmlformats.org/officeDocument/2006/math">
                      <m:d>
                        <m:dPr>
                          <m:ctrlPr>
                            <a:rPr lang="en-GB" sz="2800" i="1" smtClean="0">
                              <a:latin typeface="Cambria Math" panose="02040503050406030204" pitchFamily="18" charset="0"/>
                            </a:rPr>
                          </m:ctrlPr>
                        </m:dPr>
                        <m:e>
                          <m:sSub>
                            <m:sSubPr>
                              <m:ctrlPr>
                                <a:rPr lang="en-GB" sz="2800" i="1">
                                  <a:latin typeface="Cambria Math" panose="02040503050406030204" pitchFamily="18" charset="0"/>
                                </a:rPr>
                              </m:ctrlPr>
                            </m:sSubPr>
                            <m:e>
                              <m:acc>
                                <m:accPr>
                                  <m:chr m:val="̅"/>
                                  <m:ctrlPr>
                                    <a:rPr lang="en-GB" sz="2800" i="1">
                                      <a:latin typeface="Cambria Math" panose="02040503050406030204" pitchFamily="18" charset="0"/>
                                    </a:rPr>
                                  </m:ctrlPr>
                                </m:accPr>
                                <m:e>
                                  <m:r>
                                    <a:rPr lang="en-GB" sz="2800" b="0" i="1" smtClean="0">
                                      <a:latin typeface="Cambria Math" panose="02040503050406030204" pitchFamily="18" charset="0"/>
                                    </a:rPr>
                                    <m:t>𝑥</m:t>
                                  </m:r>
                                </m:e>
                              </m:acc>
                            </m:e>
                            <m:sub>
                              <m:r>
                                <a:rPr lang="en-GB" sz="2800" i="1">
                                  <a:latin typeface="Cambria Math" panose="02040503050406030204" pitchFamily="18" charset="0"/>
                                </a:rPr>
                                <m:t>1</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acc>
                                <m:accPr>
                                  <m:chr m:val="̅"/>
                                  <m:ctrlPr>
                                    <a:rPr lang="en-GB" sz="2800" i="1">
                                      <a:latin typeface="Cambria Math" panose="02040503050406030204" pitchFamily="18" charset="0"/>
                                    </a:rPr>
                                  </m:ctrlPr>
                                </m:accPr>
                                <m:e>
                                  <m:r>
                                    <a:rPr lang="en-GB" sz="2800" b="0" i="1" smtClean="0">
                                      <a:latin typeface="Cambria Math" panose="02040503050406030204" pitchFamily="18" charset="0"/>
                                    </a:rPr>
                                    <m:t>𝑥</m:t>
                                  </m:r>
                                </m:e>
                              </m:acc>
                            </m:e>
                            <m:sub>
                              <m:r>
                                <a:rPr lang="en-GB" sz="2800" i="1">
                                  <a:latin typeface="Cambria Math" panose="02040503050406030204" pitchFamily="18" charset="0"/>
                                </a:rPr>
                                <m:t>2</m:t>
                              </m:r>
                            </m:sub>
                          </m:sSub>
                        </m:e>
                      </m:d>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𝑡</m:t>
                          </m:r>
                        </m:e>
                        <m:sub>
                          <m:f>
                            <m:fPr>
                              <m:ctrlPr>
                                <a:rPr lang="en-GB" sz="2800" b="0" i="1" smtClean="0">
                                  <a:latin typeface="Cambria Math" panose="02040503050406030204" pitchFamily="18" charset="0"/>
                                </a:rPr>
                              </m:ctrlPr>
                            </m:fPr>
                            <m:num>
                              <m:r>
                                <a:rPr lang="en-GB" sz="2800" b="0" i="1" smtClean="0">
                                  <a:latin typeface="Cambria Math" panose="02040503050406030204" pitchFamily="18" charset="0"/>
                                  <a:ea typeface="Cambria Math" panose="02040503050406030204" pitchFamily="18" charset="0"/>
                                </a:rPr>
                                <m:t>𝛼</m:t>
                              </m:r>
                            </m:num>
                            <m:den>
                              <m:r>
                                <a:rPr lang="en-GB" sz="2800" b="0" i="1" smtClean="0">
                                  <a:latin typeface="Cambria Math" panose="02040503050406030204" pitchFamily="18" charset="0"/>
                                </a:rPr>
                                <m:t>2</m:t>
                              </m:r>
                            </m:den>
                          </m:f>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𝑠</m:t>
                          </m:r>
                        </m:e>
                        <m:sub>
                          <m:r>
                            <a:rPr lang="en-GB" sz="2800" b="0" i="1" smtClean="0">
                              <a:latin typeface="Cambria Math" panose="02040503050406030204" pitchFamily="18" charset="0"/>
                            </a:rPr>
                            <m:t>𝑝</m:t>
                          </m:r>
                        </m:sub>
                      </m:sSub>
                      <m:rad>
                        <m:radPr>
                          <m:degHide m:val="on"/>
                          <m:ctrlPr>
                            <a:rPr lang="en-GB" sz="2800" b="0" i="1" smtClean="0">
                              <a:latin typeface="Cambria Math" panose="02040503050406030204" pitchFamily="18" charset="0"/>
                            </a:rPr>
                          </m:ctrlPr>
                        </m:radPr>
                        <m:deg/>
                        <m:e>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1</m:t>
                              </m:r>
                            </m:num>
                            <m:den>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𝑛</m:t>
                                  </m:r>
                                </m:e>
                                <m:sub>
                                  <m:r>
                                    <a:rPr lang="en-GB" sz="2800" b="0" i="1" smtClean="0">
                                      <a:latin typeface="Cambria Math" panose="02040503050406030204" pitchFamily="18" charset="0"/>
                                    </a:rPr>
                                    <m:t>1</m:t>
                                  </m:r>
                                </m:sub>
                              </m:sSub>
                            </m:den>
                          </m:f>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r>
                                <a:rPr lang="en-GB" sz="2800" b="0" i="1" smtClean="0">
                                  <a:latin typeface="Cambria Math" panose="02040503050406030204" pitchFamily="18" charset="0"/>
                                </a:rPr>
                                <m:t>1</m:t>
                              </m:r>
                            </m:num>
                            <m:den>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𝑛</m:t>
                                  </m:r>
                                </m:e>
                                <m:sub>
                                  <m:r>
                                    <a:rPr lang="en-GB" sz="2800" b="0" i="1" smtClean="0">
                                      <a:latin typeface="Cambria Math" panose="02040503050406030204" pitchFamily="18" charset="0"/>
                                    </a:rPr>
                                    <m:t>2</m:t>
                                  </m:r>
                                </m:sub>
                              </m:sSub>
                            </m:den>
                          </m:f>
                        </m:e>
                      </m:rad>
                      <m:r>
                        <a:rPr lang="en-GB" sz="2800" b="0" i="1" smtClean="0">
                          <a:latin typeface="Cambria Math" panose="02040503050406030204" pitchFamily="18" charset="0"/>
                          <a:ea typeface="Cambria Math" panose="02040503050406030204" pitchFamily="18" charset="0"/>
                        </a:rPr>
                        <m:t>&lt;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ea typeface="Cambria Math" panose="02040503050406030204" pitchFamily="18" charset="0"/>
                            </a:rPr>
                            <m:t>2</m:t>
                          </m:r>
                        </m:sub>
                      </m:sSub>
                      <m:r>
                        <a:rPr lang="en-GB" sz="2800" b="0" i="1" smtClean="0">
                          <a:latin typeface="Cambria Math" panose="02040503050406030204" pitchFamily="18" charset="0"/>
                          <a:ea typeface="Cambria Math" panose="02040503050406030204" pitchFamily="18" charset="0"/>
                        </a:rPr>
                        <m:t>&lt;</m:t>
                      </m:r>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acc>
                                <m:accPr>
                                  <m:chr m:val="̅"/>
                                  <m:ctrlPr>
                                    <a:rPr lang="en-GB" sz="2800" i="1">
                                      <a:latin typeface="Cambria Math" panose="02040503050406030204" pitchFamily="18" charset="0"/>
                                    </a:rPr>
                                  </m:ctrlPr>
                                </m:accPr>
                                <m:e>
                                  <m:r>
                                    <a:rPr lang="en-GB" sz="2800" b="0" i="1" smtClean="0">
                                      <a:latin typeface="Cambria Math" panose="02040503050406030204" pitchFamily="18" charset="0"/>
                                    </a:rPr>
                                    <m:t>𝑥</m:t>
                                  </m:r>
                                </m:e>
                              </m:acc>
                            </m:e>
                            <m:sub>
                              <m:r>
                                <a:rPr lang="en-GB" sz="2800" i="1">
                                  <a:latin typeface="Cambria Math" panose="02040503050406030204" pitchFamily="18" charset="0"/>
                                </a:rPr>
                                <m:t>1</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acc>
                                <m:accPr>
                                  <m:chr m:val="̅"/>
                                  <m:ctrlPr>
                                    <a:rPr lang="en-GB" sz="2800" i="1">
                                      <a:latin typeface="Cambria Math" panose="02040503050406030204" pitchFamily="18" charset="0"/>
                                    </a:rPr>
                                  </m:ctrlPr>
                                </m:accPr>
                                <m:e>
                                  <m:r>
                                    <a:rPr lang="en-GB" sz="2800" b="0" i="1" smtClean="0">
                                      <a:latin typeface="Cambria Math" panose="02040503050406030204" pitchFamily="18" charset="0"/>
                                    </a:rPr>
                                    <m:t>𝑥</m:t>
                                  </m:r>
                                </m:e>
                              </m:acc>
                            </m:e>
                            <m:sub>
                              <m:r>
                                <a:rPr lang="en-GB" sz="2800" i="1">
                                  <a:latin typeface="Cambria Math" panose="02040503050406030204" pitchFamily="18" charset="0"/>
                                </a:rPr>
                                <m:t>2</m:t>
                              </m:r>
                            </m:sub>
                          </m:sSub>
                        </m:e>
                      </m:d>
                      <m:r>
                        <a:rPr lang="en-GB" sz="2800"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𝑡</m:t>
                          </m:r>
                        </m:e>
                        <m:sub>
                          <m:f>
                            <m:fPr>
                              <m:ctrlPr>
                                <a:rPr lang="en-GB" i="1">
                                  <a:latin typeface="Cambria Math" panose="02040503050406030204" pitchFamily="18" charset="0"/>
                                </a:rPr>
                              </m:ctrlPr>
                            </m:fPr>
                            <m:num>
                              <m:r>
                                <a:rPr lang="en-GB" i="1">
                                  <a:latin typeface="Cambria Math" panose="02040503050406030204" pitchFamily="18" charset="0"/>
                                  <a:ea typeface="Cambria Math" panose="02040503050406030204" pitchFamily="18" charset="0"/>
                                </a:rPr>
                                <m:t>𝛼</m:t>
                              </m:r>
                            </m:num>
                            <m:den>
                              <m:r>
                                <a:rPr lang="en-GB" i="1">
                                  <a:latin typeface="Cambria Math" panose="02040503050406030204" pitchFamily="18" charset="0"/>
                                </a:rPr>
                                <m:t>2</m:t>
                              </m:r>
                            </m:den>
                          </m:f>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𝑠</m:t>
                          </m:r>
                        </m:e>
                        <m:sub>
                          <m:r>
                            <a:rPr lang="en-GB" i="1">
                              <a:latin typeface="Cambria Math" panose="02040503050406030204" pitchFamily="18" charset="0"/>
                            </a:rPr>
                            <m:t>𝑝</m:t>
                          </m:r>
                        </m:sub>
                      </m:sSub>
                      <m:rad>
                        <m:radPr>
                          <m:degHide m:val="on"/>
                          <m:ctrlPr>
                            <a:rPr lang="en-GB" i="1">
                              <a:latin typeface="Cambria Math" panose="02040503050406030204" pitchFamily="18" charset="0"/>
                            </a:rPr>
                          </m:ctrlPr>
                        </m:radPr>
                        <m:deg/>
                        <m:e>
                          <m:f>
                            <m:fPr>
                              <m:ctrlPr>
                                <a:rPr lang="en-GB" i="1">
                                  <a:latin typeface="Cambria Math" panose="02040503050406030204" pitchFamily="18" charset="0"/>
                                </a:rPr>
                              </m:ctrlPr>
                            </m:fPr>
                            <m:num>
                              <m:r>
                                <a:rPr lang="en-GB" i="1">
                                  <a:latin typeface="Cambria Math" panose="02040503050406030204" pitchFamily="18" charset="0"/>
                                </a:rPr>
                                <m:t>1</m:t>
                              </m:r>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2</m:t>
                                  </m:r>
                                </m:sub>
                              </m:sSub>
                            </m:den>
                          </m:f>
                        </m:e>
                      </m:rad>
                    </m:oMath>
                  </m:oMathPara>
                </a14:m>
                <a:endParaRPr lang="en-GB" dirty="0"/>
              </a:p>
              <a:p>
                <a:pPr marL="0" indent="0">
                  <a:buNone/>
                </a:pPr>
                <a:r>
                  <a:rPr lang="en-GB" dirty="0"/>
                  <a:t>Where</a:t>
                </a:r>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𝑠</m:t>
                          </m:r>
                        </m:e>
                        <m:sub>
                          <m:r>
                            <a:rPr lang="en-GB" i="1">
                              <a:latin typeface="Cambria Math" panose="02040503050406030204" pitchFamily="18" charset="0"/>
                            </a:rPr>
                            <m:t>𝑝</m:t>
                          </m:r>
                        </m:sub>
                      </m:sSub>
                      <m:r>
                        <a:rPr lang="en-GB" b="0" i="0" smtClean="0">
                          <a:latin typeface="Cambria Math" panose="02040503050406030204" pitchFamily="18" charset="0"/>
                        </a:rPr>
                        <m:t>=</m:t>
                      </m:r>
                      <m:rad>
                        <m:radPr>
                          <m:degHide m:val="on"/>
                          <m:ctrlPr>
                            <a:rPr lang="en-GB" b="0" i="1" smtClean="0">
                              <a:latin typeface="Cambria Math" panose="02040503050406030204" pitchFamily="18" charset="0"/>
                            </a:rPr>
                          </m:ctrlPr>
                        </m:radPr>
                        <m:deg/>
                        <m:e>
                          <m:f>
                            <m:fPr>
                              <m:ctrlPr>
                                <a:rPr lang="en-GB" i="1">
                                  <a:latin typeface="Cambria Math" panose="02040503050406030204" pitchFamily="18" charset="0"/>
                                </a:rPr>
                              </m:ctrlPr>
                            </m:fPr>
                            <m:num>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1</m:t>
                                      </m:r>
                                    </m:sub>
                                  </m:sSub>
                                  <m:r>
                                    <a:rPr lang="en-GB" i="1">
                                      <a:latin typeface="Cambria Math" panose="02040503050406030204" pitchFamily="18" charset="0"/>
                                    </a:rPr>
                                    <m:t>−1</m:t>
                                  </m:r>
                                </m:e>
                              </m:d>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1</m:t>
                                  </m:r>
                                </m:sub>
                                <m:sup>
                                  <m:r>
                                    <a:rPr lang="en-GB" i="1">
                                      <a:latin typeface="Cambria Math" panose="02040503050406030204" pitchFamily="18" charset="0"/>
                                    </a:rPr>
                                    <m:t>2</m:t>
                                  </m:r>
                                </m:sup>
                              </m:sSubSup>
                              <m:r>
                                <a:rPr lang="en-GB" i="1">
                                  <a:latin typeface="Cambria Math" panose="02040503050406030204" pitchFamily="18" charset="0"/>
                                </a:rPr>
                                <m:t>+</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2</m:t>
                                      </m:r>
                                    </m:sub>
                                  </m:sSub>
                                  <m:r>
                                    <a:rPr lang="en-GB" i="1">
                                      <a:latin typeface="Cambria Math" panose="02040503050406030204" pitchFamily="18" charset="0"/>
                                    </a:rPr>
                                    <m:t>−1</m:t>
                                  </m:r>
                                </m:e>
                              </m:d>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2</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2</m:t>
                                  </m:r>
                                </m:sub>
                              </m:sSub>
                              <m:r>
                                <a:rPr lang="en-GB" i="1">
                                  <a:latin typeface="Cambria Math" panose="02040503050406030204" pitchFamily="18" charset="0"/>
                                </a:rPr>
                                <m:t>−2</m:t>
                              </m:r>
                            </m:den>
                          </m:f>
                        </m:e>
                      </m:rad>
                    </m:oMath>
                  </m:oMathPara>
                </a14:m>
                <a:endParaRPr lang="en-GB" dirty="0"/>
              </a:p>
              <a:p>
                <a:pPr marL="0" indent="0">
                  <a:buNone/>
                </a:pPr>
                <a:r>
                  <a:rPr lang="en-GB" dirty="0"/>
                  <a:t>and</a:t>
                </a:r>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𝑑𝑓</m:t>
                          </m:r>
                          <m:r>
                            <a:rPr lang="en-GB" b="0" i="1" smtClean="0">
                              <a:latin typeface="Cambria Math" panose="02040503050406030204" pitchFamily="18" charset="0"/>
                            </a:rPr>
                            <m:t>=</m:t>
                          </m:r>
                          <m:r>
                            <a:rPr lang="en-GB" i="1">
                              <a:latin typeface="Cambria Math" panose="02040503050406030204" pitchFamily="18" charset="0"/>
                            </a:rPr>
                            <m:t>𝑛</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2</m:t>
                          </m:r>
                        </m:sub>
                      </m:sSub>
                      <m:r>
                        <a:rPr lang="en-GB" i="1">
                          <a:latin typeface="Cambria Math" panose="02040503050406030204" pitchFamily="18" charset="0"/>
                        </a:rPr>
                        <m:t>−2</m:t>
                      </m:r>
                    </m:oMath>
                  </m:oMathPara>
                </a14:m>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497496"/>
                <a:ext cx="11158329" cy="4679467"/>
              </a:xfr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2462316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497496"/>
                <a:ext cx="11158329" cy="4679467"/>
              </a:xfrm>
            </p:spPr>
            <p:txBody>
              <a:bodyPr>
                <a:normAutofit lnSpcReduction="10000"/>
              </a:bodyPr>
              <a:lstStyle/>
              <a:p>
                <a:r>
                  <a:rPr lang="en-GB" dirty="0"/>
                  <a:t>(</a:t>
                </a:r>
                <a14:m>
                  <m:oMath xmlns:m="http://schemas.openxmlformats.org/officeDocument/2006/math">
                    <m:r>
                      <a:rPr lang="en-GB" i="1">
                        <a:latin typeface="Cambria Math" panose="02040503050406030204" pitchFamily="18" charset="0"/>
                      </a:rPr>
                      <m:t>1−</m:t>
                    </m:r>
                    <m:r>
                      <a:rPr lang="en-GB" i="1">
                        <a:latin typeface="Cambria Math" panose="02040503050406030204" pitchFamily="18" charset="0"/>
                        <a:ea typeface="Cambria Math" panose="02040503050406030204" pitchFamily="18" charset="0"/>
                      </a:rPr>
                      <m:t>𝛼</m:t>
                    </m:r>
                  </m:oMath>
                </a14:m>
                <a:r>
                  <a:rPr lang="en-GB" dirty="0"/>
                  <a:t>)100% C.I limits for difference between Population Means (dependent samples,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b="0" i="1" smtClean="0">
                            <a:latin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b="0" i="1" smtClean="0">
                            <a:latin typeface="Cambria Math" panose="02040503050406030204" pitchFamily="18" charset="0"/>
                          </a:rPr>
                          <m:t>2</m:t>
                        </m:r>
                      </m:sub>
                    </m:sSub>
                  </m:oMath>
                </a14:m>
                <a:r>
                  <a:rPr lang="en-GB" dirty="0"/>
                  <a:t> and un-known , small-sample size)</a:t>
                </a:r>
              </a:p>
              <a:p>
                <a:pPr marL="0" indent="0">
                  <a:buNone/>
                </a:pPr>
                <a14:m>
                  <m:oMathPara xmlns:m="http://schemas.openxmlformats.org/officeDocument/2006/math">
                    <m:oMathParaPr>
                      <m:jc m:val="centerGroup"/>
                    </m:oMathParaPr>
                    <m:oMath xmlns:m="http://schemas.openxmlformats.org/officeDocument/2006/math">
                      <m:d>
                        <m:dPr>
                          <m:ctrlPr>
                            <a:rPr lang="en-GB" sz="2800" i="1" smtClean="0">
                              <a:latin typeface="Cambria Math" panose="02040503050406030204" pitchFamily="18" charset="0"/>
                            </a:rPr>
                          </m:ctrlPr>
                        </m:dPr>
                        <m:e>
                          <m:sSub>
                            <m:sSubPr>
                              <m:ctrlPr>
                                <a:rPr lang="en-GB" sz="2800" i="1">
                                  <a:latin typeface="Cambria Math" panose="02040503050406030204" pitchFamily="18" charset="0"/>
                                </a:rPr>
                              </m:ctrlPr>
                            </m:sSubPr>
                            <m:e>
                              <m:acc>
                                <m:accPr>
                                  <m:chr m:val="̅"/>
                                  <m:ctrlPr>
                                    <a:rPr lang="en-GB" sz="2800" i="1">
                                      <a:latin typeface="Cambria Math" panose="02040503050406030204" pitchFamily="18" charset="0"/>
                                    </a:rPr>
                                  </m:ctrlPr>
                                </m:accPr>
                                <m:e>
                                  <m:r>
                                    <a:rPr lang="en-GB" sz="2800" b="0" i="1" smtClean="0">
                                      <a:latin typeface="Cambria Math" panose="02040503050406030204" pitchFamily="18" charset="0"/>
                                    </a:rPr>
                                    <m:t>𝑥</m:t>
                                  </m:r>
                                </m:e>
                              </m:acc>
                            </m:e>
                            <m:sub>
                              <m:r>
                                <a:rPr lang="en-GB" sz="2800" i="1">
                                  <a:latin typeface="Cambria Math" panose="02040503050406030204" pitchFamily="18" charset="0"/>
                                </a:rPr>
                                <m:t>1</m:t>
                              </m:r>
                            </m:sub>
                          </m:sSub>
                          <m:r>
                            <a:rPr lang="en-GB" sz="2800" i="1">
                              <a:latin typeface="Cambria Math" panose="02040503050406030204" pitchFamily="18" charset="0"/>
                            </a:rPr>
                            <m:t>−</m:t>
                          </m:r>
                          <m:sSub>
                            <m:sSubPr>
                              <m:ctrlPr>
                                <a:rPr lang="en-GB" sz="2800" i="1">
                                  <a:latin typeface="Cambria Math" panose="02040503050406030204" pitchFamily="18" charset="0"/>
                                </a:rPr>
                              </m:ctrlPr>
                            </m:sSubPr>
                            <m:e>
                              <m:acc>
                                <m:accPr>
                                  <m:chr m:val="̅"/>
                                  <m:ctrlPr>
                                    <a:rPr lang="en-GB" sz="2800" i="1">
                                      <a:latin typeface="Cambria Math" panose="02040503050406030204" pitchFamily="18" charset="0"/>
                                    </a:rPr>
                                  </m:ctrlPr>
                                </m:accPr>
                                <m:e>
                                  <m:r>
                                    <a:rPr lang="en-GB" sz="2800" b="0" i="1" smtClean="0">
                                      <a:latin typeface="Cambria Math" panose="02040503050406030204" pitchFamily="18" charset="0"/>
                                    </a:rPr>
                                    <m:t>𝑥</m:t>
                                  </m:r>
                                </m:e>
                              </m:acc>
                            </m:e>
                            <m:sub>
                              <m:r>
                                <a:rPr lang="en-GB" sz="2800" i="1">
                                  <a:latin typeface="Cambria Math" panose="02040503050406030204" pitchFamily="18" charset="0"/>
                                </a:rPr>
                                <m:t>2</m:t>
                              </m:r>
                            </m:sub>
                          </m:sSub>
                        </m:e>
                      </m:d>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𝑡</m:t>
                          </m:r>
                        </m:e>
                        <m:sub>
                          <m:f>
                            <m:fPr>
                              <m:ctrlPr>
                                <a:rPr lang="en-GB" sz="2800" b="0" i="1" smtClean="0">
                                  <a:latin typeface="Cambria Math" panose="02040503050406030204" pitchFamily="18" charset="0"/>
                                </a:rPr>
                              </m:ctrlPr>
                            </m:fPr>
                            <m:num>
                              <m:r>
                                <a:rPr lang="en-GB" sz="2800" b="0" i="1" smtClean="0">
                                  <a:latin typeface="Cambria Math" panose="02040503050406030204" pitchFamily="18" charset="0"/>
                                  <a:ea typeface="Cambria Math" panose="02040503050406030204" pitchFamily="18" charset="0"/>
                                </a:rPr>
                                <m:t>𝛼</m:t>
                              </m:r>
                            </m:num>
                            <m:den>
                              <m:r>
                                <a:rPr lang="en-GB" sz="2800" b="0" i="1" smtClean="0">
                                  <a:latin typeface="Cambria Math" panose="02040503050406030204" pitchFamily="18" charset="0"/>
                                </a:rPr>
                                <m:t>2</m:t>
                              </m:r>
                            </m:den>
                          </m:f>
                        </m:sub>
                      </m:sSub>
                      <m:r>
                        <a:rPr lang="en-GB" sz="2800" b="0" i="1" smtClean="0">
                          <a:latin typeface="Cambria Math" panose="02040503050406030204" pitchFamily="18" charset="0"/>
                        </a:rPr>
                        <m:t>∗</m:t>
                      </m:r>
                      <m:rad>
                        <m:radPr>
                          <m:degHide m:val="on"/>
                          <m:ctrlPr>
                            <a:rPr lang="en-GB" sz="2800" b="0" i="1" smtClean="0">
                              <a:latin typeface="Cambria Math" panose="02040503050406030204" pitchFamily="18" charset="0"/>
                            </a:rPr>
                          </m:ctrlPr>
                        </m:radPr>
                        <m:deg/>
                        <m:e>
                          <m:f>
                            <m:fPr>
                              <m:ctrlPr>
                                <a:rPr lang="en-GB" sz="2800" b="0" i="1" smtClean="0">
                                  <a:latin typeface="Cambria Math" panose="02040503050406030204" pitchFamily="18" charset="0"/>
                                </a:rPr>
                              </m:ctrlPr>
                            </m:fPr>
                            <m:num>
                              <m:sSubSup>
                                <m:sSubSupPr>
                                  <m:ctrlPr>
                                    <a:rPr lang="en-GB" sz="2800" b="0" i="1" smtClean="0">
                                      <a:latin typeface="Cambria Math" panose="02040503050406030204" pitchFamily="18" charset="0"/>
                                    </a:rPr>
                                  </m:ctrlPr>
                                </m:sSubSupPr>
                                <m:e>
                                  <m:r>
                                    <a:rPr lang="en-GB" sz="2800" b="0" i="1" smtClean="0">
                                      <a:latin typeface="Cambria Math" panose="02040503050406030204" pitchFamily="18" charset="0"/>
                                    </a:rPr>
                                    <m:t>𝑠</m:t>
                                  </m:r>
                                </m:e>
                                <m:sub>
                                  <m:r>
                                    <a:rPr lang="en-GB" sz="2800" b="0" i="1" smtClean="0">
                                      <a:latin typeface="Cambria Math" panose="02040503050406030204" pitchFamily="18" charset="0"/>
                                    </a:rPr>
                                    <m:t>1</m:t>
                                  </m:r>
                                </m:sub>
                                <m:sup>
                                  <m:r>
                                    <a:rPr lang="en-GB" sz="2800" b="0" i="1" smtClean="0">
                                      <a:latin typeface="Cambria Math" panose="02040503050406030204" pitchFamily="18" charset="0"/>
                                    </a:rPr>
                                    <m:t>2</m:t>
                                  </m:r>
                                </m:sup>
                              </m:sSubSup>
                            </m:num>
                            <m:den>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𝑛</m:t>
                                  </m:r>
                                </m:e>
                                <m:sub>
                                  <m:r>
                                    <a:rPr lang="en-GB" sz="2800" b="0" i="1" smtClean="0">
                                      <a:latin typeface="Cambria Math" panose="02040503050406030204" pitchFamily="18" charset="0"/>
                                    </a:rPr>
                                    <m:t>1</m:t>
                                  </m:r>
                                </m:sub>
                              </m:sSub>
                            </m:den>
                          </m:f>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b="0" i="1" smtClean="0">
                                      <a:latin typeface="Cambria Math" panose="02040503050406030204" pitchFamily="18" charset="0"/>
                                    </a:rPr>
                                    <m:t>2</m:t>
                                  </m:r>
                                </m:sub>
                                <m:sup>
                                  <m:r>
                                    <a:rPr lang="en-GB" i="1">
                                      <a:latin typeface="Cambria Math" panose="02040503050406030204" pitchFamily="18" charset="0"/>
                                    </a:rPr>
                                    <m:t>2</m:t>
                                  </m:r>
                                </m:sup>
                              </m:sSubSup>
                            </m:num>
                            <m:den>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𝑛</m:t>
                                  </m:r>
                                </m:e>
                                <m:sub>
                                  <m:r>
                                    <a:rPr lang="en-GB" sz="2800" b="0" i="1" smtClean="0">
                                      <a:latin typeface="Cambria Math" panose="02040503050406030204" pitchFamily="18" charset="0"/>
                                    </a:rPr>
                                    <m:t>2</m:t>
                                  </m:r>
                                </m:sub>
                              </m:sSub>
                            </m:den>
                          </m:f>
                        </m:e>
                      </m:rad>
                      <m:r>
                        <a:rPr lang="en-GB" sz="2800" b="0" i="1" smtClean="0">
                          <a:latin typeface="Cambria Math" panose="02040503050406030204" pitchFamily="18" charset="0"/>
                          <a:ea typeface="Cambria Math" panose="02040503050406030204" pitchFamily="18" charset="0"/>
                        </a:rPr>
                        <m:t>&lt;</m:t>
                      </m:r>
                      <m:sSub>
                        <m:sSubPr>
                          <m:ctrlPr>
                            <a:rPr lang="en-GB" sz="2800" b="0" i="1" smtClean="0">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sz="2800" b="0" i="1" smtClean="0">
                              <a:latin typeface="Cambria Math" panose="02040503050406030204" pitchFamily="18" charset="0"/>
                              <a:ea typeface="Cambria Math" panose="02040503050406030204" pitchFamily="18" charset="0"/>
                            </a:rPr>
                            <m:t>1</m:t>
                          </m:r>
                        </m:sub>
                      </m:sSub>
                      <m:r>
                        <a:rPr lang="en-GB" sz="2800"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ea typeface="Cambria Math" panose="02040503050406030204" pitchFamily="18" charset="0"/>
                            </a:rPr>
                            <m:t>2</m:t>
                          </m:r>
                        </m:sub>
                      </m:sSub>
                      <m:r>
                        <a:rPr lang="en-GB" sz="2800" b="0" i="1" smtClean="0">
                          <a:latin typeface="Cambria Math" panose="02040503050406030204" pitchFamily="18" charset="0"/>
                          <a:ea typeface="Cambria Math" panose="02040503050406030204" pitchFamily="18" charset="0"/>
                        </a:rPr>
                        <m:t>&lt;</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i="1">
                                      <a:latin typeface="Cambria Math" panose="02040503050406030204" pitchFamily="18" charset="0"/>
                                    </a:rPr>
                                    <m:t>𝑥</m:t>
                                  </m:r>
                                </m:e>
                              </m:acc>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i="1">
                                      <a:latin typeface="Cambria Math" panose="02040503050406030204" pitchFamily="18" charset="0"/>
                                    </a:rPr>
                                    <m:t>𝑥</m:t>
                                  </m:r>
                                </m:e>
                              </m:acc>
                            </m:e>
                            <m:sub>
                              <m:r>
                                <a:rPr lang="en-GB" i="1">
                                  <a:latin typeface="Cambria Math" panose="02040503050406030204" pitchFamily="18" charset="0"/>
                                </a:rPr>
                                <m:t>2</m:t>
                              </m:r>
                            </m:sub>
                          </m:sSub>
                        </m:e>
                      </m:d>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𝑡</m:t>
                          </m:r>
                        </m:e>
                        <m:sub>
                          <m:f>
                            <m:fPr>
                              <m:ctrlPr>
                                <a:rPr lang="en-GB" i="1">
                                  <a:latin typeface="Cambria Math" panose="02040503050406030204" pitchFamily="18" charset="0"/>
                                </a:rPr>
                              </m:ctrlPr>
                            </m:fPr>
                            <m:num>
                              <m:r>
                                <a:rPr lang="en-GB" i="1">
                                  <a:latin typeface="Cambria Math" panose="02040503050406030204" pitchFamily="18" charset="0"/>
                                  <a:ea typeface="Cambria Math" panose="02040503050406030204" pitchFamily="18" charset="0"/>
                                </a:rPr>
                                <m:t>𝛼</m:t>
                              </m:r>
                            </m:num>
                            <m:den>
                              <m:r>
                                <a:rPr lang="en-GB" i="1">
                                  <a:latin typeface="Cambria Math" panose="02040503050406030204" pitchFamily="18" charset="0"/>
                                </a:rPr>
                                <m:t>2</m:t>
                              </m:r>
                            </m:den>
                          </m:f>
                        </m:sub>
                      </m:sSub>
                      <m:r>
                        <a:rPr lang="en-GB" i="1">
                          <a:latin typeface="Cambria Math" panose="02040503050406030204" pitchFamily="18" charset="0"/>
                        </a:rPr>
                        <m:t>∗</m:t>
                      </m:r>
                      <m:rad>
                        <m:radPr>
                          <m:degHide m:val="on"/>
                          <m:ctrlPr>
                            <a:rPr lang="en-GB" i="1">
                              <a:latin typeface="Cambria Math" panose="02040503050406030204" pitchFamily="18" charset="0"/>
                            </a:rPr>
                          </m:ctrlPr>
                        </m:radPr>
                        <m:deg/>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1</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2</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2</m:t>
                                  </m:r>
                                </m:sub>
                              </m:sSub>
                            </m:den>
                          </m:f>
                        </m:e>
                      </m:rad>
                    </m:oMath>
                  </m:oMathPara>
                </a14:m>
                <a:endParaRPr lang="en-GB" dirty="0"/>
              </a:p>
              <a:p>
                <a:pPr marL="0" indent="0">
                  <a:buNone/>
                </a:pPr>
                <a:r>
                  <a:rPr lang="en-GB" dirty="0"/>
                  <a:t>Where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𝑑𝑓</m:t>
                      </m:r>
                      <m:r>
                        <a:rPr lang="en-GB" b="0" i="1" smtClean="0">
                          <a:latin typeface="Cambria Math" panose="02040503050406030204" pitchFamily="18" charset="0"/>
                        </a:rPr>
                        <m:t>= </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1</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2</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2</m:t>
                                          </m:r>
                                        </m:sub>
                                      </m:sSub>
                                    </m:den>
                                  </m:f>
                                </m:e>
                              </m:d>
                            </m:e>
                            <m:sup>
                              <m:r>
                                <a:rPr lang="en-GB" b="0" i="1" smtClean="0">
                                  <a:latin typeface="Cambria Math" panose="02040503050406030204" pitchFamily="18" charset="0"/>
                                </a:rPr>
                                <m:t>2</m:t>
                              </m:r>
                            </m:sup>
                          </m:sSup>
                        </m:num>
                        <m:den>
                          <m:d>
                            <m:dPr>
                              <m:begChr m:val="["/>
                              <m:endChr m:val="]"/>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i="1">
                                                      <a:latin typeface="Cambria Math" panose="02040503050406030204" pitchFamily="18" charset="0"/>
                                                    </a:rPr>
                                                    <m:t>1</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1</m:t>
                                                  </m:r>
                                                </m:sub>
                                              </m:sSub>
                                            </m:den>
                                          </m:f>
                                        </m:e>
                                      </m:d>
                                    </m:e>
                                    <m:sup>
                                      <m:r>
                                        <a:rPr lang="en-GB" b="0" i="1" smtClean="0">
                                          <a:latin typeface="Cambria Math" panose="02040503050406030204" pitchFamily="18" charset="0"/>
                                        </a:rPr>
                                        <m:t>2</m:t>
                                      </m:r>
                                    </m:sup>
                                  </m:sSup>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1</m:t>
                                      </m:r>
                                    </m:sub>
                                  </m:sSub>
                                  <m:r>
                                    <a:rPr lang="en-GB" b="0" i="1" smtClean="0">
                                      <a:latin typeface="Cambria Math" panose="02040503050406030204" pitchFamily="18" charset="0"/>
                                    </a:rPr>
                                    <m:t>−1</m:t>
                                  </m:r>
                                </m:den>
                              </m:f>
                            </m:e>
                          </m:d>
                          <m:r>
                            <a:rPr lang="en-GB" b="0" i="1" smtClean="0">
                              <a:latin typeface="Cambria Math" panose="02040503050406030204" pitchFamily="18" charset="0"/>
                            </a:rPr>
                            <m:t>+</m:t>
                          </m:r>
                          <m:d>
                            <m:dPr>
                              <m:begChr m:val="["/>
                              <m:endChr m:val="]"/>
                              <m:ctrlPr>
                                <a:rPr lang="en-GB" i="1">
                                  <a:latin typeface="Cambria Math" panose="02040503050406030204" pitchFamily="18" charset="0"/>
                                </a:rPr>
                              </m:ctrlPr>
                            </m:dPr>
                            <m:e>
                              <m:f>
                                <m:fPr>
                                  <m:ctrlPr>
                                    <a:rPr lang="en-GB" i="1">
                                      <a:latin typeface="Cambria Math" panose="02040503050406030204" pitchFamily="18" charset="0"/>
                                    </a:rPr>
                                  </m:ctrlPr>
                                </m:fPr>
                                <m:num>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𝑠</m:t>
                                                  </m:r>
                                                </m:e>
                                                <m:sub>
                                                  <m:r>
                                                    <a:rPr lang="en-GB" b="0" i="1" smtClean="0">
                                                      <a:latin typeface="Cambria Math" panose="02040503050406030204" pitchFamily="18" charset="0"/>
                                                    </a:rPr>
                                                    <m:t>2</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b="0" i="1" smtClean="0">
                                                      <a:latin typeface="Cambria Math" panose="02040503050406030204" pitchFamily="18" charset="0"/>
                                                    </a:rPr>
                                                    <m:t>2</m:t>
                                                  </m:r>
                                                </m:sub>
                                              </m:sSub>
                                            </m:den>
                                          </m:f>
                                        </m:e>
                                      </m:d>
                                    </m:e>
                                    <m:sup>
                                      <m:r>
                                        <a:rPr lang="en-GB" i="1">
                                          <a:latin typeface="Cambria Math" panose="02040503050406030204" pitchFamily="18" charset="0"/>
                                        </a:rPr>
                                        <m:t>2</m:t>
                                      </m:r>
                                    </m:sup>
                                  </m:s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b="0" i="1" smtClean="0">
                                          <a:latin typeface="Cambria Math" panose="02040503050406030204" pitchFamily="18" charset="0"/>
                                        </a:rPr>
                                        <m:t>2</m:t>
                                      </m:r>
                                    </m:sub>
                                  </m:sSub>
                                  <m:r>
                                    <a:rPr lang="en-GB" i="1">
                                      <a:latin typeface="Cambria Math" panose="02040503050406030204" pitchFamily="18" charset="0"/>
                                    </a:rPr>
                                    <m:t>−1</m:t>
                                  </m:r>
                                </m:den>
                              </m:f>
                            </m:e>
                          </m:d>
                        </m:den>
                      </m:f>
                    </m:oMath>
                  </m:oMathPara>
                </a14:m>
                <a:endParaRPr lang="en-GB" dirty="0"/>
              </a:p>
            </p:txBody>
          </p:sp>
        </mc:Choice>
        <mc:Fallback xmlns="">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497496"/>
                <a:ext cx="11158329" cy="4679467"/>
              </a:xfr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3612906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825625"/>
                <a:ext cx="11158329" cy="4351338"/>
              </a:xfrm>
            </p:spPr>
            <p:txBody>
              <a:bodyPr>
                <a:normAutofit/>
              </a:bodyPr>
              <a:lstStyle/>
              <a:p>
                <a:r>
                  <a:rPr lang="en-GB" dirty="0"/>
                  <a:t>(</a:t>
                </a:r>
                <a14:m>
                  <m:oMath xmlns:m="http://schemas.openxmlformats.org/officeDocument/2006/math">
                    <m:r>
                      <a:rPr lang="en-GB" i="1">
                        <a:latin typeface="Cambria Math" panose="02040503050406030204" pitchFamily="18" charset="0"/>
                      </a:rPr>
                      <m:t>1−</m:t>
                    </m:r>
                    <m:r>
                      <a:rPr lang="en-GB" i="1">
                        <a:latin typeface="Cambria Math" panose="02040503050406030204" pitchFamily="18" charset="0"/>
                        <a:ea typeface="Cambria Math" panose="02040503050406030204" pitchFamily="18" charset="0"/>
                      </a:rPr>
                      <m:t>𝛼</m:t>
                    </m:r>
                  </m:oMath>
                </a14:m>
                <a:r>
                  <a:rPr lang="en-GB" dirty="0"/>
                  <a:t>)100% C.I limits for difference between Population Means for paired observations  </a:t>
                </a:r>
              </a:p>
              <a:p>
                <a:pPr marL="0" indent="0">
                  <a:buNone/>
                </a:pP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𝑑</m:t>
                          </m:r>
                        </m:e>
                      </m:acc>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𝑡</m:t>
                          </m:r>
                        </m:e>
                        <m:sub>
                          <m:f>
                            <m:fPr>
                              <m:ctrlPr>
                                <a:rPr lang="en-GB" sz="2800" b="0" i="1" smtClean="0">
                                  <a:latin typeface="Cambria Math" panose="02040503050406030204" pitchFamily="18" charset="0"/>
                                </a:rPr>
                              </m:ctrlPr>
                            </m:fPr>
                            <m:num>
                              <m:r>
                                <a:rPr lang="en-GB" sz="2800" b="0" i="1" smtClean="0">
                                  <a:latin typeface="Cambria Math" panose="02040503050406030204" pitchFamily="18" charset="0"/>
                                  <a:ea typeface="Cambria Math" panose="02040503050406030204" pitchFamily="18" charset="0"/>
                                </a:rPr>
                                <m:t>𝛼</m:t>
                              </m:r>
                            </m:num>
                            <m:den>
                              <m:r>
                                <a:rPr lang="en-GB" sz="2800" b="0" i="1" smtClean="0">
                                  <a:latin typeface="Cambria Math" panose="02040503050406030204" pitchFamily="18" charset="0"/>
                                </a:rPr>
                                <m:t>2</m:t>
                              </m:r>
                            </m:den>
                          </m:f>
                        </m:sub>
                      </m:sSub>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𝑠</m:t>
                              </m:r>
                            </m:e>
                            <m:sub>
                              <m:r>
                                <a:rPr lang="en-GB" sz="2800" b="0" i="1" smtClean="0">
                                  <a:latin typeface="Cambria Math" panose="02040503050406030204" pitchFamily="18" charset="0"/>
                                </a:rPr>
                                <m:t>𝑑</m:t>
                              </m:r>
                            </m:sub>
                          </m:sSub>
                        </m:num>
                        <m:den>
                          <m:rad>
                            <m:radPr>
                              <m:degHide m:val="on"/>
                              <m:ctrlPr>
                                <a:rPr lang="en-GB" sz="2800" b="0" i="1" smtClean="0">
                                  <a:latin typeface="Cambria Math" panose="02040503050406030204" pitchFamily="18" charset="0"/>
                                </a:rPr>
                              </m:ctrlPr>
                            </m:radPr>
                            <m:deg/>
                            <m:e>
                              <m:r>
                                <a:rPr lang="en-GB" sz="2800" b="0" i="1" smtClean="0">
                                  <a:latin typeface="Cambria Math" panose="02040503050406030204" pitchFamily="18" charset="0"/>
                                </a:rPr>
                                <m:t>𝑛</m:t>
                              </m:r>
                            </m:e>
                          </m:rad>
                        </m:den>
                      </m:f>
                      <m:r>
                        <a:rPr lang="en-GB" sz="2800" b="0" i="1" smtClean="0">
                          <a:latin typeface="Cambria Math" panose="02040503050406030204" pitchFamily="18" charset="0"/>
                          <a:ea typeface="Cambria Math" panose="02040503050406030204" pitchFamily="18" charset="0"/>
                        </a:rPr>
                        <m:t>&lt;</m:t>
                      </m:r>
                      <m:sSub>
                        <m:sSubPr>
                          <m:ctrlPr>
                            <a:rPr lang="en-GB" sz="2800" b="0" i="1" smtClean="0">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sz="2800" b="0" i="1" smtClean="0">
                              <a:latin typeface="Cambria Math" panose="02040503050406030204" pitchFamily="18" charset="0"/>
                              <a:ea typeface="Cambria Math" panose="02040503050406030204" pitchFamily="18" charset="0"/>
                            </a:rPr>
                            <m:t>𝑑</m:t>
                          </m:r>
                        </m:sub>
                      </m:sSub>
                      <m:r>
                        <a:rPr lang="en-GB" sz="2800" b="0" i="1" smtClean="0">
                          <a:latin typeface="Cambria Math" panose="02040503050406030204" pitchFamily="18" charset="0"/>
                          <a:ea typeface="Cambria Math" panose="02040503050406030204" pitchFamily="18" charset="0"/>
                        </a:rPr>
                        <m:t>&lt;</m:t>
                      </m:r>
                      <m:acc>
                        <m:accPr>
                          <m:chr m:val="̅"/>
                          <m:ctrlPr>
                            <a:rPr lang="en-GB" i="1">
                              <a:latin typeface="Cambria Math" panose="02040503050406030204" pitchFamily="18" charset="0"/>
                            </a:rPr>
                          </m:ctrlPr>
                        </m:accPr>
                        <m:e>
                          <m:r>
                            <a:rPr lang="en-GB" i="1">
                              <a:latin typeface="Cambria Math" panose="02040503050406030204" pitchFamily="18" charset="0"/>
                            </a:rPr>
                            <m:t>𝑑</m:t>
                          </m:r>
                        </m:e>
                      </m:acc>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𝑡</m:t>
                          </m:r>
                        </m:e>
                        <m:sub>
                          <m:f>
                            <m:fPr>
                              <m:ctrlPr>
                                <a:rPr lang="en-GB" i="1">
                                  <a:latin typeface="Cambria Math" panose="02040503050406030204" pitchFamily="18" charset="0"/>
                                </a:rPr>
                              </m:ctrlPr>
                            </m:fPr>
                            <m:num>
                              <m:r>
                                <a:rPr lang="en-GB" i="1">
                                  <a:latin typeface="Cambria Math" panose="02040503050406030204" pitchFamily="18" charset="0"/>
                                  <a:ea typeface="Cambria Math" panose="02040503050406030204" pitchFamily="18" charset="0"/>
                                </a:rPr>
                                <m:t>𝛼</m:t>
                              </m:r>
                            </m:num>
                            <m:den>
                              <m:r>
                                <a:rPr lang="en-GB" i="1">
                                  <a:latin typeface="Cambria Math" panose="02040503050406030204" pitchFamily="18" charset="0"/>
                                </a:rPr>
                                <m:t>2</m:t>
                              </m:r>
                            </m:den>
                          </m:f>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𝑠</m:t>
                              </m:r>
                            </m:e>
                            <m:sub>
                              <m:r>
                                <a:rPr lang="en-GB" i="1">
                                  <a:latin typeface="Cambria Math" panose="02040503050406030204" pitchFamily="18" charset="0"/>
                                </a:rPr>
                                <m:t>𝑑</m:t>
                              </m:r>
                            </m:sub>
                          </m:sSub>
                        </m:num>
                        <m:den>
                          <m:rad>
                            <m:radPr>
                              <m:degHide m:val="on"/>
                              <m:ctrlPr>
                                <a:rPr lang="en-GB" i="1">
                                  <a:latin typeface="Cambria Math" panose="02040503050406030204" pitchFamily="18" charset="0"/>
                                </a:rPr>
                              </m:ctrlPr>
                            </m:radPr>
                            <m:deg/>
                            <m:e>
                              <m:r>
                                <a:rPr lang="en-GB" i="1">
                                  <a:latin typeface="Cambria Math" panose="02040503050406030204" pitchFamily="18" charset="0"/>
                                </a:rPr>
                                <m:t>𝑛</m:t>
                              </m:r>
                            </m:e>
                          </m:rad>
                        </m:den>
                      </m:f>
                    </m:oMath>
                  </m:oMathPara>
                </a14:m>
                <a:endParaRPr lang="en-GB" dirty="0"/>
              </a:p>
              <a:p>
                <a:pPr marL="0" indent="0">
                  <a:buNone/>
                </a:pPr>
                <a:r>
                  <a:rPr lang="en-GB" dirty="0"/>
                  <a:t>Where,</a:t>
                </a:r>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𝑠</m:t>
                          </m:r>
                        </m:e>
                        <m:sub>
                          <m:r>
                            <a:rPr lang="en-GB" b="0" i="1" smtClean="0">
                              <a:latin typeface="Cambria Math" panose="02040503050406030204" pitchFamily="18" charset="0"/>
                            </a:rPr>
                            <m:t>𝑑</m:t>
                          </m:r>
                        </m:sub>
                      </m:sSub>
                      <m:r>
                        <a:rPr lang="en-GB" b="0" i="0" smtClean="0">
                          <a:latin typeface="Cambria Math" panose="02040503050406030204" pitchFamily="18" charset="0"/>
                        </a:rPr>
                        <m:t>=</m:t>
                      </m:r>
                      <m:rad>
                        <m:radPr>
                          <m:degHide m:val="on"/>
                          <m:ctrlPr>
                            <a:rPr lang="en-GB" b="0" i="1" smtClean="0">
                              <a:latin typeface="Cambria Math" panose="02040503050406030204" pitchFamily="18" charset="0"/>
                            </a:rPr>
                          </m:ctrlPr>
                        </m:radPr>
                        <m:deg/>
                        <m:e>
                          <m:f>
                            <m:fPr>
                              <m:ctrlPr>
                                <a:rPr lang="en-GB" i="1">
                                  <a:latin typeface="Cambria Math" panose="02040503050406030204" pitchFamily="18" charset="0"/>
                                </a:rPr>
                              </m:ctrlPr>
                            </m:fPr>
                            <m:num>
                              <m:r>
                                <a:rPr lang="en-GB" i="1">
                                  <a:latin typeface="Cambria Math" panose="02040503050406030204" pitchFamily="18" charset="0"/>
                                </a:rPr>
                                <m:t>𝑛</m:t>
                              </m:r>
                              <m:nary>
                                <m:naryPr>
                                  <m:chr m:val="∑"/>
                                  <m:subHide m:val="on"/>
                                  <m:supHide m:val="on"/>
                                  <m:ctrlPr>
                                    <a:rPr lang="en-GB" i="1">
                                      <a:latin typeface="Cambria Math" panose="02040503050406030204" pitchFamily="18" charset="0"/>
                                    </a:rPr>
                                  </m:ctrlPr>
                                </m:naryPr>
                                <m:sub/>
                                <m:sup/>
                                <m:e>
                                  <m:sSubSup>
                                    <m:sSubSupPr>
                                      <m:ctrlPr>
                                        <a:rPr lang="en-GB" i="1">
                                          <a:latin typeface="Cambria Math" panose="02040503050406030204" pitchFamily="18" charset="0"/>
                                        </a:rPr>
                                      </m:ctrlPr>
                                    </m:sSubSupPr>
                                    <m:e>
                                      <m:r>
                                        <a:rPr lang="en-GB" i="1">
                                          <a:latin typeface="Cambria Math" panose="02040503050406030204" pitchFamily="18" charset="0"/>
                                        </a:rPr>
                                        <m:t>𝑑</m:t>
                                      </m:r>
                                    </m:e>
                                    <m:sub>
                                      <m:r>
                                        <a:rPr lang="en-GB" i="1">
                                          <a:latin typeface="Cambria Math" panose="02040503050406030204" pitchFamily="18" charset="0"/>
                                        </a:rPr>
                                        <m:t>𝑖</m:t>
                                      </m:r>
                                    </m:sub>
                                    <m:sup>
                                      <m:r>
                                        <a:rPr lang="en-GB" i="1">
                                          <a:latin typeface="Cambria Math" panose="02040503050406030204" pitchFamily="18" charset="0"/>
                                        </a:rPr>
                                        <m:t>2</m:t>
                                      </m:r>
                                    </m:sup>
                                  </m:sSubSup>
                                </m:e>
                              </m:nary>
                              <m:r>
                                <a:rPr lang="en-GB" i="1">
                                  <a:latin typeface="Cambria Math" panose="02040503050406030204" pitchFamily="18" charset="0"/>
                                </a:rPr>
                                <m:t>−</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nary>
                                        <m:naryPr>
                                          <m:chr m:val="∑"/>
                                          <m:subHide m:val="on"/>
                                          <m:supHide m:val="on"/>
                                          <m:ctrlPr>
                                            <a:rPr lang="en-GB" i="1">
                                              <a:latin typeface="Cambria Math" panose="02040503050406030204" pitchFamily="18" charset="0"/>
                                            </a:rPr>
                                          </m:ctrlPr>
                                        </m:naryPr>
                                        <m:sub/>
                                        <m:sup/>
                                        <m:e>
                                          <m:sSub>
                                            <m:sSubPr>
                                              <m:ctrlPr>
                                                <a:rPr lang="en-GB" i="1">
                                                  <a:latin typeface="Cambria Math" panose="02040503050406030204" pitchFamily="18" charset="0"/>
                                                </a:rPr>
                                              </m:ctrlPr>
                                            </m:sSubPr>
                                            <m:e>
                                              <m:r>
                                                <a:rPr lang="en-GB" i="1">
                                                  <a:latin typeface="Cambria Math" panose="02040503050406030204" pitchFamily="18" charset="0"/>
                                                </a:rPr>
                                                <m:t>𝑑</m:t>
                                              </m:r>
                                            </m:e>
                                            <m:sub>
                                              <m:r>
                                                <a:rPr lang="en-GB" i="1">
                                                  <a:latin typeface="Cambria Math" panose="02040503050406030204" pitchFamily="18" charset="0"/>
                                                </a:rPr>
                                                <m:t>𝑖</m:t>
                                              </m:r>
                                            </m:sub>
                                          </m:sSub>
                                        </m:e>
                                      </m:nary>
                                    </m:e>
                                  </m:d>
                                </m:e>
                                <m:sup>
                                  <m:r>
                                    <a:rPr lang="en-GB" i="1">
                                      <a:latin typeface="Cambria Math" panose="02040503050406030204" pitchFamily="18" charset="0"/>
                                    </a:rPr>
                                    <m:t>2</m:t>
                                  </m:r>
                                </m:sup>
                              </m:sSup>
                            </m:num>
                            <m:den>
                              <m:r>
                                <a:rPr lang="en-GB" i="1">
                                  <a:latin typeface="Cambria Math" panose="02040503050406030204" pitchFamily="18" charset="0"/>
                                </a:rPr>
                                <m:t>𝑛</m:t>
                              </m:r>
                              <m:d>
                                <m:dPr>
                                  <m:ctrlPr>
                                    <a:rPr lang="en-GB" i="1">
                                      <a:latin typeface="Cambria Math" panose="02040503050406030204" pitchFamily="18" charset="0"/>
                                    </a:rPr>
                                  </m:ctrlPr>
                                </m:dPr>
                                <m:e>
                                  <m:r>
                                    <a:rPr lang="en-GB" i="1">
                                      <a:latin typeface="Cambria Math" panose="02040503050406030204" pitchFamily="18" charset="0"/>
                                    </a:rPr>
                                    <m:t>𝑛</m:t>
                                  </m:r>
                                  <m:r>
                                    <a:rPr lang="en-GB" i="1">
                                      <a:latin typeface="Cambria Math" panose="02040503050406030204" pitchFamily="18" charset="0"/>
                                    </a:rPr>
                                    <m:t>−1</m:t>
                                  </m:r>
                                </m:e>
                              </m:d>
                            </m:den>
                          </m:f>
                        </m:e>
                      </m:rad>
                    </m:oMath>
                  </m:oMathPara>
                </a14:m>
                <a:endParaRPr lang="en-GB" dirty="0"/>
              </a:p>
            </p:txBody>
          </p:sp>
        </mc:Choice>
        <mc:Fallback>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825625"/>
                <a:ext cx="11158329" cy="4351338"/>
              </a:xfr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3372532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825625"/>
            <a:ext cx="11158329" cy="4351338"/>
          </a:xfrm>
        </p:spPr>
        <p:txBody>
          <a:bodyPr>
            <a:normAutofit/>
          </a:bodyPr>
          <a:lstStyle/>
          <a:p>
            <a:pPr marL="0" indent="0" algn="just">
              <a:buNone/>
            </a:pPr>
            <a:r>
              <a:rPr lang="en-GB" sz="3200" b="1" dirty="0">
                <a:solidFill>
                  <a:schemeClr val="tx2">
                    <a:lumMod val="75000"/>
                  </a:schemeClr>
                </a:solidFill>
              </a:rPr>
              <a:t>Example 4: </a:t>
            </a:r>
            <a:r>
              <a:rPr lang="en-GB" dirty="0"/>
              <a:t>A standardized chemistry test was given to 50 girls and 75 boys. The boys made an average grade of 82 with a standard deviation of 8, while the girls made an average grade of 76 with a standard deviation of 6. Find 96% CI for the difference in population means.</a:t>
            </a:r>
          </a:p>
        </p:txBody>
      </p:sp>
    </p:spTree>
    <p:extLst>
      <p:ext uri="{BB962C8B-B14F-4D97-AF65-F5344CB8AC3E}">
        <p14:creationId xmlns:p14="http://schemas.microsoft.com/office/powerpoint/2010/main" val="2168001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825625"/>
            <a:ext cx="11158329" cy="4351338"/>
          </a:xfrm>
        </p:spPr>
        <p:txBody>
          <a:bodyPr>
            <a:normAutofit/>
          </a:bodyPr>
          <a:lstStyle/>
          <a:p>
            <a:pPr marL="0" indent="0" algn="just">
              <a:buNone/>
            </a:pPr>
            <a:r>
              <a:rPr lang="en-GB" sz="3200" b="1" dirty="0">
                <a:solidFill>
                  <a:schemeClr val="tx2">
                    <a:lumMod val="75000"/>
                  </a:schemeClr>
                </a:solidFill>
              </a:rPr>
              <a:t>Example 5: </a:t>
            </a:r>
            <a:r>
              <a:rPr lang="en-GB" dirty="0"/>
              <a:t>A course in mathematics is taught to 12 students by the conventional classroom procedure. A second group of 10 students was given the same course by means of programmed materials. At the end of the semester the same examination was given to each group. The 12 students meeting in the classroom made an average grade of 85 with a standard deviation of 4, while the 10 students using programmed materials made an average of 81 with a standard deviation of 5. Find 90% CI for the difference between the population means, assuming the populations are approximately normally distributed with equal variances.</a:t>
            </a:r>
          </a:p>
        </p:txBody>
      </p:sp>
    </p:spTree>
    <p:extLst>
      <p:ext uri="{BB962C8B-B14F-4D97-AF65-F5344CB8AC3E}">
        <p14:creationId xmlns:p14="http://schemas.microsoft.com/office/powerpoint/2010/main" val="2853559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825625"/>
            <a:ext cx="11158329" cy="4351338"/>
          </a:xfrm>
        </p:spPr>
        <p:txBody>
          <a:bodyPr>
            <a:normAutofit/>
          </a:bodyPr>
          <a:lstStyle/>
          <a:p>
            <a:pPr marL="0" indent="0" algn="just">
              <a:buNone/>
            </a:pPr>
            <a:r>
              <a:rPr lang="en-GB" sz="3200" b="1" dirty="0">
                <a:solidFill>
                  <a:schemeClr val="tx2">
                    <a:lumMod val="75000"/>
                  </a:schemeClr>
                </a:solidFill>
              </a:rPr>
              <a:t>Example 6: </a:t>
            </a:r>
            <a:r>
              <a:rPr lang="en-GB" dirty="0"/>
              <a:t>Records for the past 15 years have shown the average rainfall in a certain region of the country for the month of May to be 4.93 centimetres, with a standard deviation of 1.14 centimetres. A second region of the country has had an average rainfall in May of 2.64 with a standard deviation of 0.66 centimetres during the last 10 years. Find a 95% CI for the difference of the true average rainfall in these two regions, assuming that the observation come from normal populations with different variances. </a:t>
            </a:r>
          </a:p>
        </p:txBody>
      </p:sp>
    </p:spTree>
    <p:extLst>
      <p:ext uri="{BB962C8B-B14F-4D97-AF65-F5344CB8AC3E}">
        <p14:creationId xmlns:p14="http://schemas.microsoft.com/office/powerpoint/2010/main" val="1338990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3. Estimation of Difference between Population Means…</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460739"/>
            <a:ext cx="6056243" cy="4716224"/>
          </a:xfrm>
        </p:spPr>
        <p:txBody>
          <a:bodyPr>
            <a:normAutofit fontScale="92500" lnSpcReduction="20000"/>
          </a:bodyPr>
          <a:lstStyle/>
          <a:p>
            <a:pPr marL="0" indent="0" algn="just">
              <a:buNone/>
            </a:pPr>
            <a:r>
              <a:rPr lang="en-GB" sz="3500" b="1" dirty="0">
                <a:solidFill>
                  <a:schemeClr val="tx2">
                    <a:lumMod val="75000"/>
                  </a:schemeClr>
                </a:solidFill>
              </a:rPr>
              <a:t>Example</a:t>
            </a:r>
            <a:r>
              <a:rPr lang="en-GB" sz="3500" b="1" dirty="0"/>
              <a:t> </a:t>
            </a:r>
            <a:r>
              <a:rPr lang="en-GB" sz="3500" b="1" dirty="0">
                <a:solidFill>
                  <a:schemeClr val="tx2">
                    <a:lumMod val="75000"/>
                  </a:schemeClr>
                </a:solidFill>
              </a:rPr>
              <a:t>7:</a:t>
            </a:r>
            <a:r>
              <a:rPr lang="en-GB" dirty="0">
                <a:solidFill>
                  <a:schemeClr val="tx2">
                    <a:lumMod val="75000"/>
                  </a:schemeClr>
                </a:solidFill>
              </a:rPr>
              <a:t> </a:t>
            </a:r>
            <a:r>
              <a:rPr lang="en-GB" dirty="0"/>
              <a:t>Twenty college freshmen were divided into 10 pairs, each member of the pair having approximately the same IQ. One of each pair was selected at random and assigned to a mathematics section using programmed materials only. The other member of each pair was assigned to a section in which the professor lectured. At the end of the semester each group was given the same examination, and the following results were recorded (given in the table).</a:t>
            </a:r>
          </a:p>
          <a:p>
            <a:pPr marL="0" indent="0" algn="just">
              <a:buNone/>
            </a:pPr>
            <a:r>
              <a:rPr lang="en-GB" dirty="0"/>
              <a:t>Find the 98% CI for the true difference in the learning procedures.</a:t>
            </a:r>
          </a:p>
        </p:txBody>
      </p:sp>
      <p:graphicFrame>
        <p:nvGraphicFramePr>
          <p:cNvPr id="5" name="Table 4">
            <a:extLst>
              <a:ext uri="{FF2B5EF4-FFF2-40B4-BE49-F238E27FC236}">
                <a16:creationId xmlns:a16="http://schemas.microsoft.com/office/drawing/2014/main" id="{E807F1C1-A3BE-7736-09DB-75B69A50A3CC}"/>
              </a:ext>
            </a:extLst>
          </p:cNvPr>
          <p:cNvGraphicFramePr>
            <a:graphicFrameLocks noGrp="1"/>
          </p:cNvGraphicFramePr>
          <p:nvPr>
            <p:extLst>
              <p:ext uri="{D42A27DB-BD31-4B8C-83A1-F6EECF244321}">
                <p14:modId xmlns:p14="http://schemas.microsoft.com/office/powerpoint/2010/main" val="4212902207"/>
              </p:ext>
            </p:extLst>
          </p:nvPr>
        </p:nvGraphicFramePr>
        <p:xfrm>
          <a:off x="7394712" y="1690689"/>
          <a:ext cx="4645106" cy="4716224"/>
        </p:xfrm>
        <a:graphic>
          <a:graphicData uri="http://schemas.openxmlformats.org/drawingml/2006/table">
            <a:tbl>
              <a:tblPr firstRow="1" firstCol="1" bandRow="1">
                <a:tableStyleId>{5C22544A-7EE6-4342-B048-85BDC9FD1C3A}</a:tableStyleId>
              </a:tblPr>
              <a:tblGrid>
                <a:gridCol w="1139688">
                  <a:extLst>
                    <a:ext uri="{9D8B030D-6E8A-4147-A177-3AD203B41FA5}">
                      <a16:colId xmlns:a16="http://schemas.microsoft.com/office/drawing/2014/main" val="549695110"/>
                    </a:ext>
                  </a:extLst>
                </a:gridCol>
                <a:gridCol w="1956706">
                  <a:extLst>
                    <a:ext uri="{9D8B030D-6E8A-4147-A177-3AD203B41FA5}">
                      <a16:colId xmlns:a16="http://schemas.microsoft.com/office/drawing/2014/main" val="3616554890"/>
                    </a:ext>
                  </a:extLst>
                </a:gridCol>
                <a:gridCol w="1548712">
                  <a:extLst>
                    <a:ext uri="{9D8B030D-6E8A-4147-A177-3AD203B41FA5}">
                      <a16:colId xmlns:a16="http://schemas.microsoft.com/office/drawing/2014/main" val="2461104704"/>
                    </a:ext>
                  </a:extLst>
                </a:gridCol>
              </a:tblGrid>
              <a:tr h="407843">
                <a:tc>
                  <a:txBody>
                    <a:bodyPr/>
                    <a:lstStyle/>
                    <a:p>
                      <a:pPr marL="0" marR="0" algn="ctr">
                        <a:lnSpc>
                          <a:spcPct val="107000"/>
                        </a:lnSpc>
                        <a:spcBef>
                          <a:spcPts val="0"/>
                        </a:spcBef>
                        <a:spcAft>
                          <a:spcPts val="0"/>
                        </a:spcAft>
                      </a:pPr>
                      <a:r>
                        <a:rPr lang="en-GB" sz="2000">
                          <a:effectLst/>
                        </a:rPr>
                        <a:t>Pair</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000">
                          <a:effectLst/>
                        </a:rPr>
                        <a:t>Programmed Material</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2000" dirty="0">
                          <a:effectLst/>
                        </a:rPr>
                        <a:t>Lectured</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7666367"/>
                  </a:ext>
                </a:extLst>
              </a:tr>
              <a:tr h="407843">
                <a:tc>
                  <a:txBody>
                    <a:bodyPr/>
                    <a:lstStyle/>
                    <a:p>
                      <a:pPr marL="0" marR="0" algn="ctr">
                        <a:lnSpc>
                          <a:spcPct val="107000"/>
                        </a:lnSpc>
                        <a:spcBef>
                          <a:spcPts val="0"/>
                        </a:spcBef>
                        <a:spcAft>
                          <a:spcPts val="0"/>
                        </a:spcAft>
                      </a:pPr>
                      <a:r>
                        <a:rPr lang="en-GB" sz="1600" b="1">
                          <a:effectLst/>
                        </a:rPr>
                        <a:t>1</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76</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81</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0340059"/>
                  </a:ext>
                </a:extLst>
              </a:tr>
              <a:tr h="407843">
                <a:tc>
                  <a:txBody>
                    <a:bodyPr/>
                    <a:lstStyle/>
                    <a:p>
                      <a:pPr marL="0" marR="0" algn="ctr">
                        <a:lnSpc>
                          <a:spcPct val="107000"/>
                        </a:lnSpc>
                        <a:spcBef>
                          <a:spcPts val="0"/>
                        </a:spcBef>
                        <a:spcAft>
                          <a:spcPts val="0"/>
                        </a:spcAft>
                      </a:pPr>
                      <a:r>
                        <a:rPr lang="en-GB" sz="1600" b="1">
                          <a:effectLst/>
                        </a:rPr>
                        <a:t>2</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60</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52</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42531686"/>
                  </a:ext>
                </a:extLst>
              </a:tr>
              <a:tr h="407843">
                <a:tc>
                  <a:txBody>
                    <a:bodyPr/>
                    <a:lstStyle/>
                    <a:p>
                      <a:pPr marL="0" marR="0" algn="ctr">
                        <a:lnSpc>
                          <a:spcPct val="107000"/>
                        </a:lnSpc>
                        <a:spcBef>
                          <a:spcPts val="0"/>
                        </a:spcBef>
                        <a:spcAft>
                          <a:spcPts val="0"/>
                        </a:spcAft>
                      </a:pPr>
                      <a:r>
                        <a:rPr lang="en-GB" sz="1600" b="1">
                          <a:effectLst/>
                        </a:rPr>
                        <a:t>3</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85</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87</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47179295"/>
                  </a:ext>
                </a:extLst>
              </a:tr>
              <a:tr h="407843">
                <a:tc>
                  <a:txBody>
                    <a:bodyPr/>
                    <a:lstStyle/>
                    <a:p>
                      <a:pPr marL="0" marR="0" algn="ctr">
                        <a:lnSpc>
                          <a:spcPct val="107000"/>
                        </a:lnSpc>
                        <a:spcBef>
                          <a:spcPts val="0"/>
                        </a:spcBef>
                        <a:spcAft>
                          <a:spcPts val="0"/>
                        </a:spcAft>
                      </a:pPr>
                      <a:r>
                        <a:rPr lang="en-GB" sz="1600" b="1">
                          <a:effectLst/>
                        </a:rPr>
                        <a:t>4</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58</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70</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37295535"/>
                  </a:ext>
                </a:extLst>
              </a:tr>
              <a:tr h="407843">
                <a:tc>
                  <a:txBody>
                    <a:bodyPr/>
                    <a:lstStyle/>
                    <a:p>
                      <a:pPr marL="0" marR="0" algn="ctr">
                        <a:lnSpc>
                          <a:spcPct val="107000"/>
                        </a:lnSpc>
                        <a:spcBef>
                          <a:spcPts val="0"/>
                        </a:spcBef>
                        <a:spcAft>
                          <a:spcPts val="0"/>
                        </a:spcAft>
                      </a:pPr>
                      <a:r>
                        <a:rPr lang="en-GB" sz="1600" b="1">
                          <a:effectLst/>
                        </a:rPr>
                        <a:t>5</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91</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86</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7465099"/>
                  </a:ext>
                </a:extLst>
              </a:tr>
              <a:tr h="407843">
                <a:tc>
                  <a:txBody>
                    <a:bodyPr/>
                    <a:lstStyle/>
                    <a:p>
                      <a:pPr marL="0" marR="0" algn="ctr">
                        <a:lnSpc>
                          <a:spcPct val="107000"/>
                        </a:lnSpc>
                        <a:spcBef>
                          <a:spcPts val="0"/>
                        </a:spcBef>
                        <a:spcAft>
                          <a:spcPts val="0"/>
                        </a:spcAft>
                      </a:pPr>
                      <a:r>
                        <a:rPr lang="en-GB" sz="1600" b="1">
                          <a:effectLst/>
                        </a:rPr>
                        <a:t>6</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75</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77</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92878735"/>
                  </a:ext>
                </a:extLst>
              </a:tr>
              <a:tr h="407843">
                <a:tc>
                  <a:txBody>
                    <a:bodyPr/>
                    <a:lstStyle/>
                    <a:p>
                      <a:pPr marL="0" marR="0" algn="ctr">
                        <a:lnSpc>
                          <a:spcPct val="107000"/>
                        </a:lnSpc>
                        <a:spcBef>
                          <a:spcPts val="0"/>
                        </a:spcBef>
                        <a:spcAft>
                          <a:spcPts val="0"/>
                        </a:spcAft>
                      </a:pPr>
                      <a:r>
                        <a:rPr lang="en-GB" sz="1600" b="1">
                          <a:effectLst/>
                        </a:rPr>
                        <a:t>7</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82</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90</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66097885"/>
                  </a:ext>
                </a:extLst>
              </a:tr>
              <a:tr h="407843">
                <a:tc>
                  <a:txBody>
                    <a:bodyPr/>
                    <a:lstStyle/>
                    <a:p>
                      <a:pPr marL="0" marR="0" algn="ctr">
                        <a:lnSpc>
                          <a:spcPct val="107000"/>
                        </a:lnSpc>
                        <a:spcBef>
                          <a:spcPts val="0"/>
                        </a:spcBef>
                        <a:spcAft>
                          <a:spcPts val="0"/>
                        </a:spcAft>
                      </a:pPr>
                      <a:r>
                        <a:rPr lang="en-GB" sz="1600" b="1">
                          <a:effectLst/>
                        </a:rPr>
                        <a:t>8</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64</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63</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45268374"/>
                  </a:ext>
                </a:extLst>
              </a:tr>
              <a:tr h="407843">
                <a:tc>
                  <a:txBody>
                    <a:bodyPr/>
                    <a:lstStyle/>
                    <a:p>
                      <a:pPr marL="0" marR="0" algn="ctr">
                        <a:lnSpc>
                          <a:spcPct val="107000"/>
                        </a:lnSpc>
                        <a:spcBef>
                          <a:spcPts val="0"/>
                        </a:spcBef>
                        <a:spcAft>
                          <a:spcPts val="0"/>
                        </a:spcAft>
                      </a:pPr>
                      <a:r>
                        <a:rPr lang="en-GB" sz="1600" b="1">
                          <a:effectLst/>
                        </a:rPr>
                        <a:t>9</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79</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85</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05444413"/>
                  </a:ext>
                </a:extLst>
              </a:tr>
              <a:tr h="407843">
                <a:tc>
                  <a:txBody>
                    <a:bodyPr/>
                    <a:lstStyle/>
                    <a:p>
                      <a:pPr marL="0" marR="0" algn="ctr">
                        <a:lnSpc>
                          <a:spcPct val="107000"/>
                        </a:lnSpc>
                        <a:spcBef>
                          <a:spcPts val="0"/>
                        </a:spcBef>
                        <a:spcAft>
                          <a:spcPts val="0"/>
                        </a:spcAft>
                      </a:pPr>
                      <a:r>
                        <a:rPr lang="en-GB" sz="1600" b="1">
                          <a:effectLst/>
                        </a:rPr>
                        <a:t>10</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a:effectLst/>
                        </a:rPr>
                        <a:t>88</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GB" sz="1600" b="1" dirty="0">
                          <a:effectLst/>
                        </a:rPr>
                        <a:t>83</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5252481"/>
                  </a:ext>
                </a:extLst>
              </a:tr>
            </a:tbl>
          </a:graphicData>
        </a:graphic>
      </p:graphicFrame>
    </p:spTree>
    <p:extLst>
      <p:ext uri="{BB962C8B-B14F-4D97-AF65-F5344CB8AC3E}">
        <p14:creationId xmlns:p14="http://schemas.microsoft.com/office/powerpoint/2010/main" val="1920712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4. Estimation of Population Proportion</a:t>
            </a:r>
            <a:br>
              <a:rPr lang="LID4096" dirty="0"/>
            </a:b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192696"/>
                <a:ext cx="11158329" cy="4984267"/>
              </a:xfrm>
            </p:spPr>
            <p:txBody>
              <a:bodyPr>
                <a:normAutofit lnSpcReduction="10000"/>
              </a:bodyPr>
              <a:lstStyle/>
              <a:p>
                <a:pPr eaLnBrk="1" hangingPunct="1"/>
                <a:r>
                  <a:rPr lang="en-CA" altLang="LID4096" sz="2800" dirty="0"/>
                  <a:t>When </a:t>
                </a:r>
                <a:r>
                  <a:rPr lang="en-CA" altLang="LID4096" sz="2800" i="1" dirty="0"/>
                  <a:t>n </a:t>
                </a:r>
                <a:r>
                  <a:rPr lang="en-CA" altLang="LID4096" sz="2800" dirty="0"/>
                  <a:t>is large, the (1-</a:t>
                </a:r>
                <a:r>
                  <a:rPr lang="el-GR" altLang="LID4096" sz="2800" dirty="0"/>
                  <a:t>α</a:t>
                </a:r>
                <a:r>
                  <a:rPr lang="en-CA" altLang="LID4096" sz="2800" dirty="0"/>
                  <a:t>)100% confidence interval for estimating </a:t>
                </a:r>
                <a:r>
                  <a:rPr lang="en-CA" altLang="LID4096" sz="2800" i="1" dirty="0"/>
                  <a:t>p</a:t>
                </a:r>
                <a:r>
                  <a:rPr lang="en-CA" altLang="LID4096" sz="2800" dirty="0"/>
                  <a:t>, the proportion of a population with a particular characteristic, is </a:t>
                </a:r>
              </a:p>
              <a:p>
                <a:pPr marL="0" indent="0" algn="ctr">
                  <a:buNone/>
                </a:pPr>
                <a14:m>
                  <m:oMath xmlns:m="http://schemas.openxmlformats.org/officeDocument/2006/math">
                    <m:acc>
                      <m:accPr>
                        <m:chr m:val="̂"/>
                        <m:ctrlPr>
                          <a:rPr lang="en-CA" altLang="LID4096" sz="2800" i="1" smtClean="0">
                            <a:latin typeface="Cambria Math" panose="02040503050406030204" pitchFamily="18" charset="0"/>
                          </a:rPr>
                        </m:ctrlPr>
                      </m:accPr>
                      <m:e>
                        <m:r>
                          <a:rPr lang="en-GB" altLang="LID4096" sz="2800" b="0" i="1" smtClean="0">
                            <a:latin typeface="Cambria Math" panose="02040503050406030204" pitchFamily="18" charset="0"/>
                          </a:rPr>
                          <m:t>𝑝</m:t>
                        </m:r>
                        <m:r>
                          <a:rPr lang="en-GB" altLang="LID4096" sz="2800" b="0" i="1" smtClean="0">
                            <a:latin typeface="Cambria Math" panose="02040503050406030204" pitchFamily="18" charset="0"/>
                          </a:rPr>
                          <m:t> </m:t>
                        </m:r>
                      </m:e>
                    </m:acc>
                    <m:r>
                      <a:rPr lang="en-GB" altLang="LID4096" sz="2800" b="0" i="1" smtClean="0">
                        <a:latin typeface="Cambria Math" panose="02040503050406030204" pitchFamily="18" charset="0"/>
                      </a:rPr>
                      <m:t>−</m:t>
                    </m:r>
                    <m:sSub>
                      <m:sSubPr>
                        <m:ctrlPr>
                          <a:rPr lang="en-GB" altLang="LID4096" sz="2800" b="0" i="1" smtClean="0">
                            <a:latin typeface="Cambria Math" panose="02040503050406030204" pitchFamily="18" charset="0"/>
                          </a:rPr>
                        </m:ctrlPr>
                      </m:sSubPr>
                      <m:e>
                        <m:r>
                          <a:rPr lang="en-GB" altLang="LID4096" sz="2800" b="0" i="1" smtClean="0">
                            <a:latin typeface="Cambria Math" panose="02040503050406030204" pitchFamily="18" charset="0"/>
                          </a:rPr>
                          <m:t>𝑧</m:t>
                        </m:r>
                      </m:e>
                      <m:sub>
                        <m:f>
                          <m:fPr>
                            <m:ctrlPr>
                              <a:rPr lang="en-GB" altLang="LID4096" sz="2800" b="0" i="1" smtClean="0">
                                <a:latin typeface="Cambria Math" panose="02040503050406030204" pitchFamily="18" charset="0"/>
                              </a:rPr>
                            </m:ctrlPr>
                          </m:fPr>
                          <m:num>
                            <m:r>
                              <a:rPr lang="en-GB" altLang="LID4096" sz="2800" b="0" i="1" smtClean="0">
                                <a:latin typeface="Cambria Math" panose="02040503050406030204" pitchFamily="18" charset="0"/>
                                <a:ea typeface="Cambria Math" panose="02040503050406030204" pitchFamily="18" charset="0"/>
                              </a:rPr>
                              <m:t>𝛼</m:t>
                            </m:r>
                          </m:num>
                          <m:den>
                            <m:r>
                              <a:rPr lang="en-GB" altLang="LID4096" sz="2800" b="0" i="1" smtClean="0">
                                <a:latin typeface="Cambria Math" panose="02040503050406030204" pitchFamily="18" charset="0"/>
                              </a:rPr>
                              <m:t>2</m:t>
                            </m:r>
                          </m:den>
                        </m:f>
                      </m:sub>
                    </m:sSub>
                    <m:rad>
                      <m:radPr>
                        <m:degHide m:val="on"/>
                        <m:ctrlPr>
                          <a:rPr lang="en-GB" altLang="LID4096" sz="2800" b="0" i="1" smtClean="0">
                            <a:latin typeface="Cambria Math" panose="02040503050406030204" pitchFamily="18" charset="0"/>
                          </a:rPr>
                        </m:ctrlPr>
                      </m:radPr>
                      <m:deg/>
                      <m:e>
                        <m:f>
                          <m:fPr>
                            <m:ctrlPr>
                              <a:rPr lang="en-GB" altLang="LID4096" sz="2800" b="0" i="1" smtClean="0">
                                <a:latin typeface="Cambria Math" panose="02040503050406030204" pitchFamily="18" charset="0"/>
                              </a:rPr>
                            </m:ctrlPr>
                          </m:fPr>
                          <m:num>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d>
                              <m:dPr>
                                <m:ctrlPr>
                                  <a:rPr lang="en-GB" altLang="LID4096" sz="2800" b="0" i="1" smtClean="0">
                                    <a:latin typeface="Cambria Math" panose="02040503050406030204" pitchFamily="18" charset="0"/>
                                  </a:rPr>
                                </m:ctrlPr>
                              </m:dPr>
                              <m:e>
                                <m:r>
                                  <a:rPr lang="en-GB" altLang="LID4096" sz="2800" b="0" i="1" smtClean="0">
                                    <a:latin typeface="Cambria Math" panose="02040503050406030204" pitchFamily="18" charset="0"/>
                                  </a:rPr>
                                  <m:t>1−</m:t>
                                </m:r>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d>
                          </m:num>
                          <m:den>
                            <m:r>
                              <a:rPr lang="en-GB" altLang="LID4096" sz="2800" b="0" i="1" smtClean="0">
                                <a:latin typeface="Cambria Math" panose="02040503050406030204" pitchFamily="18" charset="0"/>
                              </a:rPr>
                              <m:t>𝑛</m:t>
                            </m:r>
                          </m:den>
                        </m:f>
                      </m:e>
                    </m:rad>
                    <m:r>
                      <a:rPr lang="en-GB" altLang="LID4096" sz="2800" b="0" i="1" smtClean="0">
                        <a:latin typeface="Cambria Math" panose="02040503050406030204" pitchFamily="18" charset="0"/>
                        <a:ea typeface="Cambria Math" panose="02040503050406030204" pitchFamily="18" charset="0"/>
                      </a:rPr>
                      <m:t>&lt;</m:t>
                    </m:r>
                    <m:r>
                      <a:rPr lang="en-GB" altLang="LID4096" sz="2800" b="0" i="1" smtClean="0">
                        <a:latin typeface="Cambria Math" panose="02040503050406030204" pitchFamily="18" charset="0"/>
                        <a:ea typeface="Cambria Math" panose="02040503050406030204" pitchFamily="18" charset="0"/>
                      </a:rPr>
                      <m:t>𝑝</m:t>
                    </m:r>
                    <m:r>
                      <a:rPr lang="en-GB" altLang="LID4096" sz="2800" b="0" i="1" smtClean="0">
                        <a:latin typeface="Cambria Math" panose="02040503050406030204" pitchFamily="18" charset="0"/>
                        <a:ea typeface="Cambria Math" panose="02040503050406030204" pitchFamily="18" charset="0"/>
                      </a:rPr>
                      <m:t>&lt;</m:t>
                    </m:r>
                  </m:oMath>
                </a14:m>
                <a:r>
                  <a:rPr lang="en-CA" altLang="LID4096" dirty="0"/>
                  <a:t> </a:t>
                </a:r>
                <a14:m>
                  <m:oMath xmlns:m="http://schemas.openxmlformats.org/officeDocument/2006/math">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r>
                      <a:rPr lang="en-GB" altLang="LID4096" b="0" i="1" smtClean="0">
                        <a:latin typeface="Cambria Math" panose="02040503050406030204" pitchFamily="18" charset="0"/>
                      </a:rPr>
                      <m:t>+</m:t>
                    </m:r>
                    <m:sSub>
                      <m:sSubPr>
                        <m:ctrlPr>
                          <a:rPr lang="en-GB" altLang="LID4096" i="1">
                            <a:latin typeface="Cambria Math" panose="02040503050406030204" pitchFamily="18" charset="0"/>
                          </a:rPr>
                        </m:ctrlPr>
                      </m:sSubPr>
                      <m:e>
                        <m:r>
                          <a:rPr lang="en-GB" altLang="LID4096" i="1">
                            <a:latin typeface="Cambria Math" panose="02040503050406030204" pitchFamily="18" charset="0"/>
                          </a:rPr>
                          <m:t>𝑧</m:t>
                        </m:r>
                      </m:e>
                      <m:sub>
                        <m:f>
                          <m:fPr>
                            <m:ctrlPr>
                              <a:rPr lang="en-GB" altLang="LID4096" i="1">
                                <a:latin typeface="Cambria Math" panose="02040503050406030204" pitchFamily="18" charset="0"/>
                              </a:rPr>
                            </m:ctrlPr>
                          </m:fPr>
                          <m:num>
                            <m:r>
                              <a:rPr lang="en-GB" altLang="LID4096" i="1">
                                <a:latin typeface="Cambria Math" panose="02040503050406030204" pitchFamily="18" charset="0"/>
                                <a:ea typeface="Cambria Math" panose="02040503050406030204" pitchFamily="18" charset="0"/>
                              </a:rPr>
                              <m:t>𝛼</m:t>
                            </m:r>
                          </m:num>
                          <m:den>
                            <m:r>
                              <a:rPr lang="en-GB" altLang="LID4096" i="1">
                                <a:latin typeface="Cambria Math" panose="02040503050406030204" pitchFamily="18" charset="0"/>
                              </a:rPr>
                              <m:t>2</m:t>
                            </m:r>
                          </m:den>
                        </m:f>
                      </m:sub>
                    </m:sSub>
                    <m:rad>
                      <m:radPr>
                        <m:degHide m:val="on"/>
                        <m:ctrlPr>
                          <a:rPr lang="en-GB" altLang="LID4096" i="1">
                            <a:latin typeface="Cambria Math" panose="02040503050406030204" pitchFamily="18" charset="0"/>
                          </a:rPr>
                        </m:ctrlPr>
                      </m:radPr>
                      <m:deg/>
                      <m:e>
                        <m:f>
                          <m:fPr>
                            <m:ctrlPr>
                              <a:rPr lang="en-GB" altLang="LID4096" i="1">
                                <a:latin typeface="Cambria Math" panose="02040503050406030204" pitchFamily="18" charset="0"/>
                              </a:rPr>
                            </m:ctrlPr>
                          </m:fPr>
                          <m:num>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d>
                              <m:dPr>
                                <m:ctrlPr>
                                  <a:rPr lang="en-GB" altLang="LID4096" i="1">
                                    <a:latin typeface="Cambria Math" panose="02040503050406030204" pitchFamily="18" charset="0"/>
                                  </a:rPr>
                                </m:ctrlPr>
                              </m:dPr>
                              <m:e>
                                <m:r>
                                  <a:rPr lang="en-GB" altLang="LID4096" i="1">
                                    <a:latin typeface="Cambria Math" panose="02040503050406030204" pitchFamily="18" charset="0"/>
                                  </a:rPr>
                                  <m:t>1−</m:t>
                                </m:r>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d>
                          </m:num>
                          <m:den>
                            <m:r>
                              <a:rPr lang="en-GB" altLang="LID4096" i="1">
                                <a:latin typeface="Cambria Math" panose="02040503050406030204" pitchFamily="18" charset="0"/>
                              </a:rPr>
                              <m:t>𝑛</m:t>
                            </m:r>
                          </m:den>
                        </m:f>
                      </m:e>
                    </m:rad>
                  </m:oMath>
                </a14:m>
                <a:endParaRPr lang="en-CA" altLang="LID4096" sz="2800" dirty="0"/>
              </a:p>
              <a:p>
                <a:pPr eaLnBrk="1" hangingPunct="1">
                  <a:buFont typeface="Arial" panose="020B0604020202020204" pitchFamily="34" charset="0"/>
                  <a:buNone/>
                </a:pPr>
                <a:r>
                  <a:rPr lang="en-CA" altLang="LID4096" sz="2800" dirty="0"/>
                  <a:t>	where </a:t>
                </a:r>
                <a14:m>
                  <m:oMath xmlns:m="http://schemas.openxmlformats.org/officeDocument/2006/math">
                    <m:acc>
                      <m:accPr>
                        <m:chr m:val="̂"/>
                        <m:ctrlPr>
                          <a:rPr lang="en-CA" altLang="LID4096" sz="2800" i="1" smtClean="0">
                            <a:latin typeface="Cambria Math" panose="02040503050406030204" pitchFamily="18" charset="0"/>
                          </a:rPr>
                        </m:ctrlPr>
                      </m:accPr>
                      <m:e>
                        <m:r>
                          <a:rPr lang="en-GB" altLang="LID4096" sz="2800" b="0" i="1" smtClean="0">
                            <a:latin typeface="Cambria Math" panose="02040503050406030204" pitchFamily="18" charset="0"/>
                          </a:rPr>
                          <m:t>𝑝</m:t>
                        </m:r>
                        <m:r>
                          <a:rPr lang="en-GB" altLang="LID4096" sz="2800" b="0" i="1" smtClean="0">
                            <a:latin typeface="Cambria Math" panose="02040503050406030204" pitchFamily="18" charset="0"/>
                          </a:rPr>
                          <m:t> </m:t>
                        </m:r>
                      </m:e>
                    </m:acc>
                  </m:oMath>
                </a14:m>
                <a:r>
                  <a:rPr lang="en-CA" altLang="LID4096" sz="2800" dirty="0"/>
                  <a:t>is the sample proportion and </a:t>
                </a:r>
                <a:r>
                  <a:rPr lang="en-CA" altLang="LID4096" sz="2800" i="1" dirty="0"/>
                  <a:t>x</a:t>
                </a:r>
                <a:r>
                  <a:rPr lang="en-CA" altLang="LID4096" sz="2800" dirty="0"/>
                  <a:t> is the number of sample elements with the characteristic.  </a:t>
                </a:r>
              </a:p>
              <a:p>
                <a:pPr eaLnBrk="1" hangingPunct="1"/>
                <a:r>
                  <a:rPr lang="en-CA" altLang="LID4096" sz="2800" dirty="0"/>
                  <a:t>For this interval estimate, large </a:t>
                </a:r>
                <a:r>
                  <a:rPr lang="en-CA" altLang="LID4096" sz="2800" i="1" dirty="0"/>
                  <a:t>n</a:t>
                </a:r>
                <a:r>
                  <a:rPr lang="en-CA" altLang="LID4096" sz="2800" dirty="0"/>
                  <a:t> means</a:t>
                </a:r>
              </a:p>
              <a:p>
                <a:pPr marL="0" indent="0" eaLnBrk="1" hangingPunct="1">
                  <a:buNone/>
                </a:pPr>
                <a:endParaRPr lang="en-CA" altLang="LID4096" sz="2800" dirty="0"/>
              </a:p>
              <a:p>
                <a:pPr marL="0" indent="0">
                  <a:buNone/>
                </a:pPr>
                <a14:m>
                  <m:oMathPara xmlns:m="http://schemas.openxmlformats.org/officeDocument/2006/math">
                    <m:oMathParaPr>
                      <m:jc m:val="centerGroup"/>
                    </m:oMathParaPr>
                    <m:oMath xmlns:m="http://schemas.openxmlformats.org/officeDocument/2006/math">
                      <m:r>
                        <a:rPr lang="en-GB" altLang="LID4096" sz="2800" b="0" i="1" smtClean="0">
                          <a:latin typeface="Cambria Math" panose="02040503050406030204" pitchFamily="18" charset="0"/>
                        </a:rPr>
                        <m:t>𝑛</m:t>
                      </m:r>
                      <m:acc>
                        <m:accPr>
                          <m:chr m:val="̂"/>
                          <m:ctrlPr>
                            <a:rPr lang="en-CA" altLang="LID4096" sz="2800" i="1" smtClean="0">
                              <a:latin typeface="Cambria Math" panose="02040503050406030204" pitchFamily="18" charset="0"/>
                            </a:rPr>
                          </m:ctrlPr>
                        </m:accPr>
                        <m:e>
                          <m:r>
                            <a:rPr lang="en-GB" altLang="LID4096" sz="2800" b="0" i="1" smtClean="0">
                              <a:latin typeface="Cambria Math" panose="02040503050406030204" pitchFamily="18" charset="0"/>
                            </a:rPr>
                            <m:t>𝑝</m:t>
                          </m:r>
                          <m:r>
                            <a:rPr lang="en-GB" altLang="LID4096" sz="2800" b="0" i="1" smtClean="0">
                              <a:latin typeface="Cambria Math" panose="02040503050406030204" pitchFamily="18" charset="0"/>
                            </a:rPr>
                            <m:t> </m:t>
                          </m:r>
                        </m:e>
                      </m:acc>
                      <m:r>
                        <a:rPr lang="en-GB" altLang="LID4096" sz="2800" b="0" i="1" smtClean="0">
                          <a:latin typeface="Cambria Math" panose="02040503050406030204" pitchFamily="18" charset="0"/>
                          <a:ea typeface="Cambria Math" panose="02040503050406030204" pitchFamily="18" charset="0"/>
                        </a:rPr>
                        <m:t>≥5 </m:t>
                      </m:r>
                      <m:r>
                        <a:rPr lang="en-GB" altLang="LID4096" sz="2800" b="0" i="1" smtClean="0">
                          <a:latin typeface="Cambria Math" panose="02040503050406030204" pitchFamily="18" charset="0"/>
                          <a:ea typeface="Cambria Math" panose="02040503050406030204" pitchFamily="18" charset="0"/>
                        </a:rPr>
                        <m:t>𝑎𝑛𝑑</m:t>
                      </m:r>
                      <m:r>
                        <a:rPr lang="en-GB" altLang="LID4096" sz="2800" b="0" i="1" smtClean="0">
                          <a:latin typeface="Cambria Math" panose="02040503050406030204" pitchFamily="18" charset="0"/>
                          <a:ea typeface="Cambria Math" panose="02040503050406030204" pitchFamily="18" charset="0"/>
                        </a:rPr>
                        <m:t> </m:t>
                      </m:r>
                      <m:r>
                        <a:rPr lang="en-GB" altLang="LID4096" sz="2800" b="0" i="1" smtClean="0">
                          <a:latin typeface="Cambria Math" panose="02040503050406030204" pitchFamily="18" charset="0"/>
                          <a:ea typeface="Cambria Math" panose="02040503050406030204" pitchFamily="18" charset="0"/>
                        </a:rPr>
                        <m:t>𝑛</m:t>
                      </m:r>
                      <m:d>
                        <m:dPr>
                          <m:ctrlPr>
                            <a:rPr lang="en-GB" altLang="LID4096" sz="2800" b="0" i="1" smtClean="0">
                              <a:latin typeface="Cambria Math" panose="02040503050406030204" pitchFamily="18" charset="0"/>
                              <a:ea typeface="Cambria Math" panose="02040503050406030204" pitchFamily="18" charset="0"/>
                            </a:rPr>
                          </m:ctrlPr>
                        </m:dPr>
                        <m:e>
                          <m:r>
                            <a:rPr lang="en-GB" altLang="LID4096" sz="2800" b="0" i="1" smtClean="0">
                              <a:latin typeface="Cambria Math" panose="02040503050406030204" pitchFamily="18" charset="0"/>
                              <a:ea typeface="Cambria Math" panose="02040503050406030204" pitchFamily="18" charset="0"/>
                            </a:rPr>
                            <m:t>1−</m:t>
                          </m:r>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d>
                      <m:r>
                        <a:rPr lang="en-GB" altLang="LID4096" sz="2800" b="0" i="1" smtClean="0">
                          <a:latin typeface="Cambria Math" panose="02040503050406030204" pitchFamily="18" charset="0"/>
                          <a:ea typeface="Cambria Math" panose="02040503050406030204" pitchFamily="18" charset="0"/>
                        </a:rPr>
                        <m:t>≥5</m:t>
                      </m:r>
                    </m:oMath>
                  </m:oMathPara>
                </a14:m>
                <a:endParaRPr lang="en-CA" altLang="LID4096" sz="2800" dirty="0"/>
              </a:p>
              <a:p>
                <a:pPr eaLnBrk="1" hangingPunct="1"/>
                <a:endParaRPr lang="en-CA" altLang="LID4096" sz="2800" dirty="0"/>
              </a:p>
              <a:p>
                <a:pPr eaLnBrk="1" hangingPunct="1">
                  <a:buFont typeface="Arial" panose="020B0604020202020204" pitchFamily="34" charset="0"/>
                  <a:buNone/>
                </a:pPr>
                <a:r>
                  <a:rPr lang="en-CA" altLang="LID4096" sz="2800" dirty="0"/>
                  <a:t>	For smaller </a:t>
                </a:r>
                <a:r>
                  <a:rPr lang="en-CA" altLang="LID4096" sz="2800" i="1" dirty="0"/>
                  <a:t>n</a:t>
                </a:r>
                <a:r>
                  <a:rPr lang="en-CA" altLang="LID4096" sz="2800" dirty="0"/>
                  <a:t>, the interval will be wider than given by this formula.</a:t>
                </a:r>
              </a:p>
              <a:p>
                <a:pPr marL="0" indent="0" algn="just">
                  <a:buNone/>
                </a:pPr>
                <a:endParaRPr lang="en-GB" dirty="0"/>
              </a:p>
            </p:txBody>
          </p:sp>
        </mc:Choice>
        <mc:Fallback xmlns="">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192696"/>
                <a:ext cx="11158329" cy="4984267"/>
              </a:xfr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3911408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4. Estimation of Population Proportion…</a:t>
            </a:r>
            <a:br>
              <a:rPr lang="LID4096" dirty="0"/>
            </a:b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192696"/>
                <a:ext cx="11158329" cy="4984267"/>
              </a:xfrm>
            </p:spPr>
            <p:txBody>
              <a:bodyPr>
                <a:normAutofit lnSpcReduction="10000"/>
              </a:bodyPr>
              <a:lstStyle/>
              <a:p>
                <a:pPr algn="just"/>
                <a:r>
                  <a:rPr lang="en-GB" dirty="0"/>
                  <a:t>Most of the time, however, </a:t>
                </a:r>
                <a14:m>
                  <m:oMath xmlns:m="http://schemas.openxmlformats.org/officeDocument/2006/math">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oMath>
                </a14:m>
                <a:r>
                  <a:rPr lang="en-GB" dirty="0"/>
                  <a:t> will not be exactly equal to p and the point estimate will be in error. </a:t>
                </a:r>
              </a:p>
              <a:p>
                <a:pPr algn="just"/>
                <a:endParaRPr lang="en-GB" dirty="0"/>
              </a:p>
              <a:p>
                <a:pPr algn="just"/>
                <a:endParaRPr lang="en-GB" dirty="0"/>
              </a:p>
              <a:p>
                <a:pPr algn="just"/>
                <a:r>
                  <a:rPr lang="en-GB" dirty="0"/>
                  <a:t>The size of this error will be the positive difference that separates p and</a:t>
                </a:r>
                <a:r>
                  <a:rPr lang="en-CA" altLang="LID4096" sz="2800" dirty="0"/>
                  <a:t> </a:t>
                </a:r>
                <a14:m>
                  <m:oMath xmlns:m="http://schemas.openxmlformats.org/officeDocument/2006/math">
                    <m:acc>
                      <m:accPr>
                        <m:chr m:val="̂"/>
                        <m:ctrlPr>
                          <a:rPr lang="en-CA" altLang="LID4096" sz="2800" i="1" smtClean="0">
                            <a:latin typeface="Cambria Math" panose="02040503050406030204" pitchFamily="18" charset="0"/>
                          </a:rPr>
                        </m:ctrlPr>
                      </m:accPr>
                      <m:e>
                        <m:r>
                          <a:rPr lang="en-GB" altLang="LID4096" sz="2800" b="0" i="1" smtClean="0">
                            <a:latin typeface="Cambria Math" panose="02040503050406030204" pitchFamily="18" charset="0"/>
                          </a:rPr>
                          <m:t>𝑝</m:t>
                        </m:r>
                        <m:r>
                          <a:rPr lang="en-GB" altLang="LID4096" sz="2800" b="0" i="1" smtClean="0">
                            <a:latin typeface="Cambria Math" panose="02040503050406030204" pitchFamily="18" charset="0"/>
                          </a:rPr>
                          <m:t> </m:t>
                        </m:r>
                      </m:e>
                    </m:acc>
                  </m:oMath>
                </a14:m>
                <a:r>
                  <a:rPr lang="en-GB" dirty="0"/>
                  <a:t>, and we can be 100(1 − α)% confident that this difference will not exceed </a:t>
                </a:r>
                <a14:m>
                  <m:oMath xmlns:m="http://schemas.openxmlformats.org/officeDocument/2006/math">
                    <m:sSub>
                      <m:sSubPr>
                        <m:ctrlPr>
                          <a:rPr lang="en-GB" altLang="LID4096" i="1">
                            <a:latin typeface="Cambria Math" panose="02040503050406030204" pitchFamily="18" charset="0"/>
                          </a:rPr>
                        </m:ctrlPr>
                      </m:sSubPr>
                      <m:e>
                        <m:r>
                          <a:rPr lang="en-GB" altLang="LID4096" i="1">
                            <a:latin typeface="Cambria Math" panose="02040503050406030204" pitchFamily="18" charset="0"/>
                          </a:rPr>
                          <m:t>𝑧</m:t>
                        </m:r>
                      </m:e>
                      <m:sub>
                        <m:f>
                          <m:fPr>
                            <m:ctrlPr>
                              <a:rPr lang="en-GB" altLang="LID4096" i="1">
                                <a:latin typeface="Cambria Math" panose="02040503050406030204" pitchFamily="18" charset="0"/>
                              </a:rPr>
                            </m:ctrlPr>
                          </m:fPr>
                          <m:num>
                            <m:r>
                              <a:rPr lang="en-GB" altLang="LID4096" i="1">
                                <a:latin typeface="Cambria Math" panose="02040503050406030204" pitchFamily="18" charset="0"/>
                                <a:ea typeface="Cambria Math" panose="02040503050406030204" pitchFamily="18" charset="0"/>
                              </a:rPr>
                              <m:t>𝛼</m:t>
                            </m:r>
                          </m:num>
                          <m:den>
                            <m:r>
                              <a:rPr lang="en-GB" altLang="LID4096" i="1">
                                <a:latin typeface="Cambria Math" panose="02040503050406030204" pitchFamily="18" charset="0"/>
                              </a:rPr>
                              <m:t>2</m:t>
                            </m:r>
                          </m:den>
                        </m:f>
                      </m:sub>
                    </m:sSub>
                    <m:rad>
                      <m:radPr>
                        <m:degHide m:val="on"/>
                        <m:ctrlPr>
                          <a:rPr lang="en-GB" altLang="LID4096" i="1">
                            <a:latin typeface="Cambria Math" panose="02040503050406030204" pitchFamily="18" charset="0"/>
                          </a:rPr>
                        </m:ctrlPr>
                      </m:radPr>
                      <m:deg/>
                      <m:e>
                        <m:f>
                          <m:fPr>
                            <m:ctrlPr>
                              <a:rPr lang="en-GB" altLang="LID4096" i="1">
                                <a:latin typeface="Cambria Math" panose="02040503050406030204" pitchFamily="18" charset="0"/>
                              </a:rPr>
                            </m:ctrlPr>
                          </m:fPr>
                          <m:num>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d>
                              <m:dPr>
                                <m:ctrlPr>
                                  <a:rPr lang="en-GB" altLang="LID4096" i="1">
                                    <a:latin typeface="Cambria Math" panose="02040503050406030204" pitchFamily="18" charset="0"/>
                                  </a:rPr>
                                </m:ctrlPr>
                              </m:dPr>
                              <m:e>
                                <m:r>
                                  <a:rPr lang="en-GB" altLang="LID4096" i="1">
                                    <a:latin typeface="Cambria Math" panose="02040503050406030204" pitchFamily="18" charset="0"/>
                                  </a:rPr>
                                  <m:t>1−</m:t>
                                </m:r>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d>
                          </m:num>
                          <m:den>
                            <m:r>
                              <a:rPr lang="en-GB" altLang="LID4096" i="1">
                                <a:latin typeface="Cambria Math" panose="02040503050406030204" pitchFamily="18" charset="0"/>
                              </a:rPr>
                              <m:t>𝑛</m:t>
                            </m:r>
                          </m:den>
                        </m:f>
                      </m:e>
                    </m:rad>
                  </m:oMath>
                </a14:m>
                <a:endParaRPr lang="en-GB" dirty="0"/>
              </a:p>
              <a:p>
                <a:pPr algn="l"/>
                <a:r>
                  <a:rPr lang="en-GB" dirty="0"/>
                  <a:t>If </a:t>
                </a:r>
                <a14:m>
                  <m:oMath xmlns:m="http://schemas.openxmlformats.org/officeDocument/2006/math">
                    <m:acc>
                      <m:accPr>
                        <m:chr m:val="̂"/>
                        <m:ctrlPr>
                          <a:rPr lang="en-CA" altLang="LID4096" i="1" smtClean="0">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oMath>
                </a14:m>
                <a:r>
                  <a:rPr lang="en-GB" dirty="0"/>
                  <a:t> is used as an estimate of p, we can be 100(1 − α)% confident that the error will be less than a specified amount </a:t>
                </a:r>
                <a14:m>
                  <m:oMath xmlns:m="http://schemas.openxmlformats.org/officeDocument/2006/math">
                    <m:r>
                      <a:rPr lang="en-GB" i="1" dirty="0" smtClean="0">
                        <a:latin typeface="Cambria Math" panose="02040503050406030204" pitchFamily="18" charset="0"/>
                      </a:rPr>
                      <m:t>𝑒</m:t>
                    </m:r>
                  </m:oMath>
                </a14:m>
                <a:r>
                  <a:rPr lang="en-GB" dirty="0"/>
                  <a:t> when the sample size is approximately</a:t>
                </a:r>
              </a:p>
              <a:p>
                <a:pPr marL="1828800" lvl="4" indent="0">
                  <a:buNone/>
                </a:pPr>
                <a14:m>
                  <m:oMathPara xmlns:m="http://schemas.openxmlformats.org/officeDocument/2006/math">
                    <m:oMathParaPr>
                      <m:jc m:val="center"/>
                    </m:oMathParaPr>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m:t>
                      </m:r>
                      <m:f>
                        <m:fPr>
                          <m:ctrlPr>
                            <a:rPr lang="en-GB" b="0" i="1" smtClean="0">
                              <a:latin typeface="Cambria Math" panose="02040503050406030204" pitchFamily="18" charset="0"/>
                            </a:rPr>
                          </m:ctrlPr>
                        </m:fPr>
                        <m:num>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d>
                            <m:dPr>
                              <m:ctrlPr>
                                <a:rPr lang="en-GB" altLang="LID4096" i="1" smtClean="0">
                                  <a:latin typeface="Cambria Math" panose="02040503050406030204" pitchFamily="18" charset="0"/>
                                </a:rPr>
                              </m:ctrlPr>
                            </m:dPr>
                            <m:e>
                              <m:r>
                                <a:rPr lang="en-GB" altLang="LID4096" b="0" i="1" smtClean="0">
                                  <a:latin typeface="Cambria Math" panose="02040503050406030204" pitchFamily="18" charset="0"/>
                                </a:rPr>
                                <m:t>1−</m:t>
                              </m:r>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d>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b>
                                    <m:sSubPr>
                                      <m:ctrlPr>
                                        <a:rPr lang="en-GB" altLang="LID4096" i="1">
                                          <a:latin typeface="Cambria Math" panose="02040503050406030204" pitchFamily="18" charset="0"/>
                                        </a:rPr>
                                      </m:ctrlPr>
                                    </m:sSubPr>
                                    <m:e>
                                      <m:r>
                                        <a:rPr lang="en-GB" altLang="LID4096" i="1">
                                          <a:latin typeface="Cambria Math" panose="02040503050406030204" pitchFamily="18" charset="0"/>
                                        </a:rPr>
                                        <m:t>𝑧</m:t>
                                      </m:r>
                                    </m:e>
                                    <m:sub>
                                      <m:f>
                                        <m:fPr>
                                          <m:ctrlPr>
                                            <a:rPr lang="en-GB" altLang="LID4096" i="1">
                                              <a:latin typeface="Cambria Math" panose="02040503050406030204" pitchFamily="18" charset="0"/>
                                            </a:rPr>
                                          </m:ctrlPr>
                                        </m:fPr>
                                        <m:num>
                                          <m:r>
                                            <a:rPr lang="en-GB" altLang="LID4096" i="1">
                                              <a:latin typeface="Cambria Math" panose="02040503050406030204" pitchFamily="18" charset="0"/>
                                              <a:ea typeface="Cambria Math" panose="02040503050406030204" pitchFamily="18" charset="0"/>
                                            </a:rPr>
                                            <m:t>𝛼</m:t>
                                          </m:r>
                                        </m:num>
                                        <m:den>
                                          <m:r>
                                            <a:rPr lang="en-GB" altLang="LID4096" i="1">
                                              <a:latin typeface="Cambria Math" panose="02040503050406030204" pitchFamily="18" charset="0"/>
                                            </a:rPr>
                                            <m:t>2</m:t>
                                          </m:r>
                                        </m:den>
                                      </m:f>
                                    </m:sub>
                                  </m:sSub>
                                </m:e>
                              </m:d>
                            </m:e>
                            <m:sup>
                              <m:r>
                                <a:rPr lang="en-GB" b="0" i="1" smtClean="0">
                                  <a:latin typeface="Cambria Math" panose="02040503050406030204" pitchFamily="18" charset="0"/>
                                </a:rPr>
                                <m:t>2</m:t>
                              </m:r>
                            </m:sup>
                          </m:sSup>
                        </m:num>
                        <m:den>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2</m:t>
                              </m:r>
                            </m:sup>
                          </m:sSup>
                        </m:den>
                      </m:f>
                    </m:oMath>
                  </m:oMathPara>
                </a14:m>
                <a:endParaRPr lang="en-GB" dirty="0"/>
              </a:p>
              <a:p>
                <a:pPr algn="l"/>
                <a:endParaRPr lang="en-GB" dirty="0"/>
              </a:p>
            </p:txBody>
          </p:sp>
        </mc:Choice>
        <mc:Fallback xmlns="">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192696"/>
                <a:ext cx="11158329" cy="4984267"/>
              </a:xfrm>
              <a:blipFill>
                <a:blip r:embed="rId2"/>
                <a:stretch>
                  <a:fillRect/>
                </a:stretch>
              </a:blipFill>
            </p:spPr>
            <p:txBody>
              <a:bodyPr/>
              <a:lstStyle/>
              <a:p>
                <a:r>
                  <a:rPr lang="LID4096">
                    <a:noFill/>
                  </a:rPr>
                  <a:t> </a:t>
                </a:r>
              </a:p>
            </p:txBody>
          </p:sp>
        </mc:Fallback>
      </mc:AlternateContent>
      <p:pic>
        <p:nvPicPr>
          <p:cNvPr id="7" name="Picture 6">
            <a:extLst>
              <a:ext uri="{FF2B5EF4-FFF2-40B4-BE49-F238E27FC236}">
                <a16:creationId xmlns:a16="http://schemas.microsoft.com/office/drawing/2014/main" id="{A6EBBAF6-A7DF-71C7-AE71-EEF2FAA06775}"/>
              </a:ext>
            </a:extLst>
          </p:cNvPr>
          <p:cNvPicPr>
            <a:picLocks noChangeAspect="1"/>
          </p:cNvPicPr>
          <p:nvPr/>
        </p:nvPicPr>
        <p:blipFill>
          <a:blip r:embed="rId3"/>
          <a:stretch>
            <a:fillRect/>
          </a:stretch>
        </p:blipFill>
        <p:spPr>
          <a:xfrm>
            <a:off x="3037438" y="2084871"/>
            <a:ext cx="4924425" cy="866775"/>
          </a:xfrm>
          <a:prstGeom prst="rect">
            <a:avLst/>
          </a:prstGeom>
        </p:spPr>
      </p:pic>
    </p:spTree>
    <p:extLst>
      <p:ext uri="{BB962C8B-B14F-4D97-AF65-F5344CB8AC3E}">
        <p14:creationId xmlns:p14="http://schemas.microsoft.com/office/powerpoint/2010/main" val="3234577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4. Estimation of Population Proportion…</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192696"/>
            <a:ext cx="11158329" cy="4984267"/>
          </a:xfrm>
        </p:spPr>
        <p:txBody>
          <a:bodyPr>
            <a:normAutofit/>
          </a:bodyPr>
          <a:lstStyle/>
          <a:p>
            <a:pPr algn="l"/>
            <a:r>
              <a:rPr lang="en-GB" b="1" dirty="0">
                <a:solidFill>
                  <a:schemeClr val="accent1">
                    <a:lumMod val="60000"/>
                    <a:lumOff val="40000"/>
                  </a:schemeClr>
                </a:solidFill>
              </a:rPr>
              <a:t>Example 8: </a:t>
            </a:r>
            <a:r>
              <a:rPr lang="en-GB" sz="3200" b="0" i="0" u="none" strike="noStrike" baseline="0" dirty="0">
                <a:latin typeface="CMR10"/>
              </a:rPr>
              <a:t>In a random sample of </a:t>
            </a:r>
            <a:r>
              <a:rPr lang="en-GB" sz="3200" b="0" i="1" u="none" strike="noStrike" baseline="0" dirty="0">
                <a:latin typeface="CMMI10"/>
              </a:rPr>
              <a:t>n </a:t>
            </a:r>
            <a:r>
              <a:rPr lang="en-GB" sz="3200" b="0" i="0" u="none" strike="noStrike" baseline="0" dirty="0">
                <a:latin typeface="CMR10"/>
              </a:rPr>
              <a:t>= 500 families owning television sets in the city of Hamilton, Canada, it is found that </a:t>
            </a:r>
            <a:r>
              <a:rPr lang="en-GB" sz="3200" b="0" i="1" u="none" strike="noStrike" baseline="0" dirty="0">
                <a:latin typeface="CMMI10"/>
              </a:rPr>
              <a:t>x </a:t>
            </a:r>
            <a:r>
              <a:rPr lang="en-GB" sz="3200" b="0" i="0" u="none" strike="noStrike" baseline="0" dirty="0">
                <a:latin typeface="CMR10"/>
              </a:rPr>
              <a:t>= 340 subscribe to HBO. Find a 95% confidence interval for the actual proportion of families with television sets in this city that </a:t>
            </a:r>
            <a:r>
              <a:rPr lang="en-US" sz="3200" b="0" i="0" u="none" strike="noStrike" baseline="0" dirty="0">
                <a:latin typeface="CMR10"/>
              </a:rPr>
              <a:t>subscribe to HBO.</a:t>
            </a:r>
            <a:endParaRPr lang="en-GB" sz="3200" b="1" dirty="0">
              <a:solidFill>
                <a:schemeClr val="accent1">
                  <a:lumMod val="60000"/>
                  <a:lumOff val="40000"/>
                </a:schemeClr>
              </a:solidFill>
            </a:endParaRPr>
          </a:p>
          <a:p>
            <a:pPr algn="l"/>
            <a:endParaRPr lang="en-GB" dirty="0"/>
          </a:p>
        </p:txBody>
      </p:sp>
    </p:spTree>
    <p:extLst>
      <p:ext uri="{BB962C8B-B14F-4D97-AF65-F5344CB8AC3E}">
        <p14:creationId xmlns:p14="http://schemas.microsoft.com/office/powerpoint/2010/main" val="119798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4. Estimation of Population Proportion…</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192696"/>
            <a:ext cx="11158329" cy="4984267"/>
          </a:xfrm>
        </p:spPr>
        <p:txBody>
          <a:bodyPr>
            <a:normAutofit/>
          </a:bodyPr>
          <a:lstStyle/>
          <a:p>
            <a:pPr algn="l"/>
            <a:r>
              <a:rPr lang="en-GB" b="1" dirty="0">
                <a:solidFill>
                  <a:schemeClr val="accent1">
                    <a:lumMod val="60000"/>
                    <a:lumOff val="40000"/>
                  </a:schemeClr>
                </a:solidFill>
              </a:rPr>
              <a:t>Example 9: </a:t>
            </a:r>
            <a:r>
              <a:rPr lang="en-GB" sz="3200" b="0" i="0" u="none" strike="noStrike" baseline="0" dirty="0">
                <a:latin typeface="CMR10"/>
              </a:rPr>
              <a:t>How large a sample is required if we want to be 95% confident that our estimate of </a:t>
            </a:r>
            <a:r>
              <a:rPr lang="en-GB" sz="3200" b="0" i="1" u="none" strike="noStrike" baseline="0" dirty="0">
                <a:latin typeface="CMMI10"/>
              </a:rPr>
              <a:t>p </a:t>
            </a:r>
            <a:r>
              <a:rPr lang="en-GB" sz="3200" b="0" i="0" u="none" strike="noStrike" baseline="0" dirty="0">
                <a:latin typeface="CMR10"/>
              </a:rPr>
              <a:t>in Example 8 is within 0.02 of the true value?</a:t>
            </a:r>
          </a:p>
        </p:txBody>
      </p:sp>
    </p:spTree>
    <p:extLst>
      <p:ext uri="{BB962C8B-B14F-4D97-AF65-F5344CB8AC3E}">
        <p14:creationId xmlns:p14="http://schemas.microsoft.com/office/powerpoint/2010/main" val="3413216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4. Estimation of Population Proportion…</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508608"/>
            <a:ext cx="11158329" cy="4984267"/>
          </a:xfrm>
        </p:spPr>
        <p:txBody>
          <a:bodyPr>
            <a:normAutofit/>
          </a:bodyPr>
          <a:lstStyle/>
          <a:p>
            <a:pPr algn="l"/>
            <a:r>
              <a:rPr lang="en-GB" b="1" dirty="0">
                <a:solidFill>
                  <a:schemeClr val="accent1">
                    <a:lumMod val="60000"/>
                    <a:lumOff val="40000"/>
                  </a:schemeClr>
                </a:solidFill>
              </a:rPr>
              <a:t>Example 10: </a:t>
            </a:r>
            <a:r>
              <a:rPr lang="en-GB" sz="3200" b="0" i="0" u="none" strike="noStrike" baseline="0" dirty="0">
                <a:latin typeface="CMR9"/>
              </a:rPr>
              <a:t>In a random sample of 1000 homes in a certain city, it is found that 228 are heated by oil. Find 99% confidence intervals for the proportion of homes in this city that are heated by oil</a:t>
            </a:r>
          </a:p>
          <a:p>
            <a:pPr algn="l"/>
            <a:r>
              <a:rPr lang="en-GB" b="1" dirty="0">
                <a:solidFill>
                  <a:schemeClr val="accent1">
                    <a:lumMod val="60000"/>
                    <a:lumOff val="40000"/>
                  </a:schemeClr>
                </a:solidFill>
              </a:rPr>
              <a:t>Example 11: </a:t>
            </a:r>
            <a:r>
              <a:rPr lang="en-GB" sz="3200" dirty="0">
                <a:latin typeface="CMR9"/>
              </a:rPr>
              <a:t>How large a sample is needed if we wish to be 99% confident that our sample proportion in Example 10 will be within 0.05 of the true proportion of homes in the city that are heated by oil?</a:t>
            </a:r>
          </a:p>
        </p:txBody>
      </p:sp>
    </p:spTree>
    <p:extLst>
      <p:ext uri="{BB962C8B-B14F-4D97-AF65-F5344CB8AC3E}">
        <p14:creationId xmlns:p14="http://schemas.microsoft.com/office/powerpoint/2010/main" val="2548791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5. Estimating the difference between Population Proportions</a:t>
            </a:r>
            <a:br>
              <a:rPr lang="LID4096" dirty="0"/>
            </a:b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690688"/>
                <a:ext cx="11158329" cy="4984267"/>
              </a:xfrm>
            </p:spPr>
            <p:txBody>
              <a:bodyPr>
                <a:normAutofit/>
              </a:bodyPr>
              <a:lstStyle/>
              <a:p>
                <a:r>
                  <a:rPr lang="en-GB" b="0" i="0" u="none" strike="noStrike" baseline="0" dirty="0">
                    <a:latin typeface="CMR10"/>
                  </a:rPr>
                  <a:t>If </a:t>
                </a:r>
                <a14:m>
                  <m:oMath xmlns:m="http://schemas.openxmlformats.org/officeDocument/2006/math">
                    <m:sSub>
                      <m:sSubPr>
                        <m:ctrlPr>
                          <a:rPr lang="en-GB" altLang="LID4096" b="0" i="1" smtClean="0">
                            <a:latin typeface="Cambria Math" panose="02040503050406030204" pitchFamily="18" charset="0"/>
                          </a:rPr>
                        </m:ctrlPr>
                      </m:sSubPr>
                      <m:e>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sub>
                        <m:r>
                          <a:rPr lang="en-GB" altLang="LID4096" b="0" i="1" smtClean="0">
                            <a:latin typeface="Cambria Math" panose="02040503050406030204" pitchFamily="18" charset="0"/>
                          </a:rPr>
                          <m:t>1</m:t>
                        </m:r>
                      </m:sub>
                    </m:sSub>
                    <m:r>
                      <a:rPr lang="en-GB" altLang="LID4096" b="0" i="1" smtClean="0">
                        <a:latin typeface="Cambria Math" panose="02040503050406030204" pitchFamily="18" charset="0"/>
                      </a:rPr>
                      <m:t> </m:t>
                    </m:r>
                  </m:oMath>
                </a14:m>
                <a:r>
                  <a:rPr lang="en-GB" b="0" i="0" u="none" strike="noStrike" baseline="0" dirty="0">
                    <a:latin typeface="CMR10"/>
                  </a:rPr>
                  <a:t>and </a:t>
                </a:r>
                <a14:m>
                  <m:oMath xmlns:m="http://schemas.openxmlformats.org/officeDocument/2006/math">
                    <m:sSub>
                      <m:sSubPr>
                        <m:ctrlPr>
                          <a:rPr lang="en-GB" altLang="LID4096" i="1">
                            <a:latin typeface="Cambria Math" panose="02040503050406030204" pitchFamily="18" charset="0"/>
                          </a:rPr>
                        </m:ctrlPr>
                      </m:sSubPr>
                      <m:e>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sub>
                        <m:r>
                          <a:rPr lang="en-GB" altLang="LID4096" b="0" i="1" smtClean="0">
                            <a:latin typeface="Cambria Math" panose="02040503050406030204" pitchFamily="18" charset="0"/>
                          </a:rPr>
                          <m:t>2</m:t>
                        </m:r>
                      </m:sub>
                    </m:sSub>
                  </m:oMath>
                </a14:m>
                <a:r>
                  <a:rPr lang="en-GB" b="0" i="0" u="none" strike="noStrike" baseline="0" dirty="0">
                    <a:latin typeface="CMR7"/>
                  </a:rPr>
                  <a:t> </a:t>
                </a:r>
                <a:r>
                  <a:rPr lang="en-GB" b="0" i="0" u="none" strike="noStrike" baseline="0" dirty="0">
                    <a:latin typeface="CMR10"/>
                  </a:rPr>
                  <a:t>are the proportions of successes in random samples of sizes </a:t>
                </a:r>
                <a14:m>
                  <m:oMath xmlns:m="http://schemas.openxmlformats.org/officeDocument/2006/math">
                    <m:sSub>
                      <m:sSubPr>
                        <m:ctrlPr>
                          <a:rPr lang="en-GB" b="0" i="1" u="none" strike="noStrike" baseline="0" dirty="0" smtClean="0">
                            <a:latin typeface="Cambria Math" panose="02040503050406030204" pitchFamily="18" charset="0"/>
                          </a:rPr>
                        </m:ctrlPr>
                      </m:sSubPr>
                      <m:e>
                        <m:r>
                          <a:rPr lang="en-GB" b="0" i="1" u="none" strike="noStrike" baseline="0" dirty="0" smtClean="0">
                            <a:latin typeface="Cambria Math" panose="02040503050406030204" pitchFamily="18" charset="0"/>
                          </a:rPr>
                          <m:t>𝑛</m:t>
                        </m:r>
                      </m:e>
                      <m:sub>
                        <m:r>
                          <a:rPr lang="en-GB" b="0" i="1" u="none" strike="noStrike" baseline="0" dirty="0" smtClean="0">
                            <a:latin typeface="Cambria Math" panose="02040503050406030204" pitchFamily="18" charset="0"/>
                          </a:rPr>
                          <m:t>1</m:t>
                        </m:r>
                      </m:sub>
                    </m:sSub>
                  </m:oMath>
                </a14:m>
                <a:r>
                  <a:rPr lang="en-GB" b="0" i="0" u="none" strike="noStrike" baseline="0" dirty="0">
                    <a:latin typeface="CMR7"/>
                  </a:rPr>
                  <a:t> </a:t>
                </a:r>
                <a:r>
                  <a:rPr lang="en-GB" b="0" i="0" u="none" strike="noStrike" baseline="0" dirty="0">
                    <a:latin typeface="CMR10"/>
                  </a:rPr>
                  <a:t>and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𝑛</m:t>
                        </m:r>
                      </m:e>
                      <m:sub>
                        <m:r>
                          <a:rPr lang="en-GB" b="0" i="1" dirty="0" smtClean="0">
                            <a:latin typeface="Cambria Math" panose="02040503050406030204" pitchFamily="18" charset="0"/>
                          </a:rPr>
                          <m:t>2</m:t>
                        </m:r>
                      </m:sub>
                    </m:sSub>
                  </m:oMath>
                </a14:m>
                <a:r>
                  <a:rPr lang="en-GB" b="0" i="0" u="none" strike="noStrike" baseline="0" dirty="0">
                    <a:latin typeface="CMR10"/>
                  </a:rPr>
                  <a:t>, respectively, </a:t>
                </a:r>
                <a14:m>
                  <m:oMath xmlns:m="http://schemas.openxmlformats.org/officeDocument/2006/math">
                    <m:sSub>
                      <m:sSubPr>
                        <m:ctrlPr>
                          <a:rPr lang="en-GB" altLang="LID4096" i="1">
                            <a:latin typeface="Cambria Math" panose="02040503050406030204" pitchFamily="18" charset="0"/>
                          </a:rPr>
                        </m:ctrlPr>
                      </m:sSubPr>
                      <m:e>
                        <m:sSub>
                          <m:sSubPr>
                            <m:ctrlPr>
                              <a:rPr lang="en-GB" altLang="LID4096" i="1">
                                <a:latin typeface="Cambria Math" panose="02040503050406030204" pitchFamily="18" charset="0"/>
                              </a:rPr>
                            </m:ctrlPr>
                          </m:sSubPr>
                          <m:e>
                            <m:acc>
                              <m:accPr>
                                <m:chr m:val="̂"/>
                                <m:ctrlPr>
                                  <a:rPr lang="en-CA" altLang="LID4096" i="1">
                                    <a:latin typeface="Cambria Math" panose="02040503050406030204" pitchFamily="18" charset="0"/>
                                  </a:rPr>
                                </m:ctrlPr>
                              </m:accPr>
                              <m:e>
                                <m:r>
                                  <a:rPr lang="en-GB" altLang="LID4096" b="0" i="1" smtClean="0">
                                    <a:latin typeface="Cambria Math" panose="02040503050406030204" pitchFamily="18" charset="0"/>
                                  </a:rPr>
                                  <m:t>𝑞</m:t>
                                </m:r>
                                <m:r>
                                  <a:rPr lang="en-GB" altLang="LID4096" i="1">
                                    <a:latin typeface="Cambria Math" panose="02040503050406030204" pitchFamily="18" charset="0"/>
                                  </a:rPr>
                                  <m:t> </m:t>
                                </m:r>
                              </m:e>
                            </m:acc>
                          </m:e>
                          <m:sub>
                            <m:r>
                              <a:rPr lang="en-GB" altLang="LID4096" i="1">
                                <a:latin typeface="Cambria Math" panose="02040503050406030204" pitchFamily="18" charset="0"/>
                              </a:rPr>
                              <m:t>1</m:t>
                            </m:r>
                          </m:sub>
                        </m:sSub>
                        <m:r>
                          <a:rPr lang="en-GB" altLang="LID4096" b="0" i="1" smtClean="0">
                            <a:latin typeface="Cambria Math" panose="02040503050406030204" pitchFamily="18" charset="0"/>
                          </a:rPr>
                          <m:t>=1−</m:t>
                        </m:r>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sub>
                        <m:r>
                          <a:rPr lang="en-GB" altLang="LID4096" i="1">
                            <a:latin typeface="Cambria Math" panose="02040503050406030204" pitchFamily="18" charset="0"/>
                          </a:rPr>
                          <m:t>1</m:t>
                        </m:r>
                      </m:sub>
                    </m:sSub>
                  </m:oMath>
                </a14:m>
                <a:r>
                  <a:rPr lang="en-GB" b="0" i="0" u="none" strike="noStrike" baseline="0" dirty="0">
                    <a:latin typeface="CMR10"/>
                  </a:rPr>
                  <a:t>, and </a:t>
                </a:r>
                <a14:m>
                  <m:oMath xmlns:m="http://schemas.openxmlformats.org/officeDocument/2006/math">
                    <m:sSub>
                      <m:sSubPr>
                        <m:ctrlPr>
                          <a:rPr lang="en-GB" altLang="LID4096" i="1">
                            <a:latin typeface="Cambria Math" panose="02040503050406030204" pitchFamily="18" charset="0"/>
                          </a:rPr>
                        </m:ctrlPr>
                      </m:sSubPr>
                      <m:e>
                        <m:sSub>
                          <m:sSubPr>
                            <m:ctrlPr>
                              <a:rPr lang="en-GB" altLang="LID4096" i="1">
                                <a:latin typeface="Cambria Math" panose="02040503050406030204" pitchFamily="18" charset="0"/>
                              </a:rPr>
                            </m:ctrlPr>
                          </m:sSubPr>
                          <m:e>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𝑞</m:t>
                                </m:r>
                                <m:r>
                                  <a:rPr lang="en-GB" altLang="LID4096" i="1">
                                    <a:latin typeface="Cambria Math" panose="02040503050406030204" pitchFamily="18" charset="0"/>
                                  </a:rPr>
                                  <m:t> </m:t>
                                </m:r>
                              </m:e>
                            </m:acc>
                          </m:e>
                          <m:sub>
                            <m:r>
                              <a:rPr lang="en-GB" altLang="LID4096" b="0" i="1" smtClean="0">
                                <a:latin typeface="Cambria Math" panose="02040503050406030204" pitchFamily="18" charset="0"/>
                              </a:rPr>
                              <m:t>2</m:t>
                            </m:r>
                          </m:sub>
                        </m:sSub>
                        <m:r>
                          <a:rPr lang="en-GB" altLang="LID4096" i="1">
                            <a:latin typeface="Cambria Math" panose="02040503050406030204" pitchFamily="18" charset="0"/>
                          </a:rPr>
                          <m:t>=1−</m:t>
                        </m:r>
                        <m:acc>
                          <m:accPr>
                            <m:chr m:val="̂"/>
                            <m:ctrlPr>
                              <a:rPr lang="en-CA" altLang="LID4096" i="1">
                                <a:latin typeface="Cambria Math" panose="02040503050406030204" pitchFamily="18" charset="0"/>
                              </a:rPr>
                            </m:ctrlPr>
                          </m:accPr>
                          <m:e>
                            <m:r>
                              <a:rPr lang="en-GB" altLang="LID4096" i="1">
                                <a:latin typeface="Cambria Math" panose="02040503050406030204" pitchFamily="18" charset="0"/>
                              </a:rPr>
                              <m:t>𝑝</m:t>
                            </m:r>
                            <m:r>
                              <a:rPr lang="en-GB" altLang="LID4096" i="1">
                                <a:latin typeface="Cambria Math" panose="02040503050406030204" pitchFamily="18" charset="0"/>
                              </a:rPr>
                              <m:t> </m:t>
                            </m:r>
                          </m:e>
                        </m:acc>
                      </m:e>
                      <m:sub>
                        <m:r>
                          <a:rPr lang="en-GB" altLang="LID4096" b="0" i="1" smtClean="0">
                            <a:latin typeface="Cambria Math" panose="02040503050406030204" pitchFamily="18" charset="0"/>
                          </a:rPr>
                          <m:t>2</m:t>
                        </m:r>
                      </m:sub>
                    </m:sSub>
                  </m:oMath>
                </a14:m>
                <a:r>
                  <a:rPr lang="en-GB" b="0" i="0" u="none" strike="noStrike" baseline="0" dirty="0">
                    <a:latin typeface="CMR10"/>
                  </a:rPr>
                  <a:t>, an approximate 100(1 </a:t>
                </a:r>
                <a:r>
                  <a:rPr lang="en-GB" b="0" i="1" u="none" strike="noStrike" baseline="0" dirty="0">
                    <a:latin typeface="CMSY10"/>
                  </a:rPr>
                  <a:t>− </a:t>
                </a:r>
                <a:r>
                  <a:rPr lang="en-GB" b="0" i="1" u="none" strike="noStrike" baseline="0" dirty="0">
                    <a:latin typeface="CMMI10"/>
                  </a:rPr>
                  <a:t>α</a:t>
                </a:r>
                <a:r>
                  <a:rPr lang="en-GB" b="0" i="0" u="none" strike="noStrike" baseline="0" dirty="0">
                    <a:latin typeface="CMR10"/>
                  </a:rPr>
                  <a:t>)% confidence interval for the difference of two binomial parameters, </a:t>
                </a:r>
                <a:r>
                  <a:rPr lang="en-GB" b="0" i="1" u="none" strike="noStrike" baseline="0" dirty="0">
                    <a:latin typeface="CMMI10"/>
                  </a:rPr>
                  <a:t>p</a:t>
                </a:r>
                <a:r>
                  <a:rPr lang="en-GB" b="0" i="0" u="none" strike="noStrike" baseline="0" dirty="0">
                    <a:latin typeface="CMR7"/>
                  </a:rPr>
                  <a:t>1 </a:t>
                </a:r>
                <a:r>
                  <a:rPr lang="en-GB" b="0" i="1" u="none" strike="noStrike" baseline="0" dirty="0">
                    <a:latin typeface="CMSY10"/>
                  </a:rPr>
                  <a:t>− </a:t>
                </a:r>
                <a:r>
                  <a:rPr lang="en-GB" b="0" i="1" u="none" strike="noStrike" baseline="0" dirty="0">
                    <a:latin typeface="CMMI10"/>
                  </a:rPr>
                  <a:t>p</a:t>
                </a:r>
                <a:r>
                  <a:rPr lang="en-GB" b="0" i="0" u="none" strike="noStrike" baseline="0" dirty="0">
                    <a:latin typeface="CMR7"/>
                  </a:rPr>
                  <a:t>2</a:t>
                </a:r>
                <a:r>
                  <a:rPr lang="en-GB" b="0" i="0" u="none" strike="noStrike" baseline="0" dirty="0">
                    <a:latin typeface="CMR10"/>
                  </a:rPr>
                  <a:t>, is </a:t>
                </a:r>
                <a:r>
                  <a:rPr lang="en-US" b="0" i="0" u="none" strike="noStrike" baseline="0" dirty="0">
                    <a:latin typeface="CMR10"/>
                  </a:rPr>
                  <a:t>given by</a:t>
                </a:r>
              </a:p>
              <a:p>
                <a:pPr marL="0" indent="0">
                  <a:buNone/>
                </a:pPr>
                <a14:m>
                  <m:oMathPara xmlns:m="http://schemas.openxmlformats.org/officeDocument/2006/math">
                    <m:oMathParaPr>
                      <m:jc m:val="centerGroup"/>
                    </m:oMathParaPr>
                    <m:oMath xmlns:m="http://schemas.openxmlformats.org/officeDocument/2006/math">
                      <m:d>
                        <m:dPr>
                          <m:ctrlPr>
                            <a:rPr lang="en-US" sz="2400" b="0" i="1" u="none" strike="noStrike" baseline="0" smtClean="0">
                              <a:latin typeface="Cambria Math" panose="02040503050406030204" pitchFamily="18" charset="0"/>
                            </a:rPr>
                          </m:ctrlPr>
                        </m:dPr>
                        <m:e>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i="1">
                                  <a:latin typeface="Cambria Math" panose="02040503050406030204" pitchFamily="18" charset="0"/>
                                </a:rPr>
                                <m:t>1</m:t>
                              </m:r>
                            </m:sub>
                          </m:sSub>
                          <m:r>
                            <a:rPr lang="en-GB" altLang="LID4096" sz="2400" i="1">
                              <a:latin typeface="Cambria Math" panose="02040503050406030204" pitchFamily="18" charset="0"/>
                            </a:rPr>
                            <m:t>−</m:t>
                          </m:r>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i="1">
                                  <a:latin typeface="Cambria Math" panose="02040503050406030204" pitchFamily="18" charset="0"/>
                                </a:rPr>
                                <m:t>2</m:t>
                              </m:r>
                            </m:sub>
                          </m:sSub>
                        </m:e>
                      </m:d>
                      <m:r>
                        <a:rPr lang="en-GB" sz="2400" b="0" i="1" u="none" strike="noStrike" baseline="0" smtClean="0">
                          <a:latin typeface="Cambria Math" panose="02040503050406030204" pitchFamily="18" charset="0"/>
                        </a:rPr>
                        <m:t>−</m:t>
                      </m:r>
                      <m:sSub>
                        <m:sSubPr>
                          <m:ctrlPr>
                            <a:rPr lang="en-GB" sz="2400" b="0" i="1" u="none" strike="noStrike" baseline="0" smtClean="0">
                              <a:latin typeface="Cambria Math" panose="02040503050406030204" pitchFamily="18" charset="0"/>
                            </a:rPr>
                          </m:ctrlPr>
                        </m:sSubPr>
                        <m:e>
                          <m:r>
                            <a:rPr lang="en-GB" sz="2400" b="0" i="1" u="none" strike="noStrike" baseline="0" smtClean="0">
                              <a:latin typeface="Cambria Math" panose="02040503050406030204" pitchFamily="18" charset="0"/>
                            </a:rPr>
                            <m:t>𝑧</m:t>
                          </m:r>
                        </m:e>
                        <m:sub>
                          <m:f>
                            <m:fPr>
                              <m:ctrlPr>
                                <a:rPr lang="en-GB" sz="2400" b="0" i="1" u="none" strike="noStrike" baseline="0" smtClean="0">
                                  <a:latin typeface="Cambria Math" panose="02040503050406030204" pitchFamily="18" charset="0"/>
                                </a:rPr>
                              </m:ctrlPr>
                            </m:fPr>
                            <m:num>
                              <m:r>
                                <a:rPr lang="en-GB" sz="2400" b="0" i="1" u="none" strike="noStrike" baseline="0" smtClean="0">
                                  <a:latin typeface="Cambria Math" panose="02040503050406030204" pitchFamily="18" charset="0"/>
                                  <a:ea typeface="Cambria Math" panose="02040503050406030204" pitchFamily="18" charset="0"/>
                                </a:rPr>
                                <m:t>𝛼</m:t>
                              </m:r>
                            </m:num>
                            <m:den>
                              <m:r>
                                <a:rPr lang="en-GB" sz="2400" b="0" i="1" u="none" strike="noStrike" baseline="0" smtClean="0">
                                  <a:latin typeface="Cambria Math" panose="02040503050406030204" pitchFamily="18" charset="0"/>
                                </a:rPr>
                                <m:t>2</m:t>
                              </m:r>
                            </m:den>
                          </m:f>
                        </m:sub>
                      </m:sSub>
                      <m:r>
                        <a:rPr lang="en-GB" sz="2400" b="0" i="1" u="none" strike="noStrike" baseline="0" smtClean="0">
                          <a:latin typeface="Cambria Math" panose="02040503050406030204" pitchFamily="18" charset="0"/>
                        </a:rPr>
                        <m:t> </m:t>
                      </m:r>
                      <m:rad>
                        <m:radPr>
                          <m:degHide m:val="on"/>
                          <m:ctrlPr>
                            <a:rPr lang="en-GB" sz="2400" b="0" i="1" u="none" strike="noStrike" baseline="0" smtClean="0">
                              <a:latin typeface="Cambria Math" panose="02040503050406030204" pitchFamily="18" charset="0"/>
                            </a:rPr>
                          </m:ctrlPr>
                        </m:radPr>
                        <m:deg/>
                        <m:e>
                          <m:f>
                            <m:fPr>
                              <m:ctrlPr>
                                <a:rPr lang="en-GB" sz="2400" b="0" i="1" u="none" strike="noStrike" baseline="0" smtClean="0">
                                  <a:latin typeface="Cambria Math" panose="02040503050406030204" pitchFamily="18" charset="0"/>
                                </a:rPr>
                              </m:ctrlPr>
                            </m:fPr>
                            <m:num>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i="1">
                                      <a:latin typeface="Cambria Math" panose="02040503050406030204" pitchFamily="18" charset="0"/>
                                    </a:rPr>
                                    <m:t>1</m:t>
                                  </m:r>
                                </m:sub>
                              </m:sSub>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b="0" i="1" smtClean="0">
                                          <a:latin typeface="Cambria Math" panose="02040503050406030204" pitchFamily="18" charset="0"/>
                                        </a:rPr>
                                        <m:t>𝑞</m:t>
                                      </m:r>
                                    </m:e>
                                  </m:acc>
                                </m:e>
                                <m:sub>
                                  <m:r>
                                    <a:rPr lang="en-GB" altLang="LID4096" sz="2400" i="1">
                                      <a:latin typeface="Cambria Math" panose="02040503050406030204" pitchFamily="18" charset="0"/>
                                    </a:rPr>
                                    <m:t>1</m:t>
                                  </m:r>
                                </m:sub>
                              </m:sSub>
                            </m:num>
                            <m:den>
                              <m:sSub>
                                <m:sSubPr>
                                  <m:ctrlPr>
                                    <a:rPr lang="en-GB" sz="2400" i="1" dirty="0">
                                      <a:latin typeface="Cambria Math" panose="02040503050406030204" pitchFamily="18" charset="0"/>
                                    </a:rPr>
                                  </m:ctrlPr>
                                </m:sSubPr>
                                <m:e>
                                  <m:r>
                                    <a:rPr lang="en-GB" sz="2400" i="1" dirty="0">
                                      <a:latin typeface="Cambria Math" panose="02040503050406030204" pitchFamily="18" charset="0"/>
                                    </a:rPr>
                                    <m:t>𝑛</m:t>
                                  </m:r>
                                </m:e>
                                <m:sub>
                                  <m:r>
                                    <a:rPr lang="en-GB" sz="2400" i="1" dirty="0">
                                      <a:latin typeface="Cambria Math" panose="02040503050406030204" pitchFamily="18" charset="0"/>
                                    </a:rPr>
                                    <m:t>1</m:t>
                                  </m:r>
                                </m:sub>
                              </m:sSub>
                            </m:den>
                          </m:f>
                          <m:r>
                            <a:rPr lang="en-GB" sz="2400" b="0" i="1" u="none" strike="noStrike" baseline="0" smtClean="0">
                              <a:latin typeface="Cambria Math" panose="02040503050406030204" pitchFamily="18" charset="0"/>
                            </a:rPr>
                            <m:t>+</m:t>
                          </m:r>
                          <m:f>
                            <m:fPr>
                              <m:ctrlPr>
                                <a:rPr lang="en-GB" sz="2400" i="1">
                                  <a:latin typeface="Cambria Math" panose="02040503050406030204" pitchFamily="18" charset="0"/>
                                </a:rPr>
                              </m:ctrlPr>
                            </m:fPr>
                            <m:num>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b="0" i="1" smtClean="0">
                                      <a:latin typeface="Cambria Math" panose="02040503050406030204" pitchFamily="18" charset="0"/>
                                    </a:rPr>
                                    <m:t>2</m:t>
                                  </m:r>
                                </m:sub>
                              </m:sSub>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𝑞</m:t>
                                      </m:r>
                                    </m:e>
                                  </m:acc>
                                </m:e>
                                <m:sub>
                                  <m:r>
                                    <a:rPr lang="en-GB" altLang="LID4096" sz="2400" b="0" i="1" smtClean="0">
                                      <a:latin typeface="Cambria Math" panose="02040503050406030204" pitchFamily="18" charset="0"/>
                                    </a:rPr>
                                    <m:t>2</m:t>
                                  </m:r>
                                </m:sub>
                              </m:sSub>
                            </m:num>
                            <m:den>
                              <m:sSub>
                                <m:sSubPr>
                                  <m:ctrlPr>
                                    <a:rPr lang="en-GB" sz="2400" i="1" dirty="0">
                                      <a:latin typeface="Cambria Math" panose="02040503050406030204" pitchFamily="18" charset="0"/>
                                    </a:rPr>
                                  </m:ctrlPr>
                                </m:sSubPr>
                                <m:e>
                                  <m:r>
                                    <a:rPr lang="en-GB" sz="2400" i="1" dirty="0">
                                      <a:latin typeface="Cambria Math" panose="02040503050406030204" pitchFamily="18" charset="0"/>
                                    </a:rPr>
                                    <m:t>𝑛</m:t>
                                  </m:r>
                                </m:e>
                                <m:sub>
                                  <m:r>
                                    <a:rPr lang="en-GB" sz="2400" b="0" i="1" dirty="0" smtClean="0">
                                      <a:latin typeface="Cambria Math" panose="02040503050406030204" pitchFamily="18" charset="0"/>
                                    </a:rPr>
                                    <m:t>2</m:t>
                                  </m:r>
                                </m:sub>
                              </m:sSub>
                            </m:den>
                          </m:f>
                        </m:e>
                      </m:rad>
                      <m:r>
                        <a:rPr lang="en-GB" sz="2400" b="0" i="1" u="none" strike="noStrike" baseline="0" smtClean="0">
                          <a:latin typeface="Cambria Math" panose="02040503050406030204" pitchFamily="18" charset="0"/>
                        </a:rPr>
                        <m:t>&lt;</m:t>
                      </m:r>
                      <m:sSub>
                        <m:sSubPr>
                          <m:ctrlPr>
                            <a:rPr lang="en-GB" sz="2400" b="0" i="1" u="none" strike="noStrike" baseline="0" smtClean="0">
                              <a:latin typeface="Cambria Math" panose="02040503050406030204" pitchFamily="18" charset="0"/>
                            </a:rPr>
                          </m:ctrlPr>
                        </m:sSubPr>
                        <m:e>
                          <m:r>
                            <a:rPr lang="en-GB" sz="2400" b="0" i="1" u="none" strike="noStrike" baseline="0" smtClean="0">
                              <a:latin typeface="Cambria Math" panose="02040503050406030204" pitchFamily="18" charset="0"/>
                            </a:rPr>
                            <m:t>𝑝</m:t>
                          </m:r>
                        </m:e>
                        <m:sub>
                          <m:r>
                            <a:rPr lang="en-GB" sz="2400" b="0" i="1" u="none" strike="noStrike" baseline="0" smtClean="0">
                              <a:latin typeface="Cambria Math" panose="02040503050406030204" pitchFamily="18" charset="0"/>
                            </a:rPr>
                            <m:t>1</m:t>
                          </m:r>
                        </m:sub>
                      </m:sSub>
                      <m:r>
                        <a:rPr lang="en-GB" sz="2400" b="0" i="1" u="none" strike="noStrike" baseline="0" smtClean="0">
                          <a:latin typeface="Cambria Math" panose="02040503050406030204" pitchFamily="18" charset="0"/>
                        </a:rPr>
                        <m:t>−</m:t>
                      </m:r>
                      <m:sSub>
                        <m:sSubPr>
                          <m:ctrlPr>
                            <a:rPr lang="en-GB" sz="2400" b="0" i="1" u="none" strike="noStrike" baseline="0" smtClean="0">
                              <a:latin typeface="Cambria Math" panose="02040503050406030204" pitchFamily="18" charset="0"/>
                            </a:rPr>
                          </m:ctrlPr>
                        </m:sSubPr>
                        <m:e>
                          <m:r>
                            <a:rPr lang="en-GB" sz="2400" b="0" i="1" u="none" strike="noStrike" baseline="0" smtClean="0">
                              <a:latin typeface="Cambria Math" panose="02040503050406030204" pitchFamily="18" charset="0"/>
                            </a:rPr>
                            <m:t>𝑝</m:t>
                          </m:r>
                        </m:e>
                        <m:sub>
                          <m:r>
                            <a:rPr lang="en-GB" sz="2400" b="0" i="1" u="none" strike="noStrike" baseline="0" smtClean="0">
                              <a:latin typeface="Cambria Math" panose="02040503050406030204" pitchFamily="18" charset="0"/>
                            </a:rPr>
                            <m:t>2</m:t>
                          </m:r>
                        </m:sub>
                      </m:sSub>
                      <m:r>
                        <a:rPr lang="en-GB" sz="2400" b="0" i="1" u="none" strike="noStrike" baseline="0" smtClean="0">
                          <a:latin typeface="Cambria Math" panose="02040503050406030204" pitchFamily="18" charset="0"/>
                        </a:rPr>
                        <m:t>&lt;</m:t>
                      </m:r>
                      <m:d>
                        <m:dPr>
                          <m:ctrlPr>
                            <a:rPr lang="en-US" sz="2400" i="1">
                              <a:latin typeface="Cambria Math" panose="02040503050406030204" pitchFamily="18" charset="0"/>
                            </a:rPr>
                          </m:ctrlPr>
                        </m:dPr>
                        <m:e>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i="1">
                                  <a:latin typeface="Cambria Math" panose="02040503050406030204" pitchFamily="18" charset="0"/>
                                </a:rPr>
                                <m:t>1</m:t>
                              </m:r>
                            </m:sub>
                          </m:sSub>
                          <m:r>
                            <a:rPr lang="en-GB" altLang="LID4096" sz="2400" i="1">
                              <a:latin typeface="Cambria Math" panose="02040503050406030204" pitchFamily="18" charset="0"/>
                            </a:rPr>
                            <m:t>−</m:t>
                          </m:r>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i="1">
                                  <a:latin typeface="Cambria Math" panose="02040503050406030204" pitchFamily="18" charset="0"/>
                                </a:rPr>
                                <m:t>2</m:t>
                              </m:r>
                            </m:sub>
                          </m:sSub>
                        </m:e>
                      </m:d>
                      <m:r>
                        <a:rPr lang="en-GB" altLang="LID4096" sz="2400" b="0" i="1" smtClean="0">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𝑧</m:t>
                          </m:r>
                        </m:e>
                        <m:sub>
                          <m:f>
                            <m:fPr>
                              <m:ctrlPr>
                                <a:rPr lang="en-GB" sz="2400" i="1">
                                  <a:latin typeface="Cambria Math" panose="02040503050406030204" pitchFamily="18" charset="0"/>
                                </a:rPr>
                              </m:ctrlPr>
                            </m:fPr>
                            <m:num>
                              <m:r>
                                <a:rPr lang="en-GB" sz="2400" i="1">
                                  <a:latin typeface="Cambria Math" panose="02040503050406030204" pitchFamily="18" charset="0"/>
                                  <a:ea typeface="Cambria Math" panose="02040503050406030204" pitchFamily="18" charset="0"/>
                                </a:rPr>
                                <m:t>𝛼</m:t>
                              </m:r>
                            </m:num>
                            <m:den>
                              <m:r>
                                <a:rPr lang="en-GB" sz="2400" i="1">
                                  <a:latin typeface="Cambria Math" panose="02040503050406030204" pitchFamily="18" charset="0"/>
                                </a:rPr>
                                <m:t>2</m:t>
                              </m:r>
                            </m:den>
                          </m:f>
                        </m:sub>
                      </m:sSub>
                      <m:r>
                        <a:rPr lang="en-GB" sz="2400" i="1">
                          <a:latin typeface="Cambria Math" panose="02040503050406030204" pitchFamily="18" charset="0"/>
                        </a:rPr>
                        <m:t> </m:t>
                      </m:r>
                      <m:rad>
                        <m:radPr>
                          <m:degHide m:val="on"/>
                          <m:ctrlPr>
                            <a:rPr lang="en-GB" sz="2400" i="1">
                              <a:latin typeface="Cambria Math" panose="02040503050406030204" pitchFamily="18" charset="0"/>
                            </a:rPr>
                          </m:ctrlPr>
                        </m:radPr>
                        <m:deg/>
                        <m:e>
                          <m:f>
                            <m:fPr>
                              <m:ctrlPr>
                                <a:rPr lang="en-GB" sz="2400" i="1">
                                  <a:latin typeface="Cambria Math" panose="02040503050406030204" pitchFamily="18" charset="0"/>
                                </a:rPr>
                              </m:ctrlPr>
                            </m:fPr>
                            <m:num>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i="1">
                                      <a:latin typeface="Cambria Math" panose="02040503050406030204" pitchFamily="18" charset="0"/>
                                    </a:rPr>
                                    <m:t>1</m:t>
                                  </m:r>
                                </m:sub>
                              </m:sSub>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𝑞</m:t>
                                      </m:r>
                                    </m:e>
                                  </m:acc>
                                </m:e>
                                <m:sub>
                                  <m:r>
                                    <a:rPr lang="en-GB" altLang="LID4096" sz="2400" i="1">
                                      <a:latin typeface="Cambria Math" panose="02040503050406030204" pitchFamily="18" charset="0"/>
                                    </a:rPr>
                                    <m:t>1</m:t>
                                  </m:r>
                                </m:sub>
                              </m:sSub>
                            </m:num>
                            <m:den>
                              <m:sSub>
                                <m:sSubPr>
                                  <m:ctrlPr>
                                    <a:rPr lang="en-GB" sz="2400" i="1" dirty="0">
                                      <a:latin typeface="Cambria Math" panose="02040503050406030204" pitchFamily="18" charset="0"/>
                                    </a:rPr>
                                  </m:ctrlPr>
                                </m:sSubPr>
                                <m:e>
                                  <m:r>
                                    <a:rPr lang="en-GB" sz="2400" i="1" dirty="0">
                                      <a:latin typeface="Cambria Math" panose="02040503050406030204" pitchFamily="18" charset="0"/>
                                    </a:rPr>
                                    <m:t>𝑛</m:t>
                                  </m:r>
                                </m:e>
                                <m:sub>
                                  <m:r>
                                    <a:rPr lang="en-GB" sz="2400" i="1" dirty="0">
                                      <a:latin typeface="Cambria Math" panose="02040503050406030204" pitchFamily="18" charset="0"/>
                                    </a:rPr>
                                    <m:t>1</m:t>
                                  </m:r>
                                </m:sub>
                              </m:sSub>
                            </m:den>
                          </m:f>
                          <m:r>
                            <a:rPr lang="en-GB" sz="2400" i="1">
                              <a:latin typeface="Cambria Math" panose="02040503050406030204" pitchFamily="18" charset="0"/>
                            </a:rPr>
                            <m:t>+</m:t>
                          </m:r>
                          <m:f>
                            <m:fPr>
                              <m:ctrlPr>
                                <a:rPr lang="en-GB" sz="2400" i="1">
                                  <a:latin typeface="Cambria Math" panose="02040503050406030204" pitchFamily="18" charset="0"/>
                                </a:rPr>
                              </m:ctrlPr>
                            </m:fPr>
                            <m:num>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i="1">
                                      <a:latin typeface="Cambria Math" panose="02040503050406030204" pitchFamily="18" charset="0"/>
                                    </a:rPr>
                                    <m:t>2</m:t>
                                  </m:r>
                                </m:sub>
                              </m:sSub>
                              <m:sSub>
                                <m:sSubPr>
                                  <m:ctrlPr>
                                    <a:rPr lang="en-GB" altLang="LID4096" sz="2400" i="1">
                                      <a:latin typeface="Cambria Math" panose="02040503050406030204" pitchFamily="18" charset="0"/>
                                    </a:rPr>
                                  </m:ctrlPr>
                                </m:sSubPr>
                                <m:e>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𝑞</m:t>
                                      </m:r>
                                    </m:e>
                                  </m:acc>
                                </m:e>
                                <m:sub>
                                  <m:r>
                                    <a:rPr lang="en-GB" altLang="LID4096" sz="2400" i="1">
                                      <a:latin typeface="Cambria Math" panose="02040503050406030204" pitchFamily="18" charset="0"/>
                                    </a:rPr>
                                    <m:t>2</m:t>
                                  </m:r>
                                </m:sub>
                              </m:sSub>
                            </m:num>
                            <m:den>
                              <m:sSub>
                                <m:sSubPr>
                                  <m:ctrlPr>
                                    <a:rPr lang="en-GB" sz="2400" i="1" dirty="0">
                                      <a:latin typeface="Cambria Math" panose="02040503050406030204" pitchFamily="18" charset="0"/>
                                    </a:rPr>
                                  </m:ctrlPr>
                                </m:sSubPr>
                                <m:e>
                                  <m:r>
                                    <a:rPr lang="en-GB" sz="2400" i="1" dirty="0">
                                      <a:latin typeface="Cambria Math" panose="02040503050406030204" pitchFamily="18" charset="0"/>
                                    </a:rPr>
                                    <m:t>𝑛</m:t>
                                  </m:r>
                                </m:e>
                                <m:sub>
                                  <m:r>
                                    <a:rPr lang="en-GB" sz="2400" i="1" dirty="0">
                                      <a:latin typeface="Cambria Math" panose="02040503050406030204" pitchFamily="18" charset="0"/>
                                    </a:rPr>
                                    <m:t>2</m:t>
                                  </m:r>
                                </m:sub>
                              </m:sSub>
                            </m:den>
                          </m:f>
                        </m:e>
                      </m:rad>
                    </m:oMath>
                  </m:oMathPara>
                </a14:m>
                <a:endParaRPr lang="en-US" sz="2400" b="0" i="0" u="none" strike="noStrike" baseline="0" dirty="0">
                  <a:latin typeface="CMR10"/>
                </a:endParaRPr>
              </a:p>
              <a:p>
                <a:pPr marL="0" indent="0">
                  <a:buNone/>
                </a:pPr>
                <a:r>
                  <a:rPr lang="en-US" sz="2400" b="0" i="0" u="none" strike="noStrike" baseline="0" dirty="0">
                    <a:latin typeface="CMR10"/>
                  </a:rPr>
                  <a:t>If</a:t>
                </a:r>
              </a:p>
              <a:p>
                <a:pPr marL="0" indent="0">
                  <a:buNone/>
                </a:pPr>
                <a14:m>
                  <m:oMathPara xmlns:m="http://schemas.openxmlformats.org/officeDocument/2006/math">
                    <m:oMathParaPr>
                      <m:jc m:val="centerGroup"/>
                    </m:oMathParaPr>
                    <m:oMath xmlns:m="http://schemas.openxmlformats.org/officeDocument/2006/math">
                      <m:sSub>
                        <m:sSubPr>
                          <m:ctrlPr>
                            <a:rPr lang="en-GB" altLang="LID4096" sz="2400" b="0" i="1" smtClean="0">
                              <a:latin typeface="Cambria Math" panose="02040503050406030204" pitchFamily="18" charset="0"/>
                            </a:rPr>
                          </m:ctrlPr>
                        </m:sSubPr>
                        <m:e>
                          <m:sSub>
                            <m:sSubPr>
                              <m:ctrlPr>
                                <a:rPr lang="en-GB" altLang="LID4096" sz="2400" b="0" i="1" smtClean="0">
                                  <a:latin typeface="Cambria Math" panose="02040503050406030204" pitchFamily="18" charset="0"/>
                                </a:rPr>
                              </m:ctrlPr>
                            </m:sSubPr>
                            <m:e>
                              <m:r>
                                <a:rPr lang="en-GB" altLang="LID4096" sz="2400" b="0" i="1" smtClean="0">
                                  <a:latin typeface="Cambria Math" panose="02040503050406030204" pitchFamily="18" charset="0"/>
                                </a:rPr>
                                <m:t>𝑛</m:t>
                              </m:r>
                            </m:e>
                            <m:sub>
                              <m:r>
                                <a:rPr lang="en-GB" altLang="LID4096" sz="2400" b="0" i="1" smtClean="0">
                                  <a:latin typeface="Cambria Math" panose="02040503050406030204" pitchFamily="18" charset="0"/>
                                </a:rPr>
                                <m:t>1</m:t>
                              </m:r>
                            </m:sub>
                          </m:sSub>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b="0" i="1" smtClean="0">
                              <a:latin typeface="Cambria Math" panose="02040503050406030204" pitchFamily="18" charset="0"/>
                            </a:rPr>
                            <m:t>1</m:t>
                          </m:r>
                        </m:sub>
                      </m:sSub>
                      <m:r>
                        <a:rPr lang="en-GB" altLang="LID4096" sz="2400" b="0" i="1" smtClean="0">
                          <a:latin typeface="Cambria Math" panose="02040503050406030204" pitchFamily="18" charset="0"/>
                          <a:ea typeface="Cambria Math" panose="02040503050406030204" pitchFamily="18" charset="0"/>
                        </a:rPr>
                        <m:t>≥5</m:t>
                      </m:r>
                    </m:oMath>
                  </m:oMathPara>
                </a14:m>
                <a:endParaRPr lang="en-US" sz="2400" b="0" i="0" u="none" strike="noStrike" baseline="0" dirty="0">
                  <a:latin typeface="CMR10"/>
                </a:endParaRPr>
              </a:p>
              <a:p>
                <a:pPr marL="0" indent="0">
                  <a:buNone/>
                </a:pPr>
                <a14:m>
                  <m:oMathPara xmlns:m="http://schemas.openxmlformats.org/officeDocument/2006/math">
                    <m:oMathParaPr>
                      <m:jc m:val="centerGroup"/>
                    </m:oMathParaPr>
                    <m:oMath xmlns:m="http://schemas.openxmlformats.org/officeDocument/2006/math">
                      <m:sSub>
                        <m:sSubPr>
                          <m:ctrlPr>
                            <a:rPr lang="en-GB" altLang="LID4096" sz="2400" b="0" i="1" smtClean="0">
                              <a:latin typeface="Cambria Math" panose="02040503050406030204" pitchFamily="18" charset="0"/>
                            </a:rPr>
                          </m:ctrlPr>
                        </m:sSubPr>
                        <m:e>
                          <m:sSub>
                            <m:sSubPr>
                              <m:ctrlPr>
                                <a:rPr lang="en-GB" altLang="LID4096" sz="2400" b="0" i="1" smtClean="0">
                                  <a:latin typeface="Cambria Math" panose="02040503050406030204" pitchFamily="18" charset="0"/>
                                </a:rPr>
                              </m:ctrlPr>
                            </m:sSubPr>
                            <m:e>
                              <m:r>
                                <a:rPr lang="en-GB" altLang="LID4096" sz="2400" b="0" i="1" smtClean="0">
                                  <a:latin typeface="Cambria Math" panose="02040503050406030204" pitchFamily="18" charset="0"/>
                                </a:rPr>
                                <m:t>𝑛</m:t>
                              </m:r>
                            </m:e>
                            <m:sub>
                              <m:r>
                                <a:rPr lang="en-GB" altLang="LID4096" sz="2400" b="0" i="1" smtClean="0">
                                  <a:latin typeface="Cambria Math" panose="02040503050406030204" pitchFamily="18" charset="0"/>
                                </a:rPr>
                                <m:t>1</m:t>
                              </m:r>
                            </m:sub>
                          </m:sSub>
                          <m:acc>
                            <m:accPr>
                              <m:chr m:val="̂"/>
                              <m:ctrlPr>
                                <a:rPr lang="en-CA" altLang="LID4096" sz="2400" i="1">
                                  <a:latin typeface="Cambria Math" panose="02040503050406030204" pitchFamily="18" charset="0"/>
                                </a:rPr>
                              </m:ctrlPr>
                            </m:accPr>
                            <m:e>
                              <m:r>
                                <a:rPr lang="en-GB" altLang="LID4096" sz="2400" b="0" i="1" smtClean="0">
                                  <a:latin typeface="Cambria Math" panose="02040503050406030204" pitchFamily="18" charset="0"/>
                                </a:rPr>
                                <m:t>𝑞</m:t>
                              </m:r>
                              <m:r>
                                <a:rPr lang="en-GB" altLang="LID4096" sz="2400" i="1">
                                  <a:latin typeface="Cambria Math" panose="02040503050406030204" pitchFamily="18" charset="0"/>
                                </a:rPr>
                                <m:t> </m:t>
                              </m:r>
                            </m:e>
                          </m:acc>
                        </m:e>
                        <m:sub>
                          <m:r>
                            <a:rPr lang="en-GB" altLang="LID4096" sz="2400" b="0" i="1" smtClean="0">
                              <a:latin typeface="Cambria Math" panose="02040503050406030204" pitchFamily="18" charset="0"/>
                            </a:rPr>
                            <m:t>1</m:t>
                          </m:r>
                        </m:sub>
                      </m:sSub>
                      <m:r>
                        <a:rPr lang="en-GB" altLang="LID4096" sz="2400" b="0" i="1" smtClean="0">
                          <a:latin typeface="Cambria Math" panose="02040503050406030204" pitchFamily="18" charset="0"/>
                          <a:ea typeface="Cambria Math" panose="02040503050406030204" pitchFamily="18" charset="0"/>
                        </a:rPr>
                        <m:t>≥5</m:t>
                      </m:r>
                    </m:oMath>
                  </m:oMathPara>
                </a14:m>
                <a:endParaRPr lang="en-US" sz="2400" b="0" i="0" u="none" strike="noStrike" baseline="0" dirty="0">
                  <a:latin typeface="CMR10"/>
                </a:endParaRPr>
              </a:p>
              <a:p>
                <a:pPr marL="0" indent="0">
                  <a:buNone/>
                </a:pPr>
                <a14:m>
                  <m:oMathPara xmlns:m="http://schemas.openxmlformats.org/officeDocument/2006/math">
                    <m:oMathParaPr>
                      <m:jc m:val="centerGroup"/>
                    </m:oMathParaPr>
                    <m:oMath xmlns:m="http://schemas.openxmlformats.org/officeDocument/2006/math">
                      <m:sSub>
                        <m:sSubPr>
                          <m:ctrlPr>
                            <a:rPr lang="en-GB" altLang="LID4096" sz="2400" b="0" i="1" smtClean="0">
                              <a:latin typeface="Cambria Math" panose="02040503050406030204" pitchFamily="18" charset="0"/>
                            </a:rPr>
                          </m:ctrlPr>
                        </m:sSubPr>
                        <m:e>
                          <m:sSub>
                            <m:sSubPr>
                              <m:ctrlPr>
                                <a:rPr lang="en-GB" altLang="LID4096" sz="2400" b="0" i="1" smtClean="0">
                                  <a:latin typeface="Cambria Math" panose="02040503050406030204" pitchFamily="18" charset="0"/>
                                </a:rPr>
                              </m:ctrlPr>
                            </m:sSubPr>
                            <m:e>
                              <m:r>
                                <a:rPr lang="en-GB" altLang="LID4096" sz="2400" b="0" i="1" smtClean="0">
                                  <a:latin typeface="Cambria Math" panose="02040503050406030204" pitchFamily="18" charset="0"/>
                                </a:rPr>
                                <m:t>𝑛</m:t>
                              </m:r>
                            </m:e>
                            <m:sub>
                              <m:r>
                                <a:rPr lang="en-GB" altLang="LID4096" sz="2400" b="0" i="1" smtClean="0">
                                  <a:latin typeface="Cambria Math" panose="02040503050406030204" pitchFamily="18" charset="0"/>
                                </a:rPr>
                                <m:t>2</m:t>
                              </m:r>
                            </m:sub>
                          </m:sSub>
                          <m:acc>
                            <m:accPr>
                              <m:chr m:val="̂"/>
                              <m:ctrlPr>
                                <a:rPr lang="en-CA" altLang="LID4096" sz="2400" i="1">
                                  <a:latin typeface="Cambria Math" panose="02040503050406030204" pitchFamily="18" charset="0"/>
                                </a:rPr>
                              </m:ctrlPr>
                            </m:accPr>
                            <m:e>
                              <m:r>
                                <a:rPr lang="en-GB" altLang="LID4096" sz="2400" i="1">
                                  <a:latin typeface="Cambria Math" panose="02040503050406030204" pitchFamily="18" charset="0"/>
                                </a:rPr>
                                <m:t>𝑝</m:t>
                              </m:r>
                              <m:r>
                                <a:rPr lang="en-GB" altLang="LID4096" sz="2400" i="1">
                                  <a:latin typeface="Cambria Math" panose="02040503050406030204" pitchFamily="18" charset="0"/>
                                </a:rPr>
                                <m:t> </m:t>
                              </m:r>
                            </m:e>
                          </m:acc>
                        </m:e>
                        <m:sub>
                          <m:r>
                            <a:rPr lang="en-GB" altLang="LID4096" sz="2400" b="0" i="1" smtClean="0">
                              <a:latin typeface="Cambria Math" panose="02040503050406030204" pitchFamily="18" charset="0"/>
                            </a:rPr>
                            <m:t>2</m:t>
                          </m:r>
                        </m:sub>
                      </m:sSub>
                      <m:r>
                        <a:rPr lang="en-GB" altLang="LID4096" sz="2400" b="0" i="1" smtClean="0">
                          <a:latin typeface="Cambria Math" panose="02040503050406030204" pitchFamily="18" charset="0"/>
                          <a:ea typeface="Cambria Math" panose="02040503050406030204" pitchFamily="18" charset="0"/>
                        </a:rPr>
                        <m:t>≥5</m:t>
                      </m:r>
                    </m:oMath>
                  </m:oMathPara>
                </a14:m>
                <a:endParaRPr lang="en-US" sz="2400" dirty="0">
                  <a:latin typeface="CMR10"/>
                </a:endParaRPr>
              </a:p>
              <a:p>
                <a:pPr marL="0" indent="0" algn="ctr">
                  <a:buNone/>
                </a:pPr>
                <a:r>
                  <a:rPr lang="en-US" sz="2400" dirty="0">
                    <a:latin typeface="CMR10"/>
                  </a:rPr>
                  <a:t>and</a:t>
                </a:r>
              </a:p>
              <a:p>
                <a:pPr marL="0" indent="0">
                  <a:buNone/>
                </a:pPr>
                <a14:m>
                  <m:oMathPara xmlns:m="http://schemas.openxmlformats.org/officeDocument/2006/math">
                    <m:oMathParaPr>
                      <m:jc m:val="centerGroup"/>
                    </m:oMathParaPr>
                    <m:oMath xmlns:m="http://schemas.openxmlformats.org/officeDocument/2006/math">
                      <m:sSub>
                        <m:sSubPr>
                          <m:ctrlPr>
                            <a:rPr lang="en-GB" altLang="LID4096" sz="2400" b="0" i="1" smtClean="0">
                              <a:latin typeface="Cambria Math" panose="02040503050406030204" pitchFamily="18" charset="0"/>
                            </a:rPr>
                          </m:ctrlPr>
                        </m:sSubPr>
                        <m:e>
                          <m:sSub>
                            <m:sSubPr>
                              <m:ctrlPr>
                                <a:rPr lang="en-GB" altLang="LID4096" sz="2400" b="0" i="1" smtClean="0">
                                  <a:latin typeface="Cambria Math" panose="02040503050406030204" pitchFamily="18" charset="0"/>
                                </a:rPr>
                              </m:ctrlPr>
                            </m:sSubPr>
                            <m:e>
                              <m:r>
                                <a:rPr lang="en-GB" altLang="LID4096" sz="2400" b="0" i="1" smtClean="0">
                                  <a:latin typeface="Cambria Math" panose="02040503050406030204" pitchFamily="18" charset="0"/>
                                </a:rPr>
                                <m:t>𝑛</m:t>
                              </m:r>
                            </m:e>
                            <m:sub>
                              <m:r>
                                <a:rPr lang="en-GB" altLang="LID4096" sz="2400" b="0" i="1" smtClean="0">
                                  <a:latin typeface="Cambria Math" panose="02040503050406030204" pitchFamily="18" charset="0"/>
                                </a:rPr>
                                <m:t>2</m:t>
                              </m:r>
                            </m:sub>
                          </m:sSub>
                          <m:acc>
                            <m:accPr>
                              <m:chr m:val="̂"/>
                              <m:ctrlPr>
                                <a:rPr lang="en-CA" altLang="LID4096" sz="2400" i="1">
                                  <a:latin typeface="Cambria Math" panose="02040503050406030204" pitchFamily="18" charset="0"/>
                                </a:rPr>
                              </m:ctrlPr>
                            </m:accPr>
                            <m:e>
                              <m:r>
                                <a:rPr lang="en-GB" altLang="LID4096" sz="2400" b="0" i="1" smtClean="0">
                                  <a:latin typeface="Cambria Math" panose="02040503050406030204" pitchFamily="18" charset="0"/>
                                </a:rPr>
                                <m:t>𝑞</m:t>
                              </m:r>
                            </m:e>
                          </m:acc>
                        </m:e>
                        <m:sub>
                          <m:r>
                            <a:rPr lang="en-GB" altLang="LID4096" sz="2400" b="0" i="1" smtClean="0">
                              <a:latin typeface="Cambria Math" panose="02040503050406030204" pitchFamily="18" charset="0"/>
                            </a:rPr>
                            <m:t>2</m:t>
                          </m:r>
                        </m:sub>
                      </m:sSub>
                      <m:r>
                        <a:rPr lang="en-GB" altLang="LID4096" sz="2400" b="0" i="1" smtClean="0">
                          <a:latin typeface="Cambria Math" panose="02040503050406030204" pitchFamily="18" charset="0"/>
                          <a:ea typeface="Cambria Math" panose="02040503050406030204" pitchFamily="18" charset="0"/>
                        </a:rPr>
                        <m:t>≥5</m:t>
                      </m:r>
                    </m:oMath>
                  </m:oMathPara>
                </a14:m>
                <a:endParaRPr lang="en-US" sz="2400" b="0" i="0" u="none" strike="noStrike" baseline="0" dirty="0">
                  <a:latin typeface="CMR10"/>
                </a:endParaRPr>
              </a:p>
              <a:p>
                <a:pPr marL="0" indent="0">
                  <a:buNone/>
                </a:pPr>
                <a:endParaRPr lang="en-US" sz="2400" b="0" i="0" u="none" strike="noStrike" baseline="0" dirty="0">
                  <a:latin typeface="CMR10"/>
                </a:endParaRPr>
              </a:p>
            </p:txBody>
          </p:sp>
        </mc:Choice>
        <mc:Fallback xmlns="">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690688"/>
                <a:ext cx="11158329" cy="4984267"/>
              </a:xfr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3256231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5. Estimating the difference between Population Proportions …</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508608"/>
            <a:ext cx="11158329" cy="4984267"/>
          </a:xfrm>
        </p:spPr>
        <p:txBody>
          <a:bodyPr>
            <a:normAutofit/>
          </a:bodyPr>
          <a:lstStyle/>
          <a:p>
            <a:pPr algn="l"/>
            <a:r>
              <a:rPr lang="en-GB" b="1" dirty="0">
                <a:solidFill>
                  <a:schemeClr val="accent1">
                    <a:lumMod val="60000"/>
                    <a:lumOff val="40000"/>
                  </a:schemeClr>
                </a:solidFill>
              </a:rPr>
              <a:t>Example 12: </a:t>
            </a:r>
            <a:r>
              <a:rPr lang="en-GB" sz="3200" b="0" i="0" u="none" strike="noStrike" baseline="0" dirty="0">
                <a:latin typeface="CMR9"/>
              </a:rPr>
              <a:t>A certain change in a process for manufacturing component parts is being considered. Samples are taken under both the existing and the new process so as to determine if the new process results in an improvement. If 75 of 1500 items from the existing process are found to be defective and 80 of 2000 items from the new process are found to be defective, find a 90% confidence interval for the true difference in the proportion of defectives between the existing and the new process.</a:t>
            </a:r>
          </a:p>
        </p:txBody>
      </p:sp>
    </p:spTree>
    <p:extLst>
      <p:ext uri="{BB962C8B-B14F-4D97-AF65-F5344CB8AC3E}">
        <p14:creationId xmlns:p14="http://schemas.microsoft.com/office/powerpoint/2010/main" val="1186988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6. Estimating the Variance: Single Sample</a:t>
            </a:r>
            <a:br>
              <a:rPr lang="LID4096" dirty="0"/>
            </a:b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113184"/>
                <a:ext cx="11158329" cy="5379692"/>
              </a:xfrm>
            </p:spPr>
            <p:txBody>
              <a:bodyPr>
                <a:normAutofit/>
              </a:bodyPr>
              <a:lstStyle/>
              <a:p>
                <a:r>
                  <a:rPr lang="en-GB" sz="2400" b="0" i="0" u="none" strike="noStrike" baseline="0" dirty="0">
                    <a:latin typeface="CMR10"/>
                  </a:rPr>
                  <a:t>If a sample of size </a:t>
                </a:r>
                <a:r>
                  <a:rPr lang="en-GB" sz="2400" b="0" i="1" u="none" strike="noStrike" baseline="0" dirty="0">
                    <a:latin typeface="CMMI10"/>
                  </a:rPr>
                  <a:t>n </a:t>
                </a:r>
                <a:r>
                  <a:rPr lang="en-GB" sz="2400" b="0" i="0" u="none" strike="noStrike" baseline="0" dirty="0">
                    <a:latin typeface="CMR10"/>
                  </a:rPr>
                  <a:t>is drawn from a normal population with variance </a:t>
                </a:r>
                <a14:m>
                  <m:oMath xmlns:m="http://schemas.openxmlformats.org/officeDocument/2006/math">
                    <m:sSup>
                      <m:sSupPr>
                        <m:ctrlPr>
                          <a:rPr lang="en-GB" sz="2400" b="0" i="1" u="none" strike="noStrike" baseline="0" dirty="0" smtClean="0">
                            <a:latin typeface="Cambria Math" panose="02040503050406030204" pitchFamily="18" charset="0"/>
                          </a:rPr>
                        </m:ctrlPr>
                      </m:sSupPr>
                      <m:e>
                        <m:r>
                          <a:rPr lang="en-GB" sz="2400" i="1" dirty="0">
                            <a:latin typeface="Cambria Math" panose="02040503050406030204" pitchFamily="18" charset="0"/>
                          </a:rPr>
                          <m:t>𝜎</m:t>
                        </m:r>
                      </m:e>
                      <m:sup>
                        <m:r>
                          <a:rPr lang="en-GB" sz="2400" b="0" i="1" u="none" strike="noStrike" baseline="0" dirty="0" smtClean="0">
                            <a:latin typeface="Cambria Math" panose="02040503050406030204" pitchFamily="18" charset="0"/>
                          </a:rPr>
                          <m:t>2</m:t>
                        </m:r>
                      </m:sup>
                    </m:sSup>
                  </m:oMath>
                </a14:m>
                <a:r>
                  <a:rPr lang="en-GB" sz="2400" b="0" i="0" u="none" strike="noStrike" baseline="0" dirty="0">
                    <a:latin typeface="CMR7"/>
                  </a:rPr>
                  <a:t> </a:t>
                </a:r>
                <a:r>
                  <a:rPr lang="en-GB" sz="2400" b="0" i="0" u="none" strike="noStrike" baseline="0" dirty="0">
                    <a:latin typeface="CMR10"/>
                  </a:rPr>
                  <a:t>and the sample variance </a:t>
                </a:r>
                <a14:m>
                  <m:oMath xmlns:m="http://schemas.openxmlformats.org/officeDocument/2006/math">
                    <m:sSup>
                      <m:sSupPr>
                        <m:ctrlPr>
                          <a:rPr lang="en-GB" sz="2400" i="1" dirty="0">
                            <a:latin typeface="Cambria Math" panose="02040503050406030204" pitchFamily="18" charset="0"/>
                          </a:rPr>
                        </m:ctrlPr>
                      </m:sSupPr>
                      <m:e>
                        <m:r>
                          <a:rPr lang="en-GB" sz="2400" b="0" i="1" dirty="0" smtClean="0">
                            <a:latin typeface="Cambria Math" panose="02040503050406030204" pitchFamily="18" charset="0"/>
                          </a:rPr>
                          <m:t>𝑠</m:t>
                        </m:r>
                      </m:e>
                      <m:sup>
                        <m:r>
                          <a:rPr lang="en-GB" sz="2400" i="1" dirty="0">
                            <a:latin typeface="Cambria Math" panose="02040503050406030204" pitchFamily="18" charset="0"/>
                          </a:rPr>
                          <m:t>2</m:t>
                        </m:r>
                      </m:sup>
                    </m:sSup>
                  </m:oMath>
                </a14:m>
                <a:r>
                  <a:rPr lang="en-GB" sz="2400" b="0" i="0" u="none" strike="noStrike" baseline="0" dirty="0">
                    <a:latin typeface="CMR7"/>
                  </a:rPr>
                  <a:t> </a:t>
                </a:r>
                <a:r>
                  <a:rPr lang="en-GB" sz="2400" b="0" i="0" u="none" strike="noStrike" baseline="0" dirty="0">
                    <a:latin typeface="CMR10"/>
                  </a:rPr>
                  <a:t>is computed, we obtain a value of the statistic </a:t>
                </a:r>
                <a14:m>
                  <m:oMath xmlns:m="http://schemas.openxmlformats.org/officeDocument/2006/math">
                    <m:sSup>
                      <m:sSupPr>
                        <m:ctrlPr>
                          <a:rPr lang="en-GB" sz="2400" i="1" dirty="0">
                            <a:latin typeface="Cambria Math" panose="02040503050406030204" pitchFamily="18" charset="0"/>
                          </a:rPr>
                        </m:ctrlPr>
                      </m:sSupPr>
                      <m:e>
                        <m:r>
                          <a:rPr lang="en-GB" sz="2400" b="0" i="1" dirty="0" smtClean="0">
                            <a:latin typeface="Cambria Math" panose="02040503050406030204" pitchFamily="18" charset="0"/>
                          </a:rPr>
                          <m:t>𝑆</m:t>
                        </m:r>
                      </m:e>
                      <m:sup>
                        <m:r>
                          <a:rPr lang="en-GB" sz="2400" i="1" dirty="0">
                            <a:latin typeface="Cambria Math" panose="02040503050406030204" pitchFamily="18" charset="0"/>
                          </a:rPr>
                          <m:t>2</m:t>
                        </m:r>
                      </m:sup>
                    </m:sSup>
                  </m:oMath>
                </a14:m>
                <a:r>
                  <a:rPr lang="en-GB" sz="2400" b="0" i="0" u="none" strike="noStrike" baseline="0" dirty="0">
                    <a:latin typeface="CMR10"/>
                  </a:rPr>
                  <a:t>. This computed sample variance is used as a point estimate of </a:t>
                </a:r>
                <a14:m>
                  <m:oMath xmlns:m="http://schemas.openxmlformats.org/officeDocument/2006/math">
                    <m:sSup>
                      <m:sSupPr>
                        <m:ctrlPr>
                          <a:rPr lang="en-GB" sz="2400" i="1" dirty="0">
                            <a:latin typeface="Cambria Math" panose="02040503050406030204" pitchFamily="18" charset="0"/>
                          </a:rPr>
                        </m:ctrlPr>
                      </m:sSupPr>
                      <m:e>
                        <m:r>
                          <a:rPr lang="en-GB" sz="2400" i="1" dirty="0">
                            <a:latin typeface="Cambria Math" panose="02040503050406030204" pitchFamily="18" charset="0"/>
                          </a:rPr>
                          <m:t>𝜎</m:t>
                        </m:r>
                      </m:e>
                      <m:sup>
                        <m:r>
                          <a:rPr lang="en-GB" sz="2400" i="1" dirty="0">
                            <a:latin typeface="Cambria Math" panose="02040503050406030204" pitchFamily="18" charset="0"/>
                          </a:rPr>
                          <m:t>2</m:t>
                        </m:r>
                      </m:sup>
                    </m:sSup>
                  </m:oMath>
                </a14:m>
                <a:r>
                  <a:rPr lang="en-GB" sz="2400" b="0" i="0" u="none" strike="noStrike" baseline="0" dirty="0">
                    <a:latin typeface="CMR10"/>
                  </a:rPr>
                  <a:t>.</a:t>
                </a:r>
              </a:p>
              <a:p>
                <a:r>
                  <a:rPr lang="en-GB" sz="2400" dirty="0">
                    <a:latin typeface="CMR10"/>
                  </a:rPr>
                  <a:t>If </a:t>
                </a:r>
                <a14:m>
                  <m:oMath xmlns:m="http://schemas.openxmlformats.org/officeDocument/2006/math">
                    <m:sSup>
                      <m:sSupPr>
                        <m:ctrlPr>
                          <a:rPr lang="en-GB" sz="2400" i="1" dirty="0" smtClean="0">
                            <a:latin typeface="Cambria Math" panose="02040503050406030204" pitchFamily="18" charset="0"/>
                          </a:rPr>
                        </m:ctrlPr>
                      </m:sSupPr>
                      <m:e>
                        <m:r>
                          <a:rPr lang="en-GB" sz="2400" b="0" i="1" dirty="0" smtClean="0">
                            <a:latin typeface="Cambria Math" panose="02040503050406030204" pitchFamily="18" charset="0"/>
                          </a:rPr>
                          <m:t>𝑠</m:t>
                        </m:r>
                      </m:e>
                      <m:sup>
                        <m:r>
                          <a:rPr lang="en-GB" sz="2400" i="1" dirty="0">
                            <a:latin typeface="Cambria Math" panose="02040503050406030204" pitchFamily="18" charset="0"/>
                          </a:rPr>
                          <m:t>2</m:t>
                        </m:r>
                      </m:sup>
                    </m:sSup>
                  </m:oMath>
                </a14:m>
                <a:r>
                  <a:rPr lang="en-GB" sz="2400" dirty="0">
                    <a:latin typeface="CMR10"/>
                  </a:rPr>
                  <a:t> is the variance of a random sample of size </a:t>
                </a:r>
                <a:r>
                  <a:rPr lang="en-GB" sz="2400" i="1" dirty="0">
                    <a:latin typeface="CMR10"/>
                  </a:rPr>
                  <a:t>n</a:t>
                </a:r>
                <a:r>
                  <a:rPr lang="en-GB" sz="2400" dirty="0">
                    <a:latin typeface="CMR10"/>
                  </a:rPr>
                  <a:t> from a normal population, a 100(1 − α)% confidence interval for </a:t>
                </a:r>
                <a14:m>
                  <m:oMath xmlns:m="http://schemas.openxmlformats.org/officeDocument/2006/math">
                    <m:sSup>
                      <m:sSupPr>
                        <m:ctrlPr>
                          <a:rPr lang="en-GB" sz="2400" i="1" dirty="0">
                            <a:latin typeface="Cambria Math" panose="02040503050406030204" pitchFamily="18" charset="0"/>
                          </a:rPr>
                        </m:ctrlPr>
                      </m:sSupPr>
                      <m:e>
                        <m:r>
                          <a:rPr lang="en-GB" sz="2400" i="1" dirty="0">
                            <a:latin typeface="Cambria Math" panose="02040503050406030204" pitchFamily="18" charset="0"/>
                          </a:rPr>
                          <m:t>𝜎</m:t>
                        </m:r>
                      </m:e>
                      <m:sup>
                        <m:r>
                          <a:rPr lang="en-GB" sz="2400" i="1" dirty="0">
                            <a:latin typeface="Cambria Math" panose="02040503050406030204" pitchFamily="18" charset="0"/>
                          </a:rPr>
                          <m:t>2</m:t>
                        </m:r>
                      </m:sup>
                    </m:sSup>
                  </m:oMath>
                </a14:m>
                <a:r>
                  <a:rPr lang="en-GB" sz="2400" dirty="0">
                    <a:latin typeface="CMR10"/>
                  </a:rPr>
                  <a:t> is</a:t>
                </a:r>
              </a:p>
              <a:p>
                <a:pPr marL="0" indent="0">
                  <a:buNone/>
                </a:pPr>
                <a14:m>
                  <m:oMathPara xmlns:m="http://schemas.openxmlformats.org/officeDocument/2006/math">
                    <m:oMathParaPr>
                      <m:jc m:val="centerGroup"/>
                    </m:oMathParaPr>
                    <m:oMath xmlns:m="http://schemas.openxmlformats.org/officeDocument/2006/math">
                      <m:f>
                        <m:fPr>
                          <m:ctrlPr>
                            <a:rPr lang="en-GB" sz="2400" i="1" smtClean="0">
                              <a:latin typeface="Cambria Math" panose="02040503050406030204" pitchFamily="18" charset="0"/>
                            </a:rPr>
                          </m:ctrlPr>
                        </m:fPr>
                        <m:num>
                          <m:d>
                            <m:dPr>
                              <m:ctrlPr>
                                <a:rPr lang="en-GB" sz="2400" i="1" smtClean="0">
                                  <a:latin typeface="Cambria Math" panose="02040503050406030204" pitchFamily="18" charset="0"/>
                                </a:rPr>
                              </m:ctrlPr>
                            </m:dPr>
                            <m:e>
                              <m:r>
                                <a:rPr lang="en-GB" sz="2400" b="0" i="1" smtClean="0">
                                  <a:latin typeface="Cambria Math" panose="02040503050406030204" pitchFamily="18" charset="0"/>
                                </a:rPr>
                                <m:t>𝑛</m:t>
                              </m:r>
                              <m:r>
                                <a:rPr lang="en-GB" sz="2400" b="0" i="1" smtClean="0">
                                  <a:latin typeface="Cambria Math" panose="02040503050406030204" pitchFamily="18" charset="0"/>
                                </a:rPr>
                                <m:t>−1</m:t>
                              </m:r>
                            </m:e>
                          </m:d>
                          <m:sSup>
                            <m:sSupPr>
                              <m:ctrlPr>
                                <a:rPr lang="en-GB" sz="2400" i="1" smtClean="0">
                                  <a:latin typeface="Cambria Math" panose="02040503050406030204" pitchFamily="18" charset="0"/>
                                </a:rPr>
                              </m:ctrlPr>
                            </m:sSupPr>
                            <m:e>
                              <m:r>
                                <a:rPr lang="en-GB" sz="2400" b="0" i="1" smtClean="0">
                                  <a:latin typeface="Cambria Math" panose="02040503050406030204" pitchFamily="18" charset="0"/>
                                </a:rPr>
                                <m:t>𝑠</m:t>
                              </m:r>
                            </m:e>
                            <m:sup>
                              <m:r>
                                <a:rPr lang="en-GB" sz="2400" b="0" i="1" smtClean="0">
                                  <a:latin typeface="Cambria Math" panose="02040503050406030204" pitchFamily="18" charset="0"/>
                                </a:rPr>
                                <m:t>2</m:t>
                              </m:r>
                            </m:sup>
                          </m:sSup>
                        </m:num>
                        <m:den>
                          <m:sSubSup>
                            <m:sSubSupPr>
                              <m:ctrlPr>
                                <a:rPr lang="en-GB" sz="2400" i="1" smtClean="0">
                                  <a:latin typeface="Cambria Math" panose="02040503050406030204" pitchFamily="18" charset="0"/>
                                </a:rPr>
                              </m:ctrlPr>
                            </m:sSubSupPr>
                            <m:e>
                              <m:r>
                                <a:rPr lang="en-GB" sz="2400" i="1" smtClean="0">
                                  <a:latin typeface="Cambria Math" panose="02040503050406030204" pitchFamily="18" charset="0"/>
                                  <a:ea typeface="Cambria Math" panose="02040503050406030204" pitchFamily="18" charset="0"/>
                                </a:rPr>
                                <m:t>𝜒</m:t>
                              </m:r>
                            </m:e>
                            <m:sub>
                              <m:f>
                                <m:fPr>
                                  <m:ctrlPr>
                                    <a:rPr lang="en-GB" sz="2400" i="1" smtClean="0">
                                      <a:latin typeface="Cambria Math" panose="02040503050406030204" pitchFamily="18" charset="0"/>
                                    </a:rPr>
                                  </m:ctrlPr>
                                </m:fPr>
                                <m:num>
                                  <m:r>
                                    <a:rPr lang="en-GB" sz="2400" i="1" smtClean="0">
                                      <a:latin typeface="Cambria Math" panose="02040503050406030204" pitchFamily="18" charset="0"/>
                                      <a:ea typeface="Cambria Math" panose="02040503050406030204" pitchFamily="18" charset="0"/>
                                    </a:rPr>
                                    <m:t>𝛼</m:t>
                                  </m:r>
                                </m:num>
                                <m:den>
                                  <m:r>
                                    <a:rPr lang="en-GB" sz="2400" b="0" i="1" smtClean="0">
                                      <a:latin typeface="Cambria Math" panose="02040503050406030204" pitchFamily="18" charset="0"/>
                                    </a:rPr>
                                    <m:t>2</m:t>
                                  </m:r>
                                </m:den>
                              </m:f>
                            </m:sub>
                            <m:sup>
                              <m:r>
                                <a:rPr lang="en-GB" sz="2400" b="0" i="1" smtClean="0">
                                  <a:latin typeface="Cambria Math" panose="02040503050406030204" pitchFamily="18" charset="0"/>
                                </a:rPr>
                                <m:t>2</m:t>
                              </m:r>
                            </m:sup>
                          </m:sSubSup>
                        </m:den>
                      </m:f>
                      <m:r>
                        <a:rPr lang="en-GB" sz="2400" i="1" smtClean="0">
                          <a:latin typeface="Cambria Math" panose="02040503050406030204" pitchFamily="18" charset="0"/>
                          <a:ea typeface="Cambria Math" panose="02040503050406030204" pitchFamily="18" charset="0"/>
                        </a:rPr>
                        <m:t>&lt;</m:t>
                      </m:r>
                      <m:sSup>
                        <m:sSupPr>
                          <m:ctrlPr>
                            <a:rPr lang="en-GB" sz="2400" i="1" dirty="0">
                              <a:latin typeface="Cambria Math" panose="02040503050406030204" pitchFamily="18" charset="0"/>
                            </a:rPr>
                          </m:ctrlPr>
                        </m:sSupPr>
                        <m:e>
                          <m:r>
                            <a:rPr lang="en-GB" sz="2400" i="1" dirty="0">
                              <a:latin typeface="Cambria Math" panose="02040503050406030204" pitchFamily="18" charset="0"/>
                            </a:rPr>
                            <m:t>𝜎</m:t>
                          </m:r>
                        </m:e>
                        <m:sup>
                          <m:r>
                            <a:rPr lang="en-GB" sz="2400" i="1" dirty="0">
                              <a:latin typeface="Cambria Math" panose="02040503050406030204" pitchFamily="18" charset="0"/>
                            </a:rPr>
                            <m:t>2</m:t>
                          </m:r>
                        </m:sup>
                      </m:sSup>
                      <m:r>
                        <a:rPr lang="en-GB" sz="2400" b="0" i="1" dirty="0" smtClean="0">
                          <a:latin typeface="Cambria Math" panose="02040503050406030204" pitchFamily="18" charset="0"/>
                        </a:rPr>
                        <m:t>&lt;</m:t>
                      </m:r>
                      <m:f>
                        <m:fPr>
                          <m:ctrlPr>
                            <a:rPr lang="en-GB" sz="2400" i="1">
                              <a:latin typeface="Cambria Math" panose="02040503050406030204" pitchFamily="18" charset="0"/>
                            </a:rPr>
                          </m:ctrlPr>
                        </m:fPr>
                        <m:num>
                          <m:d>
                            <m:dPr>
                              <m:ctrlPr>
                                <a:rPr lang="en-GB" sz="2400" i="1">
                                  <a:latin typeface="Cambria Math" panose="02040503050406030204" pitchFamily="18" charset="0"/>
                                </a:rPr>
                              </m:ctrlPr>
                            </m:dPr>
                            <m:e>
                              <m:r>
                                <a:rPr lang="en-GB" sz="2400" i="1">
                                  <a:latin typeface="Cambria Math" panose="02040503050406030204" pitchFamily="18" charset="0"/>
                                </a:rPr>
                                <m:t>𝑛</m:t>
                              </m:r>
                              <m:r>
                                <a:rPr lang="en-GB" sz="2400" i="1">
                                  <a:latin typeface="Cambria Math" panose="02040503050406030204" pitchFamily="18" charset="0"/>
                                </a:rPr>
                                <m:t>−1</m:t>
                              </m:r>
                            </m:e>
                          </m:d>
                          <m:sSup>
                            <m:sSupPr>
                              <m:ctrlPr>
                                <a:rPr lang="en-GB" sz="2400" i="1">
                                  <a:latin typeface="Cambria Math" panose="02040503050406030204" pitchFamily="18" charset="0"/>
                                </a:rPr>
                              </m:ctrlPr>
                            </m:sSupPr>
                            <m:e>
                              <m:r>
                                <a:rPr lang="en-GB" sz="2400" b="0" i="1" smtClean="0">
                                  <a:latin typeface="Cambria Math" panose="02040503050406030204" pitchFamily="18" charset="0"/>
                                </a:rPr>
                                <m:t>𝑠</m:t>
                              </m:r>
                            </m:e>
                            <m:sup>
                              <m:r>
                                <a:rPr lang="en-GB" sz="2400" i="1">
                                  <a:latin typeface="Cambria Math" panose="02040503050406030204" pitchFamily="18" charset="0"/>
                                </a:rPr>
                                <m:t>2</m:t>
                              </m:r>
                            </m:sup>
                          </m:sSup>
                        </m:num>
                        <m:den>
                          <m:sSubSup>
                            <m:sSubSupPr>
                              <m:ctrlPr>
                                <a:rPr lang="en-GB" sz="2400" i="1">
                                  <a:latin typeface="Cambria Math" panose="02040503050406030204" pitchFamily="18" charset="0"/>
                                </a:rPr>
                              </m:ctrlPr>
                            </m:sSubSupPr>
                            <m:e>
                              <m:r>
                                <a:rPr lang="en-GB" sz="2400" i="1">
                                  <a:latin typeface="Cambria Math" panose="02040503050406030204" pitchFamily="18" charset="0"/>
                                  <a:ea typeface="Cambria Math" panose="02040503050406030204" pitchFamily="18" charset="0"/>
                                </a:rPr>
                                <m:t>𝜒</m:t>
                              </m:r>
                            </m:e>
                            <m:sub>
                              <m:r>
                                <a:rPr lang="en-GB" sz="2400" b="0" i="1" smtClean="0">
                                  <a:latin typeface="Cambria Math" panose="02040503050406030204" pitchFamily="18" charset="0"/>
                                  <a:ea typeface="Cambria Math" panose="02040503050406030204" pitchFamily="18" charset="0"/>
                                </a:rPr>
                                <m:t>1−</m:t>
                              </m:r>
                              <m:f>
                                <m:fPr>
                                  <m:ctrlPr>
                                    <a:rPr lang="en-GB" sz="2400" i="1">
                                      <a:latin typeface="Cambria Math" panose="02040503050406030204" pitchFamily="18" charset="0"/>
                                    </a:rPr>
                                  </m:ctrlPr>
                                </m:fPr>
                                <m:num>
                                  <m:r>
                                    <a:rPr lang="en-GB" sz="2400" i="1">
                                      <a:latin typeface="Cambria Math" panose="02040503050406030204" pitchFamily="18" charset="0"/>
                                      <a:ea typeface="Cambria Math" panose="02040503050406030204" pitchFamily="18" charset="0"/>
                                    </a:rPr>
                                    <m:t>𝛼</m:t>
                                  </m:r>
                                </m:num>
                                <m:den>
                                  <m:r>
                                    <a:rPr lang="en-GB" sz="2400" i="1">
                                      <a:latin typeface="Cambria Math" panose="02040503050406030204" pitchFamily="18" charset="0"/>
                                    </a:rPr>
                                    <m:t>2</m:t>
                                  </m:r>
                                </m:den>
                              </m:f>
                            </m:sub>
                            <m:sup>
                              <m:r>
                                <a:rPr lang="en-GB" sz="2400" i="1">
                                  <a:latin typeface="Cambria Math" panose="02040503050406030204" pitchFamily="18" charset="0"/>
                                </a:rPr>
                                <m:t>2</m:t>
                              </m:r>
                            </m:sup>
                          </m:sSubSup>
                        </m:den>
                      </m:f>
                    </m:oMath>
                  </m:oMathPara>
                </a14:m>
                <a:endParaRPr lang="en-GB" sz="2400" dirty="0">
                  <a:latin typeface="CMR10"/>
                </a:endParaRPr>
              </a:p>
              <a:p>
                <a:pPr marL="0" indent="0">
                  <a:buNone/>
                </a:pPr>
                <a:endParaRPr lang="en-GB" sz="2400" dirty="0">
                  <a:latin typeface="CMR10"/>
                </a:endParaRPr>
              </a:p>
              <a:p>
                <a:pPr marL="0" indent="0">
                  <a:buNone/>
                </a:pPr>
                <a:r>
                  <a:rPr lang="en-GB" sz="2400" dirty="0">
                    <a:latin typeface="CMR10"/>
                  </a:rPr>
                  <a:t>Where</a:t>
                </a:r>
              </a:p>
              <a:p>
                <a:pPr marL="0" indent="0" algn="ctr">
                  <a:buNone/>
                </a:pPr>
                <a:r>
                  <a:rPr lang="en-GB" sz="2400" i="1" dirty="0" err="1">
                    <a:latin typeface="Cambria Math" panose="02040503050406030204" pitchFamily="18" charset="0"/>
                  </a:rPr>
                  <a:t>df</a:t>
                </a:r>
                <a:r>
                  <a:rPr lang="en-GB" sz="2400" i="1" dirty="0">
                    <a:latin typeface="Cambria Math" panose="02040503050406030204" pitchFamily="18" charset="0"/>
                  </a:rPr>
                  <a:t>=n-1</a:t>
                </a:r>
              </a:p>
              <a:p>
                <a:pPr marL="0" indent="0" algn="ctr">
                  <a:buNone/>
                </a:pPr>
                <a:endParaRPr lang="en-GB"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GB" sz="2400" i="1" smtClean="0">
                              <a:latin typeface="Cambria Math" panose="02040503050406030204" pitchFamily="18" charset="0"/>
                            </a:rPr>
                          </m:ctrlPr>
                        </m:sSupPr>
                        <m:e>
                          <m:r>
                            <a:rPr lang="en-GB" sz="2400" b="0" i="1" smtClean="0">
                              <a:latin typeface="Cambria Math" panose="02040503050406030204" pitchFamily="18" charset="0"/>
                            </a:rPr>
                            <m:t>𝑠</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𝑛</m:t>
                          </m:r>
                          <m:nary>
                            <m:naryPr>
                              <m:chr m:val="∑"/>
                              <m:ctrlPr>
                                <a:rPr lang="en-GB" sz="2400" b="0" i="1" smtClean="0">
                                  <a:latin typeface="Cambria Math" panose="02040503050406030204" pitchFamily="18" charset="0"/>
                                </a:rPr>
                              </m:ctrlPr>
                            </m:naryPr>
                            <m:sub>
                              <m:r>
                                <m:rPr>
                                  <m:brk m:alnAt="23"/>
                                </m:rPr>
                                <a:rPr lang="en-GB" sz="2400" b="0" i="1" smtClean="0">
                                  <a:latin typeface="Cambria Math" panose="02040503050406030204" pitchFamily="18" charset="0"/>
                                </a:rPr>
                                <m:t>𝑖</m:t>
                              </m:r>
                              <m:r>
                                <a:rPr lang="en-GB" sz="2400" b="0" i="1" smtClean="0">
                                  <a:latin typeface="Cambria Math" panose="02040503050406030204" pitchFamily="18" charset="0"/>
                                </a:rPr>
                                <m:t>=1</m:t>
                              </m:r>
                            </m:sub>
                            <m:sup>
                              <m:r>
                                <a:rPr lang="en-GB" sz="2400" b="0" i="1" smtClean="0">
                                  <a:latin typeface="Cambria Math" panose="02040503050406030204" pitchFamily="18" charset="0"/>
                                </a:rPr>
                                <m:t>𝑛</m:t>
                              </m:r>
                            </m:sup>
                            <m:e>
                              <m:sSubSup>
                                <m:sSubSupPr>
                                  <m:ctrlPr>
                                    <a:rPr lang="en-GB" sz="2400" i="1">
                                      <a:latin typeface="Cambria Math" panose="02040503050406030204" pitchFamily="18" charset="0"/>
                                    </a:rPr>
                                  </m:ctrlPr>
                                </m:sSubSupPr>
                                <m:e>
                                  <m:r>
                                    <a:rPr lang="en-GB" sz="2400" i="1">
                                      <a:latin typeface="Cambria Math" panose="02040503050406030204" pitchFamily="18" charset="0"/>
                                    </a:rPr>
                                    <m:t>𝑥</m:t>
                                  </m:r>
                                </m:e>
                                <m:sub>
                                  <m:r>
                                    <a:rPr lang="en-GB" sz="2400" i="1">
                                      <a:latin typeface="Cambria Math" panose="02040503050406030204" pitchFamily="18" charset="0"/>
                                    </a:rPr>
                                    <m:t>𝑖</m:t>
                                  </m:r>
                                </m:sub>
                                <m:sup>
                                  <m:r>
                                    <a:rPr lang="en-GB" sz="2400" i="1">
                                      <a:latin typeface="Cambria Math" panose="02040503050406030204" pitchFamily="18" charset="0"/>
                                    </a:rPr>
                                    <m:t>2</m:t>
                                  </m:r>
                                </m:sup>
                              </m:sSubSup>
                            </m:e>
                          </m:nary>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d>
                                <m:dPr>
                                  <m:ctrlPr>
                                    <a:rPr lang="en-GB" sz="2400" i="1">
                                      <a:latin typeface="Cambria Math" panose="02040503050406030204" pitchFamily="18" charset="0"/>
                                    </a:rPr>
                                  </m:ctrlPr>
                                </m:dPr>
                                <m:e>
                                  <m:nary>
                                    <m:naryPr>
                                      <m:chr m:val="∑"/>
                                      <m:ctrlPr>
                                        <a:rPr lang="en-GB" sz="2400" i="1">
                                          <a:latin typeface="Cambria Math" panose="02040503050406030204" pitchFamily="18" charset="0"/>
                                        </a:rPr>
                                      </m:ctrlPr>
                                    </m:naryPr>
                                    <m:sub>
                                      <m:r>
                                        <m:rPr>
                                          <m:brk m:alnAt="23"/>
                                        </m:rPr>
                                        <a:rPr lang="en-GB" sz="2400" i="1">
                                          <a:latin typeface="Cambria Math" panose="02040503050406030204" pitchFamily="18" charset="0"/>
                                        </a:rPr>
                                        <m:t>𝑖</m:t>
                                      </m:r>
                                      <m:r>
                                        <a:rPr lang="en-GB" sz="2400" i="1">
                                          <a:latin typeface="Cambria Math" panose="02040503050406030204" pitchFamily="18" charset="0"/>
                                        </a:rPr>
                                        <m:t>=1</m:t>
                                      </m:r>
                                    </m:sub>
                                    <m:sup>
                                      <m:r>
                                        <a:rPr lang="en-GB" sz="2400" i="1">
                                          <a:latin typeface="Cambria Math" panose="02040503050406030204" pitchFamily="18" charset="0"/>
                                        </a:rPr>
                                        <m:t>𝑛</m:t>
                                      </m:r>
                                    </m:sup>
                                    <m:e>
                                      <m:sSub>
                                        <m:sSubPr>
                                          <m:ctrlPr>
                                            <a:rPr lang="en-GB" sz="2400" i="1">
                                              <a:latin typeface="Cambria Math" panose="02040503050406030204" pitchFamily="18" charset="0"/>
                                            </a:rPr>
                                          </m:ctrlPr>
                                        </m:sSubPr>
                                        <m:e>
                                          <m:r>
                                            <a:rPr lang="en-GB" sz="2400" i="1">
                                              <a:latin typeface="Cambria Math" panose="02040503050406030204" pitchFamily="18" charset="0"/>
                                            </a:rPr>
                                            <m:t>𝑥</m:t>
                                          </m:r>
                                        </m:e>
                                        <m:sub>
                                          <m:r>
                                            <a:rPr lang="en-GB" sz="2400" i="1">
                                              <a:latin typeface="Cambria Math" panose="02040503050406030204" pitchFamily="18" charset="0"/>
                                            </a:rPr>
                                            <m:t>𝑖</m:t>
                                          </m:r>
                                        </m:sub>
                                      </m:sSub>
                                    </m:e>
                                  </m:nary>
                                </m:e>
                              </m:d>
                            </m:e>
                            <m:sup>
                              <m:r>
                                <a:rPr lang="en-GB" sz="2400" b="0" i="1" smtClean="0">
                                  <a:latin typeface="Cambria Math" panose="02040503050406030204" pitchFamily="18" charset="0"/>
                                </a:rPr>
                                <m:t>2</m:t>
                              </m:r>
                            </m:sup>
                          </m:sSup>
                        </m:num>
                        <m:den>
                          <m:r>
                            <a:rPr lang="en-GB" sz="2400" b="0" i="1" smtClean="0">
                              <a:latin typeface="Cambria Math" panose="02040503050406030204" pitchFamily="18" charset="0"/>
                            </a:rPr>
                            <m:t>𝑛</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𝑛</m:t>
                              </m:r>
                              <m:r>
                                <a:rPr lang="en-GB" sz="2400" b="0" i="1" smtClean="0">
                                  <a:latin typeface="Cambria Math" panose="02040503050406030204" pitchFamily="18" charset="0"/>
                                </a:rPr>
                                <m:t>−1</m:t>
                              </m:r>
                            </m:e>
                          </m:d>
                        </m:den>
                      </m:f>
                    </m:oMath>
                  </m:oMathPara>
                </a14:m>
                <a:endParaRPr lang="en-GB" sz="2400" dirty="0">
                  <a:latin typeface="CMR10"/>
                </a:endParaRPr>
              </a:p>
              <a:p>
                <a:pPr marL="0" indent="0">
                  <a:buNone/>
                </a:pPr>
                <a:endParaRPr lang="en-GB" sz="2400" dirty="0">
                  <a:latin typeface="CMR10"/>
                </a:endParaRPr>
              </a:p>
            </p:txBody>
          </p:sp>
        </mc:Choice>
        <mc:Fallback xmlns="">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113184"/>
                <a:ext cx="11158329" cy="5379692"/>
              </a:xfr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453584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6. Estimating the Variance: Single Sample</a:t>
            </a:r>
            <a:br>
              <a:rPr lang="LID4096" dirty="0"/>
            </a:br>
            <a:endParaRPr lang="LID4096" dirty="0"/>
          </a:p>
        </p:txBody>
      </p:sp>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508608"/>
            <a:ext cx="11158329" cy="4984267"/>
          </a:xfrm>
        </p:spPr>
        <p:txBody>
          <a:bodyPr>
            <a:normAutofit/>
          </a:bodyPr>
          <a:lstStyle/>
          <a:p>
            <a:pPr marL="0" indent="0" algn="l">
              <a:buNone/>
            </a:pPr>
            <a:r>
              <a:rPr lang="en-GB" b="1" dirty="0">
                <a:solidFill>
                  <a:schemeClr val="accent1">
                    <a:lumMod val="60000"/>
                    <a:lumOff val="40000"/>
                  </a:schemeClr>
                </a:solidFill>
              </a:rPr>
              <a:t>Example 13: </a:t>
            </a:r>
            <a:r>
              <a:rPr lang="en-GB" sz="3200" dirty="0">
                <a:latin typeface="CMR9"/>
              </a:rPr>
              <a:t>The following are the weights, in decagrams, of 10 packages of grass seed distributed by a certain company: 46.4, 46.1, 45.8, 47.0, 46.1, 45.9, 45.8, 46.9, 45.2, and 46.0. Find a 95% confidence interval for the variance of the weights of all such packages of grass seed distributed by this company, assuming a normal population.</a:t>
            </a:r>
          </a:p>
        </p:txBody>
      </p:sp>
    </p:spTree>
    <p:extLst>
      <p:ext uri="{BB962C8B-B14F-4D97-AF65-F5344CB8AC3E}">
        <p14:creationId xmlns:p14="http://schemas.microsoft.com/office/powerpoint/2010/main" val="6435247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6. Estimating the Ratio of  Two Variances</a:t>
            </a:r>
            <a:br>
              <a:rPr lang="LID4096" dirty="0"/>
            </a:b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508608"/>
                <a:ext cx="11158329" cy="4984267"/>
              </a:xfrm>
            </p:spPr>
            <p:txBody>
              <a:bodyPr>
                <a:normAutofit/>
              </a:bodyPr>
              <a:lstStyle/>
              <a:p>
                <a:r>
                  <a:rPr lang="en-US" b="0" i="0" u="none" strike="noStrike" baseline="0" dirty="0">
                    <a:latin typeface="CMR10"/>
                  </a:rPr>
                  <a:t>If </a:t>
                </a:r>
                <a14:m>
                  <m:oMath xmlns:m="http://schemas.openxmlformats.org/officeDocument/2006/math">
                    <m:sSubSup>
                      <m:sSubSupPr>
                        <m:ctrlPr>
                          <a:rPr lang="en-US" b="0" i="1" u="none" strike="noStrike" baseline="0" dirty="0" smtClean="0">
                            <a:latin typeface="Cambria Math" panose="02040503050406030204" pitchFamily="18" charset="0"/>
                          </a:rPr>
                        </m:ctrlPr>
                      </m:sSubSupPr>
                      <m:e>
                        <m:r>
                          <a:rPr lang="en-GB" b="0" i="1" u="none" strike="noStrike" baseline="0" dirty="0" smtClean="0">
                            <a:latin typeface="Cambria Math" panose="02040503050406030204" pitchFamily="18" charset="0"/>
                          </a:rPr>
                          <m:t>𝑠</m:t>
                        </m:r>
                      </m:e>
                      <m:sub>
                        <m:r>
                          <a:rPr lang="en-GB" b="0" i="1" u="none" strike="noStrike" baseline="0" dirty="0" smtClean="0">
                            <a:latin typeface="Cambria Math" panose="02040503050406030204" pitchFamily="18" charset="0"/>
                          </a:rPr>
                          <m:t>1</m:t>
                        </m:r>
                      </m:sub>
                      <m:sup>
                        <m:r>
                          <a:rPr lang="en-GB" b="0" i="1" u="none" strike="noStrike" baseline="0" dirty="0" smtClean="0">
                            <a:latin typeface="Cambria Math" panose="02040503050406030204" pitchFamily="18" charset="0"/>
                          </a:rPr>
                          <m:t>2</m:t>
                        </m:r>
                      </m:sup>
                    </m:sSubSup>
                  </m:oMath>
                </a14:m>
                <a:r>
                  <a:rPr lang="en-US" b="0" i="0" u="none" strike="noStrike" baseline="0" dirty="0">
                    <a:latin typeface="CMR7"/>
                  </a:rPr>
                  <a:t> </a:t>
                </a:r>
                <a:r>
                  <a:rPr lang="en-US" b="0" i="0" u="none" strike="noStrike" baseline="0" dirty="0">
                    <a:latin typeface="CMR10"/>
                  </a:rPr>
                  <a:t>and </a:t>
                </a:r>
                <a14:m>
                  <m:oMath xmlns:m="http://schemas.openxmlformats.org/officeDocument/2006/math">
                    <m:sSubSup>
                      <m:sSubSupPr>
                        <m:ctrlPr>
                          <a:rPr lang="en-US" i="1" dirty="0">
                            <a:latin typeface="Cambria Math" panose="02040503050406030204" pitchFamily="18" charset="0"/>
                          </a:rPr>
                        </m:ctrlPr>
                      </m:sSubSupPr>
                      <m:e>
                        <m:r>
                          <a:rPr lang="en-GB" i="1" dirty="0">
                            <a:latin typeface="Cambria Math" panose="02040503050406030204" pitchFamily="18" charset="0"/>
                          </a:rPr>
                          <m:t>𝑠</m:t>
                        </m:r>
                      </m:e>
                      <m:sub>
                        <m:r>
                          <a:rPr lang="en-GB" b="0" i="1" dirty="0" smtClean="0">
                            <a:latin typeface="Cambria Math" panose="02040503050406030204" pitchFamily="18" charset="0"/>
                          </a:rPr>
                          <m:t>2</m:t>
                        </m:r>
                      </m:sub>
                      <m:sup>
                        <m:r>
                          <a:rPr lang="en-GB" i="1" dirty="0">
                            <a:latin typeface="Cambria Math" panose="02040503050406030204" pitchFamily="18" charset="0"/>
                          </a:rPr>
                          <m:t>2</m:t>
                        </m:r>
                      </m:sup>
                    </m:sSubSup>
                  </m:oMath>
                </a14:m>
                <a:r>
                  <a:rPr lang="en-US" dirty="0">
                    <a:latin typeface="CMR7"/>
                  </a:rPr>
                  <a:t> </a:t>
                </a:r>
                <a:r>
                  <a:rPr lang="en-GB" b="0" i="0" u="none" strike="noStrike" baseline="0" dirty="0">
                    <a:latin typeface="CMR10"/>
                  </a:rPr>
                  <a:t>are the variances of independent samples of sizes </a:t>
                </a:r>
                <a14:m>
                  <m:oMath xmlns:m="http://schemas.openxmlformats.org/officeDocument/2006/math">
                    <m:sSub>
                      <m:sSubPr>
                        <m:ctrlPr>
                          <a:rPr lang="en-GB" b="0" i="1" u="none" strike="noStrike" baseline="0" dirty="0" smtClean="0">
                            <a:latin typeface="Cambria Math" panose="02040503050406030204" pitchFamily="18" charset="0"/>
                          </a:rPr>
                        </m:ctrlPr>
                      </m:sSubPr>
                      <m:e>
                        <m:r>
                          <a:rPr lang="en-GB" b="0" i="1" u="none" strike="noStrike" baseline="0" dirty="0" smtClean="0">
                            <a:latin typeface="Cambria Math" panose="02040503050406030204" pitchFamily="18" charset="0"/>
                          </a:rPr>
                          <m:t>𝑛</m:t>
                        </m:r>
                      </m:e>
                      <m:sub>
                        <m:r>
                          <a:rPr lang="en-GB" b="0" i="1" u="none" strike="noStrike" baseline="0" dirty="0" smtClean="0">
                            <a:latin typeface="Cambria Math" panose="02040503050406030204" pitchFamily="18" charset="0"/>
                          </a:rPr>
                          <m:t>1</m:t>
                        </m:r>
                      </m:sub>
                    </m:sSub>
                  </m:oMath>
                </a14:m>
                <a:r>
                  <a:rPr lang="en-GB" b="0" i="0" u="none" strike="noStrike" baseline="0" dirty="0">
                    <a:latin typeface="CMR7"/>
                  </a:rPr>
                  <a:t> </a:t>
                </a:r>
                <a:r>
                  <a:rPr lang="en-GB" b="0" i="0" u="none" strike="noStrike" baseline="0" dirty="0">
                    <a:latin typeface="CMR10"/>
                  </a:rPr>
                  <a:t>and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𝑛</m:t>
                        </m:r>
                      </m:e>
                      <m:sub>
                        <m:r>
                          <a:rPr lang="en-GB" i="1" dirty="0">
                            <a:latin typeface="Cambria Math" panose="02040503050406030204" pitchFamily="18" charset="0"/>
                          </a:rPr>
                          <m:t>1</m:t>
                        </m:r>
                      </m:sub>
                    </m:sSub>
                  </m:oMath>
                </a14:m>
                <a:r>
                  <a:rPr lang="en-GB" b="0" i="0" u="none" strike="noStrike" baseline="0" dirty="0">
                    <a:latin typeface="CMR10"/>
                  </a:rPr>
                  <a:t>, respectively, from normal populations, then a 100(1</a:t>
                </a:r>
                <a:r>
                  <a:rPr lang="en-GB" b="0" i="1" u="none" strike="noStrike" baseline="0" dirty="0">
                    <a:latin typeface="CMSY10"/>
                  </a:rPr>
                  <a:t>−</a:t>
                </a:r>
                <a:r>
                  <a:rPr lang="en-GB" b="0" i="1" u="none" strike="noStrike" baseline="0" dirty="0">
                    <a:latin typeface="CMMI10"/>
                  </a:rPr>
                  <a:t>α</a:t>
                </a:r>
                <a:r>
                  <a:rPr lang="en-GB" b="0" i="0" u="none" strike="noStrike" baseline="0" dirty="0">
                    <a:latin typeface="CMR10"/>
                  </a:rPr>
                  <a:t>)% confidence interval for </a:t>
                </a:r>
                <a14:m>
                  <m:oMath xmlns:m="http://schemas.openxmlformats.org/officeDocument/2006/math">
                    <m:f>
                      <m:fPr>
                        <m:ctrlPr>
                          <a:rPr lang="en-GB" i="1">
                            <a:latin typeface="Cambria Math" panose="02040503050406030204" pitchFamily="18" charset="0"/>
                          </a:rPr>
                        </m:ctrlPr>
                      </m:fPr>
                      <m:num>
                        <m:sSubSup>
                          <m:sSubSupPr>
                            <m:ctrlPr>
                              <a:rPr lang="en-US"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i="1" dirty="0">
                                <a:latin typeface="Cambria Math" panose="02040503050406030204" pitchFamily="18" charset="0"/>
                              </a:rPr>
                              <m:t>1</m:t>
                            </m:r>
                          </m:sub>
                          <m:sup>
                            <m:r>
                              <a:rPr lang="en-GB" i="1" dirty="0">
                                <a:latin typeface="Cambria Math" panose="02040503050406030204" pitchFamily="18" charset="0"/>
                              </a:rPr>
                              <m:t>2</m:t>
                            </m:r>
                          </m:sup>
                        </m:sSubSup>
                      </m:num>
                      <m:den>
                        <m:sSubSup>
                          <m:sSubSupPr>
                            <m:ctrlPr>
                              <a:rPr lang="en-US"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i="1" dirty="0">
                                <a:latin typeface="Cambria Math" panose="02040503050406030204" pitchFamily="18" charset="0"/>
                              </a:rPr>
                              <m:t>2</m:t>
                            </m:r>
                          </m:sub>
                          <m:sup>
                            <m:r>
                              <a:rPr lang="en-GB" i="1" dirty="0">
                                <a:latin typeface="Cambria Math" panose="02040503050406030204" pitchFamily="18" charset="0"/>
                              </a:rPr>
                              <m:t>2</m:t>
                            </m:r>
                          </m:sup>
                        </m:sSubSup>
                      </m:den>
                    </m:f>
                    <m:r>
                      <a:rPr lang="en-GB" i="1" dirty="0">
                        <a:latin typeface="Cambria Math" panose="02040503050406030204" pitchFamily="18" charset="0"/>
                      </a:rPr>
                      <m:t> </m:t>
                    </m:r>
                  </m:oMath>
                </a14:m>
                <a:r>
                  <a:rPr lang="en-US" dirty="0">
                    <a:latin typeface="CMR7"/>
                  </a:rPr>
                  <a:t>is:</a:t>
                </a:r>
              </a:p>
              <a:p>
                <a:pPr marL="0" indent="0" algn="ctr">
                  <a:buNone/>
                </a:pPr>
                <a14:m>
                  <m:oMath xmlns:m="http://schemas.openxmlformats.org/officeDocument/2006/math">
                    <m:f>
                      <m:fPr>
                        <m:ctrlPr>
                          <a:rPr lang="en-GB" b="0" i="1" u="none" strike="noStrike" baseline="0" smtClean="0">
                            <a:latin typeface="Cambria Math" panose="02040503050406030204" pitchFamily="18" charset="0"/>
                          </a:rPr>
                        </m:ctrlPr>
                      </m:fPr>
                      <m:num>
                        <m:sSubSup>
                          <m:sSubSupPr>
                            <m:ctrlPr>
                              <a:rPr lang="en-US" i="1" dirty="0">
                                <a:latin typeface="Cambria Math" panose="02040503050406030204" pitchFamily="18" charset="0"/>
                              </a:rPr>
                            </m:ctrlPr>
                          </m:sSubSupPr>
                          <m:e>
                            <m:r>
                              <a:rPr lang="en-GB" i="1" dirty="0">
                                <a:latin typeface="Cambria Math" panose="02040503050406030204" pitchFamily="18" charset="0"/>
                              </a:rPr>
                              <m:t>𝑠</m:t>
                            </m:r>
                          </m:e>
                          <m:sub>
                            <m:r>
                              <a:rPr lang="en-GB" i="1" dirty="0">
                                <a:latin typeface="Cambria Math" panose="02040503050406030204" pitchFamily="18" charset="0"/>
                              </a:rPr>
                              <m:t>1</m:t>
                            </m:r>
                          </m:sub>
                          <m:sup>
                            <m:r>
                              <a:rPr lang="en-GB" i="1" dirty="0">
                                <a:latin typeface="Cambria Math" panose="02040503050406030204" pitchFamily="18" charset="0"/>
                              </a:rPr>
                              <m:t>2</m:t>
                            </m:r>
                          </m:sup>
                        </m:sSubSup>
                      </m:num>
                      <m:den>
                        <m:sSubSup>
                          <m:sSubSupPr>
                            <m:ctrlPr>
                              <a:rPr lang="en-US" i="1" dirty="0">
                                <a:latin typeface="Cambria Math" panose="02040503050406030204" pitchFamily="18" charset="0"/>
                              </a:rPr>
                            </m:ctrlPr>
                          </m:sSubSupPr>
                          <m:e>
                            <m:r>
                              <a:rPr lang="en-GB" i="1" dirty="0">
                                <a:latin typeface="Cambria Math" panose="02040503050406030204" pitchFamily="18" charset="0"/>
                              </a:rPr>
                              <m:t>𝑠</m:t>
                            </m:r>
                          </m:e>
                          <m:sub>
                            <m:r>
                              <a:rPr lang="en-GB" b="0" i="1" dirty="0" smtClean="0">
                                <a:latin typeface="Cambria Math" panose="02040503050406030204" pitchFamily="18" charset="0"/>
                              </a:rPr>
                              <m:t>2</m:t>
                            </m:r>
                          </m:sub>
                          <m:sup>
                            <m:r>
                              <a:rPr lang="en-GB" i="1" dirty="0">
                                <a:latin typeface="Cambria Math" panose="02040503050406030204" pitchFamily="18" charset="0"/>
                              </a:rPr>
                              <m:t>2</m:t>
                            </m:r>
                          </m:sup>
                        </m:sSubSup>
                      </m:den>
                    </m:f>
                    <m:r>
                      <a:rPr lang="en-GB" b="0" i="1" u="none" strike="noStrike" baseline="0" smtClean="0">
                        <a:latin typeface="Cambria Math" panose="02040503050406030204" pitchFamily="18" charset="0"/>
                        <a:ea typeface="Cambria Math" panose="02040503050406030204" pitchFamily="18" charset="0"/>
                      </a:rPr>
                      <m:t>×</m:t>
                    </m:r>
                    <m:f>
                      <m:fPr>
                        <m:ctrlPr>
                          <a:rPr lang="en-GB" b="0" i="1" u="none" strike="noStrike" baseline="0" smtClean="0">
                            <a:latin typeface="Cambria Math" panose="02040503050406030204" pitchFamily="18" charset="0"/>
                            <a:ea typeface="Cambria Math" panose="02040503050406030204" pitchFamily="18" charset="0"/>
                          </a:rPr>
                        </m:ctrlPr>
                      </m:fPr>
                      <m:num>
                        <m:r>
                          <a:rPr lang="en-GB" b="0" i="1" u="none" strike="noStrike" baseline="0" smtClean="0">
                            <a:latin typeface="Cambria Math" panose="02040503050406030204" pitchFamily="18" charset="0"/>
                            <a:ea typeface="Cambria Math" panose="02040503050406030204" pitchFamily="18" charset="0"/>
                          </a:rPr>
                          <m:t>1</m:t>
                        </m:r>
                      </m:num>
                      <m:den>
                        <m:sSub>
                          <m:sSubPr>
                            <m:ctrlPr>
                              <a:rPr lang="en-GB" b="0" i="1" u="none" strike="noStrike" baseline="0" smtClean="0">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𝑓</m:t>
                            </m:r>
                          </m:e>
                          <m:sub>
                            <m:f>
                              <m:fPr>
                                <m:ctrlPr>
                                  <a:rPr lang="en-GB" b="0" i="1" u="none" strike="noStrike" baseline="0" smtClean="0">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𝛼</m:t>
                                </m:r>
                              </m:num>
                              <m:den>
                                <m:r>
                                  <a:rPr lang="en-GB" b="0" i="1" u="none" strike="noStrike" baseline="0" smtClean="0">
                                    <a:latin typeface="Cambria Math" panose="02040503050406030204" pitchFamily="18" charset="0"/>
                                    <a:ea typeface="Cambria Math" panose="02040503050406030204" pitchFamily="18" charset="0"/>
                                  </a:rPr>
                                  <m:t>2</m:t>
                                </m:r>
                              </m:den>
                            </m:f>
                          </m:sub>
                        </m:sSub>
                        <m:d>
                          <m:dPr>
                            <m:ctrlPr>
                              <a:rPr lang="en-GB" b="0" i="1" u="none" strike="noStrike" baseline="0" smtClean="0">
                                <a:latin typeface="Cambria Math" panose="02040503050406030204" pitchFamily="18" charset="0"/>
                                <a:ea typeface="Cambria Math" panose="02040503050406030204" pitchFamily="18" charset="0"/>
                              </a:rPr>
                            </m:ctrlPr>
                          </m:dPr>
                          <m:e>
                            <m:sSub>
                              <m:sSubPr>
                                <m:ctrlPr>
                                  <a:rPr lang="en-GB" b="0" i="1" u="none" strike="noStrike" baseline="0" smtClean="0">
                                    <a:latin typeface="Cambria Math" panose="02040503050406030204" pitchFamily="18" charset="0"/>
                                    <a:ea typeface="Cambria Math" panose="02040503050406030204" pitchFamily="18" charset="0"/>
                                  </a:rPr>
                                </m:ctrlPr>
                              </m:sSubPr>
                              <m:e>
                                <m:r>
                                  <a:rPr lang="en-GB" b="0" i="1" u="none" strike="noStrike" baseline="0" smtClean="0">
                                    <a:latin typeface="Cambria Math" panose="02040503050406030204" pitchFamily="18" charset="0"/>
                                    <a:ea typeface="Cambria Math" panose="02040503050406030204" pitchFamily="18" charset="0"/>
                                  </a:rPr>
                                  <m:t>𝑣</m:t>
                                </m:r>
                              </m:e>
                              <m:sub>
                                <m:r>
                                  <a:rPr lang="en-GB" b="0" i="1" u="none" strike="noStrike" baseline="0" smtClean="0">
                                    <a:latin typeface="Cambria Math" panose="02040503050406030204" pitchFamily="18" charset="0"/>
                                    <a:ea typeface="Cambria Math" panose="02040503050406030204" pitchFamily="18" charset="0"/>
                                  </a:rPr>
                                  <m:t>1</m:t>
                                </m:r>
                              </m:sub>
                            </m:sSub>
                            <m:r>
                              <a:rPr lang="en-GB" b="0" i="1" u="none" strike="noStrike" baseline="0"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𝑣</m:t>
                                </m:r>
                              </m:e>
                              <m:sub>
                                <m:r>
                                  <a:rPr lang="en-GB" b="0" i="1" smtClean="0">
                                    <a:latin typeface="Cambria Math" panose="02040503050406030204" pitchFamily="18" charset="0"/>
                                    <a:ea typeface="Cambria Math" panose="02040503050406030204" pitchFamily="18" charset="0"/>
                                  </a:rPr>
                                  <m:t>2</m:t>
                                </m:r>
                              </m:sub>
                            </m:sSub>
                          </m:e>
                        </m:d>
                      </m:den>
                    </m:f>
                    <m:r>
                      <a:rPr lang="en-GB" b="0" i="1" u="none" strike="noStrike" baseline="0" smtClean="0">
                        <a:latin typeface="Cambria Math" panose="02040503050406030204" pitchFamily="18" charset="0"/>
                        <a:ea typeface="Cambria Math" panose="02040503050406030204" pitchFamily="18" charset="0"/>
                      </a:rPr>
                      <m:t>&lt;</m:t>
                    </m:r>
                    <m:f>
                      <m:fPr>
                        <m:ctrlPr>
                          <a:rPr lang="en-GB" i="1">
                            <a:latin typeface="Cambria Math" panose="02040503050406030204" pitchFamily="18" charset="0"/>
                          </a:rPr>
                        </m:ctrlPr>
                      </m:fPr>
                      <m:num>
                        <m:sSubSup>
                          <m:sSubSupPr>
                            <m:ctrlPr>
                              <a:rPr lang="en-US" i="1" dirty="0">
                                <a:latin typeface="Cambria Math" panose="02040503050406030204" pitchFamily="18" charset="0"/>
                              </a:rPr>
                            </m:ctrlPr>
                          </m:sSubSupPr>
                          <m:e>
                            <m:r>
                              <a:rPr lang="en-GB" i="1" dirty="0" smtClean="0">
                                <a:latin typeface="Cambria Math" panose="02040503050406030204" pitchFamily="18" charset="0"/>
                                <a:ea typeface="Cambria Math" panose="02040503050406030204" pitchFamily="18" charset="0"/>
                              </a:rPr>
                              <m:t>𝜎</m:t>
                            </m:r>
                          </m:e>
                          <m:sub>
                            <m:r>
                              <a:rPr lang="en-GB" i="1" dirty="0">
                                <a:latin typeface="Cambria Math" panose="02040503050406030204" pitchFamily="18" charset="0"/>
                              </a:rPr>
                              <m:t>1</m:t>
                            </m:r>
                          </m:sub>
                          <m:sup>
                            <m:r>
                              <a:rPr lang="en-GB" i="1" dirty="0">
                                <a:latin typeface="Cambria Math" panose="02040503050406030204" pitchFamily="18" charset="0"/>
                              </a:rPr>
                              <m:t>2</m:t>
                            </m:r>
                          </m:sup>
                        </m:sSubSup>
                      </m:num>
                      <m:den>
                        <m:sSubSup>
                          <m:sSubSupPr>
                            <m:ctrlPr>
                              <a:rPr lang="en-US" i="1" dirty="0">
                                <a:latin typeface="Cambria Math" panose="02040503050406030204" pitchFamily="18" charset="0"/>
                              </a:rPr>
                            </m:ctrlPr>
                          </m:sSubSupPr>
                          <m:e>
                            <m:r>
                              <a:rPr lang="en-GB" i="1" dirty="0">
                                <a:latin typeface="Cambria Math" panose="02040503050406030204" pitchFamily="18" charset="0"/>
                                <a:ea typeface="Cambria Math" panose="02040503050406030204" pitchFamily="18" charset="0"/>
                              </a:rPr>
                              <m:t>𝜎</m:t>
                            </m:r>
                          </m:e>
                          <m:sub>
                            <m:r>
                              <a:rPr lang="en-GB" i="1" dirty="0">
                                <a:latin typeface="Cambria Math" panose="02040503050406030204" pitchFamily="18" charset="0"/>
                              </a:rPr>
                              <m:t>2</m:t>
                            </m:r>
                          </m:sub>
                          <m:sup>
                            <m:r>
                              <a:rPr lang="en-GB" i="1" dirty="0">
                                <a:latin typeface="Cambria Math" panose="02040503050406030204" pitchFamily="18" charset="0"/>
                              </a:rPr>
                              <m:t>2</m:t>
                            </m:r>
                          </m:sup>
                        </m:sSubSup>
                      </m:den>
                    </m:f>
                    <m:r>
                      <a:rPr lang="en-GB" i="1" dirty="0" smtClean="0">
                        <a:latin typeface="Cambria Math" panose="02040503050406030204" pitchFamily="18" charset="0"/>
                        <a:ea typeface="Cambria Math" panose="02040503050406030204" pitchFamily="18" charset="0"/>
                      </a:rPr>
                      <m:t>&lt;</m:t>
                    </m:r>
                    <m:f>
                      <m:fPr>
                        <m:ctrlPr>
                          <a:rPr lang="en-GB" i="1">
                            <a:latin typeface="Cambria Math" panose="02040503050406030204" pitchFamily="18" charset="0"/>
                          </a:rPr>
                        </m:ctrlPr>
                      </m:fPr>
                      <m:num>
                        <m:sSubSup>
                          <m:sSubSupPr>
                            <m:ctrlPr>
                              <a:rPr lang="en-US" i="1" dirty="0">
                                <a:latin typeface="Cambria Math" panose="02040503050406030204" pitchFamily="18" charset="0"/>
                              </a:rPr>
                            </m:ctrlPr>
                          </m:sSubSupPr>
                          <m:e>
                            <m:r>
                              <a:rPr lang="en-GB" i="1" dirty="0">
                                <a:latin typeface="Cambria Math" panose="02040503050406030204" pitchFamily="18" charset="0"/>
                              </a:rPr>
                              <m:t>𝑠</m:t>
                            </m:r>
                          </m:e>
                          <m:sub>
                            <m:r>
                              <a:rPr lang="en-GB" i="1" dirty="0">
                                <a:latin typeface="Cambria Math" panose="02040503050406030204" pitchFamily="18" charset="0"/>
                              </a:rPr>
                              <m:t>1</m:t>
                            </m:r>
                          </m:sub>
                          <m:sup>
                            <m:r>
                              <a:rPr lang="en-GB" i="1" dirty="0">
                                <a:latin typeface="Cambria Math" panose="02040503050406030204" pitchFamily="18" charset="0"/>
                              </a:rPr>
                              <m:t>2</m:t>
                            </m:r>
                          </m:sup>
                        </m:sSubSup>
                      </m:num>
                      <m:den>
                        <m:sSubSup>
                          <m:sSubSupPr>
                            <m:ctrlPr>
                              <a:rPr lang="en-US" i="1" dirty="0">
                                <a:latin typeface="Cambria Math" panose="02040503050406030204" pitchFamily="18" charset="0"/>
                              </a:rPr>
                            </m:ctrlPr>
                          </m:sSubSupPr>
                          <m:e>
                            <m:r>
                              <a:rPr lang="en-GB" i="1" dirty="0">
                                <a:latin typeface="Cambria Math" panose="02040503050406030204" pitchFamily="18" charset="0"/>
                              </a:rPr>
                              <m:t>𝑠</m:t>
                            </m:r>
                          </m:e>
                          <m:sub>
                            <m:r>
                              <a:rPr lang="en-GB" i="1" dirty="0">
                                <a:latin typeface="Cambria Math" panose="02040503050406030204" pitchFamily="18" charset="0"/>
                              </a:rPr>
                              <m:t>2</m:t>
                            </m:r>
                          </m:sub>
                          <m:sup>
                            <m:r>
                              <a:rPr lang="en-GB" i="1" dirty="0">
                                <a:latin typeface="Cambria Math" panose="02040503050406030204" pitchFamily="18" charset="0"/>
                              </a:rPr>
                              <m:t>2</m:t>
                            </m:r>
                          </m:sup>
                        </m:sSubSup>
                      </m:den>
                    </m:f>
                  </m:oMath>
                </a14:m>
                <a:r>
                  <a:rPr lang="en-GB" dirty="0">
                    <a:ea typeface="Cambria Math" panose="02040503050406030204" pitchFamily="18" charset="0"/>
                  </a:rPr>
                  <a:t> </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𝑓</m:t>
                        </m:r>
                      </m:e>
                      <m:sub>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𝛼</m:t>
                            </m:r>
                          </m:num>
                          <m:den>
                            <m:r>
                              <a:rPr lang="en-GB" i="1">
                                <a:latin typeface="Cambria Math" panose="02040503050406030204" pitchFamily="18" charset="0"/>
                                <a:ea typeface="Cambria Math" panose="02040503050406030204" pitchFamily="18" charset="0"/>
                              </a:rPr>
                              <m:t>2</m:t>
                            </m:r>
                          </m:den>
                        </m:f>
                      </m:sub>
                    </m:sSub>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𝑣</m:t>
                            </m:r>
                          </m:e>
                          <m:sub>
                            <m:r>
                              <a:rPr lang="en-GB" b="0" i="1" smtClean="0">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𝑣</m:t>
                            </m:r>
                          </m:e>
                          <m:sub>
                            <m:r>
                              <a:rPr lang="en-GB" b="0" i="1" smtClean="0">
                                <a:latin typeface="Cambria Math" panose="02040503050406030204" pitchFamily="18" charset="0"/>
                                <a:ea typeface="Cambria Math" panose="02040503050406030204" pitchFamily="18" charset="0"/>
                              </a:rPr>
                              <m:t>1</m:t>
                            </m:r>
                          </m:sub>
                        </m:sSub>
                      </m:e>
                    </m:d>
                  </m:oMath>
                </a14:m>
                <a:endParaRPr lang="en-GB" b="0" i="0" u="none" strike="noStrike" baseline="0" dirty="0">
                  <a:latin typeface="CMR10"/>
                </a:endParaRPr>
              </a:p>
              <a:p>
                <a:pPr marL="0" indent="0" algn="ctr">
                  <a:buNone/>
                </a:pPr>
                <a:r>
                  <a:rPr lang="en-GB" b="0" i="0" u="none" strike="noStrike" baseline="0" dirty="0">
                    <a:latin typeface="CMR10"/>
                  </a:rPr>
                  <a:t>Where </a:t>
                </a: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𝑣</m:t>
                        </m:r>
                      </m:e>
                      <m:sub>
                        <m:r>
                          <a:rPr lang="en-GB" i="1">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𝑛</m:t>
                        </m:r>
                      </m:e>
                      <m:sub>
                        <m:r>
                          <a:rPr lang="en-GB" i="1">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−1</m:t>
                    </m:r>
                  </m:oMath>
                </a14:m>
                <a:r>
                  <a:rPr lang="en-GB" b="0" i="0" u="none" strike="noStrike" baseline="0" dirty="0">
                    <a:latin typeface="CMR10"/>
                  </a:rPr>
                  <a:t> and</a:t>
                </a:r>
                <a:r>
                  <a:rPr lang="en-GB" dirty="0">
                    <a:ea typeface="Cambria Math" panose="02040503050406030204" pitchFamily="18" charset="0"/>
                  </a:rPr>
                  <a:t> </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𝑣</m:t>
                        </m:r>
                      </m:e>
                      <m:sub>
                        <m:r>
                          <a:rPr lang="en-GB" b="0" i="1" smtClean="0">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𝑛</m:t>
                        </m:r>
                      </m:e>
                      <m:sub>
                        <m:r>
                          <a:rPr lang="en-GB" b="0" i="1" smtClean="0">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−1</m:t>
                    </m:r>
                  </m:oMath>
                </a14:m>
                <a:endParaRPr lang="en-GB" b="0" i="0" u="none" strike="noStrike" baseline="0" dirty="0">
                  <a:latin typeface="CMR10"/>
                </a:endParaRPr>
              </a:p>
            </p:txBody>
          </p:sp>
        </mc:Choice>
        <mc:Fallback xmlns="">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508608"/>
                <a:ext cx="11158329" cy="4984267"/>
              </a:xfr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3203034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C21F-EE09-95FB-C4FE-1C62519DC5A4}"/>
              </a:ext>
            </a:extLst>
          </p:cNvPr>
          <p:cNvSpPr>
            <a:spLocks noGrp="1"/>
          </p:cNvSpPr>
          <p:nvPr>
            <p:ph type="title"/>
          </p:nvPr>
        </p:nvSpPr>
        <p:spPr>
          <a:xfrm>
            <a:off x="212035" y="365125"/>
            <a:ext cx="12205251" cy="1325563"/>
          </a:xfrm>
        </p:spPr>
        <p:txBody>
          <a:bodyPr>
            <a:normAutofit fontScale="90000"/>
          </a:bodyPr>
          <a:lstStyle/>
          <a:p>
            <a:r>
              <a:rPr lang="en-GB" dirty="0"/>
              <a:t>6. Estimating the Ratio of  Two Variances</a:t>
            </a:r>
            <a:br>
              <a:rPr lang="LID4096" dirty="0"/>
            </a:b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7A2D2C-EE0E-3DFC-4421-26AB0A8281A9}"/>
                  </a:ext>
                </a:extLst>
              </p:cNvPr>
              <p:cNvSpPr>
                <a:spLocks noGrp="1"/>
              </p:cNvSpPr>
              <p:nvPr>
                <p:ph idx="1"/>
              </p:nvPr>
            </p:nvSpPr>
            <p:spPr>
              <a:xfrm>
                <a:off x="212035" y="1139688"/>
                <a:ext cx="11158329" cy="5353188"/>
              </a:xfrm>
            </p:spPr>
            <p:txBody>
              <a:bodyPr>
                <a:normAutofit fontScale="92500" lnSpcReduction="10000"/>
              </a:bodyPr>
              <a:lstStyle/>
              <a:p>
                <a:pPr marL="0" indent="0" algn="just">
                  <a:buNone/>
                </a:pPr>
                <a:r>
                  <a:rPr lang="en-GB" sz="3500" b="1" dirty="0">
                    <a:solidFill>
                      <a:schemeClr val="accent1">
                        <a:lumMod val="60000"/>
                        <a:lumOff val="40000"/>
                      </a:schemeClr>
                    </a:solidFill>
                  </a:rPr>
                  <a:t>Example 14: </a:t>
                </a:r>
                <a:r>
                  <a:rPr lang="en-GB" sz="3200" dirty="0">
                    <a:latin typeface="CMR9"/>
                  </a:rPr>
                  <a:t>A study was conducted by the Department of Zoology at the Virginia Tech to estimate the difference in the amounts of the chemical orthophosphorus measured at two different stations on the James River. Orthophosphorus was measured in milligrams per liter. Fifteen samples were collected from station 1, and 12 samples were obtained from station 2. </a:t>
                </a:r>
                <a:r>
                  <a:rPr lang="en-GB" sz="3200">
                    <a:latin typeface="CMR9"/>
                  </a:rPr>
                  <a:t>The 16 </a:t>
                </a:r>
                <a:r>
                  <a:rPr lang="en-GB" sz="3200" dirty="0">
                    <a:latin typeface="CMR9"/>
                  </a:rPr>
                  <a:t>samples from station 1 had an average orthophosphorus content of 3.84 milligrams per liter and a standard deviation of 3.07 milligrams per liter, while </a:t>
                </a:r>
                <a:r>
                  <a:rPr lang="en-GB" sz="3200">
                    <a:latin typeface="CMR9"/>
                  </a:rPr>
                  <a:t>the 13 </a:t>
                </a:r>
                <a:r>
                  <a:rPr lang="en-GB" sz="3200" dirty="0">
                    <a:latin typeface="CMR9"/>
                  </a:rPr>
                  <a:t>samples from station 2 had an average content of 1.49 milligrams per liter and a standard deviation of 0.80 milligram per liter. Justify the assumption that the samples are taken from populations with unequal variance; by constructing 98% confidence intervals </a:t>
                </a:r>
                <a14:m>
                  <m:oMath xmlns:m="http://schemas.openxmlformats.org/officeDocument/2006/math">
                    <m:f>
                      <m:fPr>
                        <m:ctrlPr>
                          <a:rPr lang="en-GB" sz="3200" i="1" smtClean="0">
                            <a:latin typeface="Cambria Math" panose="02040503050406030204" pitchFamily="18" charset="0"/>
                          </a:rPr>
                        </m:ctrlPr>
                      </m:fPr>
                      <m:num>
                        <m:sSubSup>
                          <m:sSubSupPr>
                            <m:ctrlPr>
                              <a:rPr lang="en-US" sz="3200" i="1" dirty="0">
                                <a:latin typeface="Cambria Math" panose="02040503050406030204" pitchFamily="18" charset="0"/>
                              </a:rPr>
                            </m:ctrlPr>
                          </m:sSubSupPr>
                          <m:e>
                            <m:r>
                              <a:rPr lang="en-GB" sz="3200" i="1" dirty="0">
                                <a:latin typeface="Cambria Math" panose="02040503050406030204" pitchFamily="18" charset="0"/>
                                <a:ea typeface="Cambria Math" panose="02040503050406030204" pitchFamily="18" charset="0"/>
                              </a:rPr>
                              <m:t>𝜎</m:t>
                            </m:r>
                          </m:e>
                          <m:sub>
                            <m:r>
                              <a:rPr lang="en-GB" sz="3200" i="1" dirty="0">
                                <a:latin typeface="Cambria Math" panose="02040503050406030204" pitchFamily="18" charset="0"/>
                              </a:rPr>
                              <m:t>1</m:t>
                            </m:r>
                          </m:sub>
                          <m:sup>
                            <m:r>
                              <a:rPr lang="en-GB" sz="3200" i="1" dirty="0">
                                <a:latin typeface="Cambria Math" panose="02040503050406030204" pitchFamily="18" charset="0"/>
                              </a:rPr>
                              <m:t>2</m:t>
                            </m:r>
                          </m:sup>
                        </m:sSubSup>
                      </m:num>
                      <m:den>
                        <m:sSubSup>
                          <m:sSubSupPr>
                            <m:ctrlPr>
                              <a:rPr lang="en-US" sz="3200" i="1" dirty="0">
                                <a:latin typeface="Cambria Math" panose="02040503050406030204" pitchFamily="18" charset="0"/>
                              </a:rPr>
                            </m:ctrlPr>
                          </m:sSubSupPr>
                          <m:e>
                            <m:r>
                              <a:rPr lang="en-GB" sz="3200" i="1" dirty="0">
                                <a:latin typeface="Cambria Math" panose="02040503050406030204" pitchFamily="18" charset="0"/>
                                <a:ea typeface="Cambria Math" panose="02040503050406030204" pitchFamily="18" charset="0"/>
                              </a:rPr>
                              <m:t>𝜎</m:t>
                            </m:r>
                          </m:e>
                          <m:sub>
                            <m:r>
                              <a:rPr lang="en-GB" sz="3200" i="1" dirty="0">
                                <a:latin typeface="Cambria Math" panose="02040503050406030204" pitchFamily="18" charset="0"/>
                              </a:rPr>
                              <m:t>2</m:t>
                            </m:r>
                          </m:sub>
                          <m:sup>
                            <m:r>
                              <a:rPr lang="en-GB" sz="3200" i="1" dirty="0">
                                <a:latin typeface="Cambria Math" panose="02040503050406030204" pitchFamily="18" charset="0"/>
                              </a:rPr>
                              <m:t>2</m:t>
                            </m:r>
                          </m:sup>
                        </m:sSubSup>
                      </m:den>
                    </m:f>
                    <m:r>
                      <a:rPr lang="en-GB" sz="3200" i="1" dirty="0">
                        <a:latin typeface="Cambria Math" panose="02040503050406030204" pitchFamily="18" charset="0"/>
                      </a:rPr>
                      <m:t> </m:t>
                    </m:r>
                  </m:oMath>
                </a14:m>
                <a:endParaRPr lang="en-GB" sz="3200" dirty="0">
                  <a:latin typeface="CMR9"/>
                </a:endParaRPr>
              </a:p>
            </p:txBody>
          </p:sp>
        </mc:Choice>
        <mc:Fallback xmlns="">
          <p:sp>
            <p:nvSpPr>
              <p:cNvPr id="3" name="Content Placeholder 2">
                <a:extLst>
                  <a:ext uri="{FF2B5EF4-FFF2-40B4-BE49-F238E27FC236}">
                    <a16:creationId xmlns:a16="http://schemas.microsoft.com/office/drawing/2014/main" id="{AA7A2D2C-EE0E-3DFC-4421-26AB0A8281A9}"/>
                  </a:ext>
                </a:extLst>
              </p:cNvPr>
              <p:cNvSpPr>
                <a:spLocks noGrp="1" noRot="1" noChangeAspect="1" noMove="1" noResize="1" noEditPoints="1" noAdjustHandles="1" noChangeArrowheads="1" noChangeShapeType="1" noTextEdit="1"/>
              </p:cNvSpPr>
              <p:nvPr>
                <p:ph idx="1"/>
              </p:nvPr>
            </p:nvSpPr>
            <p:spPr>
              <a:xfrm>
                <a:off x="212035" y="1139688"/>
                <a:ext cx="11158329" cy="5353188"/>
              </a:xfrm>
              <a:blipFill>
                <a:blip r:embed="rId2"/>
                <a:stretch>
                  <a:fillRect l="-1421" t="-3075"/>
                </a:stretch>
              </a:blipFill>
            </p:spPr>
            <p:txBody>
              <a:bodyPr/>
              <a:lstStyle/>
              <a:p>
                <a:r>
                  <a:rPr lang="LID4096">
                    <a:noFill/>
                  </a:rPr>
                  <a:t> </a:t>
                </a:r>
              </a:p>
            </p:txBody>
          </p:sp>
        </mc:Fallback>
      </mc:AlternateContent>
    </p:spTree>
    <p:extLst>
      <p:ext uri="{BB962C8B-B14F-4D97-AF65-F5344CB8AC3E}">
        <p14:creationId xmlns:p14="http://schemas.microsoft.com/office/powerpoint/2010/main" val="2166835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99264-CD47-2924-9A38-FAFBF497AAB9}"/>
              </a:ext>
            </a:extLst>
          </p:cNvPr>
          <p:cNvSpPr>
            <a:spLocks noGrp="1"/>
          </p:cNvSpPr>
          <p:nvPr>
            <p:ph type="title"/>
          </p:nvPr>
        </p:nvSpPr>
        <p:spPr/>
        <p:txBody>
          <a:bodyPr/>
          <a:lstStyle/>
          <a:p>
            <a:r>
              <a:rPr lang="en-GB" dirty="0"/>
              <a:t>References</a:t>
            </a:r>
            <a:endParaRPr lang="LID4096" dirty="0"/>
          </a:p>
        </p:txBody>
      </p:sp>
      <p:sp>
        <p:nvSpPr>
          <p:cNvPr id="3" name="Content Placeholder 2">
            <a:extLst>
              <a:ext uri="{FF2B5EF4-FFF2-40B4-BE49-F238E27FC236}">
                <a16:creationId xmlns:a16="http://schemas.microsoft.com/office/drawing/2014/main" id="{492DE68E-2BF2-3884-F485-9E0B996D5987}"/>
              </a:ext>
            </a:extLst>
          </p:cNvPr>
          <p:cNvSpPr>
            <a:spLocks noGrp="1"/>
          </p:cNvSpPr>
          <p:nvPr>
            <p:ph idx="1"/>
          </p:nvPr>
        </p:nvSpPr>
        <p:spPr/>
        <p:txBody>
          <a:bodyPr/>
          <a:lstStyle/>
          <a:p>
            <a:r>
              <a:rPr lang="en-GB" dirty="0"/>
              <a:t>Chapter 9, Introduction to statistics, Ronald E. Walpole.</a:t>
            </a:r>
            <a:endParaRPr lang="LID4096" dirty="0"/>
          </a:p>
        </p:txBody>
      </p:sp>
    </p:spTree>
    <p:extLst>
      <p:ext uri="{BB962C8B-B14F-4D97-AF65-F5344CB8AC3E}">
        <p14:creationId xmlns:p14="http://schemas.microsoft.com/office/powerpoint/2010/main" val="2382250753"/>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TM04033923[[fn=Depth]]</Template>
  <TotalTime>442</TotalTime>
  <Words>2359</Words>
  <Application>Microsoft Office PowerPoint</Application>
  <PresentationFormat>Widescreen</PresentationFormat>
  <Paragraphs>168</Paragraphs>
  <Slides>33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33</vt:i4>
      </vt:variant>
    </vt:vector>
  </HeadingPairs>
  <TitlesOfParts>
    <vt:vector size="46" baseType="lpstr">
      <vt:lpstr>Arial</vt:lpstr>
      <vt:lpstr>Calibri</vt:lpstr>
      <vt:lpstr>Cambria Math</vt:lpstr>
      <vt:lpstr>CMMI10</vt:lpstr>
      <vt:lpstr>CMR10</vt:lpstr>
      <vt:lpstr>CMR7</vt:lpstr>
      <vt:lpstr>CMR9</vt:lpstr>
      <vt:lpstr>CMSY10</vt:lpstr>
      <vt:lpstr>Corbel</vt:lpstr>
      <vt:lpstr>Google Sans</vt:lpstr>
      <vt:lpstr>Times New Roman</vt:lpstr>
      <vt:lpstr>Titillium</vt:lpstr>
      <vt:lpstr>Depth</vt:lpstr>
      <vt:lpstr>Estimation of Parameters</vt:lpstr>
      <vt:lpstr>Outline</vt:lpstr>
      <vt:lpstr>Introduction to Estimation</vt:lpstr>
      <vt:lpstr>Introduction to Estimation …</vt:lpstr>
      <vt:lpstr>Introduction to Estimation …</vt:lpstr>
      <vt:lpstr>Introduction to Estimation …</vt:lpstr>
      <vt:lpstr>Introduction to Estimation …</vt:lpstr>
      <vt:lpstr>Estimation of Population Mean</vt:lpstr>
      <vt:lpstr>Estimation of Population Mean…</vt:lpstr>
      <vt:lpstr>Estimation of Population Mean…</vt:lpstr>
      <vt:lpstr>Estimation of Population Mean…</vt:lpstr>
      <vt:lpstr>Estimation of Population Mean…</vt:lpstr>
      <vt:lpstr>3. Estimation of Difference between Population Means </vt:lpstr>
      <vt:lpstr>3. Estimation of Difference between Population Means… </vt:lpstr>
      <vt:lpstr>3. Estimation of Difference between Population Means… </vt:lpstr>
      <vt:lpstr>3. Estimation of Difference between Population Means… </vt:lpstr>
      <vt:lpstr>3. Estimation of Difference between Population Means… </vt:lpstr>
      <vt:lpstr>3. Estimation of Difference between Population Means… </vt:lpstr>
      <vt:lpstr>3. Estimation of Difference between Population Means… </vt:lpstr>
      <vt:lpstr>3. Estimation of Difference between Population Means… </vt:lpstr>
      <vt:lpstr>3. Estimation of Difference between Population Means… </vt:lpstr>
      <vt:lpstr>4. Estimation of Population Proportion </vt:lpstr>
      <vt:lpstr>4. Estimation of Population Proportion… </vt:lpstr>
      <vt:lpstr>4. Estimation of Population Proportion… </vt:lpstr>
      <vt:lpstr>4. Estimation of Population Proportion… </vt:lpstr>
      <vt:lpstr>4. Estimation of Population Proportion… </vt:lpstr>
      <vt:lpstr>5. Estimating the difference between Population Proportions </vt:lpstr>
      <vt:lpstr>5. Estimating the difference between Population Proportions … </vt:lpstr>
      <vt:lpstr>6. Estimating the Variance: Single Sample </vt:lpstr>
      <vt:lpstr>6. Estimating the Variance: Single Sample </vt:lpstr>
      <vt:lpstr>6. Estimating the Ratio of  Two Variances </vt:lpstr>
      <vt:lpstr>6. Estimating the Ratio of  Two Variances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Estimation of Parameters</dc:title>
  <dc:creator>Basharat Mahmood</dc:creator>
  <cp:lastModifiedBy>Basharat Mahmood</cp:lastModifiedBy>
  <cp:revision>115</cp:revision>
  <dcterms:created xsi:type="dcterms:W3CDTF">2023-03-13T04:50:01Z</dcterms:created>
  <dcterms:modified xsi:type="dcterms:W3CDTF">2023-10-20T09:54:35Z</dcterms:modified>
</cp:coreProperties>
</file>