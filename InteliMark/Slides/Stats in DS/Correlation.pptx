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handoutMasterIdLst>
    <p:handoutMasterId r:id="rId27"/>
  </p:handoutMasterIdLst>
  <p:sldIdLst>
    <p:sldId id="300" r:id="rId2"/>
    <p:sldId id="301" r:id="rId3"/>
    <p:sldId id="257" r:id="rId4"/>
    <p:sldId id="256" r:id="rId5"/>
    <p:sldId id="258" r:id="rId6"/>
    <p:sldId id="259" r:id="rId7"/>
    <p:sldId id="260" r:id="rId8"/>
    <p:sldId id="302" r:id="rId9"/>
    <p:sldId id="261" r:id="rId10"/>
    <p:sldId id="262" r:id="rId11"/>
    <p:sldId id="263" r:id="rId12"/>
    <p:sldId id="303" r:id="rId13"/>
    <p:sldId id="264" r:id="rId14"/>
    <p:sldId id="265" r:id="rId15"/>
    <p:sldId id="304" r:id="rId16"/>
    <p:sldId id="307" r:id="rId17"/>
    <p:sldId id="268" r:id="rId18"/>
    <p:sldId id="313" r:id="rId19"/>
    <p:sldId id="306" r:id="rId20"/>
    <p:sldId id="270" r:id="rId21"/>
    <p:sldId id="308" r:id="rId22"/>
    <p:sldId id="309" r:id="rId23"/>
    <p:sldId id="311" r:id="rId24"/>
    <p:sldId id="310" r:id="rId25"/>
    <p:sldId id="312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C0C0C0"/>
    <a:srgbClr val="5F5F5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76" autoAdjust="0"/>
    <p:restoredTop sz="90929"/>
  </p:normalViewPr>
  <p:slideViewPr>
    <p:cSldViewPr>
      <p:cViewPr varScale="1">
        <p:scale>
          <a:sx n="74" d="100"/>
          <a:sy n="74" d="100"/>
        </p:scale>
        <p:origin x="134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1" d="100"/>
          <a:sy n="61" d="100"/>
        </p:scale>
        <p:origin x="-1698" y="-5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9.xml"/><Relationship Id="rId1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xmlns="" id="{AA7B7956-375A-DAC9-E5BF-CFB4515E297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x-none"/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xmlns="" id="{B7E3633D-5E14-3D0C-3B5B-0FB958FD769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x-none"/>
          </a:p>
        </p:txBody>
      </p:sp>
      <p:sp>
        <p:nvSpPr>
          <p:cNvPr id="93188" name="Rectangle 4">
            <a:extLst>
              <a:ext uri="{FF2B5EF4-FFF2-40B4-BE49-F238E27FC236}">
                <a16:creationId xmlns:a16="http://schemas.microsoft.com/office/drawing/2014/main" xmlns="" id="{5E233E41-E2A2-B211-934B-6BA5157845F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x-none"/>
          </a:p>
        </p:txBody>
      </p:sp>
      <p:sp>
        <p:nvSpPr>
          <p:cNvPr id="93189" name="Rectangle 5">
            <a:extLst>
              <a:ext uri="{FF2B5EF4-FFF2-40B4-BE49-F238E27FC236}">
                <a16:creationId xmlns:a16="http://schemas.microsoft.com/office/drawing/2014/main" xmlns="" id="{D6D292FA-6C15-1F5F-B5FB-BA1362F62CB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2B7259-2A57-4D86-8358-129510931EC8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61676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EBDA6-8F60-42CC-906B-A562762B5EAB}" type="slidenum">
              <a:rPr lang="en-US" altLang="x-none" smtClean="0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773400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ABCE9-8AA9-45EB-A739-764E9456185A}" type="slidenum">
              <a:rPr lang="en-US" altLang="x-none" smtClean="0"/>
              <a:pPr/>
              <a:t>‹#›</a:t>
            </a:fld>
            <a:endParaRPr lang="en-US" altLang="x-none" sz="1400"/>
          </a:p>
        </p:txBody>
      </p:sp>
    </p:spTree>
    <p:extLst>
      <p:ext uri="{BB962C8B-B14F-4D97-AF65-F5344CB8AC3E}">
        <p14:creationId xmlns:p14="http://schemas.microsoft.com/office/powerpoint/2010/main" val="1304705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70131-749D-4F63-8207-CF1CC6ACF06C}" type="slidenum">
              <a:rPr lang="en-US" altLang="x-none" smtClean="0"/>
              <a:pPr/>
              <a:t>‹#›</a:t>
            </a:fld>
            <a:endParaRPr lang="en-US" altLang="x-none" sz="1400"/>
          </a:p>
        </p:txBody>
      </p:sp>
    </p:spTree>
    <p:extLst>
      <p:ext uri="{BB962C8B-B14F-4D97-AF65-F5344CB8AC3E}">
        <p14:creationId xmlns:p14="http://schemas.microsoft.com/office/powerpoint/2010/main" val="35271686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40587-C39D-41BD-A80C-D20C07045511}" type="slidenum">
              <a:rPr lang="en-US" altLang="x-none" smtClean="0"/>
              <a:pPr/>
              <a:t>‹#›</a:t>
            </a:fld>
            <a:endParaRPr lang="en-US" altLang="x-none" sz="1400"/>
          </a:p>
        </p:txBody>
      </p:sp>
    </p:spTree>
    <p:extLst>
      <p:ext uri="{BB962C8B-B14F-4D97-AF65-F5344CB8AC3E}">
        <p14:creationId xmlns:p14="http://schemas.microsoft.com/office/powerpoint/2010/main" val="333975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74D42-0E48-4037-8A64-E2228EDDF103}" type="slidenum">
              <a:rPr lang="en-US" altLang="x-none" smtClean="0"/>
              <a:pPr/>
              <a:t>‹#›</a:t>
            </a:fld>
            <a:endParaRPr lang="en-US" altLang="x-none" sz="140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27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72B4E-BEE3-4F7A-AB7B-6B4DFE73C679}" type="slidenum">
              <a:rPr lang="en-US" altLang="x-none" smtClean="0"/>
              <a:pPr/>
              <a:t>‹#›</a:t>
            </a:fld>
            <a:endParaRPr lang="en-US" altLang="x-none" sz="1400"/>
          </a:p>
        </p:txBody>
      </p:sp>
    </p:spTree>
    <p:extLst>
      <p:ext uri="{BB962C8B-B14F-4D97-AF65-F5344CB8AC3E}">
        <p14:creationId xmlns:p14="http://schemas.microsoft.com/office/powerpoint/2010/main" val="4069071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037C3-0AF3-4962-9EB9-5E0D596979B3}" type="slidenum">
              <a:rPr lang="en-US" altLang="x-none" smtClean="0"/>
              <a:pPr/>
              <a:t>‹#›</a:t>
            </a:fld>
            <a:endParaRPr lang="en-US" altLang="x-none" sz="1400"/>
          </a:p>
        </p:txBody>
      </p:sp>
    </p:spTree>
    <p:extLst>
      <p:ext uri="{BB962C8B-B14F-4D97-AF65-F5344CB8AC3E}">
        <p14:creationId xmlns:p14="http://schemas.microsoft.com/office/powerpoint/2010/main" val="1650909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altLang="x-none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4E1A7-DE5B-4BFF-A89C-9E057106A62B}" type="slidenum">
              <a:rPr lang="en-US" altLang="x-none" smtClean="0"/>
              <a:pPr/>
              <a:t>‹#›</a:t>
            </a:fld>
            <a:endParaRPr lang="en-US" altLang="x-none" sz="1400"/>
          </a:p>
        </p:txBody>
      </p:sp>
    </p:spTree>
    <p:extLst>
      <p:ext uri="{BB962C8B-B14F-4D97-AF65-F5344CB8AC3E}">
        <p14:creationId xmlns:p14="http://schemas.microsoft.com/office/powerpoint/2010/main" val="3138254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altLang="x-none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altLang="x-none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0B63-4AAC-462D-8362-A1F411612FA4}" type="slidenum">
              <a:rPr lang="en-US" altLang="x-none" smtClean="0"/>
              <a:pPr/>
              <a:t>‹#›</a:t>
            </a:fld>
            <a:endParaRPr lang="en-US" altLang="x-none" sz="1400"/>
          </a:p>
        </p:txBody>
      </p:sp>
    </p:spTree>
    <p:extLst>
      <p:ext uri="{BB962C8B-B14F-4D97-AF65-F5344CB8AC3E}">
        <p14:creationId xmlns:p14="http://schemas.microsoft.com/office/powerpoint/2010/main" val="1141118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48BC-C6CF-453E-89B8-03E03BF494B9}" type="slidenum">
              <a:rPr lang="en-US" altLang="x-none" smtClean="0"/>
              <a:pPr/>
              <a:t>‹#›</a:t>
            </a:fld>
            <a:endParaRPr lang="en-US" altLang="x-none" sz="1400"/>
          </a:p>
        </p:txBody>
      </p:sp>
    </p:spTree>
    <p:extLst>
      <p:ext uri="{BB962C8B-B14F-4D97-AF65-F5344CB8AC3E}">
        <p14:creationId xmlns:p14="http://schemas.microsoft.com/office/powerpoint/2010/main" val="1872745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CF27A-4B4B-4DD0-8AAA-651F8A4E60D0}" type="slidenum">
              <a:rPr lang="en-US" altLang="x-none" smtClean="0"/>
              <a:pPr/>
              <a:t>‹#›</a:t>
            </a:fld>
            <a:endParaRPr lang="en-US" altLang="x-none" sz="1400"/>
          </a:p>
        </p:txBody>
      </p:sp>
    </p:spTree>
    <p:extLst>
      <p:ext uri="{BB962C8B-B14F-4D97-AF65-F5344CB8AC3E}">
        <p14:creationId xmlns:p14="http://schemas.microsoft.com/office/powerpoint/2010/main" val="3597296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4925F6-91A6-3826-3077-404297964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xmlns="" id="{66C4F167-011C-8826-1F2B-B11BA2222B36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217B2D3-ABB4-C9E4-78F9-5AFC657040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05E2739-D10E-E4CC-EDA4-C161EC0E9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731258A-0E28-1A30-D6F0-7DD4768D2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72349BE0-B212-4B85-9870-4B476C9F0911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51507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FE074D42-0E48-4037-8A64-E2228EDDF103}" type="slidenum">
              <a:rPr lang="en-US" altLang="x-none" smtClean="0"/>
              <a:pPr/>
              <a:t>‹#›</a:t>
            </a:fld>
            <a:endParaRPr lang="en-US" altLang="x-none" sz="1400"/>
          </a:p>
        </p:txBody>
      </p:sp>
    </p:spTree>
    <p:extLst>
      <p:ext uri="{BB962C8B-B14F-4D97-AF65-F5344CB8AC3E}">
        <p14:creationId xmlns:p14="http://schemas.microsoft.com/office/powerpoint/2010/main" val="3945613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file:///C:\My%20Documents\DOCS\Bend\02Summer\Correlation%20-%20Main_files\sbk17m_files\corr34.gi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file:///C:\My%20Documents\DOCS\Bend\02Summer\Correlation%20-%20Main_files\sbk17m_files\corr30.gif" TargetMode="External"/><Relationship Id="rId7" Type="http://schemas.openxmlformats.org/officeDocument/2006/relationships/image" Target="file:///C:\My%20Documents\DOCS\Bend\02Summer\Correlation%20-%20Main_files\sbk17m_files\corr34.gif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file:///C:\My%20Documents\DOCS\Bend\02Summer\Correlation%20-%20Main_files\sbk17m_files\corr32.gif" TargetMode="External"/><Relationship Id="rId10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file:///C:\My%20Documents\DOCS\Bend\02Summer\Correlation%20-%20Main_files\sbk17m_files\corr36.gif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4B3E43-277B-F6A8-4DB9-006736077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935162"/>
            <a:ext cx="7772400" cy="1143000"/>
          </a:xfrm>
        </p:spPr>
        <p:txBody>
          <a:bodyPr/>
          <a:lstStyle/>
          <a:p>
            <a:pPr algn="ctr"/>
            <a:r>
              <a:rPr lang="en-GB" dirty="0"/>
              <a:t>Correlation</a:t>
            </a:r>
            <a:endParaRPr lang="x-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24483F6-E3E4-6F3F-02EC-88303FDFD1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sz="1800" dirty="0"/>
              <a:t>Dr. Basharat Mahmood</a:t>
            </a:r>
          </a:p>
          <a:p>
            <a:r>
              <a:rPr lang="en-GB" sz="1800" dirty="0"/>
              <a:t>Department of Computer Science, COMSATS University Islamabad.</a:t>
            </a:r>
            <a:endParaRPr lang="x-none" sz="1800" dirty="0"/>
          </a:p>
        </p:txBody>
      </p:sp>
    </p:spTree>
    <p:extLst>
      <p:ext uri="{BB962C8B-B14F-4D97-AF65-F5344CB8AC3E}">
        <p14:creationId xmlns:p14="http://schemas.microsoft.com/office/powerpoint/2010/main" val="578031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7805D5-0047-8602-917F-72C78442B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F8DA65B-DE33-0ECF-7DA4-F0EA5FB9B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Introduction to Correlation</a:t>
            </a:r>
          </a:p>
          <a:p>
            <a:r>
              <a:rPr lang="en-US" altLang="x-none" dirty="0"/>
              <a:t>Pearson’s correlation coefficient</a:t>
            </a:r>
          </a:p>
          <a:p>
            <a:r>
              <a:rPr lang="en-US" altLang="x-none" dirty="0">
                <a:cs typeface="Times New Roman" panose="02020603050405020304" pitchFamily="18" charset="0"/>
              </a:rPr>
              <a:t>Coefficient of Determination r</a:t>
            </a:r>
            <a:r>
              <a:rPr lang="en-US" altLang="x-none" baseline="30000" dirty="0">
                <a:cs typeface="Times New Roman" panose="02020603050405020304" pitchFamily="18" charset="0"/>
              </a:rPr>
              <a:t>2</a:t>
            </a:r>
          </a:p>
          <a:p>
            <a:r>
              <a:rPr lang="en-US" altLang="x-none" dirty="0"/>
              <a:t>Statistical significance of r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176264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xmlns="" id="{8852DAA8-48FA-C770-7D25-38B052B04C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1. Introduction to Correlation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xmlns="" id="{08161B52-05AE-4318-1258-B58E0B1698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x-none" sz="2800" dirty="0">
                <a:cs typeface="Times New Roman" panose="02020603050405020304" pitchFamily="18" charset="0"/>
              </a:rPr>
              <a:t>Is there an association between: </a:t>
            </a:r>
          </a:p>
          <a:p>
            <a:pPr lvl="1">
              <a:lnSpc>
                <a:spcPct val="90000"/>
              </a:lnSpc>
            </a:pPr>
            <a:r>
              <a:rPr lang="en-US" altLang="x-none" sz="2600" dirty="0">
                <a:cs typeface="Times New Roman" panose="02020603050405020304" pitchFamily="18" charset="0"/>
              </a:rPr>
              <a:t>Number of study hours and marks in exam</a:t>
            </a:r>
          </a:p>
          <a:p>
            <a:pPr lvl="1">
              <a:lnSpc>
                <a:spcPct val="90000"/>
              </a:lnSpc>
            </a:pPr>
            <a:r>
              <a:rPr lang="en-US" altLang="x-none" sz="2600" dirty="0">
                <a:cs typeface="Times New Roman" panose="02020603050405020304" pitchFamily="18" charset="0"/>
              </a:rPr>
              <a:t>Children’s IQ and Parents’ IQ</a:t>
            </a:r>
          </a:p>
          <a:p>
            <a:pPr lvl="1">
              <a:lnSpc>
                <a:spcPct val="90000"/>
              </a:lnSpc>
            </a:pPr>
            <a:r>
              <a:rPr lang="en-US" altLang="x-none" sz="2600" dirty="0">
                <a:cs typeface="Times New Roman" panose="02020603050405020304" pitchFamily="18" charset="0"/>
              </a:rPr>
              <a:t>Degree of social trust and number of membership in voluntary association ?</a:t>
            </a:r>
          </a:p>
          <a:p>
            <a:pPr lvl="1">
              <a:lnSpc>
                <a:spcPct val="90000"/>
              </a:lnSpc>
            </a:pPr>
            <a:r>
              <a:rPr lang="en-US" altLang="x-none" sz="2600" dirty="0">
                <a:cs typeface="Times New Roman" panose="02020603050405020304" pitchFamily="18" charset="0"/>
              </a:rPr>
              <a:t>Urban growth and air quality violations? </a:t>
            </a:r>
          </a:p>
          <a:p>
            <a:pPr lvl="1">
              <a:lnSpc>
                <a:spcPct val="90000"/>
              </a:lnSpc>
            </a:pPr>
            <a:r>
              <a:rPr lang="en-US" altLang="x-none" sz="2600" dirty="0">
                <a:cs typeface="Times New Roman" panose="02020603050405020304" pitchFamily="18" charset="0"/>
              </a:rPr>
              <a:t>Number of police patrol and number of crime </a:t>
            </a:r>
          </a:p>
          <a:p>
            <a:pPr>
              <a:lnSpc>
                <a:spcPct val="90000"/>
              </a:lnSpc>
            </a:pPr>
            <a:r>
              <a:rPr lang="en-GB" sz="2800" b="0" i="0" dirty="0">
                <a:solidFill>
                  <a:srgbClr val="4A4C4D"/>
                </a:solidFill>
                <a:effectLst/>
                <a:latin typeface="InterFace"/>
              </a:rPr>
              <a:t>The word correlation is used in everyday life to denote some form of association.</a:t>
            </a:r>
            <a:endParaRPr lang="en-US" altLang="x-none" sz="2800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x-none" sz="2800" dirty="0"/>
          </a:p>
          <a:p>
            <a:pPr>
              <a:lnSpc>
                <a:spcPct val="90000"/>
              </a:lnSpc>
            </a:pPr>
            <a:endParaRPr lang="en-US" altLang="x-none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xmlns="" id="{6394FABD-80DE-884B-E613-1FE3EFBB58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1. Introduction to Correlation … 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xmlns="" id="{C72839F9-8743-D70F-4393-D04003FD62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x-none" b="1" dirty="0">
                <a:cs typeface="Times New Roman" panose="02020603050405020304" pitchFamily="18" charset="0"/>
              </a:rPr>
              <a:t>Correlation coefficient: </a:t>
            </a:r>
            <a:r>
              <a:rPr lang="en-US" altLang="x-none" dirty="0">
                <a:cs typeface="Times New Roman" panose="02020603050405020304" pitchFamily="18" charset="0"/>
              </a:rPr>
              <a:t>statistical index of the degree to which two variables are associated, or related.  </a:t>
            </a:r>
          </a:p>
          <a:p>
            <a:pPr>
              <a:lnSpc>
                <a:spcPct val="90000"/>
              </a:lnSpc>
            </a:pPr>
            <a:r>
              <a:rPr lang="en-US" altLang="x-none" dirty="0">
                <a:cs typeface="Times New Roman" panose="02020603050405020304" pitchFamily="18" charset="0"/>
              </a:rPr>
              <a:t>We can determine whether one variable is related to another by seeing whether scores on the two variables </a:t>
            </a:r>
            <a:r>
              <a:rPr lang="en-US" altLang="x-none" i="1" dirty="0">
                <a:cs typeface="Times New Roman" panose="02020603050405020304" pitchFamily="18" charset="0"/>
              </a:rPr>
              <a:t>covary</a:t>
            </a:r>
            <a:r>
              <a:rPr lang="en-US" altLang="x-none" dirty="0">
                <a:cs typeface="Times New Roman" panose="02020603050405020304" pitchFamily="18" charset="0"/>
              </a:rPr>
              <a:t>---whether they </a:t>
            </a:r>
            <a:r>
              <a:rPr lang="en-US" altLang="x-none" u="sng" dirty="0">
                <a:cs typeface="Times New Roman" panose="02020603050405020304" pitchFamily="18" charset="0"/>
              </a:rPr>
              <a:t>vary</a:t>
            </a:r>
            <a:r>
              <a:rPr lang="en-US" altLang="x-none" dirty="0">
                <a:cs typeface="Times New Roman" panose="02020603050405020304" pitchFamily="18" charset="0"/>
              </a:rPr>
              <a:t> together.</a:t>
            </a:r>
          </a:p>
          <a:p>
            <a:pPr lvl="1">
              <a:lnSpc>
                <a:spcPct val="90000"/>
              </a:lnSpc>
            </a:pPr>
            <a:r>
              <a:rPr lang="en-US" altLang="x-none" dirty="0"/>
              <a:t>Correlation measures association by measuring; how when one variable changes other changes with it, which means it is measuring dynamic relationships (change).</a:t>
            </a:r>
            <a:endParaRPr lang="en-US" altLang="x-none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x-none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xmlns="" id="{27711069-D11D-5D58-094D-0C46F8CB7F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5919" y="523612"/>
            <a:ext cx="5937755" cy="1188720"/>
          </a:xfrm>
        </p:spPr>
        <p:txBody>
          <a:bodyPr>
            <a:normAutofit/>
          </a:bodyPr>
          <a:lstStyle/>
          <a:p>
            <a:r>
              <a:rPr lang="en-US" altLang="x-none" dirty="0"/>
              <a:t>1. Introduction to Correlation …</a:t>
            </a:r>
            <a:endParaRPr lang="en-US" altLang="x-none" dirty="0">
              <a:cs typeface="Times New Roman" panose="02020603050405020304" pitchFamily="18" charset="0"/>
            </a:endParaRP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xmlns="" id="{E836E82C-DE3E-192D-C632-EF963B320F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x-none" dirty="0">
                <a:cs typeface="Times New Roman" panose="02020603050405020304" pitchFamily="18" charset="0"/>
              </a:rPr>
              <a:t>Scatterplot</a:t>
            </a:r>
          </a:p>
          <a:p>
            <a:r>
              <a:rPr lang="en-US" altLang="x-none" dirty="0">
                <a:cs typeface="Times New Roman" panose="02020603050405020304" pitchFamily="18" charset="0"/>
              </a:rPr>
              <a:t>The relationship between any two variables can be portrayed graphically on an x- and y- axis.  </a:t>
            </a:r>
          </a:p>
          <a:p>
            <a:r>
              <a:rPr lang="en-US" altLang="x-none" dirty="0">
                <a:cs typeface="Times New Roman" panose="02020603050405020304" pitchFamily="18" charset="0"/>
              </a:rPr>
              <a:t>Each subject i</a:t>
            </a:r>
            <a:r>
              <a:rPr lang="en-US" altLang="x-none" baseline="-30000" dirty="0">
                <a:cs typeface="Times New Roman" panose="02020603050405020304" pitchFamily="18" charset="0"/>
              </a:rPr>
              <a:t>1 </a:t>
            </a:r>
            <a:r>
              <a:rPr lang="en-US" altLang="x-none" dirty="0">
                <a:cs typeface="Times New Roman" panose="02020603050405020304" pitchFamily="18" charset="0"/>
              </a:rPr>
              <a:t>has (x</a:t>
            </a:r>
            <a:r>
              <a:rPr lang="en-US" altLang="x-none" baseline="-30000" dirty="0">
                <a:cs typeface="Times New Roman" panose="02020603050405020304" pitchFamily="18" charset="0"/>
              </a:rPr>
              <a:t>1, </a:t>
            </a:r>
            <a:r>
              <a:rPr lang="en-US" altLang="x-none" dirty="0">
                <a:cs typeface="Times New Roman" panose="02020603050405020304" pitchFamily="18" charset="0"/>
              </a:rPr>
              <a:t>y</a:t>
            </a:r>
            <a:r>
              <a:rPr lang="en-US" altLang="x-none" baseline="-30000" dirty="0">
                <a:cs typeface="Times New Roman" panose="02020603050405020304" pitchFamily="18" charset="0"/>
              </a:rPr>
              <a:t>1)</a:t>
            </a:r>
            <a:r>
              <a:rPr lang="en-US" altLang="x-none" dirty="0">
                <a:cs typeface="Times New Roman" panose="02020603050405020304" pitchFamily="18" charset="0"/>
              </a:rPr>
              <a:t>.  When score s for an entire sample are plotted, the result is called </a:t>
            </a:r>
            <a:r>
              <a:rPr lang="en-US" altLang="x-none" b="1" dirty="0">
                <a:cs typeface="Times New Roman" panose="02020603050405020304" pitchFamily="18" charset="0"/>
              </a:rPr>
              <a:t>scatter plot</a:t>
            </a:r>
            <a:r>
              <a:rPr lang="en-US" altLang="x-none" dirty="0"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1" name="Rectangle 5">
            <a:extLst>
              <a:ext uri="{FF2B5EF4-FFF2-40B4-BE49-F238E27FC236}">
                <a16:creationId xmlns:a16="http://schemas.microsoft.com/office/drawing/2014/main" xmlns="" id="{31C781EA-FE32-0DFE-9354-02728D0EB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x-none"/>
          </a:p>
        </p:txBody>
      </p:sp>
      <p:pic>
        <p:nvPicPr>
          <p:cNvPr id="91156" name="Picture 20">
            <a:extLst>
              <a:ext uri="{FF2B5EF4-FFF2-40B4-BE49-F238E27FC236}">
                <a16:creationId xmlns:a16="http://schemas.microsoft.com/office/drawing/2014/main" xmlns="" id="{F43F9F69-A2B7-0533-979B-4690EF822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560513"/>
            <a:ext cx="5181600" cy="425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5F1CE9BC-7AEE-9E2E-CC5C-271EF99960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3122" y="228600"/>
            <a:ext cx="5937755" cy="1188720"/>
          </a:xfrm>
        </p:spPr>
        <p:txBody>
          <a:bodyPr>
            <a:normAutofit/>
          </a:bodyPr>
          <a:lstStyle/>
          <a:p>
            <a:r>
              <a:rPr lang="en-US" altLang="x-none" dirty="0"/>
              <a:t>1. Introduction to Correlation …</a:t>
            </a:r>
            <a:endParaRPr lang="en-US" altLang="x-none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xmlns="" id="{90B08AFE-E949-071A-5482-AD618C5966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x-none" dirty="0"/>
              <a:t>1. Introduction to Correlation …</a:t>
            </a:r>
            <a:endParaRPr lang="en-US" altLang="x-none" dirty="0">
              <a:cs typeface="Times New Roman" panose="02020603050405020304" pitchFamily="18" charset="0"/>
            </a:endParaRP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xmlns="" id="{646BD246-9F63-A56D-0DFD-E4E49AE116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7150" indent="-57150">
              <a:buFont typeface="Wingdings" panose="05000000000000000000" pitchFamily="2" charset="2"/>
              <a:buNone/>
            </a:pPr>
            <a:r>
              <a:rPr lang="en-US" altLang="x-none" b="1" dirty="0">
                <a:cs typeface="Times New Roman" panose="02020603050405020304" pitchFamily="18" charset="0"/>
              </a:rPr>
              <a:t>Direction of the relationship</a:t>
            </a:r>
          </a:p>
          <a:p>
            <a:r>
              <a:rPr lang="en-US" altLang="x-none" dirty="0">
                <a:cs typeface="Times New Roman" panose="02020603050405020304" pitchFamily="18" charset="0"/>
              </a:rPr>
              <a:t>Variables can be positively or negatively correlated. </a:t>
            </a:r>
          </a:p>
          <a:p>
            <a:pPr marL="57150" indent="-57150"/>
            <a:r>
              <a:rPr lang="en-US" altLang="x-none" u="sng" dirty="0">
                <a:cs typeface="Times New Roman" panose="02020603050405020304" pitchFamily="18" charset="0"/>
              </a:rPr>
              <a:t>Positive correlation</a:t>
            </a:r>
            <a:r>
              <a:rPr lang="en-US" altLang="x-none" dirty="0">
                <a:cs typeface="Times New Roman" panose="02020603050405020304" pitchFamily="18" charset="0"/>
              </a:rPr>
              <a:t>: A value of one variable increase, value of other variable increase. </a:t>
            </a:r>
          </a:p>
          <a:p>
            <a:pPr marL="57150" indent="-57150"/>
            <a:r>
              <a:rPr lang="en-US" altLang="x-none" u="sng" dirty="0">
                <a:cs typeface="Times New Roman" panose="02020603050405020304" pitchFamily="18" charset="0"/>
              </a:rPr>
              <a:t>Negative correlation</a:t>
            </a:r>
            <a:r>
              <a:rPr lang="en-US" altLang="x-none" dirty="0">
                <a:cs typeface="Times New Roman" panose="02020603050405020304" pitchFamily="18" charset="0"/>
              </a:rPr>
              <a:t>: A value of one variable increase, value of other variable decrease.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xmlns="" id="{90B08AFE-E949-071A-5482-AD618C5966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3122" y="99317"/>
            <a:ext cx="5937755" cy="1188720"/>
          </a:xfrm>
        </p:spPr>
        <p:txBody>
          <a:bodyPr>
            <a:normAutofit/>
          </a:bodyPr>
          <a:lstStyle/>
          <a:p>
            <a:r>
              <a:rPr lang="en-US" altLang="x-none" dirty="0"/>
              <a:t>1. Introduction to Correlation …</a:t>
            </a:r>
            <a:endParaRPr lang="en-US" altLang="x-none" dirty="0"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6F41A85-2655-1BCA-2BF3-530AD6DBF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8037"/>
            <a:ext cx="8915400" cy="517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404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270" name="Object 38">
            <a:extLst>
              <a:ext uri="{FF2B5EF4-FFF2-40B4-BE49-F238E27FC236}">
                <a16:creationId xmlns:a16="http://schemas.microsoft.com/office/drawing/2014/main" xmlns="" id="{E00A0C20-E82F-A084-9941-888A302483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2639673"/>
              </p:ext>
            </p:extLst>
          </p:nvPr>
        </p:nvGraphicFramePr>
        <p:xfrm>
          <a:off x="1066800" y="1222850"/>
          <a:ext cx="6934200" cy="543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Document" r:id="rId3" imgW="5303520" imgH="5836680" progId="Word.Document.8">
                  <p:embed/>
                </p:oleObj>
              </mc:Choice>
              <mc:Fallback>
                <p:oleObj name="Document" r:id="rId3" imgW="5303520" imgH="5836680" progId="Word.Document.8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222850"/>
                        <a:ext cx="6934200" cy="543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D9E053B-BFD8-DBFA-E935-6D54E2286E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3544"/>
            <a:ext cx="5968501" cy="12193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xmlns="" id="{1012F338-8EB1-866A-4A67-AE6390B9EA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5937755" cy="1188720"/>
          </a:xfrm>
        </p:spPr>
        <p:txBody>
          <a:bodyPr/>
          <a:lstStyle/>
          <a:p>
            <a:r>
              <a:rPr lang="en-US" altLang="x-none" dirty="0"/>
              <a:t>1. Introduction to Correlation …</a:t>
            </a:r>
            <a:endParaRPr lang="en-US" altLang="x-none" dirty="0">
              <a:cs typeface="Times New Roman" panose="02020603050405020304" pitchFamily="18" charset="0"/>
            </a:endParaRP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xmlns="" id="{1D232FAA-4629-DF23-AC40-35D3D0E19E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6800" y="2057400"/>
            <a:ext cx="5937755" cy="310198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x-none" b="1" dirty="0">
                <a:cs typeface="Times New Roman" panose="02020603050405020304" pitchFamily="18" charset="0"/>
              </a:rPr>
              <a:t>Strength of the relationship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x-none" dirty="0">
                <a:cs typeface="Times New Roman" panose="02020603050405020304" pitchFamily="18" charset="0"/>
              </a:rPr>
              <a:t>The magnitude of correlation: </a:t>
            </a:r>
          </a:p>
          <a:p>
            <a:r>
              <a:rPr lang="en-US" altLang="x-none" dirty="0">
                <a:cs typeface="Times New Roman" panose="02020603050405020304" pitchFamily="18" charset="0"/>
              </a:rPr>
              <a:t>Indicated by its numerical value</a:t>
            </a:r>
          </a:p>
          <a:p>
            <a:r>
              <a:rPr lang="en-US" altLang="x-none" dirty="0">
                <a:cs typeface="Times New Roman" panose="02020603050405020304" pitchFamily="18" charset="0"/>
              </a:rPr>
              <a:t>ignoring the sign</a:t>
            </a:r>
          </a:p>
          <a:p>
            <a:r>
              <a:rPr lang="en-US" altLang="x-none" dirty="0">
                <a:cs typeface="Times New Roman" panose="02020603050405020304" pitchFamily="18" charset="0"/>
              </a:rPr>
              <a:t>expresses the strength of the linear relationship between the variables. 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x-none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3">
            <a:extLst>
              <a:ext uri="{FF2B5EF4-FFF2-40B4-BE49-F238E27FC236}">
                <a16:creationId xmlns:a16="http://schemas.microsoft.com/office/drawing/2014/main" xmlns="" id="{8FEB9C22-E8D3-1B1C-E5FA-C53114A0A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3" y="2324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x-none"/>
          </a:p>
        </p:txBody>
      </p:sp>
      <p:pic>
        <p:nvPicPr>
          <p:cNvPr id="97282" name="Picture 2">
            <a:extLst>
              <a:ext uri="{FF2B5EF4-FFF2-40B4-BE49-F238E27FC236}">
                <a16:creationId xmlns:a16="http://schemas.microsoft.com/office/drawing/2014/main" xmlns="" id="{3D723955-CD28-DB06-06EE-A276C0881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371600"/>
            <a:ext cx="2771775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285" name="Rectangle 5">
            <a:extLst>
              <a:ext uri="{FF2B5EF4-FFF2-40B4-BE49-F238E27FC236}">
                <a16:creationId xmlns:a16="http://schemas.microsoft.com/office/drawing/2014/main" xmlns="" id="{2509A99F-AD05-CCE8-228A-58048BEDA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3" y="2324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x-none"/>
          </a:p>
        </p:txBody>
      </p:sp>
      <p:pic>
        <p:nvPicPr>
          <p:cNvPr id="97284" name="Picture 4">
            <a:extLst>
              <a:ext uri="{FF2B5EF4-FFF2-40B4-BE49-F238E27FC236}">
                <a16:creationId xmlns:a16="http://schemas.microsoft.com/office/drawing/2014/main" xmlns="" id="{1D6EABA5-6123-CEAB-5BA7-E991A9DD7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267200"/>
            <a:ext cx="2771775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287" name="Rectangle 7">
            <a:extLst>
              <a:ext uri="{FF2B5EF4-FFF2-40B4-BE49-F238E27FC236}">
                <a16:creationId xmlns:a16="http://schemas.microsoft.com/office/drawing/2014/main" xmlns="" id="{BF5D436D-5EC8-8C4B-2535-749DCADA2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3" y="2324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x-none"/>
          </a:p>
        </p:txBody>
      </p:sp>
      <p:pic>
        <p:nvPicPr>
          <p:cNvPr id="97286" name="Picture 6">
            <a:extLst>
              <a:ext uri="{FF2B5EF4-FFF2-40B4-BE49-F238E27FC236}">
                <a16:creationId xmlns:a16="http://schemas.microsoft.com/office/drawing/2014/main" xmlns="" id="{64A1715D-6E8F-5C8E-0669-993CB4699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r:link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371600"/>
            <a:ext cx="2771775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289" name="Rectangle 9">
            <a:extLst>
              <a:ext uri="{FF2B5EF4-FFF2-40B4-BE49-F238E27FC236}">
                <a16:creationId xmlns:a16="http://schemas.microsoft.com/office/drawing/2014/main" xmlns="" id="{1D7BE772-1E9B-6F3A-9E27-5615F639A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3" y="2324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x-none"/>
          </a:p>
        </p:txBody>
      </p:sp>
      <p:pic>
        <p:nvPicPr>
          <p:cNvPr id="97288" name="Picture 8">
            <a:extLst>
              <a:ext uri="{FF2B5EF4-FFF2-40B4-BE49-F238E27FC236}">
                <a16:creationId xmlns:a16="http://schemas.microsoft.com/office/drawing/2014/main" xmlns="" id="{BE0C7924-1F4E-CC70-00F3-1F446F2A0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r:link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4191000"/>
            <a:ext cx="2771775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290" name="Text Box 10">
            <a:extLst>
              <a:ext uri="{FF2B5EF4-FFF2-40B4-BE49-F238E27FC236}">
                <a16:creationId xmlns:a16="http://schemas.microsoft.com/office/drawing/2014/main" xmlns="" id="{8398F84D-E451-A58B-39EC-CBE26C3FB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5" y="955675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400" dirty="0"/>
              <a:t>r =1.00</a:t>
            </a:r>
          </a:p>
        </p:txBody>
      </p:sp>
      <p:sp>
        <p:nvSpPr>
          <p:cNvPr id="97291" name="Text Box 11">
            <a:extLst>
              <a:ext uri="{FF2B5EF4-FFF2-40B4-BE49-F238E27FC236}">
                <a16:creationId xmlns:a16="http://schemas.microsoft.com/office/drawing/2014/main" xmlns="" id="{6FD01D9C-B08A-8383-E05E-D9430EA70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325" y="3622675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400"/>
              <a:t> r =.17</a:t>
            </a:r>
          </a:p>
        </p:txBody>
      </p:sp>
      <p:sp>
        <p:nvSpPr>
          <p:cNvPr id="97292" name="Text Box 12">
            <a:extLst>
              <a:ext uri="{FF2B5EF4-FFF2-40B4-BE49-F238E27FC236}">
                <a16:creationId xmlns:a16="http://schemas.microsoft.com/office/drawing/2014/main" xmlns="" id="{38C6FCC1-73E0-33CD-6FC3-E0728BCF1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914400"/>
            <a:ext cx="930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x-none" altLang="x-none" sz="2400"/>
          </a:p>
        </p:txBody>
      </p:sp>
      <p:sp>
        <p:nvSpPr>
          <p:cNvPr id="97293" name="Text Box 13">
            <a:extLst>
              <a:ext uri="{FF2B5EF4-FFF2-40B4-BE49-F238E27FC236}">
                <a16:creationId xmlns:a16="http://schemas.microsoft.com/office/drawing/2014/main" xmlns="" id="{B649C394-740F-451A-B3B3-112C4B782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1525" y="955675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400"/>
              <a:t>r = .42</a:t>
            </a:r>
          </a:p>
        </p:txBody>
      </p:sp>
      <p:sp>
        <p:nvSpPr>
          <p:cNvPr id="97294" name="Text Box 14">
            <a:extLst>
              <a:ext uri="{FF2B5EF4-FFF2-40B4-BE49-F238E27FC236}">
                <a16:creationId xmlns:a16="http://schemas.microsoft.com/office/drawing/2014/main" xmlns="" id="{339D2386-3325-F2EA-24FE-0CAAEA329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9525" y="3775075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400"/>
              <a:t>r =.85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1C3213C-81B9-1CD4-BD46-7349A2A81D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7749" y="39529"/>
            <a:ext cx="5968501" cy="9161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xmlns="" id="{05639EA3-9D3D-0BEF-B3CA-D40C608999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457200"/>
            <a:ext cx="5410200" cy="838200"/>
          </a:xfrm>
        </p:spPr>
        <p:txBody>
          <a:bodyPr>
            <a:normAutofit fontScale="90000"/>
          </a:bodyPr>
          <a:lstStyle/>
          <a:p>
            <a:r>
              <a:rPr lang="en-US" altLang="x-none" dirty="0"/>
              <a:t>1. Introduction to Correlation …</a:t>
            </a:r>
          </a:p>
        </p:txBody>
      </p:sp>
      <p:graphicFrame>
        <p:nvGraphicFramePr>
          <p:cNvPr id="42019" name="Group 35">
            <a:extLst>
              <a:ext uri="{FF2B5EF4-FFF2-40B4-BE49-F238E27FC236}">
                <a16:creationId xmlns:a16="http://schemas.microsoft.com/office/drawing/2014/main" xmlns="" id="{71A4D9E7-BB8A-11A9-7A5B-2397B7568D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9773272"/>
              </p:ext>
            </p:extLst>
          </p:nvPr>
        </p:nvGraphicFramePr>
        <p:xfrm>
          <a:off x="1692349" y="1524000"/>
          <a:ext cx="4953000" cy="4459212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xmlns="" val="41411617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xmlns="" val="1908202044"/>
                    </a:ext>
                  </a:extLst>
                </a:gridCol>
              </a:tblGrid>
              <a:tr h="9995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Size of correlation coefficient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General Interpretation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68841420"/>
                  </a:ext>
                </a:extLst>
              </a:tr>
              <a:tr h="6087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.8 - 1.0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Very Strong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00686671"/>
                  </a:ext>
                </a:extLst>
              </a:tr>
              <a:tr h="6127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.6 - .8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Strong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52829698"/>
                  </a:ext>
                </a:extLst>
              </a:tr>
              <a:tr h="6100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.4 - .6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Moderate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45388081"/>
                  </a:ext>
                </a:extLst>
              </a:tr>
              <a:tr h="6087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.2 - .4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Weak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35792503"/>
                  </a:ext>
                </a:extLst>
              </a:tr>
              <a:tr h="83030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.0 - .2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Very Weak or no relationship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2636216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xmlns="" id="{A19760F6-F369-B5C3-65EF-DE2B5292D9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5937755" cy="1188720"/>
          </a:xfrm>
        </p:spPr>
        <p:txBody>
          <a:bodyPr/>
          <a:lstStyle/>
          <a:p>
            <a:r>
              <a:rPr lang="en-US" altLang="x-none" dirty="0"/>
              <a:t>2. Pearson’s correlation coefficient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xmlns="" id="{7EC415A5-4DE3-D7F7-DFFE-3ADA4855CD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50851" y="1878008"/>
            <a:ext cx="5937755" cy="3101983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x-none" sz="2800" dirty="0">
                <a:cs typeface="Times New Roman" panose="02020603050405020304" pitchFamily="18" charset="0"/>
              </a:rPr>
              <a:t>   There are many kinds of correlation coefficients, but the most commonly used measure of correlation is the </a:t>
            </a:r>
            <a:r>
              <a:rPr lang="en-US" altLang="x-none" sz="2800" u="sng" dirty="0">
                <a:cs typeface="Times New Roman" panose="02020603050405020304" pitchFamily="18" charset="0"/>
              </a:rPr>
              <a:t>Pearson’s correlation coefficient</a:t>
            </a:r>
            <a:r>
              <a:rPr lang="en-US" altLang="x-none" sz="2800" dirty="0">
                <a:cs typeface="Times New Roman" panose="02020603050405020304" pitchFamily="18" charset="0"/>
              </a:rPr>
              <a:t>.  (r)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x-none" sz="2800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x-none" sz="2000" dirty="0">
                <a:cs typeface="Times New Roman" panose="02020603050405020304" pitchFamily="18" charset="0"/>
              </a:rPr>
              <a:t>The Pearson r range between -1 to +1.  </a:t>
            </a:r>
          </a:p>
          <a:p>
            <a:pPr>
              <a:lnSpc>
                <a:spcPct val="90000"/>
              </a:lnSpc>
            </a:pPr>
            <a:r>
              <a:rPr lang="en-US" altLang="x-none" sz="2000" dirty="0">
                <a:cs typeface="Times New Roman" panose="02020603050405020304" pitchFamily="18" charset="0"/>
              </a:rPr>
              <a:t>Sign indicate the direction.</a:t>
            </a:r>
          </a:p>
          <a:p>
            <a:pPr>
              <a:lnSpc>
                <a:spcPct val="90000"/>
              </a:lnSpc>
            </a:pPr>
            <a:r>
              <a:rPr lang="en-US" altLang="x-none" sz="2000" dirty="0">
                <a:cs typeface="Times New Roman" panose="02020603050405020304" pitchFamily="18" charset="0"/>
              </a:rPr>
              <a:t>The numerical value indicates the strength. </a:t>
            </a:r>
          </a:p>
          <a:p>
            <a:pPr>
              <a:lnSpc>
                <a:spcPct val="90000"/>
              </a:lnSpc>
            </a:pPr>
            <a:r>
              <a:rPr lang="en-US" altLang="x-none" sz="2000" dirty="0">
                <a:cs typeface="Times New Roman" panose="02020603050405020304" pitchFamily="18" charset="0"/>
              </a:rPr>
              <a:t>Perfect correlation : -1 or 1 </a:t>
            </a:r>
          </a:p>
          <a:p>
            <a:pPr>
              <a:lnSpc>
                <a:spcPct val="90000"/>
              </a:lnSpc>
            </a:pPr>
            <a:r>
              <a:rPr lang="en-US" altLang="x-none" sz="2000" dirty="0">
                <a:cs typeface="Times New Roman" panose="02020603050405020304" pitchFamily="18" charset="0"/>
              </a:rPr>
              <a:t>No correlation: 0 </a:t>
            </a:r>
          </a:p>
          <a:p>
            <a:pPr>
              <a:lnSpc>
                <a:spcPct val="90000"/>
              </a:lnSpc>
            </a:pPr>
            <a:r>
              <a:rPr lang="en-US" altLang="x-none" sz="2000" dirty="0">
                <a:cs typeface="Times New Roman" panose="02020603050405020304" pitchFamily="18" charset="0"/>
              </a:rPr>
              <a:t>A correlation of zero indicates the value are not linearly related.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xmlns="" id="{7E5D955A-C77E-0088-9ABB-054CE86EBD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533400"/>
            <a:ext cx="7772400" cy="1143000"/>
          </a:xfrm>
        </p:spPr>
        <p:txBody>
          <a:bodyPr/>
          <a:lstStyle/>
          <a:p>
            <a:r>
              <a:rPr lang="en-US" altLang="x-none" dirty="0"/>
              <a:t>2. Pearson’s correlation coefficient…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xmlns="" id="{53F66891-64C5-EAFB-D1DC-1BE648804C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0600" y="1905000"/>
            <a:ext cx="7772400" cy="4756150"/>
          </a:xfrm>
        </p:spPr>
        <p:txBody>
          <a:bodyPr/>
          <a:lstStyle/>
          <a:p>
            <a:r>
              <a:rPr lang="en-US" altLang="x-none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Pearson r can be thought of as a standardized measure of the association between two variables. </a:t>
            </a:r>
          </a:p>
          <a:p>
            <a:r>
              <a:rPr lang="en-US" altLang="x-none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is, a correlation between two variables equal to .64 is the same strength of relationship as the correlation of .64 for two entirely different variables. </a:t>
            </a:r>
          </a:p>
          <a:p>
            <a:endParaRPr lang="en-US" altLang="x-none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xmlns="" id="{7E5D955A-C77E-0088-9ABB-054CE86EBD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533400"/>
            <a:ext cx="7772400" cy="1143000"/>
          </a:xfrm>
        </p:spPr>
        <p:txBody>
          <a:bodyPr/>
          <a:lstStyle/>
          <a:p>
            <a:r>
              <a:rPr lang="en-US" altLang="x-none" dirty="0"/>
              <a:t>2. Pearson’s correlation coefficient…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ADC6435-CD72-FF1B-EB38-779BF7B57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114800"/>
            <a:ext cx="5181600" cy="1095375"/>
          </a:xfrm>
          <a:prstGeom prst="rect">
            <a:avLst/>
          </a:prstGeom>
        </p:spPr>
      </p:pic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xmlns="" id="{24DB01C1-C0D1-0275-E51E-ED7DA7939D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35" y="2362200"/>
            <a:ext cx="3105150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490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B7F717-3086-AA27-CBB8-102601AF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2. Pearson’s correlation coefficient…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E0DDF21-C294-C807-08A2-C2921A9FB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GB" sz="1800" b="0" i="0" u="none" strike="noStrike" baseline="0" dirty="0">
                <a:latin typeface="CMR9"/>
              </a:rPr>
              <a:t>Example 1: Compute and interpret the correlation coefficient for the following grades of 6 students selected at </a:t>
            </a:r>
            <a:r>
              <a:rPr lang="en-US" sz="1800" b="0" i="0" u="none" strike="noStrike" baseline="0" dirty="0">
                <a:latin typeface="CMR9"/>
              </a:rPr>
              <a:t>random: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MR9"/>
              </a:rPr>
              <a:t>Mathematics grade     70    92    80   74   65   83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MR9"/>
              </a:rPr>
              <a:t>English grade                74    84    63   87   78   90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648912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xmlns="" id="{B21A1A62-C745-8732-0F99-4CF852C6C6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5400" y="723257"/>
            <a:ext cx="5937755" cy="1188720"/>
          </a:xfrm>
        </p:spPr>
        <p:txBody>
          <a:bodyPr/>
          <a:lstStyle/>
          <a:p>
            <a:r>
              <a:rPr lang="en-US" altLang="x-none" dirty="0">
                <a:cs typeface="Times New Roman" panose="02020603050405020304" pitchFamily="18" charset="0"/>
              </a:rPr>
              <a:t>3. Coefficient of Determination r</a:t>
            </a:r>
            <a:r>
              <a:rPr lang="en-US" altLang="x-none" baseline="30000" dirty="0">
                <a:cs typeface="Times New Roman" panose="02020603050405020304" pitchFamily="18" charset="0"/>
              </a:rPr>
              <a:t>2</a:t>
            </a:r>
            <a:endParaRPr lang="en-US" altLang="x-none" dirty="0">
              <a:cs typeface="Times New Roman" panose="02020603050405020304" pitchFamily="18" charset="0"/>
            </a:endParaRP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xmlns="" id="{A1E2EA82-8B2D-0F74-2E69-4A68851E94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2057400"/>
            <a:ext cx="5937755" cy="310198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x-none" sz="2800" dirty="0">
                <a:cs typeface="Times New Roman" panose="02020603050405020304" pitchFamily="18" charset="0"/>
              </a:rPr>
              <a:t> </a:t>
            </a:r>
            <a:r>
              <a:rPr lang="en-GB" altLang="x-none" sz="2900" dirty="0">
                <a:cs typeface="Times New Roman" panose="02020603050405020304" pitchFamily="18" charset="0"/>
              </a:rPr>
              <a:t>E</a:t>
            </a:r>
            <a:r>
              <a:rPr lang="en-GB" sz="2900">
                <a:cs typeface="Times New Roman" panose="02020603050405020304" pitchFamily="18" charset="0"/>
              </a:rPr>
              <a:t>xpresses </a:t>
            </a:r>
            <a:r>
              <a:rPr lang="en-GB" sz="2900" dirty="0">
                <a:cs typeface="Times New Roman" panose="02020603050405020304" pitchFamily="18" charset="0"/>
              </a:rPr>
              <a:t>the proportion of the total variation in the values of the variable Y that can be accounted for or explained by a linear relationship with the values of the random variable X.</a:t>
            </a:r>
            <a:endParaRPr lang="en-US" altLang="x-none" sz="29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6C565D-C257-36AB-4F19-420EF0B76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172" y="269062"/>
            <a:ext cx="5937755" cy="1188720"/>
          </a:xfrm>
        </p:spPr>
        <p:txBody>
          <a:bodyPr/>
          <a:lstStyle/>
          <a:p>
            <a:r>
              <a:rPr lang="de-DE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Point-Biserial Correlation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EC33C0-0EF4-31D9-045E-19703CFE5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49" y="1571625"/>
            <a:ext cx="8686800" cy="41910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This method is specifically designed to find the correlation between a binary variable and a continuous variable.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Group the values based on values of binary variable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M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in"/>
              </a:rPr>
              <a:t>1​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= Mean of the continuous variable for the group with the binary variable equal to 1.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in"/>
              </a:rPr>
              <a:t>𝑀0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= Mean of the continuous variable for the group with the binary variable equal to 0.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Sn= Standard Deviation of the continuous variable </a:t>
            </a:r>
            <a:endParaRPr lang="en-GB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endParaRPr lang="en-GB" dirty="0"/>
          </a:p>
          <a:p>
            <a:endParaRPr lang="x-non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993BC24-2592-AB92-F3BE-4D6462B93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2232821"/>
            <a:ext cx="1809750" cy="476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85B8EA43-AEBC-7B43-80D8-F8416810C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3076575"/>
            <a:ext cx="179070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567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xmlns="" id="{8C641121-6C26-F4CC-FADC-AC5804936F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4. Statistical significance of r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xmlns="" id="{382E12A9-C2D1-17A2-330C-D65EB6582C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x-none" sz="2800" dirty="0">
                <a:cs typeface="Times New Roman" panose="02020603050405020304" pitchFamily="18" charset="0"/>
              </a:rPr>
              <a:t>A correlation coefficient calculated on a sample is statistically significant if it has a very probability of being zero in the population. </a:t>
            </a:r>
          </a:p>
          <a:p>
            <a:r>
              <a:rPr lang="en-US" altLang="x-none" sz="2800" dirty="0">
                <a:cs typeface="Times New Roman" panose="02020603050405020304" pitchFamily="18" charset="0"/>
              </a:rPr>
              <a:t>In other words, to test r for significance, we test the null hypothesis that, in the population the correlation is zero by computing a t statistic.  </a:t>
            </a:r>
          </a:p>
          <a:p>
            <a:endParaRPr lang="en-US" altLang="x-none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46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xmlns="" id="{8C641121-6C26-F4CC-FADC-AC5804936F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4. Statistical significance of 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24FD9C9-071F-822B-0EF1-393F53ED5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828925"/>
            <a:ext cx="1219200" cy="476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496AC13-54D9-6C18-6AF6-DEDC1EBD2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133" y="4209289"/>
            <a:ext cx="4762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0873BD-623D-3CE2-4E50-D3623CEA4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4. Statistical significance of r…</a:t>
            </a:r>
            <a:endParaRPr lang="x-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DE10421F-9C42-B2D7-393B-3C3E9983E6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/>
                <a:r>
                  <a:rPr lang="en-GB" dirty="0"/>
                  <a:t>Example 2: </a:t>
                </a:r>
                <a:r>
                  <a:rPr lang="en-GB" sz="1800" b="0" i="0" u="none" strike="noStrike" baseline="0" dirty="0">
                    <a:latin typeface="CMR9"/>
                  </a:rPr>
                  <a:t>Test the hypothesis that </a:t>
                </a:r>
                <a:r>
                  <a:rPr lang="en-GB" sz="1800" b="0" i="1" u="none" strike="noStrike" baseline="0" dirty="0">
                    <a:latin typeface="CMMI9"/>
                  </a:rPr>
                  <a:t>ρ </a:t>
                </a:r>
                <a:r>
                  <a:rPr lang="en-GB" sz="1800" b="0" i="0" u="none" strike="noStrike" baseline="0" dirty="0">
                    <a:latin typeface="CMR9"/>
                  </a:rPr>
                  <a:t>= 0 in Example 1 against the alternative that </a:t>
                </a:r>
                <a:r>
                  <a:rPr lang="en-GB" sz="1800" b="0" i="1" u="none" strike="noStrike" baseline="0" dirty="0">
                    <a:latin typeface="CMMI9"/>
                  </a:rPr>
                  <a:t>ρ</a:t>
                </a:r>
                <a14:m>
                  <m:oMath xmlns:m="http://schemas.openxmlformats.org/officeDocument/2006/math">
                    <m:r>
                      <a:rPr lang="en-GB" sz="1800" b="0" i="1" u="none" strike="noStrike" baseline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GB" sz="1800" b="0" i="0" u="none" strike="noStrike" baseline="0" dirty="0">
                    <a:latin typeface="CMR9"/>
                  </a:rPr>
                  <a:t>0. Use a 0.05 </a:t>
                </a:r>
                <a:r>
                  <a:rPr lang="en-US" sz="1800" b="0" i="0" u="none" strike="noStrike" baseline="0" dirty="0">
                    <a:latin typeface="CMR9"/>
                  </a:rPr>
                  <a:t>level of significance.</a:t>
                </a:r>
              </a:p>
              <a:p>
                <a:pPr algn="l"/>
                <a:endParaRPr lang="en-US" dirty="0">
                  <a:latin typeface="CMR9"/>
                </a:endParaRPr>
              </a:p>
              <a:p>
                <a:pPr algn="l"/>
                <a:r>
                  <a:rPr lang="en-US" b="1" dirty="0">
                    <a:latin typeface="CMR9"/>
                  </a:rPr>
                  <a:t>r=0.211</a:t>
                </a:r>
                <a:endParaRPr lang="x-none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10421F-9C42-B2D7-393B-3C3E9983E6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5" t="-137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02563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68D0603-6E85-16BB-7969-C084C87C4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105" y="152400"/>
            <a:ext cx="5937755" cy="1188720"/>
          </a:xfrm>
        </p:spPr>
        <p:txBody>
          <a:bodyPr/>
          <a:lstStyle/>
          <a:p>
            <a:r>
              <a:rPr lang="en-US" altLang="x-none" dirty="0"/>
              <a:t>4. Statistical significance of r…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446FF3-8E34-A22A-E7E4-F68233CC5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2638045"/>
            <a:ext cx="6172200" cy="3101983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en-GB" sz="1800" b="0" i="0" u="none" strike="noStrike" baseline="0" dirty="0">
                <a:latin typeface="CMR9"/>
              </a:rPr>
              <a:t>Example 3: A study of the amount of rainfall and the quantity of air pollution removed produced the </a:t>
            </a:r>
            <a:r>
              <a:rPr lang="en-US" sz="1800" b="0" i="0" u="none" strike="noStrike" baseline="0" dirty="0">
                <a:latin typeface="CMR9"/>
              </a:rPr>
              <a:t>data given in table. (assume a bivariate normal distribution for </a:t>
            </a:r>
            <a:r>
              <a:rPr lang="en-US" sz="1800" b="0" i="1" u="none" strike="noStrike" baseline="0" dirty="0">
                <a:latin typeface="CMTI9"/>
              </a:rPr>
              <a:t>x </a:t>
            </a:r>
            <a:r>
              <a:rPr lang="en-US" sz="1800" b="0" i="0" u="none" strike="noStrike" baseline="0" dirty="0">
                <a:latin typeface="CMR9"/>
              </a:rPr>
              <a:t>and </a:t>
            </a:r>
            <a:r>
              <a:rPr lang="en-US" sz="1800" b="0" i="1" u="none" strike="noStrike" baseline="0" dirty="0">
                <a:latin typeface="CMTI9"/>
              </a:rPr>
              <a:t>y</a:t>
            </a:r>
            <a:r>
              <a:rPr lang="en-US" sz="1800" b="0" i="0" u="none" strike="noStrike" baseline="0" dirty="0">
                <a:latin typeface="CMR9"/>
              </a:rPr>
              <a:t>)</a:t>
            </a:r>
          </a:p>
          <a:p>
            <a:pPr algn="l"/>
            <a:r>
              <a:rPr lang="en-US" sz="1800" b="0" i="0" u="none" strike="noStrike" baseline="0" dirty="0">
                <a:latin typeface="CMR9"/>
              </a:rPr>
              <a:t>Calculate </a:t>
            </a:r>
            <a:r>
              <a:rPr lang="en-US" sz="1800" b="0" i="1" u="none" strike="noStrike" baseline="0" dirty="0">
                <a:latin typeface="CMMI9"/>
              </a:rPr>
              <a:t>r</a:t>
            </a:r>
            <a:endParaRPr lang="en-US" sz="1800" b="0" i="0" u="none" strike="noStrike" baseline="0" dirty="0">
              <a:latin typeface="CMR9"/>
            </a:endParaRPr>
          </a:p>
          <a:p>
            <a:pPr algn="l"/>
            <a:r>
              <a:rPr lang="en-GB" sz="1800" b="0" i="0" u="none" strike="noStrike" baseline="0" dirty="0">
                <a:latin typeface="CMR9"/>
              </a:rPr>
              <a:t>Test the null hypothesis that </a:t>
            </a:r>
            <a:r>
              <a:rPr lang="en-GB" sz="1800" b="0" i="1" u="none" strike="noStrike" baseline="0" dirty="0">
                <a:latin typeface="CMMI9"/>
              </a:rPr>
              <a:t>ρ </a:t>
            </a:r>
            <a:r>
              <a:rPr lang="en-GB" sz="1800" b="0" i="0" u="none" strike="noStrike" baseline="0" dirty="0">
                <a:latin typeface="CMR9"/>
              </a:rPr>
              <a:t>= </a:t>
            </a:r>
            <a:r>
              <a:rPr lang="en-GB" sz="1800" b="0" i="1" u="none" strike="noStrike" baseline="0" dirty="0">
                <a:latin typeface="CMSY9"/>
              </a:rPr>
              <a:t>−</a:t>
            </a:r>
            <a:r>
              <a:rPr lang="en-GB" sz="1800" b="0" i="0" u="none" strike="noStrike" baseline="0" dirty="0">
                <a:latin typeface="CMR9"/>
              </a:rPr>
              <a:t>0</a:t>
            </a:r>
            <a:r>
              <a:rPr lang="en-GB" sz="1800" b="0" i="1" u="none" strike="noStrike" baseline="0" dirty="0">
                <a:latin typeface="CMMI9"/>
              </a:rPr>
              <a:t>.</a:t>
            </a:r>
            <a:r>
              <a:rPr lang="en-GB" sz="1800" b="0" i="0" u="none" strike="noStrike" baseline="0" dirty="0">
                <a:latin typeface="CMR9"/>
              </a:rPr>
              <a:t>5 against the alternative that </a:t>
            </a:r>
            <a:r>
              <a:rPr lang="en-GB" sz="1800" b="0" i="1" u="none" strike="noStrike" baseline="0" dirty="0">
                <a:latin typeface="CMMI9"/>
              </a:rPr>
              <a:t>ρ &lt; </a:t>
            </a:r>
            <a:r>
              <a:rPr lang="en-GB" sz="1800" b="0" i="1" u="none" strike="noStrike" baseline="0" dirty="0">
                <a:latin typeface="CMSY9"/>
              </a:rPr>
              <a:t>−</a:t>
            </a:r>
            <a:r>
              <a:rPr lang="en-GB" sz="1800" b="0" i="0" u="none" strike="noStrike" baseline="0" dirty="0">
                <a:latin typeface="CMR9"/>
              </a:rPr>
              <a:t>0</a:t>
            </a:r>
            <a:r>
              <a:rPr lang="en-GB" sz="1800" b="0" i="1" u="none" strike="noStrike" baseline="0" dirty="0">
                <a:latin typeface="CMMI9"/>
              </a:rPr>
              <a:t>.</a:t>
            </a:r>
            <a:r>
              <a:rPr lang="en-GB" sz="1800" b="0" i="0" u="none" strike="noStrike" baseline="0" dirty="0">
                <a:latin typeface="CMR9"/>
              </a:rPr>
              <a:t>5 at the 0.025 level of significance</a:t>
            </a:r>
          </a:p>
          <a:p>
            <a:pPr algn="l"/>
            <a:r>
              <a:rPr lang="en-GB" sz="1800" b="0" i="0" u="none" strike="noStrike" baseline="0" dirty="0">
                <a:latin typeface="CMR9"/>
              </a:rPr>
              <a:t>Determine the percentage of the variation in the amount of particulate removed that is due to changes in the daily amount of rainfall</a:t>
            </a:r>
          </a:p>
          <a:p>
            <a:pPr algn="l"/>
            <a:r>
              <a:rPr lang="en-GB" b="1" dirty="0">
                <a:latin typeface="CMR9"/>
              </a:rPr>
              <a:t>r=-0.979</a:t>
            </a:r>
            <a:endParaRPr lang="en-US" sz="1800" b="1" i="0" u="none" strike="noStrike" baseline="0" dirty="0">
              <a:latin typeface="CMR9"/>
            </a:endParaRPr>
          </a:p>
          <a:p>
            <a:pPr algn="l"/>
            <a:endParaRPr lang="x-non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3A05B53-A2B1-82D4-7672-D8B455BC2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117" y="3018664"/>
            <a:ext cx="2280683" cy="223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6162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5FFA70-5163-4D76-675B-C2185FFC5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28600"/>
            <a:ext cx="8534399" cy="1188720"/>
          </a:xfrm>
        </p:spPr>
        <p:txBody>
          <a:bodyPr>
            <a:normAutofit/>
          </a:bodyPr>
          <a:lstStyle/>
          <a:p>
            <a:r>
              <a:rPr lang="en-GB" dirty="0"/>
              <a:t>Confidence interval for population correlation coefficient</a:t>
            </a:r>
            <a:endParaRPr lang="x-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E3FE7F53-8DCA-E787-8D6D-F11336D896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3400" y="1524001"/>
                <a:ext cx="8153399" cy="4216028"/>
              </a:xfrm>
            </p:spPr>
            <p:txBody>
              <a:bodyPr/>
              <a:lstStyle/>
              <a:p>
                <a:r>
                  <a:rPr lang="en-GB" b="0" i="0" dirty="0">
                    <a:solidFill>
                      <a:srgbClr val="000000"/>
                    </a:solidFill>
                    <a:effectLst/>
                    <a:latin typeface="Helvetica" panose="020B0604020202020204" pitchFamily="34" charset="0"/>
                  </a:rPr>
                  <a:t>A </a:t>
                </a:r>
                <a:r>
                  <a:rPr lang="en-GB" b="1" i="0" dirty="0">
                    <a:solidFill>
                      <a:srgbClr val="000000"/>
                    </a:solidFill>
                    <a:effectLst/>
                    <a:latin typeface="Helvetica" panose="020B0604020202020204" pitchFamily="34" charset="0"/>
                  </a:rPr>
                  <a:t>confidence interval for a correlation coefficient </a:t>
                </a:r>
                <a:r>
                  <a:rPr lang="en-GB" b="0" i="0" dirty="0">
                    <a:solidFill>
                      <a:srgbClr val="000000"/>
                    </a:solidFill>
                    <a:effectLst/>
                    <a:latin typeface="Helvetica" panose="020B0604020202020204" pitchFamily="34" charset="0"/>
                  </a:rPr>
                  <a:t>is a range of values that is likely to contain a population correlation coefficient with a certain level of confidence.</a:t>
                </a:r>
              </a:p>
              <a:p>
                <a:endParaRPr lang="en-GB" dirty="0">
                  <a:solidFill>
                    <a:srgbClr val="000000"/>
                  </a:solidFill>
                  <a:latin typeface="Helvetica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e>
                        </m:rad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−3</m:t>
                            </m:r>
                          </m:e>
                        </m:rad>
                      </m:den>
                    </m:f>
                  </m:oMath>
                </a14:m>
                <a:endParaRPr lang="en-GB" dirty="0"/>
              </a:p>
              <a:p>
                <a:r>
                  <a:rPr lang="en-GB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=0.5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num>
                              <m:den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x-non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FE7F53-8DCA-E787-8D6D-F11336D896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524001"/>
                <a:ext cx="8153399" cy="4216028"/>
              </a:xfrm>
              <a:blipFill>
                <a:blip r:embed="rId2"/>
                <a:stretch>
                  <a:fillRect l="-524" t="-723" r="-97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230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CBB76E-AE4F-F83A-ABE2-640099F0F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315200" cy="1188720"/>
          </a:xfrm>
        </p:spPr>
        <p:txBody>
          <a:bodyPr/>
          <a:lstStyle/>
          <a:p>
            <a:r>
              <a:rPr lang="en-GB" dirty="0"/>
              <a:t>Correlation analysis in python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02C0DE-5FE9-06DD-63B5-BB3711FBF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47800"/>
            <a:ext cx="8610599" cy="429222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Scatter plot:</a:t>
            </a:r>
          </a:p>
          <a:p>
            <a:pPr marL="0" indent="0">
              <a:buNone/>
            </a:pPr>
            <a:r>
              <a:rPr lang="en-GB" b="0" i="0" dirty="0" err="1">
                <a:solidFill>
                  <a:srgbClr val="343663"/>
                </a:solidFill>
                <a:effectLst/>
                <a:latin typeface="SFMono-Regular"/>
              </a:rPr>
              <a:t>seaborn.</a:t>
            </a:r>
            <a:r>
              <a:rPr lang="en-GB" b="1" i="0" dirty="0" err="1">
                <a:effectLst/>
                <a:latin typeface="SFMono-Regular"/>
              </a:rPr>
              <a:t>scatterplot</a:t>
            </a:r>
            <a:r>
              <a:rPr lang="en-GB" b="0" i="0" dirty="0">
                <a:solidFill>
                  <a:srgbClr val="343663"/>
                </a:solidFill>
                <a:effectLst/>
                <a:latin typeface="SFMono-Regular"/>
              </a:rPr>
              <a:t>(</a:t>
            </a:r>
            <a:r>
              <a:rPr lang="en-GB" b="0" i="1" dirty="0">
                <a:solidFill>
                  <a:srgbClr val="343663"/>
                </a:solidFill>
                <a:effectLst/>
                <a:latin typeface="SFMono-Regular"/>
              </a:rPr>
              <a:t>data=</a:t>
            </a:r>
            <a:r>
              <a:rPr lang="en-GB" b="0" i="1" dirty="0">
                <a:solidFill>
                  <a:srgbClr val="7C8D8A"/>
                </a:solidFill>
                <a:effectLst/>
                <a:latin typeface="SFMono-Regular"/>
              </a:rPr>
              <a:t>None</a:t>
            </a:r>
            <a:r>
              <a:rPr lang="en-GB" b="0" i="0" dirty="0">
                <a:solidFill>
                  <a:srgbClr val="343663"/>
                </a:solidFill>
                <a:effectLst/>
                <a:latin typeface="SFMono-Regular"/>
              </a:rPr>
              <a:t>, </a:t>
            </a:r>
            <a:r>
              <a:rPr lang="en-GB" b="0" i="1" dirty="0">
                <a:solidFill>
                  <a:srgbClr val="343663"/>
                </a:solidFill>
                <a:effectLst/>
                <a:latin typeface="SFMono-Regular"/>
              </a:rPr>
              <a:t>*</a:t>
            </a:r>
            <a:r>
              <a:rPr lang="en-GB" b="0" i="0" dirty="0">
                <a:solidFill>
                  <a:srgbClr val="343663"/>
                </a:solidFill>
                <a:effectLst/>
                <a:latin typeface="SFMono-Regular"/>
              </a:rPr>
              <a:t>, </a:t>
            </a:r>
            <a:r>
              <a:rPr lang="en-GB" b="0" i="1" dirty="0">
                <a:solidFill>
                  <a:srgbClr val="343663"/>
                </a:solidFill>
                <a:effectLst/>
                <a:latin typeface="SFMono-Regular"/>
              </a:rPr>
              <a:t>x=</a:t>
            </a:r>
            <a:r>
              <a:rPr lang="en-GB" b="0" i="1" dirty="0">
                <a:solidFill>
                  <a:srgbClr val="7C8D8A"/>
                </a:solidFill>
                <a:effectLst/>
                <a:latin typeface="SFMono-Regular"/>
              </a:rPr>
              <a:t>None</a:t>
            </a:r>
            <a:r>
              <a:rPr lang="en-GB" b="0" i="0" dirty="0">
                <a:solidFill>
                  <a:srgbClr val="343663"/>
                </a:solidFill>
                <a:effectLst/>
                <a:latin typeface="SFMono-Regular"/>
              </a:rPr>
              <a:t>, </a:t>
            </a:r>
            <a:r>
              <a:rPr lang="en-GB" b="0" i="1" dirty="0">
                <a:solidFill>
                  <a:srgbClr val="343663"/>
                </a:solidFill>
                <a:effectLst/>
                <a:latin typeface="SFMono-Regular"/>
              </a:rPr>
              <a:t>y=</a:t>
            </a:r>
            <a:r>
              <a:rPr lang="en-GB" b="0" i="1" dirty="0">
                <a:solidFill>
                  <a:srgbClr val="7C8D8A"/>
                </a:solidFill>
                <a:effectLst/>
                <a:latin typeface="SFMono-Regular"/>
              </a:rPr>
              <a:t>None</a:t>
            </a:r>
            <a:r>
              <a:rPr lang="en-GB" b="0" i="0" dirty="0">
                <a:solidFill>
                  <a:srgbClr val="343663"/>
                </a:solidFill>
                <a:effectLst/>
                <a:latin typeface="SFMono-Regular"/>
              </a:rPr>
              <a:t>, </a:t>
            </a:r>
            <a:r>
              <a:rPr lang="en-GB" b="0" i="1" dirty="0">
                <a:solidFill>
                  <a:srgbClr val="343663"/>
                </a:solidFill>
                <a:effectLst/>
                <a:latin typeface="SFMono-Regular"/>
              </a:rPr>
              <a:t>hue=</a:t>
            </a:r>
            <a:r>
              <a:rPr lang="en-GB" b="0" i="1" dirty="0">
                <a:solidFill>
                  <a:srgbClr val="7C8D8A"/>
                </a:solidFill>
                <a:effectLst/>
                <a:latin typeface="SFMono-Regular"/>
              </a:rPr>
              <a:t>None</a:t>
            </a:r>
            <a:r>
              <a:rPr lang="en-GB" b="0" i="0" dirty="0">
                <a:solidFill>
                  <a:srgbClr val="343663"/>
                </a:solidFill>
                <a:effectLst/>
                <a:latin typeface="SFMono-Regular"/>
              </a:rPr>
              <a:t>, </a:t>
            </a:r>
            <a:r>
              <a:rPr lang="en-GB" b="0" i="1" dirty="0">
                <a:solidFill>
                  <a:srgbClr val="343663"/>
                </a:solidFill>
                <a:effectLst/>
                <a:latin typeface="SFMono-Regular"/>
              </a:rPr>
              <a:t>size=</a:t>
            </a:r>
            <a:r>
              <a:rPr lang="en-GB" b="0" i="1" dirty="0">
                <a:solidFill>
                  <a:srgbClr val="7C8D8A"/>
                </a:solidFill>
                <a:effectLst/>
                <a:latin typeface="SFMono-Regular"/>
              </a:rPr>
              <a:t>None</a:t>
            </a:r>
            <a:r>
              <a:rPr lang="en-GB" b="0" i="0" dirty="0">
                <a:solidFill>
                  <a:srgbClr val="343663"/>
                </a:solidFill>
                <a:effectLst/>
                <a:latin typeface="SFMono-Regular"/>
              </a:rPr>
              <a:t>, </a:t>
            </a:r>
            <a:r>
              <a:rPr lang="en-GB" b="0" i="1" dirty="0">
                <a:solidFill>
                  <a:srgbClr val="343663"/>
                </a:solidFill>
                <a:effectLst/>
                <a:latin typeface="SFMono-Regular"/>
              </a:rPr>
              <a:t>style=</a:t>
            </a:r>
            <a:r>
              <a:rPr lang="en-GB" b="0" i="1" dirty="0">
                <a:solidFill>
                  <a:srgbClr val="7C8D8A"/>
                </a:solidFill>
                <a:effectLst/>
                <a:latin typeface="SFMono-Regular"/>
              </a:rPr>
              <a:t>None</a:t>
            </a:r>
            <a:r>
              <a:rPr lang="en-GB" b="0" i="0" dirty="0">
                <a:solidFill>
                  <a:srgbClr val="343663"/>
                </a:solidFill>
                <a:effectLst/>
                <a:latin typeface="SFMono-Regular"/>
              </a:rPr>
              <a:t>, </a:t>
            </a:r>
            <a:r>
              <a:rPr lang="en-GB" b="0" i="1" dirty="0">
                <a:solidFill>
                  <a:srgbClr val="343663"/>
                </a:solidFill>
                <a:effectLst/>
                <a:latin typeface="SFMono-Regular"/>
              </a:rPr>
              <a:t>palette=</a:t>
            </a:r>
            <a:r>
              <a:rPr lang="en-GB" b="0" i="1" dirty="0">
                <a:solidFill>
                  <a:srgbClr val="7C8D8A"/>
                </a:solidFill>
                <a:effectLst/>
                <a:latin typeface="SFMono-Regular"/>
              </a:rPr>
              <a:t>None</a:t>
            </a:r>
            <a:r>
              <a:rPr lang="en-GB" b="0" i="0" dirty="0">
                <a:solidFill>
                  <a:srgbClr val="343663"/>
                </a:solidFill>
                <a:effectLst/>
                <a:latin typeface="SFMono-Regular"/>
              </a:rPr>
              <a:t>, </a:t>
            </a:r>
            <a:r>
              <a:rPr lang="en-GB" b="0" i="1" dirty="0" err="1">
                <a:solidFill>
                  <a:srgbClr val="343663"/>
                </a:solidFill>
                <a:effectLst/>
                <a:latin typeface="SFMono-Regular"/>
              </a:rPr>
              <a:t>hue_order</a:t>
            </a:r>
            <a:r>
              <a:rPr lang="en-GB" b="0" i="1" dirty="0">
                <a:solidFill>
                  <a:srgbClr val="343663"/>
                </a:solidFill>
                <a:effectLst/>
                <a:latin typeface="SFMono-Regular"/>
              </a:rPr>
              <a:t>=</a:t>
            </a:r>
            <a:r>
              <a:rPr lang="en-GB" b="0" i="1" dirty="0">
                <a:solidFill>
                  <a:srgbClr val="7C8D8A"/>
                </a:solidFill>
                <a:effectLst/>
                <a:latin typeface="SFMono-Regular"/>
              </a:rPr>
              <a:t>None</a:t>
            </a:r>
            <a:r>
              <a:rPr lang="en-GB" b="0" i="0" dirty="0">
                <a:solidFill>
                  <a:srgbClr val="343663"/>
                </a:solidFill>
                <a:effectLst/>
                <a:latin typeface="SFMono-Regular"/>
              </a:rPr>
              <a:t>, </a:t>
            </a:r>
            <a:r>
              <a:rPr lang="en-GB" b="0" i="1" dirty="0" err="1">
                <a:solidFill>
                  <a:srgbClr val="343663"/>
                </a:solidFill>
                <a:effectLst/>
                <a:latin typeface="SFMono-Regular"/>
              </a:rPr>
              <a:t>hue_norm</a:t>
            </a:r>
            <a:r>
              <a:rPr lang="en-GB" b="0" i="1" dirty="0">
                <a:solidFill>
                  <a:srgbClr val="343663"/>
                </a:solidFill>
                <a:effectLst/>
                <a:latin typeface="SFMono-Regular"/>
              </a:rPr>
              <a:t>=</a:t>
            </a:r>
            <a:r>
              <a:rPr lang="en-GB" b="0" i="1" dirty="0">
                <a:solidFill>
                  <a:srgbClr val="7C8D8A"/>
                </a:solidFill>
                <a:effectLst/>
                <a:latin typeface="SFMono-Regular"/>
              </a:rPr>
              <a:t>None</a:t>
            </a:r>
            <a:r>
              <a:rPr lang="en-GB" b="0" i="0" dirty="0">
                <a:solidFill>
                  <a:srgbClr val="343663"/>
                </a:solidFill>
                <a:effectLst/>
                <a:latin typeface="SFMono-Regular"/>
              </a:rPr>
              <a:t>, </a:t>
            </a:r>
            <a:r>
              <a:rPr lang="en-GB" b="0" i="1" dirty="0">
                <a:solidFill>
                  <a:srgbClr val="343663"/>
                </a:solidFill>
                <a:effectLst/>
                <a:latin typeface="SFMono-Regular"/>
              </a:rPr>
              <a:t>sizes=</a:t>
            </a:r>
            <a:r>
              <a:rPr lang="en-GB" b="0" i="1" dirty="0">
                <a:solidFill>
                  <a:srgbClr val="7C8D8A"/>
                </a:solidFill>
                <a:effectLst/>
                <a:latin typeface="SFMono-Regular"/>
              </a:rPr>
              <a:t>None</a:t>
            </a:r>
            <a:r>
              <a:rPr lang="en-GB" b="0" i="0" dirty="0">
                <a:solidFill>
                  <a:srgbClr val="343663"/>
                </a:solidFill>
                <a:effectLst/>
                <a:latin typeface="SFMono-Regular"/>
              </a:rPr>
              <a:t>, </a:t>
            </a:r>
            <a:r>
              <a:rPr lang="en-GB" b="0" i="1" dirty="0" err="1">
                <a:solidFill>
                  <a:srgbClr val="343663"/>
                </a:solidFill>
                <a:effectLst/>
                <a:latin typeface="SFMono-Regular"/>
              </a:rPr>
              <a:t>size_order</a:t>
            </a:r>
            <a:r>
              <a:rPr lang="en-GB" b="0" i="1" dirty="0">
                <a:solidFill>
                  <a:srgbClr val="343663"/>
                </a:solidFill>
                <a:effectLst/>
                <a:latin typeface="SFMono-Regular"/>
              </a:rPr>
              <a:t>=</a:t>
            </a:r>
            <a:r>
              <a:rPr lang="en-GB" b="0" i="1" dirty="0">
                <a:solidFill>
                  <a:srgbClr val="7C8D8A"/>
                </a:solidFill>
                <a:effectLst/>
                <a:latin typeface="SFMono-Regular"/>
              </a:rPr>
              <a:t>None</a:t>
            </a:r>
            <a:r>
              <a:rPr lang="en-GB" b="0" i="0" dirty="0">
                <a:solidFill>
                  <a:srgbClr val="343663"/>
                </a:solidFill>
                <a:effectLst/>
                <a:latin typeface="SFMono-Regular"/>
              </a:rPr>
              <a:t>, </a:t>
            </a:r>
            <a:r>
              <a:rPr lang="en-GB" b="0" i="1" dirty="0" err="1">
                <a:solidFill>
                  <a:srgbClr val="343663"/>
                </a:solidFill>
                <a:effectLst/>
                <a:latin typeface="SFMono-Regular"/>
              </a:rPr>
              <a:t>size_norm</a:t>
            </a:r>
            <a:r>
              <a:rPr lang="en-GB" b="0" i="1" dirty="0">
                <a:solidFill>
                  <a:srgbClr val="343663"/>
                </a:solidFill>
                <a:effectLst/>
                <a:latin typeface="SFMono-Regular"/>
              </a:rPr>
              <a:t>=</a:t>
            </a:r>
            <a:r>
              <a:rPr lang="en-GB" b="0" i="1" dirty="0">
                <a:solidFill>
                  <a:srgbClr val="7C8D8A"/>
                </a:solidFill>
                <a:effectLst/>
                <a:latin typeface="SFMono-Regular"/>
              </a:rPr>
              <a:t>None</a:t>
            </a:r>
            <a:r>
              <a:rPr lang="en-GB" b="0" i="0" dirty="0">
                <a:solidFill>
                  <a:srgbClr val="343663"/>
                </a:solidFill>
                <a:effectLst/>
                <a:latin typeface="SFMono-Regular"/>
              </a:rPr>
              <a:t>, </a:t>
            </a:r>
            <a:r>
              <a:rPr lang="en-GB" b="0" i="1" dirty="0">
                <a:solidFill>
                  <a:srgbClr val="343663"/>
                </a:solidFill>
                <a:effectLst/>
                <a:latin typeface="SFMono-Regular"/>
              </a:rPr>
              <a:t>markers=</a:t>
            </a:r>
            <a:r>
              <a:rPr lang="en-GB" b="0" i="1" dirty="0">
                <a:solidFill>
                  <a:srgbClr val="7C8D8A"/>
                </a:solidFill>
                <a:effectLst/>
                <a:latin typeface="SFMono-Regular"/>
              </a:rPr>
              <a:t>True</a:t>
            </a:r>
            <a:r>
              <a:rPr lang="en-GB" b="0" i="0" dirty="0">
                <a:solidFill>
                  <a:srgbClr val="343663"/>
                </a:solidFill>
                <a:effectLst/>
                <a:latin typeface="SFMono-Regular"/>
              </a:rPr>
              <a:t>, </a:t>
            </a:r>
            <a:r>
              <a:rPr lang="en-GB" b="0" i="1" dirty="0" err="1">
                <a:solidFill>
                  <a:srgbClr val="343663"/>
                </a:solidFill>
                <a:effectLst/>
                <a:latin typeface="SFMono-Regular"/>
              </a:rPr>
              <a:t>style_order</a:t>
            </a:r>
            <a:r>
              <a:rPr lang="en-GB" b="0" i="1" dirty="0">
                <a:solidFill>
                  <a:srgbClr val="343663"/>
                </a:solidFill>
                <a:effectLst/>
                <a:latin typeface="SFMono-Regular"/>
              </a:rPr>
              <a:t>=</a:t>
            </a:r>
            <a:r>
              <a:rPr lang="en-GB" b="0" i="1" dirty="0">
                <a:solidFill>
                  <a:srgbClr val="7C8D8A"/>
                </a:solidFill>
                <a:effectLst/>
                <a:latin typeface="SFMono-Regular"/>
              </a:rPr>
              <a:t>None</a:t>
            </a:r>
            <a:r>
              <a:rPr lang="en-GB" b="0" i="0" dirty="0">
                <a:solidFill>
                  <a:srgbClr val="343663"/>
                </a:solidFill>
                <a:effectLst/>
                <a:latin typeface="SFMono-Regular"/>
              </a:rPr>
              <a:t>, </a:t>
            </a:r>
            <a:r>
              <a:rPr lang="en-GB" b="0" i="1" dirty="0">
                <a:solidFill>
                  <a:srgbClr val="343663"/>
                </a:solidFill>
                <a:effectLst/>
                <a:latin typeface="SFMono-Regular"/>
              </a:rPr>
              <a:t>legend=</a:t>
            </a:r>
            <a:r>
              <a:rPr lang="en-GB" b="0" i="1" dirty="0">
                <a:solidFill>
                  <a:srgbClr val="7C8D8A"/>
                </a:solidFill>
                <a:effectLst/>
                <a:latin typeface="SFMono-Regular"/>
              </a:rPr>
              <a:t>'auto'</a:t>
            </a:r>
            <a:r>
              <a:rPr lang="en-GB" b="0" i="0" dirty="0">
                <a:solidFill>
                  <a:srgbClr val="343663"/>
                </a:solidFill>
                <a:effectLst/>
                <a:latin typeface="SFMono-Regular"/>
              </a:rPr>
              <a:t>, </a:t>
            </a:r>
            <a:r>
              <a:rPr lang="en-GB" b="0" i="1" dirty="0" err="1">
                <a:solidFill>
                  <a:srgbClr val="343663"/>
                </a:solidFill>
                <a:effectLst/>
                <a:latin typeface="SFMono-Regular"/>
              </a:rPr>
              <a:t>ax</a:t>
            </a:r>
            <a:r>
              <a:rPr lang="en-GB" b="0" i="1" dirty="0">
                <a:solidFill>
                  <a:srgbClr val="343663"/>
                </a:solidFill>
                <a:effectLst/>
                <a:latin typeface="SFMono-Regular"/>
              </a:rPr>
              <a:t>=</a:t>
            </a:r>
            <a:r>
              <a:rPr lang="en-GB" b="0" i="1" dirty="0">
                <a:solidFill>
                  <a:srgbClr val="7C8D8A"/>
                </a:solidFill>
                <a:effectLst/>
                <a:latin typeface="SFMono-Regular"/>
              </a:rPr>
              <a:t>None</a:t>
            </a:r>
            <a:r>
              <a:rPr lang="en-GB" b="0" i="0" dirty="0">
                <a:solidFill>
                  <a:srgbClr val="343663"/>
                </a:solidFill>
                <a:effectLst/>
                <a:latin typeface="SFMono-Regular"/>
              </a:rPr>
              <a:t>, </a:t>
            </a:r>
            <a:r>
              <a:rPr lang="en-GB" b="0" i="1" dirty="0">
                <a:solidFill>
                  <a:srgbClr val="343663"/>
                </a:solidFill>
                <a:effectLst/>
                <a:latin typeface="SFMono-Regular"/>
              </a:rPr>
              <a:t>**</a:t>
            </a:r>
            <a:r>
              <a:rPr lang="en-GB" b="0" i="1" dirty="0" err="1">
                <a:solidFill>
                  <a:srgbClr val="343663"/>
                </a:solidFill>
                <a:effectLst/>
                <a:latin typeface="SFMono-Regular"/>
              </a:rPr>
              <a:t>kwargs</a:t>
            </a:r>
            <a:r>
              <a:rPr lang="en-GB" b="0" i="0" dirty="0">
                <a:solidFill>
                  <a:srgbClr val="343663"/>
                </a:solidFill>
                <a:effectLst/>
                <a:latin typeface="SFMono-Regular"/>
              </a:rPr>
              <a:t>)</a:t>
            </a:r>
          </a:p>
          <a:p>
            <a:pPr marL="0" indent="0">
              <a:buNone/>
            </a:pPr>
            <a:r>
              <a:rPr lang="en-GB" dirty="0">
                <a:solidFill>
                  <a:srgbClr val="343663"/>
                </a:solidFill>
                <a:latin typeface="SFMono-Regular"/>
              </a:rPr>
              <a:t> Example: </a:t>
            </a:r>
          </a:p>
          <a:p>
            <a:pPr marL="0" indent="0">
              <a:buNone/>
            </a:pPr>
            <a:r>
              <a:rPr lang="en-GB" dirty="0" err="1">
                <a:solidFill>
                  <a:srgbClr val="343663"/>
                </a:solidFill>
                <a:latin typeface="SFMono-Regular"/>
              </a:rPr>
              <a:t>sp</a:t>
            </a:r>
            <a:r>
              <a:rPr lang="en-GB" dirty="0">
                <a:solidFill>
                  <a:srgbClr val="343663"/>
                </a:solidFill>
                <a:latin typeface="SFMono-Regular"/>
              </a:rPr>
              <a:t> =</a:t>
            </a:r>
            <a:r>
              <a:rPr lang="en-GB" dirty="0" err="1">
                <a:solidFill>
                  <a:srgbClr val="343663"/>
                </a:solidFill>
                <a:latin typeface="SFMono-Regular"/>
              </a:rPr>
              <a:t>seaborn.scatterplot</a:t>
            </a:r>
            <a:r>
              <a:rPr lang="en-GB" dirty="0">
                <a:solidFill>
                  <a:srgbClr val="343663"/>
                </a:solidFill>
                <a:latin typeface="SFMono-Regular"/>
              </a:rPr>
              <a:t>(x=“x-col”, y=“y-col”, data = </a:t>
            </a:r>
            <a:r>
              <a:rPr lang="en-GB" dirty="0" err="1">
                <a:solidFill>
                  <a:srgbClr val="343663"/>
                </a:solidFill>
                <a:latin typeface="SFMono-Regular"/>
              </a:rPr>
              <a:t>df</a:t>
            </a:r>
            <a:r>
              <a:rPr lang="en-GB" dirty="0">
                <a:solidFill>
                  <a:srgbClr val="343663"/>
                </a:solidFill>
                <a:latin typeface="SFMono-Regular"/>
              </a:rPr>
              <a:t>)</a:t>
            </a:r>
          </a:p>
          <a:p>
            <a:pPr marL="0" indent="0">
              <a:buNone/>
            </a:pPr>
            <a:r>
              <a:rPr lang="en-GB" dirty="0" err="1">
                <a:solidFill>
                  <a:srgbClr val="343663"/>
                </a:solidFill>
                <a:latin typeface="SFMono-Regular"/>
              </a:rPr>
              <a:t>sp.set_title</a:t>
            </a:r>
            <a:r>
              <a:rPr lang="en-GB" dirty="0">
                <a:solidFill>
                  <a:srgbClr val="343663"/>
                </a:solidFill>
                <a:latin typeface="SFMono-Regular"/>
              </a:rPr>
              <a:t>(‘Title’)</a:t>
            </a:r>
          </a:p>
          <a:p>
            <a:pPr marL="0" indent="0">
              <a:buNone/>
            </a:pPr>
            <a:r>
              <a:rPr lang="en-GB" dirty="0" err="1">
                <a:solidFill>
                  <a:srgbClr val="343663"/>
                </a:solidFill>
                <a:latin typeface="SFMono-Regular"/>
              </a:rPr>
              <a:t>seaborn.lmplot</a:t>
            </a:r>
            <a:r>
              <a:rPr lang="en-GB" dirty="0">
                <a:solidFill>
                  <a:srgbClr val="343663"/>
                </a:solidFill>
                <a:latin typeface="SFMono-Regular"/>
              </a:rPr>
              <a:t>((x=“x-col”, y=“y-col”, data = </a:t>
            </a:r>
            <a:r>
              <a:rPr lang="en-GB" dirty="0" err="1">
                <a:solidFill>
                  <a:srgbClr val="343663"/>
                </a:solidFill>
                <a:latin typeface="SFMono-Regular"/>
              </a:rPr>
              <a:t>df</a:t>
            </a:r>
            <a:r>
              <a:rPr lang="en-GB" dirty="0">
                <a:solidFill>
                  <a:srgbClr val="343663"/>
                </a:solidFill>
                <a:latin typeface="SFMono-Regular"/>
              </a:rPr>
              <a:t>)</a:t>
            </a:r>
          </a:p>
          <a:p>
            <a:pPr marL="0" indent="0">
              <a:buNone/>
            </a:pPr>
            <a:endParaRPr lang="en-GB" dirty="0">
              <a:solidFill>
                <a:srgbClr val="343663"/>
              </a:solidFill>
              <a:latin typeface="SFMono-Regular"/>
            </a:endParaRPr>
          </a:p>
          <a:p>
            <a:pPr marL="0" indent="0">
              <a:buNone/>
            </a:pPr>
            <a:endParaRPr lang="en-GB" b="0" i="0" dirty="0">
              <a:solidFill>
                <a:srgbClr val="343663"/>
              </a:solidFill>
              <a:effectLst/>
              <a:latin typeface="SFMono-Regular"/>
            </a:endParaRPr>
          </a:p>
          <a:p>
            <a:pPr marL="0" indent="0">
              <a:buNone/>
            </a:pPr>
            <a:r>
              <a:rPr lang="en-GB" dirty="0">
                <a:solidFill>
                  <a:srgbClr val="343663"/>
                </a:solidFill>
                <a:latin typeface="SFMono-Regular"/>
              </a:rPr>
              <a:t>	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092032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CBB76E-AE4F-F83A-ABE2-640099F0F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315200" cy="1188720"/>
          </a:xfrm>
        </p:spPr>
        <p:txBody>
          <a:bodyPr/>
          <a:lstStyle/>
          <a:p>
            <a:r>
              <a:rPr lang="en-GB" dirty="0"/>
              <a:t>Correlation analysis in python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02C0DE-5FE9-06DD-63B5-BB3711FBF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47800"/>
            <a:ext cx="8610599" cy="4292229"/>
          </a:xfrm>
        </p:spPr>
        <p:txBody>
          <a:bodyPr>
            <a:normAutofit/>
          </a:bodyPr>
          <a:lstStyle/>
          <a:p>
            <a:r>
              <a:rPr lang="en-GB" dirty="0"/>
              <a:t>Pearson r coefficient:</a:t>
            </a:r>
          </a:p>
          <a:p>
            <a:pPr marL="0" indent="0">
              <a:buNone/>
            </a:pPr>
            <a:r>
              <a:rPr lang="en-GB" dirty="0">
                <a:solidFill>
                  <a:srgbClr val="343663"/>
                </a:solidFill>
                <a:latin typeface="SFMono-Regular"/>
              </a:rPr>
              <a:t> </a:t>
            </a:r>
            <a:r>
              <a:rPr lang="en-GB" dirty="0" err="1">
                <a:solidFill>
                  <a:srgbClr val="343663"/>
                </a:solidFill>
                <a:latin typeface="SFMono-Regular"/>
              </a:rPr>
              <a:t>df.corr</a:t>
            </a:r>
            <a:r>
              <a:rPr lang="en-GB" dirty="0">
                <a:solidFill>
                  <a:srgbClr val="343663"/>
                </a:solidFill>
                <a:latin typeface="SFMono-Regular"/>
              </a:rPr>
              <a:t>()   // correlation coefficient matrix</a:t>
            </a:r>
          </a:p>
          <a:p>
            <a:pPr marL="0" indent="0">
              <a:buNone/>
            </a:pPr>
            <a:r>
              <a:rPr lang="en-GB" dirty="0" err="1">
                <a:solidFill>
                  <a:srgbClr val="343663"/>
                </a:solidFill>
                <a:latin typeface="SFMono-Regular"/>
              </a:rPr>
              <a:t>sns.heatmap</a:t>
            </a:r>
            <a:r>
              <a:rPr lang="en-GB" dirty="0">
                <a:solidFill>
                  <a:srgbClr val="343663"/>
                </a:solidFill>
                <a:latin typeface="SFMono-Regular"/>
              </a:rPr>
              <a:t>(</a:t>
            </a:r>
            <a:r>
              <a:rPr lang="en-GB" dirty="0" err="1">
                <a:solidFill>
                  <a:srgbClr val="343663"/>
                </a:solidFill>
                <a:latin typeface="SFMono-Regular"/>
              </a:rPr>
              <a:t>df.corr</a:t>
            </a:r>
            <a:r>
              <a:rPr lang="en-GB" dirty="0">
                <a:solidFill>
                  <a:srgbClr val="343663"/>
                </a:solidFill>
                <a:latin typeface="SFMono-Regular"/>
              </a:rPr>
              <a:t>())  // heatmap</a:t>
            </a:r>
          </a:p>
          <a:p>
            <a:pPr marL="0" indent="0">
              <a:buNone/>
            </a:pPr>
            <a:endParaRPr lang="en-GB" dirty="0">
              <a:solidFill>
                <a:srgbClr val="343663"/>
              </a:solidFill>
              <a:latin typeface="SFMono-Regular"/>
            </a:endParaRPr>
          </a:p>
          <a:p>
            <a:pPr marL="0" indent="0">
              <a:buNone/>
            </a:pPr>
            <a:r>
              <a:rPr lang="en-GB" dirty="0">
                <a:solidFill>
                  <a:srgbClr val="343663"/>
                </a:solidFill>
                <a:latin typeface="SFMono-Regular"/>
              </a:rPr>
              <a:t>from </a:t>
            </a:r>
            <a:r>
              <a:rPr lang="en-GB" dirty="0" err="1">
                <a:solidFill>
                  <a:srgbClr val="343663"/>
                </a:solidFill>
                <a:latin typeface="SFMono-Regular"/>
              </a:rPr>
              <a:t>scipy</a:t>
            </a:r>
            <a:r>
              <a:rPr lang="en-GB" dirty="0">
                <a:solidFill>
                  <a:srgbClr val="343663"/>
                </a:solidFill>
                <a:latin typeface="SFMono-Regular"/>
              </a:rPr>
              <a:t> import stats</a:t>
            </a:r>
          </a:p>
          <a:p>
            <a:pPr marL="0" indent="0">
              <a:buNone/>
            </a:pPr>
            <a:r>
              <a:rPr lang="en-GB" dirty="0" err="1">
                <a:solidFill>
                  <a:srgbClr val="343663"/>
                </a:solidFill>
                <a:latin typeface="SFMono-Regular"/>
              </a:rPr>
              <a:t>stats.pearsonr</a:t>
            </a:r>
            <a:r>
              <a:rPr lang="en-GB" dirty="0">
                <a:solidFill>
                  <a:srgbClr val="343663"/>
                </a:solidFill>
                <a:latin typeface="SFMono-Regular"/>
              </a:rPr>
              <a:t>(</a:t>
            </a:r>
            <a:r>
              <a:rPr lang="en-GB" dirty="0" err="1">
                <a:solidFill>
                  <a:srgbClr val="343663"/>
                </a:solidFill>
                <a:latin typeface="SFMono-Regular"/>
              </a:rPr>
              <a:t>df</a:t>
            </a:r>
            <a:r>
              <a:rPr lang="en-GB" dirty="0">
                <a:solidFill>
                  <a:srgbClr val="343663"/>
                </a:solidFill>
                <a:latin typeface="SFMono-Regular"/>
              </a:rPr>
              <a:t>[‘x’],</a:t>
            </a:r>
            <a:r>
              <a:rPr lang="en-GB" dirty="0" err="1">
                <a:solidFill>
                  <a:srgbClr val="343663"/>
                </a:solidFill>
                <a:latin typeface="SFMono-Regular"/>
              </a:rPr>
              <a:t>df</a:t>
            </a:r>
            <a:r>
              <a:rPr lang="en-GB" dirty="0">
                <a:solidFill>
                  <a:srgbClr val="343663"/>
                </a:solidFill>
                <a:latin typeface="SFMono-Regular"/>
              </a:rPr>
              <a:t>[‘y’])</a:t>
            </a:r>
          </a:p>
          <a:p>
            <a:pPr marL="0" indent="0">
              <a:buNone/>
            </a:pPr>
            <a:endParaRPr lang="en-GB" dirty="0">
              <a:solidFill>
                <a:srgbClr val="343663"/>
              </a:solidFill>
              <a:latin typeface="SFMono-Regular"/>
            </a:endParaRPr>
          </a:p>
          <a:p>
            <a:pPr marL="0" indent="0">
              <a:buNone/>
            </a:pPr>
            <a:endParaRPr lang="en-GB" b="0" i="0" dirty="0">
              <a:solidFill>
                <a:srgbClr val="343663"/>
              </a:solidFill>
              <a:effectLst/>
              <a:latin typeface="SFMono-Regular"/>
            </a:endParaRPr>
          </a:p>
          <a:p>
            <a:pPr marL="0" indent="0">
              <a:buNone/>
            </a:pPr>
            <a:r>
              <a:rPr lang="en-GB" dirty="0">
                <a:solidFill>
                  <a:srgbClr val="343663"/>
                </a:solidFill>
                <a:latin typeface="SFMono-Regular"/>
              </a:rPr>
              <a:t>	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94370412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4791</TotalTime>
  <Words>878</Words>
  <Application>Microsoft Office PowerPoint</Application>
  <PresentationFormat>On-screen Show (4:3)</PresentationFormat>
  <Paragraphs>122</Paragraphs>
  <Slides>25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44" baseType="lpstr">
      <vt:lpstr>Arial</vt:lpstr>
      <vt:lpstr>Calibri</vt:lpstr>
      <vt:lpstr>Cambria Math</vt:lpstr>
      <vt:lpstr>CMMI9</vt:lpstr>
      <vt:lpstr>CMR9</vt:lpstr>
      <vt:lpstr>CMSY9</vt:lpstr>
      <vt:lpstr>CMTI9</vt:lpstr>
      <vt:lpstr>Gill Sans MT</vt:lpstr>
      <vt:lpstr>Helvetica</vt:lpstr>
      <vt:lpstr>InterFace</vt:lpstr>
      <vt:lpstr>KaTeX_Main</vt:lpstr>
      <vt:lpstr>KaTeX_Math</vt:lpstr>
      <vt:lpstr>SFMono-Regular</vt:lpstr>
      <vt:lpstr>Söhne</vt:lpstr>
      <vt:lpstr>Tahoma</vt:lpstr>
      <vt:lpstr>Times New Roman</vt:lpstr>
      <vt:lpstr>Wingdings</vt:lpstr>
      <vt:lpstr>Parcel</vt:lpstr>
      <vt:lpstr>Document</vt:lpstr>
      <vt:lpstr>Correlation</vt:lpstr>
      <vt:lpstr>Outline</vt:lpstr>
      <vt:lpstr>1. Introduction to Correlation</vt:lpstr>
      <vt:lpstr>1. Introduction to Correlation … </vt:lpstr>
      <vt:lpstr>1. Introduction to Correlation …</vt:lpstr>
      <vt:lpstr>1. Introduction to Correlation …</vt:lpstr>
      <vt:lpstr>1. Introduction to Correlation …</vt:lpstr>
      <vt:lpstr>1. Introduction to Correlation …</vt:lpstr>
      <vt:lpstr>PowerPoint Presentation</vt:lpstr>
      <vt:lpstr>1. Introduction to Correlation …</vt:lpstr>
      <vt:lpstr>PowerPoint Presentation</vt:lpstr>
      <vt:lpstr>1. Introduction to Correlation …</vt:lpstr>
      <vt:lpstr>2. Pearson’s correlation coefficient</vt:lpstr>
      <vt:lpstr>2. Pearson’s correlation coefficient…</vt:lpstr>
      <vt:lpstr>2. Pearson’s correlation coefficient…</vt:lpstr>
      <vt:lpstr>2. Pearson’s correlation coefficient…</vt:lpstr>
      <vt:lpstr>3. Coefficient of Determination r2</vt:lpstr>
      <vt:lpstr>Point-Biserial Correlation</vt:lpstr>
      <vt:lpstr>4. Statistical significance of r</vt:lpstr>
      <vt:lpstr>4. Statistical significance of r</vt:lpstr>
      <vt:lpstr>4. Statistical significance of r…</vt:lpstr>
      <vt:lpstr>4. Statistical significance of r…</vt:lpstr>
      <vt:lpstr>Confidence interval for population correlation coefficient</vt:lpstr>
      <vt:lpstr>Correlation analysis in python</vt:lpstr>
      <vt:lpstr>Correlation analysis in python</vt:lpstr>
    </vt:vector>
  </TitlesOfParts>
  <Company>Portland State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Correlation</dc:title>
  <dc:creator>Valued Gateway Client</dc:creator>
  <cp:lastModifiedBy>HP</cp:lastModifiedBy>
  <cp:revision>68</cp:revision>
  <cp:lastPrinted>1601-01-01T00:00:00Z</cp:lastPrinted>
  <dcterms:created xsi:type="dcterms:W3CDTF">2002-08-21T17:30:12Z</dcterms:created>
  <dcterms:modified xsi:type="dcterms:W3CDTF">2025-06-01T13:40:49Z</dcterms:modified>
</cp:coreProperties>
</file>