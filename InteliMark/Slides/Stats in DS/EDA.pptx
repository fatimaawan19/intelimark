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9"/>
  </p:notesMasterIdLst>
  <p:sldIdLst>
    <p:sldId id="256" r:id="rId3"/>
    <p:sldId id="257" r:id="rId4"/>
    <p:sldId id="292" r:id="rId5"/>
    <p:sldId id="293" r:id="rId6"/>
    <p:sldId id="294" r:id="rId7"/>
    <p:sldId id="295" r:id="rId8"/>
    <p:sldId id="282" r:id="rId9"/>
    <p:sldId id="296" r:id="rId10"/>
    <p:sldId id="269" r:id="rId11"/>
    <p:sldId id="258" r:id="rId12"/>
    <p:sldId id="259" r:id="rId13"/>
    <p:sldId id="261" r:id="rId14"/>
    <p:sldId id="263" r:id="rId15"/>
    <p:sldId id="305" r:id="rId16"/>
    <p:sldId id="306" r:id="rId17"/>
    <p:sldId id="307" r:id="rId18"/>
    <p:sldId id="308" r:id="rId19"/>
    <p:sldId id="309" r:id="rId20"/>
    <p:sldId id="310" r:id="rId21"/>
    <p:sldId id="311" r:id="rId22"/>
    <p:sldId id="274" r:id="rId23"/>
    <p:sldId id="312" r:id="rId24"/>
    <p:sldId id="313" r:id="rId25"/>
    <p:sldId id="314" r:id="rId26"/>
    <p:sldId id="315" r:id="rId27"/>
    <p:sldId id="316" r:id="rId28"/>
    <p:sldId id="317" r:id="rId29"/>
    <p:sldId id="268" r:id="rId30"/>
    <p:sldId id="272" r:id="rId31"/>
    <p:sldId id="273" r:id="rId32"/>
    <p:sldId id="275" r:id="rId33"/>
    <p:sldId id="276" r:id="rId34"/>
    <p:sldId id="277" r:id="rId35"/>
    <p:sldId id="278" r:id="rId36"/>
    <p:sldId id="279" r:id="rId37"/>
    <p:sldId id="280" r:id="rId38"/>
    <p:sldId id="281" r:id="rId39"/>
    <p:sldId id="283" r:id="rId40"/>
    <p:sldId id="290" r:id="rId41"/>
    <p:sldId id="284" r:id="rId42"/>
    <p:sldId id="285" r:id="rId43"/>
    <p:sldId id="286" r:id="rId44"/>
    <p:sldId id="287" r:id="rId45"/>
    <p:sldId id="288" r:id="rId46"/>
    <p:sldId id="289" r:id="rId47"/>
    <p:sldId id="291" r:id="rId48"/>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B0A92F-8502-47DF-835C-19214773215D}" type="datetimeFigureOut">
              <a:rPr lang="LID4096" smtClean="0"/>
              <a:t>02/27/2025</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1376C6-3F85-4215-91E5-CAAAF8967214}" type="slidenum">
              <a:rPr lang="LID4096" smtClean="0"/>
              <a:t>‹#›</a:t>
            </a:fld>
            <a:endParaRPr lang="LID4096"/>
          </a:p>
        </p:txBody>
      </p:sp>
    </p:spTree>
    <p:extLst>
      <p:ext uri="{BB962C8B-B14F-4D97-AF65-F5344CB8AC3E}">
        <p14:creationId xmlns:p14="http://schemas.microsoft.com/office/powerpoint/2010/main" val="3561791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7A5E6-E55C-4905-98C2-14786DD1A5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9DF26E12-B392-75BC-5525-40EF676089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F0684685-0E35-12AC-75C1-097BD5B23DA5}"/>
              </a:ext>
            </a:extLst>
          </p:cNvPr>
          <p:cNvSpPr>
            <a:spLocks noGrp="1"/>
          </p:cNvSpPr>
          <p:nvPr>
            <p:ph type="dt" sz="half" idx="10"/>
          </p:nvPr>
        </p:nvSpPr>
        <p:spPr/>
        <p:txBody>
          <a:bodyPr/>
          <a:lstStyle/>
          <a:p>
            <a:fld id="{4335A993-E3A0-4E25-97A1-AA54879B05A0}" type="datetime1">
              <a:rPr lang="LID4096" smtClean="0"/>
              <a:t>02/27/2025</a:t>
            </a:fld>
            <a:endParaRPr lang="LID4096"/>
          </a:p>
        </p:txBody>
      </p:sp>
      <p:sp>
        <p:nvSpPr>
          <p:cNvPr id="5" name="Footer Placeholder 4">
            <a:extLst>
              <a:ext uri="{FF2B5EF4-FFF2-40B4-BE49-F238E27FC236}">
                <a16:creationId xmlns:a16="http://schemas.microsoft.com/office/drawing/2014/main" id="{B6A9614A-3E9E-3B69-606F-DE98F253D6F9}"/>
              </a:ext>
            </a:extLst>
          </p:cNvPr>
          <p:cNvSpPr>
            <a:spLocks noGrp="1"/>
          </p:cNvSpPr>
          <p:nvPr>
            <p:ph type="ftr" sz="quarter" idx="11"/>
          </p:nvPr>
        </p:nvSpPr>
        <p:spPr/>
        <p:txBody>
          <a:bodyPr/>
          <a:lstStyle/>
          <a:p>
            <a:r>
              <a:rPr lang="en-GB"/>
              <a:t>Department of Computer Science, COMSATS University Islamabad</a:t>
            </a:r>
            <a:endParaRPr lang="LID4096"/>
          </a:p>
        </p:txBody>
      </p:sp>
      <p:sp>
        <p:nvSpPr>
          <p:cNvPr id="6" name="Slide Number Placeholder 5">
            <a:extLst>
              <a:ext uri="{FF2B5EF4-FFF2-40B4-BE49-F238E27FC236}">
                <a16:creationId xmlns:a16="http://schemas.microsoft.com/office/drawing/2014/main" id="{B88973C6-27DC-9CD2-C9CB-9C398D2344F3}"/>
              </a:ext>
            </a:extLst>
          </p:cNvPr>
          <p:cNvSpPr>
            <a:spLocks noGrp="1"/>
          </p:cNvSpPr>
          <p:nvPr>
            <p:ph type="sldNum" sz="quarter" idx="12"/>
          </p:nvPr>
        </p:nvSpPr>
        <p:spPr/>
        <p:txBody>
          <a:bodyPr/>
          <a:lstStyle/>
          <a:p>
            <a:fld id="{0E331F28-28AB-4F95-8A9D-23C792B48924}" type="slidenum">
              <a:rPr lang="LID4096" smtClean="0"/>
              <a:t>‹#›</a:t>
            </a:fld>
            <a:endParaRPr lang="LID4096"/>
          </a:p>
        </p:txBody>
      </p:sp>
    </p:spTree>
    <p:extLst>
      <p:ext uri="{BB962C8B-B14F-4D97-AF65-F5344CB8AC3E}">
        <p14:creationId xmlns:p14="http://schemas.microsoft.com/office/powerpoint/2010/main" val="1410313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BE6B-3FE6-CA78-5CEB-061056AF4470}"/>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B1EC19C1-45F7-9A47-FB67-39659307F8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E6BF6B3A-A5F1-D861-B678-C4187E9A5AF4}"/>
              </a:ext>
            </a:extLst>
          </p:cNvPr>
          <p:cNvSpPr>
            <a:spLocks noGrp="1"/>
          </p:cNvSpPr>
          <p:nvPr>
            <p:ph type="dt" sz="half" idx="10"/>
          </p:nvPr>
        </p:nvSpPr>
        <p:spPr/>
        <p:txBody>
          <a:bodyPr/>
          <a:lstStyle/>
          <a:p>
            <a:fld id="{A7211EF5-1774-4D5F-BFEA-2CB4B9443055}" type="datetime1">
              <a:rPr lang="LID4096" smtClean="0"/>
              <a:t>02/27/2025</a:t>
            </a:fld>
            <a:endParaRPr lang="LID4096"/>
          </a:p>
        </p:txBody>
      </p:sp>
      <p:sp>
        <p:nvSpPr>
          <p:cNvPr id="5" name="Footer Placeholder 4">
            <a:extLst>
              <a:ext uri="{FF2B5EF4-FFF2-40B4-BE49-F238E27FC236}">
                <a16:creationId xmlns:a16="http://schemas.microsoft.com/office/drawing/2014/main" id="{54BBEA7F-6AFB-0288-66D4-682D78A86AAB}"/>
              </a:ext>
            </a:extLst>
          </p:cNvPr>
          <p:cNvSpPr>
            <a:spLocks noGrp="1"/>
          </p:cNvSpPr>
          <p:nvPr>
            <p:ph type="ftr" sz="quarter" idx="11"/>
          </p:nvPr>
        </p:nvSpPr>
        <p:spPr/>
        <p:txBody>
          <a:bodyPr/>
          <a:lstStyle/>
          <a:p>
            <a:r>
              <a:rPr lang="en-GB"/>
              <a:t>Department of Computer Science, COMSATS University Islamabad</a:t>
            </a:r>
            <a:endParaRPr lang="LID4096"/>
          </a:p>
        </p:txBody>
      </p:sp>
      <p:sp>
        <p:nvSpPr>
          <p:cNvPr id="6" name="Slide Number Placeholder 5">
            <a:extLst>
              <a:ext uri="{FF2B5EF4-FFF2-40B4-BE49-F238E27FC236}">
                <a16:creationId xmlns:a16="http://schemas.microsoft.com/office/drawing/2014/main" id="{AF9FF13D-098F-F4E6-AA4D-187FBCD91564}"/>
              </a:ext>
            </a:extLst>
          </p:cNvPr>
          <p:cNvSpPr>
            <a:spLocks noGrp="1"/>
          </p:cNvSpPr>
          <p:nvPr>
            <p:ph type="sldNum" sz="quarter" idx="12"/>
          </p:nvPr>
        </p:nvSpPr>
        <p:spPr/>
        <p:txBody>
          <a:bodyPr/>
          <a:lstStyle/>
          <a:p>
            <a:fld id="{0E331F28-28AB-4F95-8A9D-23C792B48924}" type="slidenum">
              <a:rPr lang="LID4096" smtClean="0"/>
              <a:t>‹#›</a:t>
            </a:fld>
            <a:endParaRPr lang="LID4096"/>
          </a:p>
        </p:txBody>
      </p:sp>
    </p:spTree>
    <p:extLst>
      <p:ext uri="{BB962C8B-B14F-4D97-AF65-F5344CB8AC3E}">
        <p14:creationId xmlns:p14="http://schemas.microsoft.com/office/powerpoint/2010/main" val="3843526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0096D-CD01-0C7F-539B-DB0F781A9C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A514D1FA-B0C8-F24F-595B-13DF693FBD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3AE05E-84B6-546C-CA6D-4106FC1D1C0D}"/>
              </a:ext>
            </a:extLst>
          </p:cNvPr>
          <p:cNvSpPr>
            <a:spLocks noGrp="1"/>
          </p:cNvSpPr>
          <p:nvPr>
            <p:ph type="dt" sz="half" idx="10"/>
          </p:nvPr>
        </p:nvSpPr>
        <p:spPr/>
        <p:txBody>
          <a:bodyPr/>
          <a:lstStyle/>
          <a:p>
            <a:fld id="{BCD834A7-2C18-4E58-A871-830D22037FA4}" type="datetime1">
              <a:rPr lang="LID4096" smtClean="0"/>
              <a:t>02/27/2025</a:t>
            </a:fld>
            <a:endParaRPr lang="LID4096"/>
          </a:p>
        </p:txBody>
      </p:sp>
      <p:sp>
        <p:nvSpPr>
          <p:cNvPr id="5" name="Footer Placeholder 4">
            <a:extLst>
              <a:ext uri="{FF2B5EF4-FFF2-40B4-BE49-F238E27FC236}">
                <a16:creationId xmlns:a16="http://schemas.microsoft.com/office/drawing/2014/main" id="{657AEE8A-4083-A7CF-7DD0-1DC84107A335}"/>
              </a:ext>
            </a:extLst>
          </p:cNvPr>
          <p:cNvSpPr>
            <a:spLocks noGrp="1"/>
          </p:cNvSpPr>
          <p:nvPr>
            <p:ph type="ftr" sz="quarter" idx="11"/>
          </p:nvPr>
        </p:nvSpPr>
        <p:spPr/>
        <p:txBody>
          <a:bodyPr/>
          <a:lstStyle/>
          <a:p>
            <a:r>
              <a:rPr lang="en-GB"/>
              <a:t>Department of Computer Science, COMSATS University Islamabad</a:t>
            </a:r>
            <a:endParaRPr lang="LID4096"/>
          </a:p>
        </p:txBody>
      </p:sp>
      <p:sp>
        <p:nvSpPr>
          <p:cNvPr id="6" name="Slide Number Placeholder 5">
            <a:extLst>
              <a:ext uri="{FF2B5EF4-FFF2-40B4-BE49-F238E27FC236}">
                <a16:creationId xmlns:a16="http://schemas.microsoft.com/office/drawing/2014/main" id="{83DA2D22-2F4E-B05A-09BD-0A8D0CD516D1}"/>
              </a:ext>
            </a:extLst>
          </p:cNvPr>
          <p:cNvSpPr>
            <a:spLocks noGrp="1"/>
          </p:cNvSpPr>
          <p:nvPr>
            <p:ph type="sldNum" sz="quarter" idx="12"/>
          </p:nvPr>
        </p:nvSpPr>
        <p:spPr/>
        <p:txBody>
          <a:bodyPr/>
          <a:lstStyle/>
          <a:p>
            <a:fld id="{0E331F28-28AB-4F95-8A9D-23C792B48924}" type="slidenum">
              <a:rPr lang="LID4096" smtClean="0"/>
              <a:t>‹#›</a:t>
            </a:fld>
            <a:endParaRPr lang="LID4096"/>
          </a:p>
        </p:txBody>
      </p:sp>
    </p:spTree>
    <p:extLst>
      <p:ext uri="{BB962C8B-B14F-4D97-AF65-F5344CB8AC3E}">
        <p14:creationId xmlns:p14="http://schemas.microsoft.com/office/powerpoint/2010/main" val="2011576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312E7-8420-EE5A-FC79-B98E83593F0B}"/>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44C09CD0-FC86-4E49-8F7F-A3180B85A1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04E1A649-9B85-C85E-3EA8-A7B974DC1E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1E6CCC5A-86F3-0069-09BE-E2DE25ED9125}"/>
              </a:ext>
            </a:extLst>
          </p:cNvPr>
          <p:cNvSpPr>
            <a:spLocks noGrp="1"/>
          </p:cNvSpPr>
          <p:nvPr>
            <p:ph type="dt" sz="half" idx="10"/>
          </p:nvPr>
        </p:nvSpPr>
        <p:spPr/>
        <p:txBody>
          <a:bodyPr/>
          <a:lstStyle/>
          <a:p>
            <a:fld id="{14FE6DC4-F534-4727-8D28-00C1F0C09431}" type="datetime1">
              <a:rPr lang="LID4096" smtClean="0"/>
              <a:t>02/27/2025</a:t>
            </a:fld>
            <a:endParaRPr lang="LID4096"/>
          </a:p>
        </p:txBody>
      </p:sp>
      <p:sp>
        <p:nvSpPr>
          <p:cNvPr id="6" name="Footer Placeholder 5">
            <a:extLst>
              <a:ext uri="{FF2B5EF4-FFF2-40B4-BE49-F238E27FC236}">
                <a16:creationId xmlns:a16="http://schemas.microsoft.com/office/drawing/2014/main" id="{99AAD711-ED80-F0DC-C704-7A71103630C1}"/>
              </a:ext>
            </a:extLst>
          </p:cNvPr>
          <p:cNvSpPr>
            <a:spLocks noGrp="1"/>
          </p:cNvSpPr>
          <p:nvPr>
            <p:ph type="ftr" sz="quarter" idx="11"/>
          </p:nvPr>
        </p:nvSpPr>
        <p:spPr/>
        <p:txBody>
          <a:bodyPr/>
          <a:lstStyle/>
          <a:p>
            <a:r>
              <a:rPr lang="en-GB"/>
              <a:t>Department of Computer Science, COMSATS University Islamabad</a:t>
            </a:r>
            <a:endParaRPr lang="LID4096"/>
          </a:p>
        </p:txBody>
      </p:sp>
      <p:sp>
        <p:nvSpPr>
          <p:cNvPr id="7" name="Slide Number Placeholder 6">
            <a:extLst>
              <a:ext uri="{FF2B5EF4-FFF2-40B4-BE49-F238E27FC236}">
                <a16:creationId xmlns:a16="http://schemas.microsoft.com/office/drawing/2014/main" id="{E8BC18D2-83DD-12C6-A626-516C45FC2C56}"/>
              </a:ext>
            </a:extLst>
          </p:cNvPr>
          <p:cNvSpPr>
            <a:spLocks noGrp="1"/>
          </p:cNvSpPr>
          <p:nvPr>
            <p:ph type="sldNum" sz="quarter" idx="12"/>
          </p:nvPr>
        </p:nvSpPr>
        <p:spPr/>
        <p:txBody>
          <a:bodyPr/>
          <a:lstStyle/>
          <a:p>
            <a:fld id="{0E331F28-28AB-4F95-8A9D-23C792B48924}" type="slidenum">
              <a:rPr lang="LID4096" smtClean="0"/>
              <a:t>‹#›</a:t>
            </a:fld>
            <a:endParaRPr lang="LID4096"/>
          </a:p>
        </p:txBody>
      </p:sp>
    </p:spTree>
    <p:extLst>
      <p:ext uri="{BB962C8B-B14F-4D97-AF65-F5344CB8AC3E}">
        <p14:creationId xmlns:p14="http://schemas.microsoft.com/office/powerpoint/2010/main" val="1060060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2B7DE-76A2-0E0E-429C-F6BC2906A860}"/>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7F27A902-597E-0EAF-777D-A13035ECC3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491A35-2A14-B0C3-B7D8-E5741DB546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16FFFFFF-1CE3-95C7-5486-B672447374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B045EB-5099-A88E-6983-084083EC78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7F92207E-9E6F-BB3E-D3FE-CA7965A9BF30}"/>
              </a:ext>
            </a:extLst>
          </p:cNvPr>
          <p:cNvSpPr>
            <a:spLocks noGrp="1"/>
          </p:cNvSpPr>
          <p:nvPr>
            <p:ph type="dt" sz="half" idx="10"/>
          </p:nvPr>
        </p:nvSpPr>
        <p:spPr/>
        <p:txBody>
          <a:bodyPr/>
          <a:lstStyle/>
          <a:p>
            <a:fld id="{6A69AAE6-0CEF-4749-A8B2-599314361BF1}" type="datetime1">
              <a:rPr lang="LID4096" smtClean="0"/>
              <a:t>02/27/2025</a:t>
            </a:fld>
            <a:endParaRPr lang="LID4096"/>
          </a:p>
        </p:txBody>
      </p:sp>
      <p:sp>
        <p:nvSpPr>
          <p:cNvPr id="8" name="Footer Placeholder 7">
            <a:extLst>
              <a:ext uri="{FF2B5EF4-FFF2-40B4-BE49-F238E27FC236}">
                <a16:creationId xmlns:a16="http://schemas.microsoft.com/office/drawing/2014/main" id="{0B3B5D36-D034-6439-A093-4C66CE31BD98}"/>
              </a:ext>
            </a:extLst>
          </p:cNvPr>
          <p:cNvSpPr>
            <a:spLocks noGrp="1"/>
          </p:cNvSpPr>
          <p:nvPr>
            <p:ph type="ftr" sz="quarter" idx="11"/>
          </p:nvPr>
        </p:nvSpPr>
        <p:spPr/>
        <p:txBody>
          <a:bodyPr/>
          <a:lstStyle/>
          <a:p>
            <a:r>
              <a:rPr lang="en-GB"/>
              <a:t>Department of Computer Science, COMSATS University Islamabad</a:t>
            </a:r>
            <a:endParaRPr lang="LID4096"/>
          </a:p>
        </p:txBody>
      </p:sp>
      <p:sp>
        <p:nvSpPr>
          <p:cNvPr id="9" name="Slide Number Placeholder 8">
            <a:extLst>
              <a:ext uri="{FF2B5EF4-FFF2-40B4-BE49-F238E27FC236}">
                <a16:creationId xmlns:a16="http://schemas.microsoft.com/office/drawing/2014/main" id="{7B1BB00D-D361-9F71-F7B2-354F0ABC10B7}"/>
              </a:ext>
            </a:extLst>
          </p:cNvPr>
          <p:cNvSpPr>
            <a:spLocks noGrp="1"/>
          </p:cNvSpPr>
          <p:nvPr>
            <p:ph type="sldNum" sz="quarter" idx="12"/>
          </p:nvPr>
        </p:nvSpPr>
        <p:spPr/>
        <p:txBody>
          <a:bodyPr/>
          <a:lstStyle/>
          <a:p>
            <a:fld id="{0E331F28-28AB-4F95-8A9D-23C792B48924}" type="slidenum">
              <a:rPr lang="LID4096" smtClean="0"/>
              <a:t>‹#›</a:t>
            </a:fld>
            <a:endParaRPr lang="LID4096"/>
          </a:p>
        </p:txBody>
      </p:sp>
    </p:spTree>
    <p:extLst>
      <p:ext uri="{BB962C8B-B14F-4D97-AF65-F5344CB8AC3E}">
        <p14:creationId xmlns:p14="http://schemas.microsoft.com/office/powerpoint/2010/main" val="70233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018FF-EC39-A529-4C5A-136D3E6BBC4F}"/>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E4AD1951-E6E5-8800-599B-E131A6426D4A}"/>
              </a:ext>
            </a:extLst>
          </p:cNvPr>
          <p:cNvSpPr>
            <a:spLocks noGrp="1"/>
          </p:cNvSpPr>
          <p:nvPr>
            <p:ph type="dt" sz="half" idx="10"/>
          </p:nvPr>
        </p:nvSpPr>
        <p:spPr/>
        <p:txBody>
          <a:bodyPr/>
          <a:lstStyle/>
          <a:p>
            <a:fld id="{CAA3A9EA-0EF2-472C-A1F0-CD4B9D0ACB2C}" type="datetime1">
              <a:rPr lang="LID4096" smtClean="0"/>
              <a:t>02/27/2025</a:t>
            </a:fld>
            <a:endParaRPr lang="LID4096"/>
          </a:p>
        </p:txBody>
      </p:sp>
      <p:sp>
        <p:nvSpPr>
          <p:cNvPr id="4" name="Footer Placeholder 3">
            <a:extLst>
              <a:ext uri="{FF2B5EF4-FFF2-40B4-BE49-F238E27FC236}">
                <a16:creationId xmlns:a16="http://schemas.microsoft.com/office/drawing/2014/main" id="{9C12690C-F6EC-34A5-0E5D-FDE2A9E52AF9}"/>
              </a:ext>
            </a:extLst>
          </p:cNvPr>
          <p:cNvSpPr>
            <a:spLocks noGrp="1"/>
          </p:cNvSpPr>
          <p:nvPr>
            <p:ph type="ftr" sz="quarter" idx="11"/>
          </p:nvPr>
        </p:nvSpPr>
        <p:spPr/>
        <p:txBody>
          <a:bodyPr/>
          <a:lstStyle/>
          <a:p>
            <a:r>
              <a:rPr lang="en-GB"/>
              <a:t>Department of Computer Science, COMSATS University Islamabad</a:t>
            </a:r>
            <a:endParaRPr lang="LID4096"/>
          </a:p>
        </p:txBody>
      </p:sp>
      <p:sp>
        <p:nvSpPr>
          <p:cNvPr id="5" name="Slide Number Placeholder 4">
            <a:extLst>
              <a:ext uri="{FF2B5EF4-FFF2-40B4-BE49-F238E27FC236}">
                <a16:creationId xmlns:a16="http://schemas.microsoft.com/office/drawing/2014/main" id="{DBFA6F25-E943-69B9-F9BE-BDAF9686616C}"/>
              </a:ext>
            </a:extLst>
          </p:cNvPr>
          <p:cNvSpPr>
            <a:spLocks noGrp="1"/>
          </p:cNvSpPr>
          <p:nvPr>
            <p:ph type="sldNum" sz="quarter" idx="12"/>
          </p:nvPr>
        </p:nvSpPr>
        <p:spPr/>
        <p:txBody>
          <a:bodyPr/>
          <a:lstStyle/>
          <a:p>
            <a:fld id="{0E331F28-28AB-4F95-8A9D-23C792B48924}" type="slidenum">
              <a:rPr lang="LID4096" smtClean="0"/>
              <a:t>‹#›</a:t>
            </a:fld>
            <a:endParaRPr lang="LID4096"/>
          </a:p>
        </p:txBody>
      </p:sp>
    </p:spTree>
    <p:extLst>
      <p:ext uri="{BB962C8B-B14F-4D97-AF65-F5344CB8AC3E}">
        <p14:creationId xmlns:p14="http://schemas.microsoft.com/office/powerpoint/2010/main" val="3606739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0648FC-3C66-F114-3A03-118660CE2D05}"/>
              </a:ext>
            </a:extLst>
          </p:cNvPr>
          <p:cNvSpPr>
            <a:spLocks noGrp="1"/>
          </p:cNvSpPr>
          <p:nvPr>
            <p:ph type="dt" sz="half" idx="10"/>
          </p:nvPr>
        </p:nvSpPr>
        <p:spPr/>
        <p:txBody>
          <a:bodyPr/>
          <a:lstStyle/>
          <a:p>
            <a:fld id="{6AA3ECE9-E6E8-44C5-A657-613DCB72985D}" type="datetime1">
              <a:rPr lang="LID4096" smtClean="0"/>
              <a:t>02/27/2025</a:t>
            </a:fld>
            <a:endParaRPr lang="LID4096"/>
          </a:p>
        </p:txBody>
      </p:sp>
      <p:sp>
        <p:nvSpPr>
          <p:cNvPr id="3" name="Footer Placeholder 2">
            <a:extLst>
              <a:ext uri="{FF2B5EF4-FFF2-40B4-BE49-F238E27FC236}">
                <a16:creationId xmlns:a16="http://schemas.microsoft.com/office/drawing/2014/main" id="{EFB43B26-0CD1-A89D-35F7-79E455649789}"/>
              </a:ext>
            </a:extLst>
          </p:cNvPr>
          <p:cNvSpPr>
            <a:spLocks noGrp="1"/>
          </p:cNvSpPr>
          <p:nvPr>
            <p:ph type="ftr" sz="quarter" idx="11"/>
          </p:nvPr>
        </p:nvSpPr>
        <p:spPr/>
        <p:txBody>
          <a:bodyPr/>
          <a:lstStyle/>
          <a:p>
            <a:r>
              <a:rPr lang="en-GB"/>
              <a:t>Department of Computer Science, COMSATS University Islamabad</a:t>
            </a:r>
            <a:endParaRPr lang="LID4096"/>
          </a:p>
        </p:txBody>
      </p:sp>
      <p:sp>
        <p:nvSpPr>
          <p:cNvPr id="4" name="Slide Number Placeholder 3">
            <a:extLst>
              <a:ext uri="{FF2B5EF4-FFF2-40B4-BE49-F238E27FC236}">
                <a16:creationId xmlns:a16="http://schemas.microsoft.com/office/drawing/2014/main" id="{EDEA0FD5-9F48-E964-A1C4-C23E7137A498}"/>
              </a:ext>
            </a:extLst>
          </p:cNvPr>
          <p:cNvSpPr>
            <a:spLocks noGrp="1"/>
          </p:cNvSpPr>
          <p:nvPr>
            <p:ph type="sldNum" sz="quarter" idx="12"/>
          </p:nvPr>
        </p:nvSpPr>
        <p:spPr/>
        <p:txBody>
          <a:bodyPr/>
          <a:lstStyle/>
          <a:p>
            <a:fld id="{0E331F28-28AB-4F95-8A9D-23C792B48924}" type="slidenum">
              <a:rPr lang="LID4096" smtClean="0"/>
              <a:t>‹#›</a:t>
            </a:fld>
            <a:endParaRPr lang="LID4096"/>
          </a:p>
        </p:txBody>
      </p:sp>
    </p:spTree>
    <p:extLst>
      <p:ext uri="{BB962C8B-B14F-4D97-AF65-F5344CB8AC3E}">
        <p14:creationId xmlns:p14="http://schemas.microsoft.com/office/powerpoint/2010/main" val="920865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8CD48-B8D8-45D5-6CFD-C8CD339556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5611F043-D29F-E1B9-F606-0281387DAA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36B8D80E-2708-24A1-0F76-D604C57A3E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B4131-BFEC-3C04-4454-24AEF2B4053D}"/>
              </a:ext>
            </a:extLst>
          </p:cNvPr>
          <p:cNvSpPr>
            <a:spLocks noGrp="1"/>
          </p:cNvSpPr>
          <p:nvPr>
            <p:ph type="dt" sz="half" idx="10"/>
          </p:nvPr>
        </p:nvSpPr>
        <p:spPr/>
        <p:txBody>
          <a:bodyPr/>
          <a:lstStyle/>
          <a:p>
            <a:fld id="{F431F9E2-94EC-44E0-AE8D-E43CDC42BD90}" type="datetime1">
              <a:rPr lang="LID4096" smtClean="0"/>
              <a:t>02/27/2025</a:t>
            </a:fld>
            <a:endParaRPr lang="LID4096"/>
          </a:p>
        </p:txBody>
      </p:sp>
      <p:sp>
        <p:nvSpPr>
          <p:cNvPr id="6" name="Footer Placeholder 5">
            <a:extLst>
              <a:ext uri="{FF2B5EF4-FFF2-40B4-BE49-F238E27FC236}">
                <a16:creationId xmlns:a16="http://schemas.microsoft.com/office/drawing/2014/main" id="{4875F821-81C8-0F69-208E-15A3F7ADF473}"/>
              </a:ext>
            </a:extLst>
          </p:cNvPr>
          <p:cNvSpPr>
            <a:spLocks noGrp="1"/>
          </p:cNvSpPr>
          <p:nvPr>
            <p:ph type="ftr" sz="quarter" idx="11"/>
          </p:nvPr>
        </p:nvSpPr>
        <p:spPr/>
        <p:txBody>
          <a:bodyPr/>
          <a:lstStyle/>
          <a:p>
            <a:r>
              <a:rPr lang="en-GB"/>
              <a:t>Department of Computer Science, COMSATS University Islamabad</a:t>
            </a:r>
            <a:endParaRPr lang="LID4096"/>
          </a:p>
        </p:txBody>
      </p:sp>
      <p:sp>
        <p:nvSpPr>
          <p:cNvPr id="7" name="Slide Number Placeholder 6">
            <a:extLst>
              <a:ext uri="{FF2B5EF4-FFF2-40B4-BE49-F238E27FC236}">
                <a16:creationId xmlns:a16="http://schemas.microsoft.com/office/drawing/2014/main" id="{6B7F5A9B-91EB-D0A6-8BFE-FAFCA51F2BB5}"/>
              </a:ext>
            </a:extLst>
          </p:cNvPr>
          <p:cNvSpPr>
            <a:spLocks noGrp="1"/>
          </p:cNvSpPr>
          <p:nvPr>
            <p:ph type="sldNum" sz="quarter" idx="12"/>
          </p:nvPr>
        </p:nvSpPr>
        <p:spPr/>
        <p:txBody>
          <a:bodyPr/>
          <a:lstStyle/>
          <a:p>
            <a:fld id="{0E331F28-28AB-4F95-8A9D-23C792B48924}" type="slidenum">
              <a:rPr lang="LID4096" smtClean="0"/>
              <a:t>‹#›</a:t>
            </a:fld>
            <a:endParaRPr lang="LID4096"/>
          </a:p>
        </p:txBody>
      </p:sp>
    </p:spTree>
    <p:extLst>
      <p:ext uri="{BB962C8B-B14F-4D97-AF65-F5344CB8AC3E}">
        <p14:creationId xmlns:p14="http://schemas.microsoft.com/office/powerpoint/2010/main" val="1112748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C6E0D-8BF9-2621-795B-DEA644F49D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37082984-E0F0-F45A-946A-32FD33D354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5D856F7A-8AA9-ADB9-33FE-BDA71435A6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6FBFBD-EAB4-7C10-94F9-4C44F64BA6BF}"/>
              </a:ext>
            </a:extLst>
          </p:cNvPr>
          <p:cNvSpPr>
            <a:spLocks noGrp="1"/>
          </p:cNvSpPr>
          <p:nvPr>
            <p:ph type="dt" sz="half" idx="10"/>
          </p:nvPr>
        </p:nvSpPr>
        <p:spPr/>
        <p:txBody>
          <a:bodyPr/>
          <a:lstStyle/>
          <a:p>
            <a:fld id="{36DB88D3-FDF5-498D-BC5E-E14A094C6DFF}" type="datetime1">
              <a:rPr lang="LID4096" smtClean="0"/>
              <a:t>02/27/2025</a:t>
            </a:fld>
            <a:endParaRPr lang="LID4096"/>
          </a:p>
        </p:txBody>
      </p:sp>
      <p:sp>
        <p:nvSpPr>
          <p:cNvPr id="6" name="Footer Placeholder 5">
            <a:extLst>
              <a:ext uri="{FF2B5EF4-FFF2-40B4-BE49-F238E27FC236}">
                <a16:creationId xmlns:a16="http://schemas.microsoft.com/office/drawing/2014/main" id="{42113394-92D5-F1D2-6561-5521F9E82B4B}"/>
              </a:ext>
            </a:extLst>
          </p:cNvPr>
          <p:cNvSpPr>
            <a:spLocks noGrp="1"/>
          </p:cNvSpPr>
          <p:nvPr>
            <p:ph type="ftr" sz="quarter" idx="11"/>
          </p:nvPr>
        </p:nvSpPr>
        <p:spPr/>
        <p:txBody>
          <a:bodyPr/>
          <a:lstStyle/>
          <a:p>
            <a:r>
              <a:rPr lang="en-GB"/>
              <a:t>Department of Computer Science, COMSATS University Islamabad</a:t>
            </a:r>
            <a:endParaRPr lang="LID4096"/>
          </a:p>
        </p:txBody>
      </p:sp>
      <p:sp>
        <p:nvSpPr>
          <p:cNvPr id="7" name="Slide Number Placeholder 6">
            <a:extLst>
              <a:ext uri="{FF2B5EF4-FFF2-40B4-BE49-F238E27FC236}">
                <a16:creationId xmlns:a16="http://schemas.microsoft.com/office/drawing/2014/main" id="{56D7D344-80AA-0A6A-90E9-58DC857462B7}"/>
              </a:ext>
            </a:extLst>
          </p:cNvPr>
          <p:cNvSpPr>
            <a:spLocks noGrp="1"/>
          </p:cNvSpPr>
          <p:nvPr>
            <p:ph type="sldNum" sz="quarter" idx="12"/>
          </p:nvPr>
        </p:nvSpPr>
        <p:spPr/>
        <p:txBody>
          <a:bodyPr/>
          <a:lstStyle/>
          <a:p>
            <a:fld id="{0E331F28-28AB-4F95-8A9D-23C792B48924}" type="slidenum">
              <a:rPr lang="LID4096" smtClean="0"/>
              <a:t>‹#›</a:t>
            </a:fld>
            <a:endParaRPr lang="LID4096"/>
          </a:p>
        </p:txBody>
      </p:sp>
    </p:spTree>
    <p:extLst>
      <p:ext uri="{BB962C8B-B14F-4D97-AF65-F5344CB8AC3E}">
        <p14:creationId xmlns:p14="http://schemas.microsoft.com/office/powerpoint/2010/main" val="3621087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2D14E-5E90-E234-32FF-9A4297A28512}"/>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D0026537-3129-418F-A6D6-DE83B3F0FD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F24A74AE-AD3A-D7B4-ACB3-7C82C273E4AF}"/>
              </a:ext>
            </a:extLst>
          </p:cNvPr>
          <p:cNvSpPr>
            <a:spLocks noGrp="1"/>
          </p:cNvSpPr>
          <p:nvPr>
            <p:ph type="dt" sz="half" idx="10"/>
          </p:nvPr>
        </p:nvSpPr>
        <p:spPr/>
        <p:txBody>
          <a:bodyPr/>
          <a:lstStyle/>
          <a:p>
            <a:fld id="{1D70332A-36E5-4F4F-A66E-A7EFDF20B642}" type="datetime1">
              <a:rPr lang="LID4096" smtClean="0"/>
              <a:t>02/27/2025</a:t>
            </a:fld>
            <a:endParaRPr lang="LID4096"/>
          </a:p>
        </p:txBody>
      </p:sp>
      <p:sp>
        <p:nvSpPr>
          <p:cNvPr id="5" name="Footer Placeholder 4">
            <a:extLst>
              <a:ext uri="{FF2B5EF4-FFF2-40B4-BE49-F238E27FC236}">
                <a16:creationId xmlns:a16="http://schemas.microsoft.com/office/drawing/2014/main" id="{A9DFD133-2226-A004-D36D-971B42D51EE8}"/>
              </a:ext>
            </a:extLst>
          </p:cNvPr>
          <p:cNvSpPr>
            <a:spLocks noGrp="1"/>
          </p:cNvSpPr>
          <p:nvPr>
            <p:ph type="ftr" sz="quarter" idx="11"/>
          </p:nvPr>
        </p:nvSpPr>
        <p:spPr/>
        <p:txBody>
          <a:bodyPr/>
          <a:lstStyle/>
          <a:p>
            <a:r>
              <a:rPr lang="en-GB"/>
              <a:t>Department of Computer Science, COMSATS University Islamabad</a:t>
            </a:r>
            <a:endParaRPr lang="LID4096"/>
          </a:p>
        </p:txBody>
      </p:sp>
      <p:sp>
        <p:nvSpPr>
          <p:cNvPr id="6" name="Slide Number Placeholder 5">
            <a:extLst>
              <a:ext uri="{FF2B5EF4-FFF2-40B4-BE49-F238E27FC236}">
                <a16:creationId xmlns:a16="http://schemas.microsoft.com/office/drawing/2014/main" id="{32562EC0-D1C7-5A40-558F-C46E60469C14}"/>
              </a:ext>
            </a:extLst>
          </p:cNvPr>
          <p:cNvSpPr>
            <a:spLocks noGrp="1"/>
          </p:cNvSpPr>
          <p:nvPr>
            <p:ph type="sldNum" sz="quarter" idx="12"/>
          </p:nvPr>
        </p:nvSpPr>
        <p:spPr/>
        <p:txBody>
          <a:bodyPr/>
          <a:lstStyle/>
          <a:p>
            <a:fld id="{0E331F28-28AB-4F95-8A9D-23C792B48924}" type="slidenum">
              <a:rPr lang="LID4096" smtClean="0"/>
              <a:t>‹#›</a:t>
            </a:fld>
            <a:endParaRPr lang="LID4096"/>
          </a:p>
        </p:txBody>
      </p:sp>
    </p:spTree>
    <p:extLst>
      <p:ext uri="{BB962C8B-B14F-4D97-AF65-F5344CB8AC3E}">
        <p14:creationId xmlns:p14="http://schemas.microsoft.com/office/powerpoint/2010/main" val="26094003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65F209-EBC7-E49C-412E-17953D05315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1F06B823-A29C-7CF0-7359-C0A4E3A5B9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17EB2139-7B40-8D0B-7C2C-034A4213A2FB}"/>
              </a:ext>
            </a:extLst>
          </p:cNvPr>
          <p:cNvSpPr>
            <a:spLocks noGrp="1"/>
          </p:cNvSpPr>
          <p:nvPr>
            <p:ph type="dt" sz="half" idx="10"/>
          </p:nvPr>
        </p:nvSpPr>
        <p:spPr/>
        <p:txBody>
          <a:bodyPr/>
          <a:lstStyle/>
          <a:p>
            <a:fld id="{41A62817-E4B5-43EA-806C-5C3195193B9A}" type="datetime1">
              <a:rPr lang="LID4096" smtClean="0"/>
              <a:t>02/27/2025</a:t>
            </a:fld>
            <a:endParaRPr lang="LID4096"/>
          </a:p>
        </p:txBody>
      </p:sp>
      <p:sp>
        <p:nvSpPr>
          <p:cNvPr id="5" name="Footer Placeholder 4">
            <a:extLst>
              <a:ext uri="{FF2B5EF4-FFF2-40B4-BE49-F238E27FC236}">
                <a16:creationId xmlns:a16="http://schemas.microsoft.com/office/drawing/2014/main" id="{CA50CAB7-6FA8-4DC0-8152-1CB0B3246A25}"/>
              </a:ext>
            </a:extLst>
          </p:cNvPr>
          <p:cNvSpPr>
            <a:spLocks noGrp="1"/>
          </p:cNvSpPr>
          <p:nvPr>
            <p:ph type="ftr" sz="quarter" idx="11"/>
          </p:nvPr>
        </p:nvSpPr>
        <p:spPr/>
        <p:txBody>
          <a:bodyPr/>
          <a:lstStyle/>
          <a:p>
            <a:r>
              <a:rPr lang="en-GB"/>
              <a:t>Department of Computer Science, COMSATS University Islamabad</a:t>
            </a:r>
            <a:endParaRPr lang="LID4096"/>
          </a:p>
        </p:txBody>
      </p:sp>
      <p:sp>
        <p:nvSpPr>
          <p:cNvPr id="6" name="Slide Number Placeholder 5">
            <a:extLst>
              <a:ext uri="{FF2B5EF4-FFF2-40B4-BE49-F238E27FC236}">
                <a16:creationId xmlns:a16="http://schemas.microsoft.com/office/drawing/2014/main" id="{2DFB0957-5907-CF01-699C-E428CCA0AC57}"/>
              </a:ext>
            </a:extLst>
          </p:cNvPr>
          <p:cNvSpPr>
            <a:spLocks noGrp="1"/>
          </p:cNvSpPr>
          <p:nvPr>
            <p:ph type="sldNum" sz="quarter" idx="12"/>
          </p:nvPr>
        </p:nvSpPr>
        <p:spPr/>
        <p:txBody>
          <a:bodyPr/>
          <a:lstStyle/>
          <a:p>
            <a:fld id="{0E331F28-28AB-4F95-8A9D-23C792B48924}" type="slidenum">
              <a:rPr lang="LID4096" smtClean="0"/>
              <a:t>‹#›</a:t>
            </a:fld>
            <a:endParaRPr lang="LID4096"/>
          </a:p>
        </p:txBody>
      </p:sp>
    </p:spTree>
    <p:extLst>
      <p:ext uri="{BB962C8B-B14F-4D97-AF65-F5344CB8AC3E}">
        <p14:creationId xmlns:p14="http://schemas.microsoft.com/office/powerpoint/2010/main" val="10135891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4C413F8-F92F-4308-B574-39115D7BE36F}" type="datetime1">
              <a:rPr lang="en-US" smtClean="0"/>
              <a:t>2/27/2025</a:t>
            </a:fld>
            <a:endParaRPr lang="en-US"/>
          </a:p>
        </p:txBody>
      </p:sp>
      <p:sp>
        <p:nvSpPr>
          <p:cNvPr id="5" name="Footer Placeholder 4"/>
          <p:cNvSpPr>
            <a:spLocks noGrp="1"/>
          </p:cNvSpPr>
          <p:nvPr>
            <p:ph type="ftr" sz="quarter" idx="11"/>
          </p:nvPr>
        </p:nvSpPr>
        <p:spPr/>
        <p:txBody>
          <a:bodyPr/>
          <a:lstStyle/>
          <a:p>
            <a:r>
              <a:rPr lang="en-GB"/>
              <a:t>Department of Computer Science, COMSATS University Islamabad</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67950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CEA36A-D451-4898-A595-C66A05A3A8B2}" type="datetime1">
              <a:rPr lang="en-US" smtClean="0"/>
              <a:t>2/27/2025</a:t>
            </a:fld>
            <a:endParaRPr lang="en-US"/>
          </a:p>
        </p:txBody>
      </p:sp>
      <p:sp>
        <p:nvSpPr>
          <p:cNvPr id="5" name="Footer Placeholder 4"/>
          <p:cNvSpPr>
            <a:spLocks noGrp="1"/>
          </p:cNvSpPr>
          <p:nvPr>
            <p:ph type="ftr" sz="quarter" idx="11"/>
          </p:nvPr>
        </p:nvSpPr>
        <p:spPr/>
        <p:txBody>
          <a:bodyPr/>
          <a:lstStyle/>
          <a:p>
            <a:r>
              <a:rPr lang="en-GB"/>
              <a:t>Department of Computer Science, COMSATS University Islamabad</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77814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27B0A-4E4D-4D4D-B4CD-340302DBF9DD}" type="datetime1">
              <a:rPr lang="en-US" smtClean="0"/>
              <a:t>2/27/2025</a:t>
            </a:fld>
            <a:endParaRPr lang="en-US"/>
          </a:p>
        </p:txBody>
      </p:sp>
      <p:sp>
        <p:nvSpPr>
          <p:cNvPr id="5" name="Footer Placeholder 4"/>
          <p:cNvSpPr>
            <a:spLocks noGrp="1"/>
          </p:cNvSpPr>
          <p:nvPr>
            <p:ph type="ftr" sz="quarter" idx="11"/>
          </p:nvPr>
        </p:nvSpPr>
        <p:spPr/>
        <p:txBody>
          <a:bodyPr/>
          <a:lstStyle/>
          <a:p>
            <a:r>
              <a:rPr lang="en-GB"/>
              <a:t>Department of Computer Science, COMSATS University Islamabad</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191621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3311265-30EC-4461-B26A-E0A1C609ADB5}" type="datetime1">
              <a:rPr lang="en-US" smtClean="0"/>
              <a:t>2/27/2025</a:t>
            </a:fld>
            <a:endParaRPr lang="en-US"/>
          </a:p>
        </p:txBody>
      </p:sp>
      <p:sp>
        <p:nvSpPr>
          <p:cNvPr id="6" name="Footer Placeholder 5"/>
          <p:cNvSpPr>
            <a:spLocks noGrp="1"/>
          </p:cNvSpPr>
          <p:nvPr>
            <p:ph type="ftr" sz="quarter" idx="11"/>
          </p:nvPr>
        </p:nvSpPr>
        <p:spPr/>
        <p:txBody>
          <a:bodyPr/>
          <a:lstStyle/>
          <a:p>
            <a:r>
              <a:rPr lang="en-GB"/>
              <a:t>Department of Computer Science, COMSATS University Islamabad</a:t>
            </a:r>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772448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7D797C-5B19-4ECC-B5DA-44A86DB0B211}" type="datetime1">
              <a:rPr lang="en-US" smtClean="0"/>
              <a:t>2/27/2025</a:t>
            </a:fld>
            <a:endParaRPr lang="en-US"/>
          </a:p>
        </p:txBody>
      </p:sp>
      <p:sp>
        <p:nvSpPr>
          <p:cNvPr id="8" name="Footer Placeholder 7"/>
          <p:cNvSpPr>
            <a:spLocks noGrp="1"/>
          </p:cNvSpPr>
          <p:nvPr>
            <p:ph type="ftr" sz="quarter" idx="11"/>
          </p:nvPr>
        </p:nvSpPr>
        <p:spPr/>
        <p:txBody>
          <a:bodyPr/>
          <a:lstStyle/>
          <a:p>
            <a:r>
              <a:rPr lang="en-GB"/>
              <a:t>Department of Computer Science, COMSATS University Islamabad</a:t>
            </a:r>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75673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B82C6A-576E-43B9-90EA-2CAA89AEB9ED}" type="datetime1">
              <a:rPr lang="en-US" smtClean="0"/>
              <a:t>2/27/2025</a:t>
            </a:fld>
            <a:endParaRPr lang="en-US"/>
          </a:p>
        </p:txBody>
      </p:sp>
      <p:sp>
        <p:nvSpPr>
          <p:cNvPr id="4" name="Footer Placeholder 3"/>
          <p:cNvSpPr>
            <a:spLocks noGrp="1"/>
          </p:cNvSpPr>
          <p:nvPr>
            <p:ph type="ftr" sz="quarter" idx="11"/>
          </p:nvPr>
        </p:nvSpPr>
        <p:spPr/>
        <p:txBody>
          <a:bodyPr/>
          <a:lstStyle/>
          <a:p>
            <a:r>
              <a:rPr lang="en-GB"/>
              <a:t>Department of Computer Science, COMSATS University Islamabad</a:t>
            </a:r>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64915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6F5ABB-5279-48AC-AC84-9B3057594227}" type="datetime1">
              <a:rPr lang="en-US" smtClean="0"/>
              <a:t>2/27/2025</a:t>
            </a:fld>
            <a:endParaRPr lang="en-US"/>
          </a:p>
        </p:txBody>
      </p:sp>
      <p:sp>
        <p:nvSpPr>
          <p:cNvPr id="3" name="Footer Placeholder 2"/>
          <p:cNvSpPr>
            <a:spLocks noGrp="1"/>
          </p:cNvSpPr>
          <p:nvPr>
            <p:ph type="ftr" sz="quarter" idx="11"/>
          </p:nvPr>
        </p:nvSpPr>
        <p:spPr/>
        <p:txBody>
          <a:bodyPr/>
          <a:lstStyle/>
          <a:p>
            <a:r>
              <a:rPr lang="en-GB"/>
              <a:t>Department of Computer Science, COMSATS University Islamabad</a:t>
            </a:r>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79839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E56BE5-3062-416E-ACD7-6F75150BF765}" type="datetime1">
              <a:rPr lang="en-US" smtClean="0"/>
              <a:t>2/27/2025</a:t>
            </a:fld>
            <a:endParaRPr lang="en-US"/>
          </a:p>
        </p:txBody>
      </p:sp>
      <p:sp>
        <p:nvSpPr>
          <p:cNvPr id="6" name="Footer Placeholder 5"/>
          <p:cNvSpPr>
            <a:spLocks noGrp="1"/>
          </p:cNvSpPr>
          <p:nvPr>
            <p:ph type="ftr" sz="quarter" idx="11"/>
          </p:nvPr>
        </p:nvSpPr>
        <p:spPr/>
        <p:txBody>
          <a:bodyPr/>
          <a:lstStyle/>
          <a:p>
            <a:r>
              <a:rPr lang="en-GB"/>
              <a:t>Department of Computer Science, COMSATS University Islamabad</a:t>
            </a:r>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794471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7C34B9-DC90-4629-9248-9B527DA298EA}" type="datetime1">
              <a:rPr lang="en-US" smtClean="0"/>
              <a:t>2/27/2025</a:t>
            </a:fld>
            <a:endParaRPr lang="en-US"/>
          </a:p>
        </p:txBody>
      </p:sp>
      <p:sp>
        <p:nvSpPr>
          <p:cNvPr id="6" name="Footer Placeholder 5"/>
          <p:cNvSpPr>
            <a:spLocks noGrp="1"/>
          </p:cNvSpPr>
          <p:nvPr>
            <p:ph type="ftr" sz="quarter" idx="11"/>
          </p:nvPr>
        </p:nvSpPr>
        <p:spPr/>
        <p:txBody>
          <a:bodyPr/>
          <a:lstStyle/>
          <a:p>
            <a:r>
              <a:rPr lang="en-GB"/>
              <a:t>Department of Computer Science, COMSATS University Islamabad</a:t>
            </a:r>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326100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6D316E-59E6-41FF-AA20-0DEBEDD11F79}" type="datetime1">
              <a:rPr lang="en-US" smtClean="0"/>
              <a:t>2/27/2025</a:t>
            </a:fld>
            <a:endParaRPr lang="en-US"/>
          </a:p>
        </p:txBody>
      </p:sp>
      <p:sp>
        <p:nvSpPr>
          <p:cNvPr id="5" name="Footer Placeholder 4"/>
          <p:cNvSpPr>
            <a:spLocks noGrp="1"/>
          </p:cNvSpPr>
          <p:nvPr>
            <p:ph type="ftr" sz="quarter" idx="11"/>
          </p:nvPr>
        </p:nvSpPr>
        <p:spPr/>
        <p:txBody>
          <a:bodyPr/>
          <a:lstStyle/>
          <a:p>
            <a:r>
              <a:rPr lang="en-GB"/>
              <a:t>Department of Computer Science, COMSATS University Islamabad</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2795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9BEBBA-54A2-4673-BFC4-94CC2FD96650}" type="datetime1">
              <a:rPr lang="en-US" smtClean="0"/>
              <a:t>2/27/2025</a:t>
            </a:fld>
            <a:endParaRPr lang="en-US"/>
          </a:p>
        </p:txBody>
      </p:sp>
      <p:sp>
        <p:nvSpPr>
          <p:cNvPr id="5" name="Footer Placeholder 4"/>
          <p:cNvSpPr>
            <a:spLocks noGrp="1"/>
          </p:cNvSpPr>
          <p:nvPr>
            <p:ph type="ftr" sz="quarter" idx="11"/>
          </p:nvPr>
        </p:nvSpPr>
        <p:spPr/>
        <p:txBody>
          <a:bodyPr/>
          <a:lstStyle/>
          <a:p>
            <a:r>
              <a:rPr lang="en-GB"/>
              <a:t>Department of Computer Science, COMSATS University Islamabad</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9890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1F9FAE-25C2-C919-0FE7-444E4B4F51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41F7711C-D07D-60CF-0DB1-F43BA18814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F6B2F54D-57B0-74FE-DFE2-A2AC56499A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8C9E32-8C48-4C96-8873-57DBFE56D22F}" type="datetime1">
              <a:rPr lang="LID4096" smtClean="0"/>
              <a:t>02/27/2025</a:t>
            </a:fld>
            <a:endParaRPr lang="LID4096"/>
          </a:p>
        </p:txBody>
      </p:sp>
      <p:sp>
        <p:nvSpPr>
          <p:cNvPr id="5" name="Footer Placeholder 4">
            <a:extLst>
              <a:ext uri="{FF2B5EF4-FFF2-40B4-BE49-F238E27FC236}">
                <a16:creationId xmlns:a16="http://schemas.microsoft.com/office/drawing/2014/main" id="{EBF35C3E-5774-530A-69D7-9891108380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Department of Computer Science, COMSATS University Islamabad</a:t>
            </a:r>
            <a:endParaRPr lang="LID4096"/>
          </a:p>
        </p:txBody>
      </p:sp>
      <p:sp>
        <p:nvSpPr>
          <p:cNvPr id="6" name="Slide Number Placeholder 5">
            <a:extLst>
              <a:ext uri="{FF2B5EF4-FFF2-40B4-BE49-F238E27FC236}">
                <a16:creationId xmlns:a16="http://schemas.microsoft.com/office/drawing/2014/main" id="{389013FB-94C6-CABA-C31A-2201F4B2EF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331F28-28AB-4F95-8A9D-23C792B48924}" type="slidenum">
              <a:rPr lang="LID4096" smtClean="0"/>
              <a:t>‹#›</a:t>
            </a:fld>
            <a:endParaRPr lang="LID4096"/>
          </a:p>
        </p:txBody>
      </p:sp>
    </p:spTree>
    <p:extLst>
      <p:ext uri="{BB962C8B-B14F-4D97-AF65-F5344CB8AC3E}">
        <p14:creationId xmlns:p14="http://schemas.microsoft.com/office/powerpoint/2010/main" val="3025198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C47341-16E8-4712-A2EE-93801BCC1F2C}" type="datetime1">
              <a:rPr lang="en-US" smtClean="0"/>
              <a:t>2/27/2025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Department of Computer Science, COMSATS University Islamabad</a:t>
            </a: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7852025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doc.python.org/2/library/datetime.html"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3D5B95-F30A-A0D7-89E0-9E70E1515DC9}"/>
              </a:ext>
            </a:extLst>
          </p:cNvPr>
          <p:cNvSpPr>
            <a:spLocks noGrp="1"/>
          </p:cNvSpPr>
          <p:nvPr>
            <p:ph type="ctrTitle"/>
          </p:nvPr>
        </p:nvSpPr>
        <p:spPr>
          <a:xfrm>
            <a:off x="1523999" y="723087"/>
            <a:ext cx="9144000" cy="3274592"/>
          </a:xfrm>
        </p:spPr>
        <p:txBody>
          <a:bodyPr anchor="ctr">
            <a:normAutofit/>
          </a:bodyPr>
          <a:lstStyle/>
          <a:p>
            <a:r>
              <a:rPr lang="en-GB" sz="7200" dirty="0"/>
              <a:t>Exploratory Data Analysis</a:t>
            </a:r>
            <a:endParaRPr lang="LID4096" sz="7200" dirty="0"/>
          </a:p>
        </p:txBody>
      </p:sp>
      <p:sp>
        <p:nvSpPr>
          <p:cNvPr id="3" name="Subtitle 2">
            <a:extLst>
              <a:ext uri="{FF2B5EF4-FFF2-40B4-BE49-F238E27FC236}">
                <a16:creationId xmlns:a16="http://schemas.microsoft.com/office/drawing/2014/main" id="{623296AA-3422-4274-34D9-EF22E6ED532F}"/>
              </a:ext>
            </a:extLst>
          </p:cNvPr>
          <p:cNvSpPr>
            <a:spLocks noGrp="1"/>
          </p:cNvSpPr>
          <p:nvPr>
            <p:ph type="subTitle" idx="1"/>
          </p:nvPr>
        </p:nvSpPr>
        <p:spPr>
          <a:xfrm>
            <a:off x="1524000" y="3532536"/>
            <a:ext cx="9144000" cy="1598032"/>
          </a:xfrm>
        </p:spPr>
        <p:txBody>
          <a:bodyPr anchor="ctr">
            <a:normAutofit/>
          </a:bodyPr>
          <a:lstStyle/>
          <a:p>
            <a:r>
              <a:rPr lang="en-GB" dirty="0"/>
              <a:t>Dr. Basharat Mahmood</a:t>
            </a:r>
          </a:p>
          <a:p>
            <a:r>
              <a:rPr lang="en-GB" dirty="0"/>
              <a:t>Department of Computer Science, COMSATS University Islamabad</a:t>
            </a:r>
            <a:endParaRPr lang="LID4096" dirty="0"/>
          </a:p>
        </p:txBody>
      </p:sp>
      <p:cxnSp>
        <p:nvCxnSpPr>
          <p:cNvPr id="19" name="Straight Connector 18">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6D968329-3883-7A65-AD8B-EFB89BF73EF6}"/>
              </a:ext>
            </a:extLst>
          </p:cNvPr>
          <p:cNvSpPr>
            <a:spLocks noGrp="1"/>
          </p:cNvSpPr>
          <p:nvPr>
            <p:ph type="ftr" sz="quarter" idx="11"/>
          </p:nvPr>
        </p:nvSpPr>
        <p:spPr/>
        <p:txBody>
          <a:bodyPr/>
          <a:lstStyle/>
          <a:p>
            <a:r>
              <a:rPr lang="en-GB"/>
              <a:t>Department of Computer Science, COMSATS University Islamabad</a:t>
            </a:r>
            <a:endParaRPr lang="LID4096"/>
          </a:p>
        </p:txBody>
      </p:sp>
    </p:spTree>
    <p:extLst>
      <p:ext uri="{BB962C8B-B14F-4D97-AF65-F5344CB8AC3E}">
        <p14:creationId xmlns:p14="http://schemas.microsoft.com/office/powerpoint/2010/main" val="2794031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1" y="1"/>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Calibri"/>
            </a:endParaRPr>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63837" y="2732147"/>
            <a:ext cx="5860051" cy="395784"/>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Calibri"/>
              </a:endParaRPr>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Calibri"/>
              </a:endParaRPr>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8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Calibri"/>
            </a:endParaRPr>
          </a:p>
        </p:txBody>
      </p:sp>
      <p:sp>
        <p:nvSpPr>
          <p:cNvPr id="2" name="Title 1"/>
          <p:cNvSpPr>
            <a:spLocks noGrp="1"/>
          </p:cNvSpPr>
          <p:nvPr>
            <p:ph type="title"/>
          </p:nvPr>
        </p:nvSpPr>
        <p:spPr>
          <a:xfrm>
            <a:off x="2353950" y="1"/>
            <a:ext cx="7387313" cy="1349671"/>
          </a:xfrm>
        </p:spPr>
        <p:txBody>
          <a:bodyPr anchor="b">
            <a:normAutofit/>
          </a:bodyPr>
          <a:lstStyle/>
          <a:p>
            <a:r>
              <a:rPr lang="de-DE" sz="4700" dirty="0"/>
              <a:t>Data Exploration</a:t>
            </a:r>
          </a:p>
        </p:txBody>
      </p:sp>
      <p:sp>
        <p:nvSpPr>
          <p:cNvPr id="3" name="Content Placeholder 2"/>
          <p:cNvSpPr>
            <a:spLocks noGrp="1"/>
          </p:cNvSpPr>
          <p:nvPr>
            <p:ph idx="1"/>
          </p:nvPr>
        </p:nvSpPr>
        <p:spPr>
          <a:xfrm>
            <a:off x="2490979" y="1518766"/>
            <a:ext cx="7387313" cy="4500281"/>
          </a:xfrm>
        </p:spPr>
        <p:txBody>
          <a:bodyPr anchor="t">
            <a:noAutofit/>
          </a:bodyPr>
          <a:lstStyle/>
          <a:p>
            <a:pPr>
              <a:lnSpc>
                <a:spcPct val="90000"/>
              </a:lnSpc>
            </a:pPr>
            <a:r>
              <a:rPr lang="en-GB" sz="2200" dirty="0">
                <a:latin typeface="AdvOT260e5629"/>
              </a:rPr>
              <a:t>Data exploration, also known as Exploratory Data Analysis </a:t>
            </a:r>
            <a:r>
              <a:rPr lang="en-GB" sz="2200" b="1" dirty="0">
                <a:latin typeface="AdvOT260e5629"/>
              </a:rPr>
              <a:t>(EDA)</a:t>
            </a:r>
            <a:r>
              <a:rPr lang="en-GB" sz="2200" dirty="0">
                <a:latin typeface="AdvOT260e5629"/>
              </a:rPr>
              <a:t>, is a crucial phase in the data science process where analysts investigate a dataset to understand its underlying structure, patterns, and relationships. </a:t>
            </a:r>
          </a:p>
          <a:p>
            <a:pPr>
              <a:lnSpc>
                <a:spcPct val="90000"/>
              </a:lnSpc>
            </a:pPr>
            <a:r>
              <a:rPr lang="en-GB" sz="2200" dirty="0">
                <a:latin typeface="AdvOT260e5629"/>
              </a:rPr>
              <a:t>The </a:t>
            </a:r>
            <a:r>
              <a:rPr lang="en-GB" sz="2200" b="1" dirty="0">
                <a:latin typeface="AdvOT260e5629"/>
              </a:rPr>
              <a:t>primary goal </a:t>
            </a:r>
            <a:r>
              <a:rPr lang="en-GB" sz="2200" dirty="0">
                <a:latin typeface="AdvOT260e5629"/>
              </a:rPr>
              <a:t>of data exploration is to gain a deeper understanding of the data before applying statistical analysis or machine learning techniques.</a:t>
            </a:r>
          </a:p>
          <a:p>
            <a:r>
              <a:rPr lang="en-GB" sz="2200" dirty="0">
                <a:latin typeface="AdvOT260e5629"/>
              </a:rPr>
              <a:t>Data exploration helps </a:t>
            </a:r>
          </a:p>
          <a:p>
            <a:pPr lvl="1"/>
            <a:r>
              <a:rPr lang="en-GB" sz="1800" dirty="0">
                <a:latin typeface="AdvOT260e5629"/>
              </a:rPr>
              <a:t>to understanding data better</a:t>
            </a:r>
          </a:p>
          <a:p>
            <a:pPr lvl="1"/>
            <a:r>
              <a:rPr lang="en-GB" sz="1800" dirty="0">
                <a:latin typeface="AdvOT260e5629"/>
              </a:rPr>
              <a:t>to prepare the data in a way that makes advanced analysis possible</a:t>
            </a:r>
          </a:p>
          <a:p>
            <a:pPr lvl="1"/>
            <a:r>
              <a:rPr lang="en-GB" sz="1800" dirty="0">
                <a:latin typeface="AdvOT260e5629"/>
              </a:rPr>
              <a:t>to get the necessary insights from the data faster than using </a:t>
            </a:r>
            <a:r>
              <a:rPr lang="en-US" sz="1800" dirty="0">
                <a:latin typeface="AdvOT260e5629"/>
              </a:rPr>
              <a:t>advanced analytical techniques.</a:t>
            </a:r>
            <a:endParaRPr lang="en-GB" sz="2400" dirty="0"/>
          </a:p>
        </p:txBody>
      </p:sp>
      <p:sp>
        <p:nvSpPr>
          <p:cNvPr id="4" name="Footer Placeholder 3">
            <a:extLst>
              <a:ext uri="{FF2B5EF4-FFF2-40B4-BE49-F238E27FC236}">
                <a16:creationId xmlns:a16="http://schemas.microsoft.com/office/drawing/2014/main" id="{9B4BA8BC-5C58-2970-DF69-E28F579D2025}"/>
              </a:ext>
            </a:extLst>
          </p:cNvPr>
          <p:cNvSpPr>
            <a:spLocks noGrp="1"/>
          </p:cNvSpPr>
          <p:nvPr>
            <p:ph type="ftr" sz="quarter" idx="11"/>
          </p:nvPr>
        </p:nvSpPr>
        <p:spPr/>
        <p:txBody>
          <a:bodyPr/>
          <a:lstStyle/>
          <a:p>
            <a:pPr defTabSz="457200"/>
            <a:r>
              <a:rPr lang="en-GB">
                <a:solidFill>
                  <a:prstClr val="black">
                    <a:tint val="75000"/>
                  </a:prstClr>
                </a:solidFill>
                <a:latin typeface="Calibri"/>
              </a:rPr>
              <a:t>Department of Computer Science, COMSATS University Islamabad</a:t>
            </a:r>
            <a:endParaRPr lang="en-US">
              <a:solidFill>
                <a:prstClr val="black">
                  <a:tint val="75000"/>
                </a:prstClr>
              </a:solidFill>
              <a:latin typeface="Calibri"/>
            </a:endParaRPr>
          </a:p>
        </p:txBody>
      </p:sp>
      <p:sp>
        <p:nvSpPr>
          <p:cNvPr id="5" name="Slide Number Placeholder 4">
            <a:extLst>
              <a:ext uri="{FF2B5EF4-FFF2-40B4-BE49-F238E27FC236}">
                <a16:creationId xmlns:a16="http://schemas.microsoft.com/office/drawing/2014/main" id="{FD25CF68-98E6-F750-4034-243C3B0268DE}"/>
              </a:ext>
            </a:extLst>
          </p:cNvPr>
          <p:cNvSpPr>
            <a:spLocks noGrp="1"/>
          </p:cNvSpPr>
          <p:nvPr>
            <p:ph type="sldNum" sz="quarter" idx="12"/>
          </p:nvPr>
        </p:nvSpPr>
        <p:spPr/>
        <p:txBody>
          <a:bodyPr/>
          <a:lstStyle/>
          <a:p>
            <a:pPr defTabSz="457200"/>
            <a:fld id="{C1FF6DA9-008F-8B48-92A6-B652298478BF}" type="slidenum">
              <a:rPr lang="en-US">
                <a:solidFill>
                  <a:prstClr val="black">
                    <a:tint val="75000"/>
                  </a:prstClr>
                </a:solidFill>
                <a:latin typeface="Calibri"/>
              </a:rPr>
              <a:pPr defTabSz="457200"/>
              <a:t>2</a:t>
            </a:fld>
            <a:endParaRPr lang="en-US">
              <a:solidFill>
                <a:prstClr val="black">
                  <a:tint val="75000"/>
                </a:prstClr>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1" y="1"/>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63837" y="2732147"/>
            <a:ext cx="5860051" cy="395784"/>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8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sp>
        <p:nvSpPr>
          <p:cNvPr id="2" name="Title 1"/>
          <p:cNvSpPr>
            <a:spLocks noGrp="1"/>
          </p:cNvSpPr>
          <p:nvPr>
            <p:ph type="title"/>
          </p:nvPr>
        </p:nvSpPr>
        <p:spPr>
          <a:xfrm>
            <a:off x="2353950" y="1"/>
            <a:ext cx="7387313" cy="1349671"/>
          </a:xfrm>
        </p:spPr>
        <p:txBody>
          <a:bodyPr anchor="b">
            <a:normAutofit/>
          </a:bodyPr>
          <a:lstStyle/>
          <a:p>
            <a:r>
              <a:rPr lang="de-DE" sz="4700" dirty="0"/>
              <a:t>Data Exploration ...</a:t>
            </a:r>
          </a:p>
        </p:txBody>
      </p:sp>
      <p:sp>
        <p:nvSpPr>
          <p:cNvPr id="3" name="Content Placeholder 2"/>
          <p:cNvSpPr>
            <a:spLocks noGrp="1"/>
          </p:cNvSpPr>
          <p:nvPr>
            <p:ph idx="1"/>
          </p:nvPr>
        </p:nvSpPr>
        <p:spPr>
          <a:xfrm>
            <a:off x="2490979" y="1518766"/>
            <a:ext cx="7387313" cy="4500281"/>
          </a:xfrm>
        </p:spPr>
        <p:txBody>
          <a:bodyPr anchor="t">
            <a:noAutofit/>
          </a:bodyPr>
          <a:lstStyle/>
          <a:p>
            <a:pPr algn="l"/>
            <a:r>
              <a:rPr lang="en-GB" sz="2000" dirty="0">
                <a:latin typeface="Arial" panose="020B0604020202020204" pitchFamily="34" charset="0"/>
                <a:cs typeface="Arial" panose="020B0604020202020204" pitchFamily="34" charset="0"/>
              </a:rPr>
              <a:t>Data exploration can be broadly classified into two types—</a:t>
            </a:r>
            <a:r>
              <a:rPr lang="en-GB" sz="2000" b="1" dirty="0">
                <a:latin typeface="Arial" panose="020B0604020202020204" pitchFamily="34" charset="0"/>
                <a:cs typeface="Arial" panose="020B0604020202020204" pitchFamily="34" charset="0"/>
              </a:rPr>
              <a:t>descriptive statistics </a:t>
            </a:r>
            <a:r>
              <a:rPr lang="en-GB" sz="2000" dirty="0">
                <a:latin typeface="Arial" panose="020B0604020202020204" pitchFamily="34" charset="0"/>
                <a:cs typeface="Arial" panose="020B0604020202020204" pitchFamily="34" charset="0"/>
              </a:rPr>
              <a:t>and </a:t>
            </a:r>
            <a:r>
              <a:rPr lang="en-GB" sz="2000" b="1" dirty="0">
                <a:latin typeface="Arial" panose="020B0604020202020204" pitchFamily="34" charset="0"/>
                <a:cs typeface="Arial" panose="020B0604020202020204" pitchFamily="34" charset="0"/>
              </a:rPr>
              <a:t>data visualization </a:t>
            </a:r>
          </a:p>
          <a:p>
            <a:pPr algn="l"/>
            <a:r>
              <a:rPr lang="en-GB" sz="2000" b="1" dirty="0">
                <a:latin typeface="Arial" panose="020B0604020202020204" pitchFamily="34" charset="0"/>
                <a:cs typeface="Arial" panose="020B0604020202020204" pitchFamily="34" charset="0"/>
              </a:rPr>
              <a:t>Descriptive statistics </a:t>
            </a:r>
            <a:r>
              <a:rPr lang="en-GB" sz="2000" dirty="0">
                <a:latin typeface="Arial" panose="020B0604020202020204" pitchFamily="34" charset="0"/>
                <a:cs typeface="Arial" panose="020B0604020202020204" pitchFamily="34" charset="0"/>
              </a:rPr>
              <a:t>is the process of shortening key characteristics of the dataset into simple numeric metrics</a:t>
            </a:r>
          </a:p>
          <a:p>
            <a:pPr lvl="1"/>
            <a:r>
              <a:rPr lang="en-GB" sz="1600" dirty="0">
                <a:latin typeface="Arial" panose="020B0604020202020204" pitchFamily="34" charset="0"/>
                <a:cs typeface="Arial" panose="020B0604020202020204" pitchFamily="34" charset="0"/>
              </a:rPr>
              <a:t>Some of the common quantitative metrics used are mean, standard deviation, and correlation. </a:t>
            </a:r>
          </a:p>
          <a:p>
            <a:r>
              <a:rPr lang="en-GB" sz="2000" b="1" dirty="0">
                <a:latin typeface="Arial" panose="020B0604020202020204" pitchFamily="34" charset="0"/>
                <a:cs typeface="Arial" panose="020B0604020202020204" pitchFamily="34" charset="0"/>
              </a:rPr>
              <a:t>Visualization</a:t>
            </a:r>
            <a:r>
              <a:rPr lang="en-GB" sz="2000" dirty="0">
                <a:latin typeface="AdvOT260e5629"/>
              </a:rPr>
              <a:t> is the process of projecting the data, or parts of it, into multi-dimensional space or abstract images</a:t>
            </a:r>
            <a:r>
              <a:rPr lang="en-GB" sz="1800" dirty="0">
                <a:latin typeface="AdvOT260e5629"/>
              </a:rPr>
              <a:t>	</a:t>
            </a:r>
          </a:p>
          <a:p>
            <a:pPr lvl="1"/>
            <a:r>
              <a:rPr lang="en-GB" sz="1600" dirty="0">
                <a:latin typeface="AdvOT260e5629"/>
              </a:rPr>
              <a:t>All the useful (and adorable) charts fall under this category</a:t>
            </a:r>
          </a:p>
          <a:p>
            <a:r>
              <a:rPr lang="en-GB" sz="2000" dirty="0">
                <a:latin typeface="Arial" panose="020B0604020202020204" pitchFamily="34" charset="0"/>
                <a:cs typeface="Arial" panose="020B0604020202020204" pitchFamily="34" charset="0"/>
              </a:rPr>
              <a:t>Data exploration in the context of data science uses both descriptive statistics and visualization </a:t>
            </a:r>
            <a:r>
              <a:rPr lang="en-US" sz="2000" dirty="0">
                <a:latin typeface="Arial" panose="020B0604020202020204" pitchFamily="34" charset="0"/>
                <a:cs typeface="Arial" panose="020B0604020202020204" pitchFamily="34" charset="0"/>
              </a:rPr>
              <a:t>techniques.</a:t>
            </a:r>
            <a:endParaRPr lang="en-GB" sz="2000"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9B4BA8BC-5C58-2970-DF69-E28F579D2025}"/>
              </a:ext>
            </a:extLst>
          </p:cNvPr>
          <p:cNvSpPr>
            <a:spLocks noGrp="1"/>
          </p:cNvSpPr>
          <p:nvPr>
            <p:ph type="ftr" sz="quarter" idx="11"/>
          </p:nvPr>
        </p:nvSpPr>
        <p:spPr/>
        <p:txBody>
          <a:bodyPr/>
          <a:lstStyle/>
          <a:p>
            <a:pPr defTabSz="457200">
              <a:defRPr/>
            </a:pPr>
            <a:r>
              <a:rPr lang="en-GB">
                <a:solidFill>
                  <a:prstClr val="black">
                    <a:tint val="75000"/>
                  </a:prstClr>
                </a:solidFill>
                <a:latin typeface="Calibri"/>
              </a:rPr>
              <a:t>Department of Computer Science, COMSATS University Islamabad</a:t>
            </a:r>
            <a:endParaRPr lang="en-US">
              <a:solidFill>
                <a:prstClr val="black">
                  <a:tint val="75000"/>
                </a:prstClr>
              </a:solidFill>
              <a:latin typeface="Calibri"/>
            </a:endParaRPr>
          </a:p>
        </p:txBody>
      </p:sp>
      <p:sp>
        <p:nvSpPr>
          <p:cNvPr id="5" name="Slide Number Placeholder 4">
            <a:extLst>
              <a:ext uri="{FF2B5EF4-FFF2-40B4-BE49-F238E27FC236}">
                <a16:creationId xmlns:a16="http://schemas.microsoft.com/office/drawing/2014/main" id="{FD25CF68-98E6-F750-4034-243C3B0268DE}"/>
              </a:ext>
            </a:extLst>
          </p:cNvPr>
          <p:cNvSpPr>
            <a:spLocks noGrp="1"/>
          </p:cNvSpPr>
          <p:nvPr>
            <p:ph type="sldNum" sz="quarter" idx="12"/>
          </p:nvPr>
        </p:nvSpPr>
        <p:spPr/>
        <p:txBody>
          <a:bodyPr/>
          <a:lstStyle/>
          <a:p>
            <a:pPr defTabSz="457200">
              <a:defRPr/>
            </a:pPr>
            <a:fld id="{C1FF6DA9-008F-8B48-92A6-B652298478BF}" type="slidenum">
              <a:rPr lang="en-US">
                <a:solidFill>
                  <a:prstClr val="black">
                    <a:tint val="75000"/>
                  </a:prstClr>
                </a:solidFill>
                <a:latin typeface="Calibri"/>
              </a:rPr>
              <a:pPr defTabSz="457200">
                <a:defRPr/>
              </a:pPr>
              <a:t>3</a:t>
            </a:fld>
            <a:endParaRPr lang="en-US">
              <a:solidFill>
                <a:prstClr val="black">
                  <a:tint val="75000"/>
                </a:prstClr>
              </a:solidFill>
              <a:latin typeface="Calibri"/>
            </a:endParaRPr>
          </a:p>
        </p:txBody>
      </p:sp>
    </p:spTree>
    <p:extLst>
      <p:ext uri="{BB962C8B-B14F-4D97-AF65-F5344CB8AC3E}">
        <p14:creationId xmlns:p14="http://schemas.microsoft.com/office/powerpoint/2010/main" val="3353467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1" y="1"/>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63837" y="2732147"/>
            <a:ext cx="5860051" cy="395784"/>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8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sp>
        <p:nvSpPr>
          <p:cNvPr id="2" name="Title 1"/>
          <p:cNvSpPr>
            <a:spLocks noGrp="1"/>
          </p:cNvSpPr>
          <p:nvPr>
            <p:ph type="title"/>
          </p:nvPr>
        </p:nvSpPr>
        <p:spPr>
          <a:xfrm>
            <a:off x="2353950" y="1"/>
            <a:ext cx="7387313" cy="1349671"/>
          </a:xfrm>
        </p:spPr>
        <p:txBody>
          <a:bodyPr anchor="b">
            <a:normAutofit/>
          </a:bodyPr>
          <a:lstStyle/>
          <a:p>
            <a:r>
              <a:rPr lang="de-DE" sz="4700" dirty="0"/>
              <a:t>Data Exploration ...</a:t>
            </a:r>
          </a:p>
        </p:txBody>
      </p:sp>
      <p:sp>
        <p:nvSpPr>
          <p:cNvPr id="3" name="Content Placeholder 2"/>
          <p:cNvSpPr>
            <a:spLocks noGrp="1"/>
          </p:cNvSpPr>
          <p:nvPr>
            <p:ph idx="1"/>
          </p:nvPr>
        </p:nvSpPr>
        <p:spPr>
          <a:xfrm>
            <a:off x="2164082" y="1374214"/>
            <a:ext cx="7714210" cy="4500281"/>
          </a:xfrm>
        </p:spPr>
        <p:txBody>
          <a:bodyPr anchor="t">
            <a:noAutofit/>
          </a:bodyPr>
          <a:lstStyle/>
          <a:p>
            <a:pPr marL="0" indent="0">
              <a:buNone/>
            </a:pPr>
            <a:r>
              <a:rPr lang="en-GB" sz="1800" b="1" dirty="0"/>
              <a:t>Objectives of Data Exploration:</a:t>
            </a:r>
          </a:p>
          <a:p>
            <a:r>
              <a:rPr lang="en-GB" sz="1800" b="1" dirty="0"/>
              <a:t>Understand Data Characteristics</a:t>
            </a:r>
          </a:p>
          <a:p>
            <a:pPr lvl="1">
              <a:buFont typeface="Arial" panose="020B0604020202020204" pitchFamily="34" charset="0"/>
              <a:buChar char="•"/>
            </a:pPr>
            <a:r>
              <a:rPr lang="en-GB" sz="1800" b="1" dirty="0"/>
              <a:t>Data Structure:</a:t>
            </a:r>
            <a:r>
              <a:rPr lang="en-GB" sz="1800" dirty="0"/>
              <a:t> Gain insights into the structure of the data, including the number of rows and columns, data types, and variable names.</a:t>
            </a:r>
          </a:p>
          <a:p>
            <a:pPr lvl="1">
              <a:buFont typeface="Arial" panose="020B0604020202020204" pitchFamily="34" charset="0"/>
              <a:buChar char="•"/>
            </a:pPr>
            <a:r>
              <a:rPr lang="en-GB" sz="1800" b="1" dirty="0"/>
              <a:t>Feature Types:</a:t>
            </a:r>
            <a:r>
              <a:rPr lang="en-GB" sz="1800" dirty="0"/>
              <a:t> Identify the types of features in the dataset (e.g., numerical, categorical, date) and understand their formats and ranges.</a:t>
            </a:r>
          </a:p>
          <a:p>
            <a:pPr lvl="1">
              <a:buFont typeface="Arial" panose="020B0604020202020204" pitchFamily="34" charset="0"/>
              <a:buChar char="•"/>
            </a:pPr>
            <a:r>
              <a:rPr lang="en-GB" sz="1800" b="1" dirty="0"/>
              <a:t>Data Distribution:</a:t>
            </a:r>
            <a:r>
              <a:rPr lang="en-GB" sz="1800" dirty="0"/>
              <a:t> Examine how the data is distributed across different features and the overall dataset.</a:t>
            </a:r>
          </a:p>
          <a:p>
            <a:r>
              <a:rPr lang="en-GB" sz="1800" b="1" dirty="0"/>
              <a:t>Assess Data Quality</a:t>
            </a:r>
          </a:p>
          <a:p>
            <a:pPr lvl="1">
              <a:buFont typeface="Arial" panose="020B0604020202020204" pitchFamily="34" charset="0"/>
              <a:buChar char="•"/>
            </a:pPr>
            <a:r>
              <a:rPr lang="en-GB" sz="1800" b="1" dirty="0"/>
              <a:t>Missing Values:</a:t>
            </a:r>
            <a:r>
              <a:rPr lang="en-GB" sz="1800" dirty="0"/>
              <a:t> Identify the presence and extent of missing or null values in the dataset.</a:t>
            </a:r>
          </a:p>
          <a:p>
            <a:pPr lvl="1">
              <a:buFont typeface="Arial" panose="020B0604020202020204" pitchFamily="34" charset="0"/>
              <a:buChar char="•"/>
            </a:pPr>
            <a:r>
              <a:rPr lang="en-GB" sz="1800" b="1" dirty="0"/>
              <a:t>Data Consistency:</a:t>
            </a:r>
            <a:r>
              <a:rPr lang="en-GB" sz="1800" dirty="0"/>
              <a:t> Detect and address inconsistencies or errors in the data, such as incorrect values or discrepancies between related fields.</a:t>
            </a:r>
          </a:p>
          <a:p>
            <a:pPr lvl="1">
              <a:buFont typeface="Arial" panose="020B0604020202020204" pitchFamily="34" charset="0"/>
              <a:buChar char="•"/>
            </a:pPr>
            <a:r>
              <a:rPr lang="en-GB" sz="1800" b="1" dirty="0"/>
              <a:t>Outliers:</a:t>
            </a:r>
            <a:r>
              <a:rPr lang="en-GB" sz="1800" dirty="0"/>
              <a:t> Identify outliers or anomalies that could affect analysis or modelling.</a:t>
            </a:r>
          </a:p>
          <a:p>
            <a:pPr algn="l"/>
            <a:endParaRPr lang="en-GB" sz="2000"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9B4BA8BC-5C58-2970-DF69-E28F579D2025}"/>
              </a:ext>
            </a:extLst>
          </p:cNvPr>
          <p:cNvSpPr>
            <a:spLocks noGrp="1"/>
          </p:cNvSpPr>
          <p:nvPr>
            <p:ph type="ftr" sz="quarter" idx="11"/>
          </p:nvPr>
        </p:nvSpPr>
        <p:spPr/>
        <p:txBody>
          <a:bodyPr/>
          <a:lstStyle/>
          <a:p>
            <a:pPr defTabSz="457200">
              <a:defRPr/>
            </a:pPr>
            <a:r>
              <a:rPr lang="en-GB">
                <a:solidFill>
                  <a:prstClr val="black">
                    <a:tint val="75000"/>
                  </a:prstClr>
                </a:solidFill>
                <a:latin typeface="Calibri"/>
              </a:rPr>
              <a:t>Department of Computer Science, COMSATS University Islamabad</a:t>
            </a:r>
            <a:endParaRPr lang="en-US">
              <a:solidFill>
                <a:prstClr val="black">
                  <a:tint val="75000"/>
                </a:prstClr>
              </a:solidFill>
              <a:latin typeface="Calibri"/>
            </a:endParaRPr>
          </a:p>
        </p:txBody>
      </p:sp>
      <p:sp>
        <p:nvSpPr>
          <p:cNvPr id="5" name="Slide Number Placeholder 4">
            <a:extLst>
              <a:ext uri="{FF2B5EF4-FFF2-40B4-BE49-F238E27FC236}">
                <a16:creationId xmlns:a16="http://schemas.microsoft.com/office/drawing/2014/main" id="{FD25CF68-98E6-F750-4034-243C3B0268DE}"/>
              </a:ext>
            </a:extLst>
          </p:cNvPr>
          <p:cNvSpPr>
            <a:spLocks noGrp="1"/>
          </p:cNvSpPr>
          <p:nvPr>
            <p:ph type="sldNum" sz="quarter" idx="12"/>
          </p:nvPr>
        </p:nvSpPr>
        <p:spPr/>
        <p:txBody>
          <a:bodyPr/>
          <a:lstStyle/>
          <a:p>
            <a:pPr defTabSz="457200">
              <a:defRPr/>
            </a:pPr>
            <a:fld id="{C1FF6DA9-008F-8B48-92A6-B652298478BF}" type="slidenum">
              <a:rPr lang="en-US">
                <a:solidFill>
                  <a:prstClr val="black">
                    <a:tint val="75000"/>
                  </a:prstClr>
                </a:solidFill>
                <a:latin typeface="Calibri"/>
              </a:rPr>
              <a:pPr defTabSz="457200">
                <a:defRPr/>
              </a:pPr>
              <a:t>4</a:t>
            </a:fld>
            <a:endParaRPr lang="en-US">
              <a:solidFill>
                <a:prstClr val="black">
                  <a:tint val="75000"/>
                </a:prstClr>
              </a:solidFill>
              <a:latin typeface="Calibri"/>
            </a:endParaRPr>
          </a:p>
        </p:txBody>
      </p:sp>
    </p:spTree>
    <p:extLst>
      <p:ext uri="{BB962C8B-B14F-4D97-AF65-F5344CB8AC3E}">
        <p14:creationId xmlns:p14="http://schemas.microsoft.com/office/powerpoint/2010/main" val="1545133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1" y="1"/>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63837" y="2732147"/>
            <a:ext cx="5860051" cy="395784"/>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8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sp>
        <p:nvSpPr>
          <p:cNvPr id="2" name="Title 1"/>
          <p:cNvSpPr>
            <a:spLocks noGrp="1"/>
          </p:cNvSpPr>
          <p:nvPr>
            <p:ph type="title"/>
          </p:nvPr>
        </p:nvSpPr>
        <p:spPr>
          <a:xfrm>
            <a:off x="2353950" y="1"/>
            <a:ext cx="7387313" cy="1349671"/>
          </a:xfrm>
        </p:spPr>
        <p:txBody>
          <a:bodyPr anchor="b">
            <a:normAutofit/>
          </a:bodyPr>
          <a:lstStyle/>
          <a:p>
            <a:r>
              <a:rPr lang="de-DE" sz="4700" dirty="0"/>
              <a:t>Data Exploration ...</a:t>
            </a:r>
          </a:p>
        </p:txBody>
      </p:sp>
      <p:sp>
        <p:nvSpPr>
          <p:cNvPr id="3" name="Content Placeholder 2"/>
          <p:cNvSpPr>
            <a:spLocks noGrp="1"/>
          </p:cNvSpPr>
          <p:nvPr>
            <p:ph idx="1"/>
          </p:nvPr>
        </p:nvSpPr>
        <p:spPr>
          <a:xfrm>
            <a:off x="2490979" y="1518766"/>
            <a:ext cx="7387313" cy="4500281"/>
          </a:xfrm>
        </p:spPr>
        <p:txBody>
          <a:bodyPr anchor="t">
            <a:noAutofit/>
          </a:bodyPr>
          <a:lstStyle/>
          <a:p>
            <a:r>
              <a:rPr lang="en-GB" sz="1800" b="1" dirty="0"/>
              <a:t>Discover Patterns and Relationships</a:t>
            </a:r>
          </a:p>
          <a:p>
            <a:pPr lvl="1">
              <a:buFont typeface="Arial" panose="020B0604020202020204" pitchFamily="34" charset="0"/>
              <a:buChar char="•"/>
            </a:pPr>
            <a:r>
              <a:rPr lang="en-GB" sz="1600" b="1" dirty="0"/>
              <a:t>Trends:</a:t>
            </a:r>
            <a:r>
              <a:rPr lang="en-GB" sz="1600" dirty="0"/>
              <a:t> Uncover underlying patterns or trends within the data, such as seasonal variations or long-term changes.</a:t>
            </a:r>
          </a:p>
          <a:p>
            <a:pPr lvl="1">
              <a:buFont typeface="Arial" panose="020B0604020202020204" pitchFamily="34" charset="0"/>
              <a:buChar char="•"/>
            </a:pPr>
            <a:r>
              <a:rPr lang="en-GB" sz="1600" b="1" dirty="0"/>
              <a:t>Correlations:</a:t>
            </a:r>
            <a:r>
              <a:rPr lang="en-GB" sz="1600" dirty="0"/>
              <a:t> Explore relationships between different features to understand how they interact with each other and with the target variable.</a:t>
            </a:r>
          </a:p>
          <a:p>
            <a:pPr lvl="1">
              <a:buFont typeface="Arial" panose="020B0604020202020204" pitchFamily="34" charset="0"/>
              <a:buChar char="•"/>
            </a:pPr>
            <a:r>
              <a:rPr lang="en-GB" sz="1600" b="1" dirty="0"/>
              <a:t>Group Comparisons:</a:t>
            </a:r>
            <a:r>
              <a:rPr lang="en-GB" sz="1600" dirty="0"/>
              <a:t> Compare different groups or segments within the data to identify significant differences or similarities.</a:t>
            </a:r>
          </a:p>
          <a:p>
            <a:r>
              <a:rPr lang="en-GB" sz="1800" b="1" dirty="0"/>
              <a:t>Prepare for Further Analysis</a:t>
            </a:r>
          </a:p>
          <a:p>
            <a:pPr lvl="1">
              <a:buFont typeface="Arial" panose="020B0604020202020204" pitchFamily="34" charset="0"/>
              <a:buChar char="•"/>
            </a:pPr>
            <a:r>
              <a:rPr lang="en-GB" sz="1600" b="1" dirty="0"/>
              <a:t>Feature Engineering:</a:t>
            </a:r>
            <a:r>
              <a:rPr lang="en-GB" sz="1600" dirty="0"/>
              <a:t> Identify opportunities for creating new features or transforming existing ones based on insights gained during exploration.</a:t>
            </a:r>
          </a:p>
          <a:p>
            <a:pPr lvl="1">
              <a:buFont typeface="Arial" panose="020B0604020202020204" pitchFamily="34" charset="0"/>
              <a:buChar char="•"/>
            </a:pPr>
            <a:r>
              <a:rPr lang="en-GB" sz="1600" b="1" dirty="0"/>
              <a:t>Data Cleaning:</a:t>
            </a:r>
            <a:r>
              <a:rPr lang="en-GB" sz="1600" dirty="0"/>
              <a:t> Determine the necessary data cleaning steps, such as handling missing values or correcting inconsistencies.</a:t>
            </a:r>
          </a:p>
          <a:p>
            <a:pPr lvl="1">
              <a:buFont typeface="Arial" panose="020B0604020202020204" pitchFamily="34" charset="0"/>
              <a:buChar char="•"/>
            </a:pPr>
            <a:r>
              <a:rPr lang="en-GB" sz="1600" b="1" dirty="0"/>
              <a:t>Model Readiness:</a:t>
            </a:r>
            <a:r>
              <a:rPr lang="en-GB" sz="1600" dirty="0"/>
              <a:t> Assess the data’s suitability for modelling and make any necessary adjustments to ensure that it is ready for machine learning or statistical analysis.</a:t>
            </a:r>
          </a:p>
          <a:p>
            <a:pPr algn="l"/>
            <a:endParaRPr lang="en-GB" sz="2000"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9B4BA8BC-5C58-2970-DF69-E28F579D2025}"/>
              </a:ext>
            </a:extLst>
          </p:cNvPr>
          <p:cNvSpPr>
            <a:spLocks noGrp="1"/>
          </p:cNvSpPr>
          <p:nvPr>
            <p:ph type="ftr" sz="quarter" idx="11"/>
          </p:nvPr>
        </p:nvSpPr>
        <p:spPr/>
        <p:txBody>
          <a:bodyPr/>
          <a:lstStyle/>
          <a:p>
            <a:pPr defTabSz="457200">
              <a:defRPr/>
            </a:pPr>
            <a:r>
              <a:rPr lang="en-GB">
                <a:solidFill>
                  <a:prstClr val="black">
                    <a:tint val="75000"/>
                  </a:prstClr>
                </a:solidFill>
                <a:latin typeface="Calibri"/>
              </a:rPr>
              <a:t>Department of Computer Science, COMSATS University Islamabad</a:t>
            </a:r>
            <a:endParaRPr lang="en-US">
              <a:solidFill>
                <a:prstClr val="black">
                  <a:tint val="75000"/>
                </a:prstClr>
              </a:solidFill>
              <a:latin typeface="Calibri"/>
            </a:endParaRPr>
          </a:p>
        </p:txBody>
      </p:sp>
      <p:sp>
        <p:nvSpPr>
          <p:cNvPr id="5" name="Slide Number Placeholder 4">
            <a:extLst>
              <a:ext uri="{FF2B5EF4-FFF2-40B4-BE49-F238E27FC236}">
                <a16:creationId xmlns:a16="http://schemas.microsoft.com/office/drawing/2014/main" id="{FD25CF68-98E6-F750-4034-243C3B0268DE}"/>
              </a:ext>
            </a:extLst>
          </p:cNvPr>
          <p:cNvSpPr>
            <a:spLocks noGrp="1"/>
          </p:cNvSpPr>
          <p:nvPr>
            <p:ph type="sldNum" sz="quarter" idx="12"/>
          </p:nvPr>
        </p:nvSpPr>
        <p:spPr/>
        <p:txBody>
          <a:bodyPr/>
          <a:lstStyle/>
          <a:p>
            <a:pPr defTabSz="457200">
              <a:defRPr/>
            </a:pPr>
            <a:fld id="{C1FF6DA9-008F-8B48-92A6-B652298478BF}" type="slidenum">
              <a:rPr lang="en-US">
                <a:solidFill>
                  <a:prstClr val="black">
                    <a:tint val="75000"/>
                  </a:prstClr>
                </a:solidFill>
                <a:latin typeface="Calibri"/>
              </a:rPr>
              <a:pPr defTabSz="457200">
                <a:defRPr/>
              </a:pPr>
              <a:t>5</a:t>
            </a:fld>
            <a:endParaRPr lang="en-US">
              <a:solidFill>
                <a:prstClr val="black">
                  <a:tint val="75000"/>
                </a:prstClr>
              </a:solidFill>
              <a:latin typeface="Calibri"/>
            </a:endParaRPr>
          </a:p>
        </p:txBody>
      </p:sp>
    </p:spTree>
    <p:extLst>
      <p:ext uri="{BB962C8B-B14F-4D97-AF65-F5344CB8AC3E}">
        <p14:creationId xmlns:p14="http://schemas.microsoft.com/office/powerpoint/2010/main" val="859131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1" y="1"/>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63837" y="2732147"/>
            <a:ext cx="5860051" cy="395784"/>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8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sp>
        <p:nvSpPr>
          <p:cNvPr id="2" name="Title 1"/>
          <p:cNvSpPr>
            <a:spLocks noGrp="1"/>
          </p:cNvSpPr>
          <p:nvPr>
            <p:ph type="title"/>
          </p:nvPr>
        </p:nvSpPr>
        <p:spPr>
          <a:xfrm>
            <a:off x="2353950" y="1"/>
            <a:ext cx="7387313" cy="1349671"/>
          </a:xfrm>
        </p:spPr>
        <p:txBody>
          <a:bodyPr anchor="b">
            <a:normAutofit/>
          </a:bodyPr>
          <a:lstStyle/>
          <a:p>
            <a:r>
              <a:rPr lang="de-DE" sz="4700" dirty="0"/>
              <a:t>Data Exploration ...</a:t>
            </a:r>
          </a:p>
        </p:txBody>
      </p:sp>
      <p:sp>
        <p:nvSpPr>
          <p:cNvPr id="3" name="Content Placeholder 2"/>
          <p:cNvSpPr>
            <a:spLocks noGrp="1"/>
          </p:cNvSpPr>
          <p:nvPr>
            <p:ph idx="1"/>
          </p:nvPr>
        </p:nvSpPr>
        <p:spPr>
          <a:xfrm>
            <a:off x="2490979" y="1518766"/>
            <a:ext cx="7387313" cy="4500281"/>
          </a:xfrm>
        </p:spPr>
        <p:txBody>
          <a:bodyPr anchor="t">
            <a:noAutofit/>
          </a:bodyPr>
          <a:lstStyle/>
          <a:p>
            <a:r>
              <a:rPr lang="en-GB" sz="1800" b="1" dirty="0"/>
              <a:t>Data Visualization</a:t>
            </a:r>
          </a:p>
          <a:p>
            <a:pPr lvl="1">
              <a:buFont typeface="Arial" panose="020B0604020202020204" pitchFamily="34" charset="0"/>
              <a:buChar char="•"/>
            </a:pPr>
            <a:r>
              <a:rPr lang="en-GB" sz="1800" b="1" dirty="0"/>
              <a:t>Visual Insights:</a:t>
            </a:r>
            <a:r>
              <a:rPr lang="en-GB" sz="1800" dirty="0"/>
              <a:t> Create visualizations (e.g., histograms, scatter plots, box plots) to gain a clearer understanding of data distributions, relationships, and trends.</a:t>
            </a:r>
          </a:p>
          <a:p>
            <a:pPr lvl="1">
              <a:buFont typeface="Arial" panose="020B0604020202020204" pitchFamily="34" charset="0"/>
              <a:buChar char="•"/>
            </a:pPr>
            <a:r>
              <a:rPr lang="en-GB" sz="1800" b="1" dirty="0"/>
              <a:t>Communicate Findings:</a:t>
            </a:r>
            <a:r>
              <a:rPr lang="en-GB" sz="1800" dirty="0"/>
              <a:t> Use visualizations to effectively communicate findings and insights to stakeholders or team members.</a:t>
            </a:r>
          </a:p>
          <a:p>
            <a:r>
              <a:rPr lang="en-GB" sz="1800" b="1" dirty="0"/>
              <a:t>Validate Assumptions</a:t>
            </a:r>
          </a:p>
          <a:p>
            <a:pPr lvl="1">
              <a:buFont typeface="Arial" panose="020B0604020202020204" pitchFamily="34" charset="0"/>
              <a:buChar char="•"/>
            </a:pPr>
            <a:r>
              <a:rPr lang="en-GB" sz="1800" b="1" dirty="0"/>
              <a:t>Assumption Checking:</a:t>
            </a:r>
            <a:r>
              <a:rPr lang="en-GB" sz="1800" dirty="0"/>
              <a:t> Validate assumptions about the data that may be required for specific modelling techniques or statistical analyses.</a:t>
            </a:r>
          </a:p>
          <a:p>
            <a:pPr lvl="1">
              <a:buFont typeface="Arial" panose="020B0604020202020204" pitchFamily="34" charset="0"/>
              <a:buChar char="•"/>
            </a:pPr>
            <a:r>
              <a:rPr lang="en-GB" sz="1800" b="1" dirty="0"/>
              <a:t>Model Assumptions:</a:t>
            </a:r>
            <a:r>
              <a:rPr lang="en-GB" sz="1800" dirty="0"/>
              <a:t> Check if the data meets the assumptions of any predictive models you plan to use, such as normality or homoscedasticity.</a:t>
            </a:r>
          </a:p>
          <a:p>
            <a:pPr algn="l"/>
            <a:endParaRPr lang="en-GB" sz="2000"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9B4BA8BC-5C58-2970-DF69-E28F579D2025}"/>
              </a:ext>
            </a:extLst>
          </p:cNvPr>
          <p:cNvSpPr>
            <a:spLocks noGrp="1"/>
          </p:cNvSpPr>
          <p:nvPr>
            <p:ph type="ftr" sz="quarter" idx="11"/>
          </p:nvPr>
        </p:nvSpPr>
        <p:spPr/>
        <p:txBody>
          <a:bodyPr/>
          <a:lstStyle/>
          <a:p>
            <a:pPr defTabSz="457200">
              <a:defRPr/>
            </a:pPr>
            <a:r>
              <a:rPr lang="en-GB">
                <a:solidFill>
                  <a:prstClr val="black">
                    <a:tint val="75000"/>
                  </a:prstClr>
                </a:solidFill>
                <a:latin typeface="Calibri"/>
              </a:rPr>
              <a:t>Department of Computer Science, COMSATS University Islamabad</a:t>
            </a:r>
            <a:endParaRPr lang="en-US">
              <a:solidFill>
                <a:prstClr val="black">
                  <a:tint val="75000"/>
                </a:prstClr>
              </a:solidFill>
              <a:latin typeface="Calibri"/>
            </a:endParaRPr>
          </a:p>
        </p:txBody>
      </p:sp>
      <p:sp>
        <p:nvSpPr>
          <p:cNvPr id="5" name="Slide Number Placeholder 4">
            <a:extLst>
              <a:ext uri="{FF2B5EF4-FFF2-40B4-BE49-F238E27FC236}">
                <a16:creationId xmlns:a16="http://schemas.microsoft.com/office/drawing/2014/main" id="{FD25CF68-98E6-F750-4034-243C3B0268DE}"/>
              </a:ext>
            </a:extLst>
          </p:cNvPr>
          <p:cNvSpPr>
            <a:spLocks noGrp="1"/>
          </p:cNvSpPr>
          <p:nvPr>
            <p:ph type="sldNum" sz="quarter" idx="12"/>
          </p:nvPr>
        </p:nvSpPr>
        <p:spPr/>
        <p:txBody>
          <a:bodyPr/>
          <a:lstStyle/>
          <a:p>
            <a:pPr defTabSz="457200">
              <a:defRPr/>
            </a:pPr>
            <a:fld id="{C1FF6DA9-008F-8B48-92A6-B652298478BF}" type="slidenum">
              <a:rPr lang="en-US">
                <a:solidFill>
                  <a:prstClr val="black">
                    <a:tint val="75000"/>
                  </a:prstClr>
                </a:solidFill>
                <a:latin typeface="Calibri"/>
              </a:rPr>
              <a:pPr defTabSz="457200">
                <a:defRPr/>
              </a:pPr>
              <a:t>6</a:t>
            </a:fld>
            <a:endParaRPr lang="en-US">
              <a:solidFill>
                <a:prstClr val="black">
                  <a:tint val="75000"/>
                </a:prstClr>
              </a:solidFill>
              <a:latin typeface="Calibri"/>
            </a:endParaRPr>
          </a:p>
        </p:txBody>
      </p:sp>
    </p:spTree>
    <p:extLst>
      <p:ext uri="{BB962C8B-B14F-4D97-AF65-F5344CB8AC3E}">
        <p14:creationId xmlns:p14="http://schemas.microsoft.com/office/powerpoint/2010/main" val="2438220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1" y="1"/>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63837" y="2732147"/>
            <a:ext cx="5860051" cy="395784"/>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8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sp>
        <p:nvSpPr>
          <p:cNvPr id="2" name="Title 1"/>
          <p:cNvSpPr>
            <a:spLocks noGrp="1"/>
          </p:cNvSpPr>
          <p:nvPr>
            <p:ph type="title"/>
          </p:nvPr>
        </p:nvSpPr>
        <p:spPr>
          <a:xfrm>
            <a:off x="2353950" y="1"/>
            <a:ext cx="7387313" cy="1349671"/>
          </a:xfrm>
        </p:spPr>
        <p:txBody>
          <a:bodyPr anchor="b">
            <a:normAutofit/>
          </a:bodyPr>
          <a:lstStyle/>
          <a:p>
            <a:r>
              <a:rPr lang="de-DE" sz="4700" dirty="0"/>
              <a:t>Data Exploration ...</a:t>
            </a:r>
          </a:p>
        </p:txBody>
      </p:sp>
      <p:sp>
        <p:nvSpPr>
          <p:cNvPr id="3" name="Content Placeholder 2"/>
          <p:cNvSpPr>
            <a:spLocks noGrp="1"/>
          </p:cNvSpPr>
          <p:nvPr>
            <p:ph idx="1"/>
          </p:nvPr>
        </p:nvSpPr>
        <p:spPr>
          <a:xfrm>
            <a:off x="2490979" y="1518766"/>
            <a:ext cx="7387313" cy="4500281"/>
          </a:xfrm>
        </p:spPr>
        <p:txBody>
          <a:bodyPr anchor="t">
            <a:noAutofit/>
          </a:bodyPr>
          <a:lstStyle/>
          <a:p>
            <a:pPr marL="0" indent="0">
              <a:buNone/>
            </a:pPr>
            <a:r>
              <a:rPr lang="en-GB" sz="1800" b="1" dirty="0"/>
              <a:t>Workflow in Data Exploration</a:t>
            </a:r>
          </a:p>
          <a:p>
            <a:pPr>
              <a:buFont typeface="+mj-lt"/>
              <a:buAutoNum type="arabicPeriod"/>
            </a:pPr>
            <a:r>
              <a:rPr lang="en-GB" sz="1800" b="1" dirty="0"/>
              <a:t>Load and Inspect the Data:</a:t>
            </a:r>
            <a:endParaRPr lang="en-GB" sz="1800" dirty="0"/>
          </a:p>
          <a:p>
            <a:pPr lvl="1">
              <a:buFont typeface="+mj-lt"/>
              <a:buAutoNum type="arabicPeriod"/>
            </a:pPr>
            <a:r>
              <a:rPr lang="en-GB" sz="1800" dirty="0"/>
              <a:t>Load the dataset into an analysis tool or environment.</a:t>
            </a:r>
          </a:p>
          <a:p>
            <a:pPr lvl="1">
              <a:buFont typeface="+mj-lt"/>
              <a:buAutoNum type="arabicPeriod"/>
            </a:pPr>
            <a:r>
              <a:rPr lang="en-GB" sz="1800" dirty="0"/>
              <a:t>View a sample of the data to understand its basic structure and content.</a:t>
            </a:r>
          </a:p>
          <a:p>
            <a:pPr>
              <a:buFont typeface="+mj-lt"/>
              <a:buAutoNum type="arabicPeriod"/>
            </a:pPr>
            <a:r>
              <a:rPr lang="en-GB" sz="1800" b="1" dirty="0"/>
              <a:t>Generate Summary Statistics:</a:t>
            </a:r>
            <a:endParaRPr lang="en-GB" sz="1800" dirty="0"/>
          </a:p>
          <a:p>
            <a:pPr lvl="1">
              <a:buFont typeface="+mj-lt"/>
              <a:buAutoNum type="arabicPeriod"/>
            </a:pPr>
            <a:r>
              <a:rPr lang="en-GB" sz="1800" dirty="0"/>
              <a:t>Calculate summary statistics for numerical features (mean, median, standard deviation).</a:t>
            </a:r>
          </a:p>
          <a:p>
            <a:pPr lvl="1">
              <a:buFont typeface="+mj-lt"/>
              <a:buAutoNum type="arabicPeriod"/>
            </a:pPr>
            <a:r>
              <a:rPr lang="en-GB" sz="1800" dirty="0"/>
              <a:t>Evaluate frequency counts for categorical features.</a:t>
            </a:r>
          </a:p>
          <a:p>
            <a:pPr>
              <a:buFont typeface="+mj-lt"/>
              <a:buAutoNum type="arabicPeriod"/>
            </a:pPr>
            <a:r>
              <a:rPr lang="en-GB" sz="1800" b="1" dirty="0"/>
              <a:t>Visualize the Data:</a:t>
            </a:r>
            <a:endParaRPr lang="en-GB" sz="1800" dirty="0"/>
          </a:p>
          <a:p>
            <a:pPr lvl="1">
              <a:buFont typeface="+mj-lt"/>
              <a:buAutoNum type="arabicPeriod"/>
            </a:pPr>
            <a:r>
              <a:rPr lang="en-GB" sz="1800" dirty="0"/>
              <a:t>Plot histograms to visualize the distribution of numerical features.</a:t>
            </a:r>
          </a:p>
          <a:p>
            <a:pPr lvl="1">
              <a:buFont typeface="+mj-lt"/>
              <a:buAutoNum type="arabicPeriod"/>
            </a:pPr>
            <a:r>
              <a:rPr lang="en-GB" sz="1800" dirty="0"/>
              <a:t>Use scatter plots to explore relationships between features.</a:t>
            </a:r>
          </a:p>
          <a:p>
            <a:pPr lvl="1">
              <a:buFont typeface="+mj-lt"/>
              <a:buAutoNum type="arabicPeriod"/>
            </a:pPr>
            <a:r>
              <a:rPr lang="en-GB" sz="1800" dirty="0"/>
              <a:t>Create box plots to detect outliers.</a:t>
            </a:r>
          </a:p>
          <a:p>
            <a:pPr algn="l"/>
            <a:endParaRPr lang="en-GB" sz="2000"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9B4BA8BC-5C58-2970-DF69-E28F579D2025}"/>
              </a:ext>
            </a:extLst>
          </p:cNvPr>
          <p:cNvSpPr>
            <a:spLocks noGrp="1"/>
          </p:cNvSpPr>
          <p:nvPr>
            <p:ph type="ftr" sz="quarter" idx="11"/>
          </p:nvPr>
        </p:nvSpPr>
        <p:spPr/>
        <p:txBody>
          <a:bodyPr/>
          <a:lstStyle/>
          <a:p>
            <a:pPr defTabSz="457200">
              <a:defRPr/>
            </a:pPr>
            <a:r>
              <a:rPr lang="en-GB">
                <a:solidFill>
                  <a:prstClr val="black">
                    <a:tint val="75000"/>
                  </a:prstClr>
                </a:solidFill>
                <a:latin typeface="Calibri"/>
              </a:rPr>
              <a:t>Department of Computer Science, COMSATS University Islamabad</a:t>
            </a:r>
            <a:endParaRPr lang="en-US">
              <a:solidFill>
                <a:prstClr val="black">
                  <a:tint val="75000"/>
                </a:prstClr>
              </a:solidFill>
              <a:latin typeface="Calibri"/>
            </a:endParaRPr>
          </a:p>
        </p:txBody>
      </p:sp>
      <p:sp>
        <p:nvSpPr>
          <p:cNvPr id="5" name="Slide Number Placeholder 4">
            <a:extLst>
              <a:ext uri="{FF2B5EF4-FFF2-40B4-BE49-F238E27FC236}">
                <a16:creationId xmlns:a16="http://schemas.microsoft.com/office/drawing/2014/main" id="{FD25CF68-98E6-F750-4034-243C3B0268DE}"/>
              </a:ext>
            </a:extLst>
          </p:cNvPr>
          <p:cNvSpPr>
            <a:spLocks noGrp="1"/>
          </p:cNvSpPr>
          <p:nvPr>
            <p:ph type="sldNum" sz="quarter" idx="12"/>
          </p:nvPr>
        </p:nvSpPr>
        <p:spPr/>
        <p:txBody>
          <a:bodyPr/>
          <a:lstStyle/>
          <a:p>
            <a:pPr defTabSz="457200">
              <a:defRPr/>
            </a:pPr>
            <a:fld id="{C1FF6DA9-008F-8B48-92A6-B652298478BF}" type="slidenum">
              <a:rPr lang="en-US">
                <a:solidFill>
                  <a:prstClr val="black">
                    <a:tint val="75000"/>
                  </a:prstClr>
                </a:solidFill>
                <a:latin typeface="Calibri"/>
              </a:rPr>
              <a:pPr defTabSz="457200">
                <a:defRPr/>
              </a:pPr>
              <a:t>7</a:t>
            </a:fld>
            <a:endParaRPr lang="en-US">
              <a:solidFill>
                <a:prstClr val="black">
                  <a:tint val="75000"/>
                </a:prstClr>
              </a:solidFill>
              <a:latin typeface="Calibri"/>
            </a:endParaRPr>
          </a:p>
        </p:txBody>
      </p:sp>
    </p:spTree>
    <p:extLst>
      <p:ext uri="{BB962C8B-B14F-4D97-AF65-F5344CB8AC3E}">
        <p14:creationId xmlns:p14="http://schemas.microsoft.com/office/powerpoint/2010/main" val="2310811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1" y="1"/>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63837" y="2732147"/>
            <a:ext cx="5860051" cy="395784"/>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8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n-US">
              <a:solidFill>
                <a:prstClr val="white"/>
              </a:solidFill>
              <a:latin typeface="Calibri"/>
            </a:endParaRPr>
          </a:p>
        </p:txBody>
      </p:sp>
      <p:sp>
        <p:nvSpPr>
          <p:cNvPr id="2" name="Title 1"/>
          <p:cNvSpPr>
            <a:spLocks noGrp="1"/>
          </p:cNvSpPr>
          <p:nvPr>
            <p:ph type="title"/>
          </p:nvPr>
        </p:nvSpPr>
        <p:spPr>
          <a:xfrm>
            <a:off x="2353950" y="1"/>
            <a:ext cx="7387313" cy="1349671"/>
          </a:xfrm>
        </p:spPr>
        <p:txBody>
          <a:bodyPr anchor="b">
            <a:normAutofit/>
          </a:bodyPr>
          <a:lstStyle/>
          <a:p>
            <a:r>
              <a:rPr lang="de-DE" sz="4700" dirty="0"/>
              <a:t>Data Exploration ...</a:t>
            </a:r>
          </a:p>
        </p:txBody>
      </p:sp>
      <p:sp>
        <p:nvSpPr>
          <p:cNvPr id="3" name="Content Placeholder 2"/>
          <p:cNvSpPr>
            <a:spLocks noGrp="1"/>
          </p:cNvSpPr>
          <p:nvPr>
            <p:ph idx="1"/>
          </p:nvPr>
        </p:nvSpPr>
        <p:spPr>
          <a:xfrm>
            <a:off x="2490979" y="1518766"/>
            <a:ext cx="7387313" cy="4500281"/>
          </a:xfrm>
        </p:spPr>
        <p:txBody>
          <a:bodyPr anchor="t">
            <a:noAutofit/>
          </a:bodyPr>
          <a:lstStyle/>
          <a:p>
            <a:pPr marL="0" indent="0">
              <a:buNone/>
            </a:pPr>
            <a:r>
              <a:rPr lang="en-GB" sz="1800" b="1" dirty="0"/>
              <a:t>Workflow in Data Exploration …</a:t>
            </a:r>
          </a:p>
          <a:p>
            <a:pPr marL="0" indent="0">
              <a:buNone/>
            </a:pPr>
            <a:r>
              <a:rPr lang="en-GB" sz="1800" b="1" dirty="0"/>
              <a:t>4. Identify Missing Values and Outliers:</a:t>
            </a:r>
            <a:endParaRPr lang="en-GB" sz="1800" dirty="0"/>
          </a:p>
          <a:p>
            <a:pPr lvl="1">
              <a:buFont typeface="+mj-lt"/>
              <a:buAutoNum type="arabicPeriod"/>
            </a:pPr>
            <a:r>
              <a:rPr lang="en-GB" sz="1800" dirty="0"/>
              <a:t>Use methods to count and visualize missing values.</a:t>
            </a:r>
          </a:p>
          <a:p>
            <a:pPr lvl="1">
              <a:buFont typeface="+mj-lt"/>
              <a:buAutoNum type="arabicPeriod"/>
            </a:pPr>
            <a:r>
              <a:rPr lang="en-GB" sz="1800" dirty="0"/>
              <a:t>Apply techniques to detect and handle outliers.</a:t>
            </a:r>
          </a:p>
          <a:p>
            <a:pPr marL="0" indent="0">
              <a:buNone/>
            </a:pPr>
            <a:r>
              <a:rPr lang="en-GB" sz="1800" b="1" dirty="0"/>
              <a:t>5. Examine Relationships and Patterns:</a:t>
            </a:r>
            <a:endParaRPr lang="en-GB" sz="1800" dirty="0"/>
          </a:p>
          <a:p>
            <a:pPr lvl="1">
              <a:buFont typeface="+mj-lt"/>
              <a:buAutoNum type="arabicPeriod"/>
            </a:pPr>
            <a:r>
              <a:rPr lang="en-GB" sz="1800" dirty="0"/>
              <a:t>Compute correlation matrices to identify relationships between numerical features.</a:t>
            </a:r>
          </a:p>
          <a:p>
            <a:pPr lvl="1">
              <a:buFont typeface="+mj-lt"/>
              <a:buAutoNum type="arabicPeriod"/>
            </a:pPr>
            <a:r>
              <a:rPr lang="en-GB" sz="1800" dirty="0"/>
              <a:t>Use group-by operations to analyse patterns within different segments of the data.</a:t>
            </a:r>
          </a:p>
          <a:p>
            <a:pPr marL="0" indent="0">
              <a:buNone/>
            </a:pPr>
            <a:r>
              <a:rPr lang="en-GB" sz="1800" b="1" dirty="0"/>
              <a:t>6. Document Findings:</a:t>
            </a:r>
            <a:endParaRPr lang="en-GB" sz="1800" dirty="0"/>
          </a:p>
          <a:p>
            <a:pPr lvl="1">
              <a:buFont typeface="+mj-lt"/>
              <a:buAutoNum type="arabicPeriod"/>
            </a:pPr>
            <a:r>
              <a:rPr lang="en-GB" sz="1800" dirty="0"/>
              <a:t>Summarize key findings and insights from the exploration.</a:t>
            </a:r>
          </a:p>
          <a:p>
            <a:pPr lvl="1">
              <a:buFont typeface="+mj-lt"/>
              <a:buAutoNum type="arabicPeriod"/>
            </a:pPr>
            <a:r>
              <a:rPr lang="en-GB" sz="1800" dirty="0"/>
              <a:t>Note any issues or areas that need further attention or investigation.</a:t>
            </a:r>
          </a:p>
          <a:p>
            <a:pPr algn="l"/>
            <a:endParaRPr lang="en-GB" sz="2000"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9B4BA8BC-5C58-2970-DF69-E28F579D2025}"/>
              </a:ext>
            </a:extLst>
          </p:cNvPr>
          <p:cNvSpPr>
            <a:spLocks noGrp="1"/>
          </p:cNvSpPr>
          <p:nvPr>
            <p:ph type="ftr" sz="quarter" idx="11"/>
          </p:nvPr>
        </p:nvSpPr>
        <p:spPr/>
        <p:txBody>
          <a:bodyPr/>
          <a:lstStyle/>
          <a:p>
            <a:pPr defTabSz="457200">
              <a:defRPr/>
            </a:pPr>
            <a:r>
              <a:rPr lang="en-GB">
                <a:solidFill>
                  <a:prstClr val="black">
                    <a:tint val="75000"/>
                  </a:prstClr>
                </a:solidFill>
                <a:latin typeface="Calibri"/>
              </a:rPr>
              <a:t>Department of Computer Science, COMSATS University Islamabad</a:t>
            </a:r>
            <a:endParaRPr lang="en-US">
              <a:solidFill>
                <a:prstClr val="black">
                  <a:tint val="75000"/>
                </a:prstClr>
              </a:solidFill>
              <a:latin typeface="Calibri"/>
            </a:endParaRPr>
          </a:p>
        </p:txBody>
      </p:sp>
      <p:sp>
        <p:nvSpPr>
          <p:cNvPr id="5" name="Slide Number Placeholder 4">
            <a:extLst>
              <a:ext uri="{FF2B5EF4-FFF2-40B4-BE49-F238E27FC236}">
                <a16:creationId xmlns:a16="http://schemas.microsoft.com/office/drawing/2014/main" id="{FD25CF68-98E6-F750-4034-243C3B0268DE}"/>
              </a:ext>
            </a:extLst>
          </p:cNvPr>
          <p:cNvSpPr>
            <a:spLocks noGrp="1"/>
          </p:cNvSpPr>
          <p:nvPr>
            <p:ph type="sldNum" sz="quarter" idx="12"/>
          </p:nvPr>
        </p:nvSpPr>
        <p:spPr/>
        <p:txBody>
          <a:bodyPr/>
          <a:lstStyle/>
          <a:p>
            <a:pPr defTabSz="457200">
              <a:defRPr/>
            </a:pPr>
            <a:fld id="{C1FF6DA9-008F-8B48-92A6-B652298478BF}" type="slidenum">
              <a:rPr lang="en-US">
                <a:solidFill>
                  <a:prstClr val="black">
                    <a:tint val="75000"/>
                  </a:prstClr>
                </a:solidFill>
                <a:latin typeface="Calibri"/>
              </a:rPr>
              <a:pPr defTabSz="457200">
                <a:defRPr/>
              </a:pPr>
              <a:t>8</a:t>
            </a:fld>
            <a:endParaRPr lang="en-US">
              <a:solidFill>
                <a:prstClr val="black">
                  <a:tint val="75000"/>
                </a:prstClr>
              </a:solidFill>
              <a:latin typeface="Calibri"/>
            </a:endParaRPr>
          </a:p>
        </p:txBody>
      </p:sp>
    </p:spTree>
    <p:extLst>
      <p:ext uri="{BB962C8B-B14F-4D97-AF65-F5344CB8AC3E}">
        <p14:creationId xmlns:p14="http://schemas.microsoft.com/office/powerpoint/2010/main" val="3070452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Example: EDA on Iris Dataset </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ctr">
            <a:normAutofit lnSpcReduction="10000"/>
          </a:bodyPr>
          <a:lstStyle/>
          <a:p>
            <a:pPr eaLnBrk="0" fontAlgn="base" hangingPunct="0">
              <a:lnSpc>
                <a:spcPct val="100000"/>
              </a:lnSpc>
              <a:spcBef>
                <a:spcPts val="1200"/>
              </a:spcBef>
              <a:spcAft>
                <a:spcPct val="0"/>
              </a:spcAft>
            </a:pPr>
            <a:r>
              <a:rPr kumimoji="0" lang="en-GB" altLang="LID4096" sz="2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Data Summary Example: </a:t>
            </a:r>
            <a:r>
              <a:rPr kumimoji="0" lang="en-GB" altLang="LID4096" sz="22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Calculate mean, median, and standard deviation of sepal and petal dimensions for each Iris species (</a:t>
            </a:r>
            <a:r>
              <a:rPr kumimoji="0" lang="en-GB" altLang="LID4096" sz="22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setosa</a:t>
            </a:r>
            <a:r>
              <a:rPr kumimoji="0" lang="en-GB" altLang="LID4096" sz="22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versicolor, virginica).</a:t>
            </a:r>
          </a:p>
          <a:p>
            <a:pPr eaLnBrk="0" fontAlgn="base" hangingPunct="0">
              <a:lnSpc>
                <a:spcPct val="100000"/>
              </a:lnSpc>
              <a:spcBef>
                <a:spcPts val="1200"/>
              </a:spcBef>
              <a:spcAft>
                <a:spcPct val="0"/>
              </a:spcAft>
            </a:pPr>
            <a:r>
              <a:rPr kumimoji="0" lang="en-GB" altLang="LID4096" sz="2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Data Visualization Example: </a:t>
            </a:r>
            <a:r>
              <a:rPr kumimoji="0" lang="en-GB" altLang="LID4096" sz="22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Create histograms to visualize distributions of sepal length and width across different Iris species. Use scatter plots to explore relationships between petal length and width.</a:t>
            </a:r>
          </a:p>
          <a:p>
            <a:pPr eaLnBrk="0" fontAlgn="base" hangingPunct="0">
              <a:lnSpc>
                <a:spcPct val="100000"/>
              </a:lnSpc>
              <a:spcBef>
                <a:spcPts val="1200"/>
              </a:spcBef>
              <a:spcAft>
                <a:spcPct val="0"/>
              </a:spcAft>
            </a:pPr>
            <a:r>
              <a:rPr kumimoji="0" lang="en-GB" altLang="LID4096" sz="2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Correlation Analysis Example: </a:t>
            </a:r>
            <a:r>
              <a:rPr kumimoji="0" lang="en-GB" altLang="LID4096" sz="22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Calculate correlation coefficients to determine relationships between sepal and petal dimensions. </a:t>
            </a:r>
          </a:p>
          <a:p>
            <a:pPr eaLnBrk="0" fontAlgn="base" hangingPunct="0">
              <a:lnSpc>
                <a:spcPct val="100000"/>
              </a:lnSpc>
              <a:spcBef>
                <a:spcPts val="1200"/>
              </a:spcBef>
              <a:spcAft>
                <a:spcPct val="0"/>
              </a:spcAft>
            </a:pPr>
            <a:r>
              <a:rPr kumimoji="0" lang="en-GB" altLang="LID4096" sz="2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Pattern Recognition Example: </a:t>
            </a:r>
            <a:r>
              <a:rPr kumimoji="0" lang="en-GB" altLang="LID4096" sz="22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Apply clustering algorithms to identify distinct clusters of Iris species based on their features.</a:t>
            </a:r>
          </a:p>
          <a:p>
            <a:pPr eaLnBrk="0" fontAlgn="base" hangingPunct="0">
              <a:lnSpc>
                <a:spcPct val="100000"/>
              </a:lnSpc>
              <a:spcBef>
                <a:spcPts val="1200"/>
              </a:spcBef>
              <a:spcAft>
                <a:spcPct val="0"/>
              </a:spcAft>
            </a:pPr>
            <a:r>
              <a:rPr kumimoji="0" lang="en-GB" altLang="LID4096" sz="2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Outlier Detection Example: </a:t>
            </a:r>
            <a:r>
              <a:rPr kumimoji="0" lang="en-GB" altLang="LID4096" sz="22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Identify outliers in petal dimensions that deviate significantly from the majority of data points</a:t>
            </a:r>
            <a:r>
              <a:rPr kumimoji="0" lang="en-GB" altLang="LID4096" sz="2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endParaRPr kumimoji="0" lang="LID4096" altLang="LID4096" sz="2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964470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Libraries for Data Analysis</a:t>
            </a:r>
          </a:p>
        </p:txBody>
      </p:sp>
      <p:sp>
        <p:nvSpPr>
          <p:cNvPr id="3" name="Content Placeholder 2"/>
          <p:cNvSpPr>
            <a:spLocks noGrp="1"/>
          </p:cNvSpPr>
          <p:nvPr>
            <p:ph idx="1"/>
          </p:nvPr>
        </p:nvSpPr>
        <p:spPr/>
        <p:txBody>
          <a:bodyPr>
            <a:normAutofit/>
          </a:bodyPr>
          <a:lstStyle/>
          <a:p>
            <a:pPr marL="0" indent="0">
              <a:buNone/>
            </a:pPr>
            <a:r>
              <a:rPr lang="en-US" dirty="0"/>
              <a:t>Many popular Python toolboxes/libraries:</a:t>
            </a:r>
          </a:p>
          <a:p>
            <a:pPr lvl="1"/>
            <a:r>
              <a:rPr lang="en-US" dirty="0" err="1"/>
              <a:t>NumPy</a:t>
            </a:r>
            <a:endParaRPr lang="en-US" dirty="0"/>
          </a:p>
          <a:p>
            <a:pPr lvl="1"/>
            <a:r>
              <a:rPr lang="en-US" dirty="0" err="1"/>
              <a:t>SciPy</a:t>
            </a:r>
            <a:endParaRPr lang="en-US" dirty="0"/>
          </a:p>
          <a:p>
            <a:pPr lvl="1"/>
            <a:r>
              <a:rPr lang="en-US" dirty="0"/>
              <a:t>Pandas</a:t>
            </a:r>
          </a:p>
          <a:p>
            <a:pPr lvl="1"/>
            <a:r>
              <a:rPr lang="en-US" dirty="0" err="1"/>
              <a:t>SciKit</a:t>
            </a:r>
            <a:r>
              <a:rPr lang="en-US" dirty="0"/>
              <a:t>-Learn</a:t>
            </a:r>
          </a:p>
          <a:p>
            <a:pPr marL="457200" lvl="1" indent="0">
              <a:buNone/>
            </a:pPr>
            <a:endParaRPr lang="en-US" dirty="0"/>
          </a:p>
          <a:p>
            <a:pPr marL="0" indent="0">
              <a:buNone/>
            </a:pPr>
            <a:r>
              <a:rPr lang="en-US" dirty="0"/>
              <a:t>Visualization libraries</a:t>
            </a:r>
          </a:p>
          <a:p>
            <a:pPr lvl="1"/>
            <a:r>
              <a:rPr lang="en-US" dirty="0" err="1"/>
              <a:t>matplotlib</a:t>
            </a:r>
            <a:endParaRPr lang="en-US" dirty="0"/>
          </a:p>
          <a:p>
            <a:pPr lvl="1"/>
            <a:r>
              <a:rPr lang="en-US" dirty="0" err="1"/>
              <a:t>Seaborn</a:t>
            </a:r>
            <a:endParaRPr lang="en-US" dirty="0"/>
          </a:p>
          <a:p>
            <a:pPr marL="457200" lvl="1" indent="0">
              <a:buNone/>
            </a:pPr>
            <a:endParaRPr lang="en-US" dirty="0"/>
          </a:p>
        </p:txBody>
      </p:sp>
      <p:sp>
        <p:nvSpPr>
          <p:cNvPr id="4" name="Slide Number Placeholder 3"/>
          <p:cNvSpPr>
            <a:spLocks noGrp="1"/>
          </p:cNvSpPr>
          <p:nvPr>
            <p:ph type="sldNum" sz="quarter" idx="12"/>
          </p:nvPr>
        </p:nvSpPr>
        <p:spPr/>
        <p:txBody>
          <a:bodyPr/>
          <a:lstStyle/>
          <a:p>
            <a:fld id="{B841CA95-E0BC-48B5-948A-ECC494EB4D84}" type="slidenum">
              <a:rPr lang="en-US" smtClean="0"/>
              <a:t>10</a:t>
            </a:fld>
            <a:endParaRPr lang="en-US"/>
          </a:p>
        </p:txBody>
      </p:sp>
    </p:spTree>
    <p:extLst>
      <p:ext uri="{BB962C8B-B14F-4D97-AF65-F5344CB8AC3E}">
        <p14:creationId xmlns:p14="http://schemas.microsoft.com/office/powerpoint/2010/main" val="3973478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Libraries for Data Analysis</a:t>
            </a:r>
          </a:p>
        </p:txBody>
      </p:sp>
      <p:sp>
        <p:nvSpPr>
          <p:cNvPr id="3" name="Content Placeholder 2"/>
          <p:cNvSpPr>
            <a:spLocks noGrp="1"/>
          </p:cNvSpPr>
          <p:nvPr>
            <p:ph idx="1"/>
          </p:nvPr>
        </p:nvSpPr>
        <p:spPr/>
        <p:txBody>
          <a:bodyPr>
            <a:normAutofit/>
          </a:bodyPr>
          <a:lstStyle/>
          <a:p>
            <a:pPr marL="0" indent="0">
              <a:buNone/>
            </a:pPr>
            <a:r>
              <a:rPr lang="en-US" i="1" dirty="0" err="1"/>
              <a:t>NumPy</a:t>
            </a:r>
            <a:r>
              <a:rPr lang="en-US" i="1" dirty="0"/>
              <a:t>:</a:t>
            </a:r>
          </a:p>
          <a:p>
            <a:pPr lvl="1">
              <a:buFont typeface="Wingdings" panose="05000000000000000000" pitchFamily="2" charset="2"/>
              <a:buChar char="§"/>
            </a:pPr>
            <a:r>
              <a:rPr lang="en-US" dirty="0"/>
              <a:t>introduces objects for multidimensional arrays and matrices, as well as functions that allow to easily perform advanced mathematical and statistical operations on those objects</a:t>
            </a:r>
          </a:p>
          <a:p>
            <a:pPr lvl="1">
              <a:buFont typeface="Wingdings" panose="05000000000000000000" pitchFamily="2" charset="2"/>
              <a:buChar char="§"/>
            </a:pPr>
            <a:r>
              <a:rPr lang="en-US" dirty="0"/>
              <a:t>many other python libraries are built on NumPy</a:t>
            </a:r>
          </a:p>
          <a:p>
            <a:pPr marL="0" indent="0">
              <a:buNone/>
            </a:pPr>
            <a:r>
              <a:rPr lang="en-US" i="1" dirty="0"/>
              <a:t>SciPy:</a:t>
            </a:r>
          </a:p>
          <a:p>
            <a:pPr lvl="1">
              <a:buFont typeface="Wingdings" panose="05000000000000000000" pitchFamily="2" charset="2"/>
              <a:buChar char="§"/>
            </a:pPr>
            <a:r>
              <a:rPr lang="en-US" dirty="0"/>
              <a:t>collection of algorithms for linear algebra, differential equations, numerical integration, optimization, statistics and more</a:t>
            </a:r>
          </a:p>
          <a:p>
            <a:pPr lvl="1">
              <a:buFont typeface="Wingdings" panose="05000000000000000000" pitchFamily="2" charset="2"/>
              <a:buChar char="§"/>
            </a:pPr>
            <a:r>
              <a:rPr lang="en-US" dirty="0"/>
              <a:t>part of SciPy Stack</a:t>
            </a:r>
          </a:p>
          <a:p>
            <a:pPr lvl="1">
              <a:buFont typeface="Wingdings" panose="05000000000000000000" pitchFamily="2" charset="2"/>
              <a:buChar char="§"/>
            </a:pPr>
            <a:r>
              <a:rPr lang="en-US" dirty="0"/>
              <a:t>built on NumPy</a:t>
            </a:r>
          </a:p>
        </p:txBody>
      </p:sp>
      <p:sp>
        <p:nvSpPr>
          <p:cNvPr id="4" name="Slide Number Placeholder 3"/>
          <p:cNvSpPr>
            <a:spLocks noGrp="1"/>
          </p:cNvSpPr>
          <p:nvPr>
            <p:ph type="sldNum" sz="quarter" idx="12"/>
          </p:nvPr>
        </p:nvSpPr>
        <p:spPr/>
        <p:txBody>
          <a:bodyPr/>
          <a:lstStyle/>
          <a:p>
            <a:fld id="{B841CA95-E0BC-48B5-948A-ECC494EB4D84}" type="slidenum">
              <a:rPr lang="en-US" smtClean="0"/>
              <a:t>11</a:t>
            </a:fld>
            <a:endParaRPr lang="en-US"/>
          </a:p>
        </p:txBody>
      </p:sp>
    </p:spTree>
    <p:extLst>
      <p:ext uri="{BB962C8B-B14F-4D97-AF65-F5344CB8AC3E}">
        <p14:creationId xmlns:p14="http://schemas.microsoft.com/office/powerpoint/2010/main" val="33640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Libraries for Data Analysis</a:t>
            </a:r>
          </a:p>
        </p:txBody>
      </p:sp>
      <p:sp>
        <p:nvSpPr>
          <p:cNvPr id="3" name="Content Placeholder 2"/>
          <p:cNvSpPr>
            <a:spLocks noGrp="1"/>
          </p:cNvSpPr>
          <p:nvPr>
            <p:ph idx="1"/>
          </p:nvPr>
        </p:nvSpPr>
        <p:spPr/>
        <p:txBody>
          <a:bodyPr/>
          <a:lstStyle/>
          <a:p>
            <a:pPr marL="0" indent="0">
              <a:buNone/>
            </a:pPr>
            <a:r>
              <a:rPr lang="en-US" i="1" dirty="0"/>
              <a:t>Pandas:</a:t>
            </a:r>
          </a:p>
          <a:p>
            <a:pPr lvl="1">
              <a:buFont typeface="Wingdings" panose="05000000000000000000" pitchFamily="2" charset="2"/>
              <a:buChar char="§"/>
            </a:pPr>
            <a:r>
              <a:rPr lang="en-US" dirty="0"/>
              <a:t>adds data structures and tools designed to work with table-like data</a:t>
            </a:r>
          </a:p>
          <a:p>
            <a:pPr lvl="1">
              <a:buFont typeface="Wingdings" panose="05000000000000000000" pitchFamily="2" charset="2"/>
              <a:buChar char="§"/>
            </a:pPr>
            <a:r>
              <a:rPr lang="en-US" dirty="0"/>
              <a:t>provides tools for data manipulation: reshaping, merging, sorting, slicing, aggregation etc.</a:t>
            </a:r>
          </a:p>
          <a:p>
            <a:pPr lvl="1">
              <a:buFont typeface="Wingdings" panose="05000000000000000000" pitchFamily="2" charset="2"/>
              <a:buChar char="§"/>
            </a:pPr>
            <a:r>
              <a:rPr lang="en-US" dirty="0"/>
              <a:t>allows handling missing data</a:t>
            </a:r>
          </a:p>
          <a:p>
            <a:pPr marL="0" indent="0">
              <a:buNone/>
            </a:pPr>
            <a:r>
              <a:rPr lang="en-US" i="1" dirty="0" err="1"/>
              <a:t>SciKit</a:t>
            </a:r>
            <a:r>
              <a:rPr lang="en-US" i="1" dirty="0"/>
              <a:t>-Learn:</a:t>
            </a:r>
          </a:p>
          <a:p>
            <a:pPr lvl="1">
              <a:buFont typeface="Wingdings" panose="05000000000000000000" pitchFamily="2" charset="2"/>
              <a:buChar char="§"/>
            </a:pPr>
            <a:r>
              <a:rPr lang="en-US" dirty="0"/>
              <a:t>provides machine learning algorithms: classification, regression, clustering, model validation etc.</a:t>
            </a:r>
          </a:p>
          <a:p>
            <a:pPr lvl="1">
              <a:buFont typeface="Wingdings" panose="05000000000000000000" pitchFamily="2" charset="2"/>
              <a:buChar char="§"/>
            </a:pPr>
            <a:r>
              <a:rPr lang="en-US" dirty="0"/>
              <a:t>built on NumPy, SciPy and matplotlib</a:t>
            </a:r>
          </a:p>
        </p:txBody>
      </p:sp>
      <p:sp>
        <p:nvSpPr>
          <p:cNvPr id="4" name="Slide Number Placeholder 3"/>
          <p:cNvSpPr>
            <a:spLocks noGrp="1"/>
          </p:cNvSpPr>
          <p:nvPr>
            <p:ph type="sldNum" sz="quarter" idx="12"/>
          </p:nvPr>
        </p:nvSpPr>
        <p:spPr/>
        <p:txBody>
          <a:bodyPr/>
          <a:lstStyle/>
          <a:p>
            <a:fld id="{B841CA95-E0BC-48B5-948A-ECC494EB4D84}" type="slidenum">
              <a:rPr lang="en-US" smtClean="0"/>
              <a:t>12</a:t>
            </a:fld>
            <a:endParaRPr lang="en-US"/>
          </a:p>
        </p:txBody>
      </p:sp>
    </p:spTree>
    <p:extLst>
      <p:ext uri="{BB962C8B-B14F-4D97-AF65-F5344CB8AC3E}">
        <p14:creationId xmlns:p14="http://schemas.microsoft.com/office/powerpoint/2010/main" val="2403328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i="1" dirty="0" err="1"/>
              <a:t>matplotlib</a:t>
            </a:r>
            <a:r>
              <a:rPr lang="en-US" i="1" dirty="0"/>
              <a:t>:</a:t>
            </a:r>
          </a:p>
          <a:p>
            <a:pPr lvl="1">
              <a:buFont typeface="Wingdings" panose="05000000000000000000" pitchFamily="2" charset="2"/>
              <a:buChar char="§"/>
            </a:pPr>
            <a:r>
              <a:rPr lang="en-US" dirty="0"/>
              <a:t>python 2D plotting library which produces publication quality figures in a variety of hardcopy formats </a:t>
            </a:r>
          </a:p>
          <a:p>
            <a:pPr lvl="1">
              <a:buFont typeface="Wingdings" panose="05000000000000000000" pitchFamily="2" charset="2"/>
              <a:buChar char="§"/>
            </a:pPr>
            <a:r>
              <a:rPr lang="en-US" dirty="0"/>
              <a:t>line plots, scatter plots, </a:t>
            </a:r>
            <a:r>
              <a:rPr lang="en-US" dirty="0" err="1"/>
              <a:t>barcharts</a:t>
            </a:r>
            <a:r>
              <a:rPr lang="en-US" dirty="0"/>
              <a:t>, histograms, pie charts etc.</a:t>
            </a:r>
          </a:p>
          <a:p>
            <a:pPr marL="0" indent="0">
              <a:buNone/>
            </a:pPr>
            <a:r>
              <a:rPr lang="en-US" i="1" dirty="0"/>
              <a:t>Seaborn:</a:t>
            </a:r>
          </a:p>
          <a:p>
            <a:pPr lvl="1">
              <a:buFont typeface="Wingdings" panose="05000000000000000000" pitchFamily="2" charset="2"/>
              <a:buChar char="§"/>
            </a:pPr>
            <a:r>
              <a:rPr lang="en-US" dirty="0"/>
              <a:t>based on matplotlib </a:t>
            </a:r>
          </a:p>
          <a:p>
            <a:pPr lvl="1">
              <a:buFont typeface="Wingdings" panose="05000000000000000000" pitchFamily="2" charset="2"/>
              <a:buChar char="§"/>
            </a:pPr>
            <a:r>
              <a:rPr lang="en-US" dirty="0"/>
              <a:t>provides high level interface for drawing attractive statistical graphics</a:t>
            </a:r>
          </a:p>
          <a:p>
            <a:pPr lvl="1">
              <a:buFont typeface="Wingdings" panose="05000000000000000000" pitchFamily="2" charset="2"/>
              <a:buChar char="§"/>
            </a:pPr>
            <a:r>
              <a:rPr lang="en-US" dirty="0"/>
              <a:t>Similar (in style) to the popular ggplot2 library in R</a:t>
            </a:r>
          </a:p>
          <a:p>
            <a:pPr marL="457200" lvl="1" indent="0">
              <a:buNone/>
            </a:pPr>
            <a:endParaRPr lang="en-US" dirty="0"/>
          </a:p>
        </p:txBody>
      </p:sp>
      <p:sp>
        <p:nvSpPr>
          <p:cNvPr id="2" name="Title 1"/>
          <p:cNvSpPr>
            <a:spLocks noGrp="1"/>
          </p:cNvSpPr>
          <p:nvPr>
            <p:ph type="title"/>
          </p:nvPr>
        </p:nvSpPr>
        <p:spPr/>
        <p:txBody>
          <a:bodyPr/>
          <a:lstStyle/>
          <a:p>
            <a:r>
              <a:rPr lang="en-US" dirty="0"/>
              <a:t>Python Libraries for Data Analysis</a:t>
            </a:r>
          </a:p>
        </p:txBody>
      </p:sp>
      <p:sp>
        <p:nvSpPr>
          <p:cNvPr id="4" name="Slide Number Placeholder 3"/>
          <p:cNvSpPr>
            <a:spLocks noGrp="1"/>
          </p:cNvSpPr>
          <p:nvPr>
            <p:ph type="sldNum" sz="quarter" idx="12"/>
          </p:nvPr>
        </p:nvSpPr>
        <p:spPr/>
        <p:txBody>
          <a:bodyPr/>
          <a:lstStyle/>
          <a:p>
            <a:fld id="{B841CA95-E0BC-48B5-948A-ECC494EB4D84}" type="slidenum">
              <a:rPr lang="en-US" smtClean="0"/>
              <a:t>13</a:t>
            </a:fld>
            <a:endParaRPr lang="en-US"/>
          </a:p>
        </p:txBody>
      </p:sp>
    </p:spTree>
    <p:extLst>
      <p:ext uri="{BB962C8B-B14F-4D97-AF65-F5344CB8AC3E}">
        <p14:creationId xmlns:p14="http://schemas.microsoft.com/office/powerpoint/2010/main" val="4185346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C55DA-AB2E-12A4-F75F-5E36C733940C}"/>
              </a:ext>
            </a:extLst>
          </p:cNvPr>
          <p:cNvSpPr>
            <a:spLocks noGrp="1"/>
          </p:cNvSpPr>
          <p:nvPr>
            <p:ph type="title"/>
          </p:nvPr>
        </p:nvSpPr>
        <p:spPr/>
        <p:txBody>
          <a:bodyPr/>
          <a:lstStyle/>
          <a:p>
            <a:r>
              <a:rPr lang="en-US" dirty="0"/>
              <a:t>Python Libraries for Data Analysis</a:t>
            </a:r>
            <a:endParaRPr lang="LID4096" dirty="0"/>
          </a:p>
        </p:txBody>
      </p:sp>
      <p:sp>
        <p:nvSpPr>
          <p:cNvPr id="3" name="Content Placeholder 2">
            <a:extLst>
              <a:ext uri="{FF2B5EF4-FFF2-40B4-BE49-F238E27FC236}">
                <a16:creationId xmlns:a16="http://schemas.microsoft.com/office/drawing/2014/main" id="{8ACC7EB4-9286-C136-72C6-265BD19961AD}"/>
              </a:ext>
            </a:extLst>
          </p:cNvPr>
          <p:cNvSpPr>
            <a:spLocks noGrp="1"/>
          </p:cNvSpPr>
          <p:nvPr>
            <p:ph idx="1"/>
          </p:nvPr>
        </p:nvSpPr>
        <p:spPr/>
        <p:txBody>
          <a:bodyPr/>
          <a:lstStyle/>
          <a:p>
            <a:r>
              <a:rPr lang="en-GB" sz="2400" dirty="0"/>
              <a:t>The </a:t>
            </a:r>
            <a:r>
              <a:rPr lang="en-GB" sz="2400" dirty="0" err="1"/>
              <a:t>Jupyter</a:t>
            </a:r>
            <a:r>
              <a:rPr lang="en-GB" sz="2400" dirty="0"/>
              <a:t> Notebook is the original web application for creating and sharing computational documents. It offers a simple, streamlined, document-centric experience.</a:t>
            </a:r>
          </a:p>
          <a:p>
            <a:r>
              <a:rPr lang="en-GB" sz="2400" dirty="0"/>
              <a:t>The </a:t>
            </a:r>
            <a:r>
              <a:rPr lang="en-GB" sz="2400" dirty="0" err="1"/>
              <a:t>Jupyter</a:t>
            </a:r>
            <a:r>
              <a:rPr lang="en-GB" sz="2400" dirty="0"/>
              <a:t> Notebook is a web-based interactive computing platform. The notebook combines live code, equations, narrative text, visualizations etc.</a:t>
            </a:r>
            <a:endParaRPr lang="LID4096" sz="2400" dirty="0"/>
          </a:p>
        </p:txBody>
      </p:sp>
      <p:sp>
        <p:nvSpPr>
          <p:cNvPr id="4" name="Slide Number Placeholder 3">
            <a:extLst>
              <a:ext uri="{FF2B5EF4-FFF2-40B4-BE49-F238E27FC236}">
                <a16:creationId xmlns:a16="http://schemas.microsoft.com/office/drawing/2014/main" id="{8821B378-065A-D96E-84BD-377BA5288DB8}"/>
              </a:ext>
            </a:extLst>
          </p:cNvPr>
          <p:cNvSpPr>
            <a:spLocks noGrp="1"/>
          </p:cNvSpPr>
          <p:nvPr>
            <p:ph type="sldNum" sz="quarter" idx="12"/>
          </p:nvPr>
        </p:nvSpPr>
        <p:spPr/>
        <p:txBody>
          <a:bodyPr/>
          <a:lstStyle/>
          <a:p>
            <a:fld id="{B841CA95-E0BC-48B5-948A-ECC494EB4D84}" type="slidenum">
              <a:rPr lang="en-US" smtClean="0"/>
              <a:t>14</a:t>
            </a:fld>
            <a:endParaRPr lang="en-US"/>
          </a:p>
        </p:txBody>
      </p:sp>
    </p:spTree>
    <p:extLst>
      <p:ext uri="{BB962C8B-B14F-4D97-AF65-F5344CB8AC3E}">
        <p14:creationId xmlns:p14="http://schemas.microsoft.com/office/powerpoint/2010/main" val="3775534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Libraries for Data Analysis</a:t>
            </a:r>
            <a:endParaRPr lang="en-US" b="1" dirty="0">
              <a:solidFill>
                <a:srgbClr val="FF0000"/>
              </a:solidFill>
            </a:endParaRPr>
          </a:p>
        </p:txBody>
      </p:sp>
      <p:sp>
        <p:nvSpPr>
          <p:cNvPr id="3" name="Content Placeholder 2"/>
          <p:cNvSpPr>
            <a:spLocks noGrp="1"/>
          </p:cNvSpPr>
          <p:nvPr>
            <p:ph idx="1"/>
          </p:nvPr>
        </p:nvSpPr>
        <p:spPr>
          <a:xfrm>
            <a:off x="838200" y="1765116"/>
            <a:ext cx="10687493" cy="4486275"/>
          </a:xfrm>
        </p:spPr>
        <p:txBody>
          <a:bodyPr>
            <a:normAutofit/>
          </a:bodyPr>
          <a:lstStyle/>
          <a:p>
            <a:r>
              <a:rPr lang="en-US" sz="2400" dirty="0"/>
              <a:t>Pandas is an easy package to install. Open up your terminal program (shell or </a:t>
            </a:r>
            <a:r>
              <a:rPr lang="en-US" sz="2400" dirty="0" err="1"/>
              <a:t>cmd</a:t>
            </a:r>
            <a:r>
              <a:rPr lang="en-US" sz="2400" dirty="0"/>
              <a:t>) and install it using either of the following commands:</a:t>
            </a:r>
          </a:p>
          <a:p>
            <a:endParaRPr lang="en-US" sz="2400" dirty="0"/>
          </a:p>
          <a:p>
            <a:endParaRPr lang="en-US" sz="2400" dirty="0"/>
          </a:p>
          <a:p>
            <a:endParaRPr lang="en-US" sz="2400" dirty="0"/>
          </a:p>
          <a:p>
            <a:r>
              <a:rPr lang="en-US" sz="2400" dirty="0"/>
              <a:t>For </a:t>
            </a:r>
            <a:r>
              <a:rPr lang="en-US" sz="2400" b="1" dirty="0" err="1">
                <a:latin typeface="Courier New" panose="02070309020205020404" pitchFamily="49" charset="0"/>
                <a:cs typeface="Courier New" panose="02070309020205020404" pitchFamily="49" charset="0"/>
              </a:rPr>
              <a:t>jupyter</a:t>
            </a:r>
            <a:r>
              <a:rPr lang="en-US" sz="2400" b="1" dirty="0">
                <a:latin typeface="Courier New" panose="02070309020205020404" pitchFamily="49" charset="0"/>
                <a:cs typeface="Courier New" panose="02070309020205020404" pitchFamily="49" charset="0"/>
              </a:rPr>
              <a:t> notebook </a:t>
            </a:r>
            <a:r>
              <a:rPr lang="en-US" sz="2400" dirty="0"/>
              <a:t>users, you can run this cell:</a:t>
            </a:r>
            <a:endParaRPr lang="en-US" sz="2000" b="1" dirty="0">
              <a:solidFill>
                <a:srgbClr val="FF0000"/>
              </a:solidFill>
              <a:latin typeface="Courier New" panose="02070309020205020404" pitchFamily="49" charset="0"/>
              <a:cs typeface="Courier New" panose="02070309020205020404" pitchFamily="49" charset="0"/>
            </a:endParaRPr>
          </a:p>
          <a:p>
            <a:pPr lvl="1"/>
            <a:r>
              <a:rPr lang="en-US" sz="2000" dirty="0"/>
              <a:t>The </a:t>
            </a:r>
            <a:r>
              <a:rPr lang="en-US" sz="2000" b="1" dirty="0">
                <a:solidFill>
                  <a:srgbClr val="FF0000"/>
                </a:solidFill>
                <a:latin typeface="Courier New" panose="02070309020205020404" pitchFamily="49" charset="0"/>
                <a:cs typeface="Courier New" panose="02070309020205020404" pitchFamily="49" charset="0"/>
              </a:rPr>
              <a:t>!</a:t>
            </a:r>
            <a:r>
              <a:rPr lang="en-US" sz="2000" dirty="0"/>
              <a:t> at the beginning runs cells as if they were in a terminal.</a:t>
            </a:r>
          </a:p>
          <a:p>
            <a:endParaRPr lang="en-US" sz="2400" dirty="0"/>
          </a:p>
          <a:p>
            <a:r>
              <a:rPr lang="en-US" sz="2400" dirty="0"/>
              <a:t>To import pandas, we usually import it with a shorter name since it's used so much:</a:t>
            </a:r>
          </a:p>
        </p:txBody>
      </p:sp>
      <p:sp>
        <p:nvSpPr>
          <p:cNvPr id="5" name="Rectangle 4"/>
          <p:cNvSpPr/>
          <p:nvPr/>
        </p:nvSpPr>
        <p:spPr>
          <a:xfrm>
            <a:off x="8245256" y="2303097"/>
            <a:ext cx="3570208" cy="400110"/>
          </a:xfrm>
          <a:prstGeom prst="rect">
            <a:avLst/>
          </a:prstGeom>
          <a:solidFill>
            <a:schemeClr val="accent4">
              <a:lumMod val="20000"/>
              <a:lumOff val="80000"/>
            </a:schemeClr>
          </a:solidFill>
          <a:ln>
            <a:solidFill>
              <a:schemeClr val="accent1"/>
            </a:solidFill>
          </a:ln>
        </p:spPr>
        <p:txBody>
          <a:bodyPr wrap="none">
            <a:spAutoFit/>
          </a:bodyPr>
          <a:lstStyle/>
          <a:p>
            <a:pPr algn="ctr"/>
            <a:r>
              <a:rPr lang="en-US" sz="2000" b="1">
                <a:solidFill>
                  <a:srgbClr val="FF0000"/>
                </a:solidFill>
                <a:latin typeface="Courier New" panose="02070309020205020404" pitchFamily="49" charset="0"/>
                <a:cs typeface="Courier New" panose="02070309020205020404" pitchFamily="49" charset="0"/>
              </a:rPr>
              <a:t>$ </a:t>
            </a:r>
            <a:r>
              <a:rPr lang="en-US" sz="2000" b="1" dirty="0">
                <a:solidFill>
                  <a:srgbClr val="FF0000"/>
                </a:solidFill>
                <a:latin typeface="Courier New" panose="02070309020205020404" pitchFamily="49" charset="0"/>
                <a:cs typeface="Courier New" panose="02070309020205020404" pitchFamily="49" charset="0"/>
              </a:rPr>
              <a:t>pip  install  pandas</a:t>
            </a:r>
          </a:p>
        </p:txBody>
      </p:sp>
      <p:sp>
        <p:nvSpPr>
          <p:cNvPr id="9" name="Rectangle 8"/>
          <p:cNvSpPr/>
          <p:nvPr/>
        </p:nvSpPr>
        <p:spPr>
          <a:xfrm>
            <a:off x="8245257" y="3896464"/>
            <a:ext cx="3570207" cy="400110"/>
          </a:xfrm>
          <a:prstGeom prst="rect">
            <a:avLst/>
          </a:prstGeom>
          <a:solidFill>
            <a:schemeClr val="accent4">
              <a:lumMod val="20000"/>
              <a:lumOff val="80000"/>
            </a:schemeClr>
          </a:solidFill>
          <a:ln>
            <a:solidFill>
              <a:schemeClr val="accent1"/>
            </a:solidFill>
          </a:ln>
        </p:spPr>
        <p:txBody>
          <a:bodyPr wrap="square">
            <a:spAutoFit/>
          </a:bodyPr>
          <a:lstStyle/>
          <a:p>
            <a:r>
              <a:rPr lang="en-US" sz="2000" b="1" dirty="0">
                <a:solidFill>
                  <a:srgbClr val="FF0000"/>
                </a:solidFill>
                <a:latin typeface="Courier New" panose="02070309020205020404" pitchFamily="49" charset="0"/>
                <a:cs typeface="Courier New" panose="02070309020205020404" pitchFamily="49" charset="0"/>
              </a:rPr>
              <a:t>!pip install pandas</a:t>
            </a:r>
          </a:p>
        </p:txBody>
      </p:sp>
      <p:sp>
        <p:nvSpPr>
          <p:cNvPr id="10" name="Rectangle 9"/>
          <p:cNvSpPr/>
          <p:nvPr/>
        </p:nvSpPr>
        <p:spPr>
          <a:xfrm>
            <a:off x="8245256" y="5829463"/>
            <a:ext cx="3570208" cy="400110"/>
          </a:xfrm>
          <a:prstGeom prst="rect">
            <a:avLst/>
          </a:prstGeom>
          <a:solidFill>
            <a:schemeClr val="accent4">
              <a:lumMod val="20000"/>
              <a:lumOff val="80000"/>
            </a:schemeClr>
          </a:solidFill>
          <a:ln>
            <a:solidFill>
              <a:schemeClr val="accent1"/>
            </a:solidFill>
          </a:ln>
        </p:spPr>
        <p:txBody>
          <a:bodyPr wrap="square">
            <a:spAutoFit/>
          </a:bodyPr>
          <a:lstStyle/>
          <a:p>
            <a:pPr algn="ctr"/>
            <a:r>
              <a:rPr lang="en-US" sz="2000" b="1" dirty="0">
                <a:solidFill>
                  <a:srgbClr val="FF0000"/>
                </a:solidFill>
                <a:latin typeface="Courier New" panose="02070309020205020404" pitchFamily="49" charset="0"/>
                <a:cs typeface="Courier New" panose="02070309020205020404" pitchFamily="49" charset="0"/>
              </a:rPr>
              <a:t>import pandas as </a:t>
            </a:r>
            <a:r>
              <a:rPr lang="en-US" sz="2000" b="1" dirty="0" err="1">
                <a:solidFill>
                  <a:srgbClr val="FF0000"/>
                </a:solidFill>
                <a:latin typeface="Courier New" panose="02070309020205020404" pitchFamily="49" charset="0"/>
                <a:cs typeface="Courier New" panose="02070309020205020404" pitchFamily="49" charset="0"/>
              </a:rPr>
              <a:t>pd</a:t>
            </a:r>
            <a:endParaRPr lang="en-US" sz="2000" b="1" dirty="0">
              <a:solidFill>
                <a:srgbClr val="FF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761799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972" y="223817"/>
            <a:ext cx="10981508" cy="1021510"/>
          </a:xfrm>
        </p:spPr>
        <p:txBody>
          <a:bodyPr>
            <a:normAutofit fontScale="90000"/>
          </a:bodyPr>
          <a:lstStyle/>
          <a:p>
            <a:pPr algn="ctr"/>
            <a:r>
              <a:rPr lang="en-US" sz="4000" b="1" dirty="0"/>
              <a:t>Core components of pandas:  </a:t>
            </a:r>
            <a:r>
              <a:rPr lang="en-US" sz="4000" b="1" dirty="0">
                <a:solidFill>
                  <a:srgbClr val="0070C0"/>
                </a:solidFill>
              </a:rPr>
              <a:t>Series</a:t>
            </a:r>
            <a:r>
              <a:rPr lang="en-US" sz="4000" b="1" dirty="0"/>
              <a:t> &amp; </a:t>
            </a:r>
            <a:r>
              <a:rPr lang="en-US" sz="4000" b="1" dirty="0" err="1">
                <a:solidFill>
                  <a:srgbClr val="0070C0"/>
                </a:solidFill>
              </a:rPr>
              <a:t>DataFrames</a:t>
            </a:r>
            <a:endParaRPr lang="en-US" sz="4000" b="1" dirty="0">
              <a:solidFill>
                <a:srgbClr val="0070C0"/>
              </a:solidFill>
            </a:endParaRPr>
          </a:p>
        </p:txBody>
      </p:sp>
      <p:sp>
        <p:nvSpPr>
          <p:cNvPr id="3" name="Content Placeholder 2"/>
          <p:cNvSpPr>
            <a:spLocks noGrp="1"/>
          </p:cNvSpPr>
          <p:nvPr>
            <p:ph idx="1"/>
          </p:nvPr>
        </p:nvSpPr>
        <p:spPr>
          <a:xfrm>
            <a:off x="478972" y="1245327"/>
            <a:ext cx="10874828" cy="2372704"/>
          </a:xfrm>
        </p:spPr>
        <p:txBody>
          <a:bodyPr>
            <a:noAutofit/>
          </a:bodyPr>
          <a:lstStyle/>
          <a:p>
            <a:pPr>
              <a:lnSpc>
                <a:spcPct val="100000"/>
              </a:lnSpc>
              <a:spcBef>
                <a:spcPts val="600"/>
              </a:spcBef>
              <a:spcAft>
                <a:spcPts val="600"/>
              </a:spcAft>
            </a:pPr>
            <a:r>
              <a:rPr lang="en-US" sz="2000" dirty="0"/>
              <a:t>The primary two components of pandas are the </a:t>
            </a:r>
            <a:r>
              <a:rPr lang="en-US" sz="2000" u="sng" dirty="0">
                <a:solidFill>
                  <a:srgbClr val="FF0000"/>
                </a:solidFill>
              </a:rPr>
              <a:t>Series</a:t>
            </a:r>
            <a:r>
              <a:rPr lang="en-US" sz="2000" dirty="0"/>
              <a:t> and </a:t>
            </a:r>
            <a:r>
              <a:rPr lang="en-US" sz="2000" u="sng" dirty="0" err="1">
                <a:solidFill>
                  <a:srgbClr val="FF0000"/>
                </a:solidFill>
              </a:rPr>
              <a:t>DataFrame</a:t>
            </a:r>
            <a:r>
              <a:rPr lang="en-US" sz="2000" dirty="0"/>
              <a:t>.</a:t>
            </a:r>
          </a:p>
          <a:p>
            <a:pPr lvl="1">
              <a:lnSpc>
                <a:spcPct val="100000"/>
              </a:lnSpc>
              <a:spcBef>
                <a:spcPts val="600"/>
              </a:spcBef>
              <a:spcAft>
                <a:spcPts val="600"/>
              </a:spcAft>
            </a:pPr>
            <a:r>
              <a:rPr lang="en-US" sz="2000" dirty="0">
                <a:solidFill>
                  <a:srgbClr val="FF0000"/>
                </a:solidFill>
              </a:rPr>
              <a:t>Series</a:t>
            </a:r>
            <a:r>
              <a:rPr lang="en-US" sz="2000" dirty="0"/>
              <a:t> is essentially a </a:t>
            </a:r>
            <a:r>
              <a:rPr lang="en-US" sz="2000" dirty="0">
                <a:solidFill>
                  <a:srgbClr val="FF0000"/>
                </a:solidFill>
              </a:rPr>
              <a:t>column</a:t>
            </a:r>
            <a:r>
              <a:rPr lang="en-US" sz="2000" dirty="0"/>
              <a:t>, and </a:t>
            </a:r>
          </a:p>
          <a:p>
            <a:pPr lvl="1">
              <a:lnSpc>
                <a:spcPct val="100000"/>
              </a:lnSpc>
              <a:spcBef>
                <a:spcPts val="600"/>
              </a:spcBef>
              <a:spcAft>
                <a:spcPts val="600"/>
              </a:spcAft>
            </a:pPr>
            <a:r>
              <a:rPr lang="en-US" sz="2000" dirty="0" err="1">
                <a:solidFill>
                  <a:srgbClr val="FF0000"/>
                </a:solidFill>
              </a:rPr>
              <a:t>DataFrame</a:t>
            </a:r>
            <a:r>
              <a:rPr lang="en-US" sz="2000" dirty="0"/>
              <a:t> is a multi-dimensional table made up of a </a:t>
            </a:r>
            <a:r>
              <a:rPr lang="en-US" sz="2000" dirty="0">
                <a:solidFill>
                  <a:srgbClr val="FF0000"/>
                </a:solidFill>
              </a:rPr>
              <a:t>collection of Series</a:t>
            </a:r>
            <a:r>
              <a:rPr lang="en-US" sz="2000" dirty="0"/>
              <a:t>.</a:t>
            </a:r>
          </a:p>
          <a:p>
            <a:pPr>
              <a:lnSpc>
                <a:spcPct val="100000"/>
              </a:lnSpc>
              <a:spcBef>
                <a:spcPts val="600"/>
              </a:spcBef>
              <a:spcAft>
                <a:spcPts val="600"/>
              </a:spcAft>
            </a:pPr>
            <a:r>
              <a:rPr lang="en-US" sz="2000" dirty="0" err="1">
                <a:solidFill>
                  <a:srgbClr val="FF0000"/>
                </a:solidFill>
              </a:rPr>
              <a:t>DataFrames</a:t>
            </a:r>
            <a:r>
              <a:rPr lang="en-US" sz="2000" dirty="0"/>
              <a:t> and </a:t>
            </a:r>
            <a:r>
              <a:rPr lang="en-US" sz="2000" dirty="0">
                <a:solidFill>
                  <a:srgbClr val="FF0000"/>
                </a:solidFill>
              </a:rPr>
              <a:t>Series</a:t>
            </a:r>
            <a:r>
              <a:rPr lang="en-US" sz="2000" dirty="0"/>
              <a:t> are quite similar in that many </a:t>
            </a:r>
            <a:r>
              <a:rPr lang="en-US" sz="2000" u="sng" dirty="0"/>
              <a:t>operations</a:t>
            </a:r>
            <a:r>
              <a:rPr lang="en-US" sz="2000" dirty="0"/>
              <a:t> that you can do with one you can do with the other, such as filling in null values and calculating the mean.</a:t>
            </a:r>
          </a:p>
          <a:p>
            <a:pPr lvl="1">
              <a:lnSpc>
                <a:spcPct val="100000"/>
              </a:lnSpc>
              <a:spcBef>
                <a:spcPts val="600"/>
              </a:spcBef>
              <a:spcAft>
                <a:spcPts val="600"/>
              </a:spcAft>
            </a:pPr>
            <a:r>
              <a:rPr lang="en-US" sz="1600" dirty="0"/>
              <a:t>A Data frame is a two-dimensional data structure, i.e., data is aligned in a tabular fashion in rows and columns.</a:t>
            </a:r>
          </a:p>
          <a:p>
            <a:pPr lvl="1">
              <a:lnSpc>
                <a:spcPct val="100000"/>
              </a:lnSpc>
              <a:spcBef>
                <a:spcPts val="600"/>
              </a:spcBef>
              <a:spcAft>
                <a:spcPts val="600"/>
              </a:spcAft>
            </a:pPr>
            <a:endParaRPr lang="en-US" sz="1600" dirty="0"/>
          </a:p>
        </p:txBody>
      </p:sp>
      <p:pic>
        <p:nvPicPr>
          <p:cNvPr id="1026" name="Picture 2" descr="Series vs DataFra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9726" y="4562996"/>
            <a:ext cx="5291545" cy="202666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78972" y="4028842"/>
            <a:ext cx="5286102" cy="1846659"/>
          </a:xfrm>
          <a:prstGeom prst="rect">
            <a:avLst/>
          </a:prstGeom>
        </p:spPr>
        <p:txBody>
          <a:bodyPr wrap="square">
            <a:spAutoFit/>
          </a:bodyPr>
          <a:lstStyle/>
          <a:p>
            <a:pPr marL="342900" indent="-342900">
              <a:buFont typeface="Arial" panose="020B0604020202020204" pitchFamily="34" charset="0"/>
              <a:buChar char="•"/>
            </a:pPr>
            <a:r>
              <a:rPr lang="en-US" sz="2400" dirty="0"/>
              <a:t>Features of </a:t>
            </a:r>
            <a:r>
              <a:rPr lang="en-US" sz="2400" dirty="0" err="1"/>
              <a:t>DataFrame</a:t>
            </a:r>
            <a:endParaRPr lang="en-US" sz="2400" dirty="0"/>
          </a:p>
          <a:p>
            <a:pPr marL="800100" lvl="1" indent="-342900">
              <a:buFont typeface="Arial" panose="020B0604020202020204" pitchFamily="34" charset="0"/>
              <a:buChar char="•"/>
            </a:pPr>
            <a:r>
              <a:rPr lang="en-US" dirty="0"/>
              <a:t>Potentially columns are of different types</a:t>
            </a:r>
          </a:p>
          <a:p>
            <a:pPr marL="800100" lvl="1" indent="-342900">
              <a:buFont typeface="Arial" panose="020B0604020202020204" pitchFamily="34" charset="0"/>
              <a:buChar char="•"/>
            </a:pPr>
            <a:r>
              <a:rPr lang="en-US" dirty="0"/>
              <a:t>Size – Mutable</a:t>
            </a:r>
          </a:p>
          <a:p>
            <a:pPr marL="800100" lvl="1" indent="-342900">
              <a:buFont typeface="Arial" panose="020B0604020202020204" pitchFamily="34" charset="0"/>
              <a:buChar char="•"/>
            </a:pPr>
            <a:r>
              <a:rPr lang="en-US" dirty="0"/>
              <a:t>Labeled axes (</a:t>
            </a:r>
            <a:r>
              <a:rPr lang="en-US" i="1" dirty="0"/>
              <a:t>rows</a:t>
            </a:r>
            <a:r>
              <a:rPr lang="en-US" dirty="0"/>
              <a:t> and </a:t>
            </a:r>
            <a:r>
              <a:rPr lang="en-US" i="1" dirty="0"/>
              <a:t>columns</a:t>
            </a:r>
            <a:r>
              <a:rPr lang="en-US" dirty="0"/>
              <a:t>)</a:t>
            </a:r>
          </a:p>
          <a:p>
            <a:pPr marL="800100" lvl="1" indent="-342900">
              <a:buFont typeface="Arial" panose="020B0604020202020204" pitchFamily="34" charset="0"/>
              <a:buChar char="•"/>
            </a:pPr>
            <a:r>
              <a:rPr lang="en-US" dirty="0"/>
              <a:t>Can Perform Arithmetic operations on rows and columns</a:t>
            </a:r>
          </a:p>
        </p:txBody>
      </p:sp>
      <p:grpSp>
        <p:nvGrpSpPr>
          <p:cNvPr id="18" name="Group 17"/>
          <p:cNvGrpSpPr/>
          <p:nvPr/>
        </p:nvGrpSpPr>
        <p:grpSpPr>
          <a:xfrm>
            <a:off x="11129555" y="5268687"/>
            <a:ext cx="1010193" cy="1114696"/>
            <a:chOff x="11129555" y="5268687"/>
            <a:chExt cx="1010193" cy="1114696"/>
          </a:xfrm>
        </p:grpSpPr>
        <p:cxnSp>
          <p:nvCxnSpPr>
            <p:cNvPr id="6" name="Straight Arrow Connector 5"/>
            <p:cNvCxnSpPr/>
            <p:nvPr/>
          </p:nvCxnSpPr>
          <p:spPr>
            <a:xfrm flipH="1" flipV="1">
              <a:off x="11129555" y="5799909"/>
              <a:ext cx="444136" cy="7559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p:cNvCxnSpPr/>
            <p:nvPr/>
          </p:nvCxnSpPr>
          <p:spPr>
            <a:xfrm flipH="1">
              <a:off x="11195413" y="5875501"/>
              <a:ext cx="378278" cy="50788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 name="Rectangle 12"/>
            <p:cNvSpPr/>
            <p:nvPr/>
          </p:nvSpPr>
          <p:spPr>
            <a:xfrm>
              <a:off x="11460480" y="5686103"/>
              <a:ext cx="679268" cy="378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rows</a:t>
              </a:r>
            </a:p>
          </p:txBody>
        </p:sp>
        <p:cxnSp>
          <p:nvCxnSpPr>
            <p:cNvPr id="15" name="Straight Arrow Connector 14"/>
            <p:cNvCxnSpPr/>
            <p:nvPr/>
          </p:nvCxnSpPr>
          <p:spPr>
            <a:xfrm flipH="1" flipV="1">
              <a:off x="11129555" y="5268687"/>
              <a:ext cx="444136" cy="6068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6" name="Group 25"/>
          <p:cNvGrpSpPr/>
          <p:nvPr/>
        </p:nvGrpSpPr>
        <p:grpSpPr>
          <a:xfrm>
            <a:off x="9910355" y="3848839"/>
            <a:ext cx="1474197" cy="1306635"/>
            <a:chOff x="9910355" y="3848839"/>
            <a:chExt cx="1474197" cy="1306635"/>
          </a:xfrm>
        </p:grpSpPr>
        <p:cxnSp>
          <p:nvCxnSpPr>
            <p:cNvPr id="20" name="Straight Arrow Connector 19"/>
            <p:cNvCxnSpPr/>
            <p:nvPr/>
          </p:nvCxnSpPr>
          <p:spPr>
            <a:xfrm flipH="1">
              <a:off x="9910355" y="4232366"/>
              <a:ext cx="971550" cy="92310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3" name="Straight Arrow Connector 22"/>
            <p:cNvCxnSpPr/>
            <p:nvPr/>
          </p:nvCxnSpPr>
          <p:spPr>
            <a:xfrm flipH="1">
              <a:off x="10672355" y="4232366"/>
              <a:ext cx="218258" cy="92310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7" name="Rectangle 26"/>
            <p:cNvSpPr/>
            <p:nvPr/>
          </p:nvSpPr>
          <p:spPr>
            <a:xfrm>
              <a:off x="10374359" y="3848839"/>
              <a:ext cx="1010193" cy="378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columns</a:t>
              </a:r>
            </a:p>
          </p:txBody>
        </p:sp>
      </p:grpSp>
    </p:spTree>
    <p:extLst>
      <p:ext uri="{BB962C8B-B14F-4D97-AF65-F5344CB8AC3E}">
        <p14:creationId xmlns:p14="http://schemas.microsoft.com/office/powerpoint/2010/main" val="1967848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83052"/>
            <a:ext cx="10515600" cy="1325563"/>
          </a:xfrm>
        </p:spPr>
        <p:txBody>
          <a:bodyPr/>
          <a:lstStyle/>
          <a:p>
            <a:r>
              <a:rPr lang="en-US" b="1" dirty="0"/>
              <a:t>Creating a </a:t>
            </a:r>
            <a:r>
              <a:rPr lang="en-US" b="1" dirty="0" err="1"/>
              <a:t>DataFrame</a:t>
            </a:r>
            <a:r>
              <a:rPr lang="en-US" b="1" dirty="0"/>
              <a:t> from scratch</a:t>
            </a:r>
          </a:p>
        </p:txBody>
      </p:sp>
      <p:sp>
        <p:nvSpPr>
          <p:cNvPr id="3" name="Content Placeholder 2"/>
          <p:cNvSpPr>
            <a:spLocks noGrp="1"/>
          </p:cNvSpPr>
          <p:nvPr>
            <p:ph idx="1"/>
          </p:nvPr>
        </p:nvSpPr>
        <p:spPr>
          <a:xfrm>
            <a:off x="838199" y="1508615"/>
            <a:ext cx="10515600" cy="4870920"/>
          </a:xfrm>
        </p:spPr>
        <p:txBody>
          <a:bodyPr>
            <a:noAutofit/>
          </a:bodyPr>
          <a:lstStyle/>
          <a:p>
            <a:pPr>
              <a:lnSpc>
                <a:spcPct val="110000"/>
              </a:lnSpc>
            </a:pPr>
            <a:r>
              <a:rPr lang="en-US" sz="2000" dirty="0"/>
              <a:t>There are many ways to create a </a:t>
            </a:r>
            <a:r>
              <a:rPr lang="en-US" sz="2000" dirty="0" err="1"/>
              <a:t>DataFrame</a:t>
            </a:r>
            <a:r>
              <a:rPr lang="en-US" sz="2000" dirty="0"/>
              <a:t> from scratch, but a great option is to just use a simple dict. But first you must import pandas.</a:t>
            </a:r>
          </a:p>
          <a:p>
            <a:pPr>
              <a:lnSpc>
                <a:spcPct val="110000"/>
              </a:lnSpc>
            </a:pPr>
            <a:endParaRPr lang="en-US" sz="2000" dirty="0"/>
          </a:p>
          <a:p>
            <a:pPr>
              <a:lnSpc>
                <a:spcPct val="110000"/>
              </a:lnSpc>
            </a:pPr>
            <a:r>
              <a:rPr lang="en-US" sz="2000" dirty="0"/>
              <a:t>Let's say we have a fruit stand that sells apples and oranges. We want to have a column for each fruit and a row for each customer purchase. To organize this as a dictionary for pandas we could do something like:</a:t>
            </a:r>
          </a:p>
          <a:p>
            <a:pPr>
              <a:lnSpc>
                <a:spcPct val="110000"/>
              </a:lnSpc>
            </a:pPr>
            <a:endParaRPr lang="en-US" sz="2000" dirty="0"/>
          </a:p>
          <a:p>
            <a:pPr>
              <a:lnSpc>
                <a:spcPct val="110000"/>
              </a:lnSpc>
            </a:pPr>
            <a:endParaRPr lang="en-US" sz="2000" dirty="0"/>
          </a:p>
          <a:p>
            <a:pPr>
              <a:lnSpc>
                <a:spcPct val="110000"/>
              </a:lnSpc>
            </a:pPr>
            <a:r>
              <a:rPr lang="en-US" sz="2000" dirty="0"/>
              <a:t>And then pass it to the pandas </a:t>
            </a:r>
            <a:r>
              <a:rPr lang="en-US" sz="2000" dirty="0" err="1"/>
              <a:t>DataFrame</a:t>
            </a:r>
            <a:r>
              <a:rPr lang="en-US" sz="2000" dirty="0"/>
              <a:t> constructor:</a:t>
            </a:r>
          </a:p>
          <a:p>
            <a:pPr>
              <a:lnSpc>
                <a:spcPct val="110000"/>
              </a:lnSpc>
            </a:pPr>
            <a:endParaRPr lang="en-US" sz="1800" dirty="0"/>
          </a:p>
        </p:txBody>
      </p:sp>
      <p:sp>
        <p:nvSpPr>
          <p:cNvPr id="5" name="Rectangle 4"/>
          <p:cNvSpPr/>
          <p:nvPr/>
        </p:nvSpPr>
        <p:spPr>
          <a:xfrm>
            <a:off x="1107213" y="5518023"/>
            <a:ext cx="5746215" cy="369332"/>
          </a:xfrm>
          <a:prstGeom prst="rect">
            <a:avLst/>
          </a:prstGeom>
          <a:solidFill>
            <a:schemeClr val="accent4">
              <a:lumMod val="20000"/>
              <a:lumOff val="80000"/>
            </a:schemeClr>
          </a:solidFill>
          <a:ln>
            <a:solidFill>
              <a:schemeClr val="accent1"/>
            </a:solidFill>
          </a:ln>
        </p:spPr>
        <p:txBody>
          <a:bodyPr wrap="square">
            <a:spAutoFit/>
          </a:bodyPr>
          <a:lstStyle/>
          <a:p>
            <a:r>
              <a:rPr lang="en-US" b="1" dirty="0" err="1">
                <a:solidFill>
                  <a:srgbClr val="000000"/>
                </a:solidFill>
                <a:latin typeface="Courier New" panose="02070309020205020404" pitchFamily="49" charset="0"/>
              </a:rPr>
              <a:t>df</a:t>
            </a:r>
            <a:r>
              <a:rPr lang="en-US" b="1" dirty="0">
                <a:solidFill>
                  <a:srgbClr val="4D4D4C"/>
                </a:solidFill>
                <a:latin typeface="Courier New" panose="02070309020205020404" pitchFamily="49" charset="0"/>
                <a:cs typeface="Courier New" panose="02070309020205020404" pitchFamily="49" charset="0"/>
              </a:rPr>
              <a:t> </a:t>
            </a:r>
            <a:r>
              <a:rPr lang="en-US" b="1" dirty="0">
                <a:solidFill>
                  <a:srgbClr val="3E999F"/>
                </a:solidFill>
                <a:latin typeface="Courier New" panose="02070309020205020404" pitchFamily="49" charset="0"/>
                <a:cs typeface="Courier New" panose="02070309020205020404" pitchFamily="49" charset="0"/>
              </a:rPr>
              <a:t>=</a:t>
            </a:r>
            <a:r>
              <a:rPr lang="en-US" b="1" dirty="0">
                <a:solidFill>
                  <a:srgbClr val="4D4D4C"/>
                </a:solidFill>
                <a:latin typeface="Courier New" panose="02070309020205020404" pitchFamily="49" charset="0"/>
                <a:cs typeface="Courier New" panose="02070309020205020404" pitchFamily="49" charset="0"/>
              </a:rPr>
              <a:t> </a:t>
            </a:r>
            <a:r>
              <a:rPr lang="en-US" b="1" dirty="0" err="1">
                <a:solidFill>
                  <a:srgbClr val="000000"/>
                </a:solidFill>
                <a:latin typeface="Courier New" panose="02070309020205020404" pitchFamily="49" charset="0"/>
              </a:rPr>
              <a:t>pd.</a:t>
            </a:r>
            <a:r>
              <a:rPr lang="en-US" b="1" dirty="0" err="1">
                <a:solidFill>
                  <a:srgbClr val="4271AE"/>
                </a:solidFill>
                <a:latin typeface="Courier New" panose="02070309020205020404" pitchFamily="49" charset="0"/>
                <a:cs typeface="Courier New" panose="02070309020205020404" pitchFamily="49" charset="0"/>
              </a:rPr>
              <a:t>DataFrame</a:t>
            </a:r>
            <a:r>
              <a:rPr lang="en-US" b="1" dirty="0">
                <a:solidFill>
                  <a:srgbClr val="000000"/>
                </a:solidFill>
                <a:latin typeface="Courier New" panose="02070309020205020404" pitchFamily="49" charset="0"/>
              </a:rPr>
              <a:t>(data)</a:t>
            </a:r>
          </a:p>
        </p:txBody>
      </p:sp>
      <p:sp>
        <p:nvSpPr>
          <p:cNvPr id="6" name="Right Arrow 5"/>
          <p:cNvSpPr/>
          <p:nvPr/>
        </p:nvSpPr>
        <p:spPr>
          <a:xfrm>
            <a:off x="7714199" y="5408890"/>
            <a:ext cx="776177" cy="478465"/>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7" name="Rectangle 6"/>
          <p:cNvSpPr/>
          <p:nvPr/>
        </p:nvSpPr>
        <p:spPr>
          <a:xfrm>
            <a:off x="1080892" y="2361387"/>
            <a:ext cx="2803973" cy="369332"/>
          </a:xfrm>
          <a:prstGeom prst="rect">
            <a:avLst/>
          </a:prstGeom>
          <a:solidFill>
            <a:schemeClr val="accent4">
              <a:lumMod val="20000"/>
              <a:lumOff val="80000"/>
            </a:schemeClr>
          </a:solidFill>
          <a:ln>
            <a:solidFill>
              <a:schemeClr val="accent1"/>
            </a:solidFill>
          </a:ln>
        </p:spPr>
        <p:txBody>
          <a:bodyPr wrap="none">
            <a:spAutoFit/>
          </a:bodyPr>
          <a:lstStyle/>
          <a:p>
            <a:r>
              <a:rPr lang="en-US" b="1" dirty="0">
                <a:solidFill>
                  <a:srgbClr val="AF00DB"/>
                </a:solidFill>
                <a:latin typeface="Courier New" panose="02070309020205020404" pitchFamily="49" charset="0"/>
              </a:rPr>
              <a:t>import</a:t>
            </a:r>
            <a:r>
              <a:rPr lang="en-US" b="1" dirty="0">
                <a:solidFill>
                  <a:srgbClr val="000000"/>
                </a:solidFill>
                <a:latin typeface="Courier New" panose="02070309020205020404" pitchFamily="49" charset="0"/>
              </a:rPr>
              <a:t> pandas </a:t>
            </a:r>
            <a:r>
              <a:rPr lang="en-US" b="1" dirty="0">
                <a:solidFill>
                  <a:srgbClr val="AF00DB"/>
                </a:solidFill>
                <a:latin typeface="Courier New" panose="02070309020205020404" pitchFamily="49" charset="0"/>
              </a:rPr>
              <a:t>as</a:t>
            </a:r>
            <a:r>
              <a:rPr lang="en-US" b="1" dirty="0">
                <a:solidFill>
                  <a:srgbClr val="000000"/>
                </a:solidFill>
                <a:latin typeface="Courier New" panose="02070309020205020404" pitchFamily="49" charset="0"/>
              </a:rPr>
              <a:t> </a:t>
            </a:r>
            <a:r>
              <a:rPr lang="en-US" b="1" dirty="0" err="1">
                <a:solidFill>
                  <a:srgbClr val="000000"/>
                </a:solidFill>
                <a:latin typeface="Courier New" panose="02070309020205020404" pitchFamily="49" charset="0"/>
              </a:rPr>
              <a:t>pd</a:t>
            </a:r>
            <a:endParaRPr lang="en-US" b="1" dirty="0">
              <a:solidFill>
                <a:srgbClr val="000000"/>
              </a:solidFill>
              <a:effectLst/>
              <a:latin typeface="Courier New" panose="02070309020205020404" pitchFamily="49" charset="0"/>
            </a:endParaRPr>
          </a:p>
        </p:txBody>
      </p:sp>
      <p:sp>
        <p:nvSpPr>
          <p:cNvPr id="9" name="Rectangle 8"/>
          <p:cNvSpPr/>
          <p:nvPr/>
        </p:nvSpPr>
        <p:spPr>
          <a:xfrm>
            <a:off x="1080892" y="3940717"/>
            <a:ext cx="8574491" cy="369332"/>
          </a:xfrm>
          <a:prstGeom prst="rect">
            <a:avLst/>
          </a:prstGeom>
          <a:solidFill>
            <a:schemeClr val="accent4">
              <a:lumMod val="20000"/>
              <a:lumOff val="80000"/>
            </a:schemeClr>
          </a:solidFill>
          <a:ln>
            <a:solidFill>
              <a:schemeClr val="accent1"/>
            </a:solidFill>
          </a:ln>
        </p:spPr>
        <p:txBody>
          <a:bodyPr wrap="square">
            <a:spAutoFit/>
          </a:bodyPr>
          <a:lstStyle/>
          <a:p>
            <a:r>
              <a:rPr lang="it-IT" b="1" dirty="0">
                <a:solidFill>
                  <a:srgbClr val="000000"/>
                </a:solidFill>
                <a:latin typeface="Courier New" panose="02070309020205020404" pitchFamily="49" charset="0"/>
              </a:rPr>
              <a:t>data = { </a:t>
            </a:r>
            <a:r>
              <a:rPr lang="it-IT" b="1" dirty="0">
                <a:solidFill>
                  <a:srgbClr val="A31515"/>
                </a:solidFill>
                <a:latin typeface="Courier New" panose="02070309020205020404" pitchFamily="49" charset="0"/>
              </a:rPr>
              <a:t>'apples'</a:t>
            </a:r>
            <a:r>
              <a:rPr lang="it-IT" b="1" dirty="0">
                <a:solidFill>
                  <a:srgbClr val="000000"/>
                </a:solidFill>
                <a:latin typeface="Courier New" panose="02070309020205020404" pitchFamily="49" charset="0"/>
              </a:rPr>
              <a:t>:[</a:t>
            </a:r>
            <a:r>
              <a:rPr lang="it-IT" b="1" dirty="0">
                <a:solidFill>
                  <a:srgbClr val="09885A"/>
                </a:solidFill>
                <a:latin typeface="Courier New" panose="02070309020205020404" pitchFamily="49" charset="0"/>
              </a:rPr>
              <a:t>3</a:t>
            </a:r>
            <a:r>
              <a:rPr lang="it-IT" b="1" dirty="0">
                <a:solidFill>
                  <a:srgbClr val="000000"/>
                </a:solidFill>
                <a:latin typeface="Courier New" panose="02070309020205020404" pitchFamily="49" charset="0"/>
              </a:rPr>
              <a:t>, </a:t>
            </a:r>
            <a:r>
              <a:rPr lang="it-IT" b="1" dirty="0">
                <a:solidFill>
                  <a:srgbClr val="09885A"/>
                </a:solidFill>
                <a:latin typeface="Courier New" panose="02070309020205020404" pitchFamily="49" charset="0"/>
              </a:rPr>
              <a:t>2</a:t>
            </a:r>
            <a:r>
              <a:rPr lang="it-IT" b="1" dirty="0">
                <a:solidFill>
                  <a:srgbClr val="000000"/>
                </a:solidFill>
                <a:latin typeface="Courier New" panose="02070309020205020404" pitchFamily="49" charset="0"/>
              </a:rPr>
              <a:t>, </a:t>
            </a:r>
            <a:r>
              <a:rPr lang="it-IT" b="1" dirty="0">
                <a:solidFill>
                  <a:srgbClr val="09885A"/>
                </a:solidFill>
                <a:latin typeface="Courier New" panose="02070309020205020404" pitchFamily="49" charset="0"/>
              </a:rPr>
              <a:t>0</a:t>
            </a:r>
            <a:r>
              <a:rPr lang="it-IT" b="1" dirty="0">
                <a:solidFill>
                  <a:srgbClr val="000000"/>
                </a:solidFill>
                <a:latin typeface="Courier New" panose="02070309020205020404" pitchFamily="49" charset="0"/>
              </a:rPr>
              <a:t>, </a:t>
            </a:r>
            <a:r>
              <a:rPr lang="it-IT" b="1" dirty="0">
                <a:solidFill>
                  <a:srgbClr val="09885A"/>
                </a:solidFill>
                <a:latin typeface="Courier New" panose="02070309020205020404" pitchFamily="49" charset="0"/>
              </a:rPr>
              <a:t>1</a:t>
            </a:r>
            <a:r>
              <a:rPr lang="it-IT" b="1" dirty="0">
                <a:solidFill>
                  <a:srgbClr val="000000"/>
                </a:solidFill>
                <a:latin typeface="Courier New" panose="02070309020205020404" pitchFamily="49" charset="0"/>
              </a:rPr>
              <a:t>] , </a:t>
            </a:r>
            <a:r>
              <a:rPr lang="it-IT" b="1" dirty="0">
                <a:solidFill>
                  <a:srgbClr val="A31515"/>
                </a:solidFill>
                <a:latin typeface="Courier New" panose="02070309020205020404" pitchFamily="49" charset="0"/>
              </a:rPr>
              <a:t>'oranges'</a:t>
            </a:r>
            <a:r>
              <a:rPr lang="it-IT" b="1" dirty="0">
                <a:solidFill>
                  <a:srgbClr val="000000"/>
                </a:solidFill>
                <a:latin typeface="Courier New" panose="02070309020205020404" pitchFamily="49" charset="0"/>
              </a:rPr>
              <a:t>:[</a:t>
            </a:r>
            <a:r>
              <a:rPr lang="it-IT" b="1" dirty="0">
                <a:solidFill>
                  <a:srgbClr val="09885A"/>
                </a:solidFill>
                <a:latin typeface="Courier New" panose="02070309020205020404" pitchFamily="49" charset="0"/>
              </a:rPr>
              <a:t>0</a:t>
            </a:r>
            <a:r>
              <a:rPr lang="it-IT" b="1" dirty="0">
                <a:solidFill>
                  <a:srgbClr val="000000"/>
                </a:solidFill>
                <a:latin typeface="Courier New" panose="02070309020205020404" pitchFamily="49" charset="0"/>
              </a:rPr>
              <a:t>, </a:t>
            </a:r>
            <a:r>
              <a:rPr lang="it-IT" b="1" dirty="0">
                <a:solidFill>
                  <a:srgbClr val="09885A"/>
                </a:solidFill>
                <a:latin typeface="Courier New" panose="02070309020205020404" pitchFamily="49" charset="0"/>
              </a:rPr>
              <a:t>3</a:t>
            </a:r>
            <a:r>
              <a:rPr lang="it-IT" b="1" dirty="0">
                <a:solidFill>
                  <a:srgbClr val="000000"/>
                </a:solidFill>
                <a:latin typeface="Courier New" panose="02070309020205020404" pitchFamily="49" charset="0"/>
              </a:rPr>
              <a:t>, </a:t>
            </a:r>
            <a:r>
              <a:rPr lang="it-IT" b="1" dirty="0">
                <a:solidFill>
                  <a:srgbClr val="09885A"/>
                </a:solidFill>
                <a:latin typeface="Courier New" panose="02070309020205020404" pitchFamily="49" charset="0"/>
              </a:rPr>
              <a:t>7</a:t>
            </a:r>
            <a:r>
              <a:rPr lang="it-IT" b="1" dirty="0">
                <a:solidFill>
                  <a:srgbClr val="000000"/>
                </a:solidFill>
                <a:latin typeface="Courier New" panose="02070309020205020404" pitchFamily="49" charset="0"/>
              </a:rPr>
              <a:t>, </a:t>
            </a:r>
            <a:r>
              <a:rPr lang="it-IT" b="1" dirty="0">
                <a:solidFill>
                  <a:srgbClr val="09885A"/>
                </a:solidFill>
                <a:latin typeface="Courier New" panose="02070309020205020404" pitchFamily="49" charset="0"/>
              </a:rPr>
              <a:t>2</a:t>
            </a:r>
            <a:r>
              <a:rPr lang="it-IT" b="1" dirty="0">
                <a:solidFill>
                  <a:srgbClr val="000000"/>
                </a:solidFill>
                <a:latin typeface="Courier New" panose="02070309020205020404" pitchFamily="49" charset="0"/>
              </a:rPr>
              <a:t>] }</a:t>
            </a:r>
            <a:endParaRPr lang="it-IT" b="1" dirty="0">
              <a:solidFill>
                <a:srgbClr val="000000"/>
              </a:solidFill>
              <a:effectLst/>
              <a:latin typeface="Courier New" panose="02070309020205020404" pitchFamily="49" charset="0"/>
            </a:endParaRPr>
          </a:p>
        </p:txBody>
      </p:sp>
      <p:pic>
        <p:nvPicPr>
          <p:cNvPr id="10" name="Picture 9"/>
          <p:cNvPicPr>
            <a:picLocks noChangeAspect="1"/>
          </p:cNvPicPr>
          <p:nvPr/>
        </p:nvPicPr>
        <p:blipFill>
          <a:blip r:embed="rId2"/>
          <a:stretch>
            <a:fillRect/>
          </a:stretch>
        </p:blipFill>
        <p:spPr>
          <a:xfrm>
            <a:off x="9351147" y="4744740"/>
            <a:ext cx="2002652" cy="1884849"/>
          </a:xfrm>
          <a:prstGeom prst="rect">
            <a:avLst/>
          </a:prstGeom>
        </p:spPr>
      </p:pic>
    </p:spTree>
    <p:extLst>
      <p:ext uri="{BB962C8B-B14F-4D97-AF65-F5344CB8AC3E}">
        <p14:creationId xmlns:p14="http://schemas.microsoft.com/office/powerpoint/2010/main" val="477546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03023" y="1865480"/>
            <a:ext cx="10453566"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2" name="Title 1"/>
          <p:cNvSpPr>
            <a:spLocks noGrp="1"/>
          </p:cNvSpPr>
          <p:nvPr>
            <p:ph type="title"/>
          </p:nvPr>
        </p:nvSpPr>
        <p:spPr/>
        <p:txBody>
          <a:bodyPr/>
          <a:lstStyle/>
          <a:p>
            <a:r>
              <a:rPr lang="en-US" dirty="0"/>
              <a:t>Reading data using pandas</a:t>
            </a:r>
          </a:p>
        </p:txBody>
      </p:sp>
      <p:sp>
        <p:nvSpPr>
          <p:cNvPr id="4" name="Slide Number Placeholder 3"/>
          <p:cNvSpPr>
            <a:spLocks noGrp="1"/>
          </p:cNvSpPr>
          <p:nvPr>
            <p:ph type="sldNum" sz="quarter" idx="12"/>
          </p:nvPr>
        </p:nvSpPr>
        <p:spPr/>
        <p:txBody>
          <a:bodyPr/>
          <a:lstStyle/>
          <a:p>
            <a:fld id="{B841CA95-E0BC-48B5-948A-ECC494EB4D84}" type="slidenum">
              <a:rPr lang="en-US" smtClean="0"/>
              <a:t>18</a:t>
            </a:fld>
            <a:endParaRPr lang="en-US"/>
          </a:p>
        </p:txBody>
      </p:sp>
      <p:sp>
        <p:nvSpPr>
          <p:cNvPr id="7" name="TextBox 6"/>
          <p:cNvSpPr txBox="1"/>
          <p:nvPr/>
        </p:nvSpPr>
        <p:spPr>
          <a:xfrm>
            <a:off x="1648913" y="1865480"/>
            <a:ext cx="10268267" cy="615553"/>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#Read csv file</a:t>
            </a:r>
          </a:p>
          <a:p>
            <a:r>
              <a:rPr lang="en-US" sz="1600" dirty="0" err="1">
                <a:solidFill>
                  <a:schemeClr val="bg2">
                    <a:lumMod val="25000"/>
                  </a:schemeClr>
                </a:solidFill>
                <a:latin typeface="Courier New" panose="02070309020205020404" pitchFamily="49" charset="0"/>
                <a:cs typeface="Courier New" panose="02070309020205020404" pitchFamily="49" charset="0"/>
              </a:rPr>
              <a:t>df</a:t>
            </a:r>
            <a:r>
              <a:rPr lang="en-US" sz="1600" dirty="0">
                <a:solidFill>
                  <a:schemeClr val="bg2">
                    <a:lumMod val="25000"/>
                  </a:schemeClr>
                </a:solidFill>
                <a:latin typeface="Courier New" panose="02070309020205020404" pitchFamily="49" charset="0"/>
                <a:cs typeface="Courier New" panose="02070309020205020404" pitchFamily="49" charset="0"/>
              </a:rPr>
              <a:t> = </a:t>
            </a:r>
            <a:r>
              <a:rPr lang="en-US" sz="1600" dirty="0" err="1">
                <a:solidFill>
                  <a:schemeClr val="bg2">
                    <a:lumMod val="25000"/>
                  </a:schemeClr>
                </a:solidFill>
                <a:latin typeface="Courier New" panose="02070309020205020404" pitchFamily="49" charset="0"/>
                <a:cs typeface="Courier New" panose="02070309020205020404" pitchFamily="49" charset="0"/>
              </a:rPr>
              <a:t>pd.read_csv</a:t>
            </a:r>
            <a:r>
              <a:rPr lang="en-US" sz="1600" dirty="0">
                <a:solidFill>
                  <a:schemeClr val="bg2">
                    <a:lumMod val="25000"/>
                  </a:schemeClr>
                </a:solidFill>
                <a:latin typeface="Courier New" panose="02070309020205020404" pitchFamily="49" charset="0"/>
                <a:cs typeface="Courier New" panose="02070309020205020404" pitchFamily="49" charset="0"/>
              </a:rPr>
              <a:t>(</a:t>
            </a:r>
            <a:r>
              <a:rPr lang="en-US" sz="1600" dirty="0">
                <a:solidFill>
                  <a:schemeClr val="accent2">
                    <a:lumMod val="50000"/>
                  </a:schemeClr>
                </a:solidFill>
                <a:latin typeface="Courier New" panose="02070309020205020404" pitchFamily="49" charset="0"/>
                <a:cs typeface="Courier New" panose="02070309020205020404" pitchFamily="49" charset="0"/>
              </a:rPr>
              <a:t>"http://rcs.bu.edu/examples/python/</a:t>
            </a:r>
            <a:r>
              <a:rPr lang="en-US" sz="1600" dirty="0" err="1">
                <a:solidFill>
                  <a:schemeClr val="accent2">
                    <a:lumMod val="50000"/>
                  </a:schemeClr>
                </a:solidFill>
                <a:latin typeface="Courier New" panose="02070309020205020404" pitchFamily="49" charset="0"/>
                <a:cs typeface="Courier New" panose="02070309020205020404" pitchFamily="49" charset="0"/>
              </a:rPr>
              <a:t>data_analysis</a:t>
            </a:r>
            <a:r>
              <a:rPr lang="en-US" sz="1600" dirty="0">
                <a:solidFill>
                  <a:schemeClr val="accent2">
                    <a:lumMod val="50000"/>
                  </a:schemeClr>
                </a:solidFill>
                <a:latin typeface="Courier New" panose="02070309020205020404" pitchFamily="49" charset="0"/>
                <a:cs typeface="Courier New" panose="02070309020205020404" pitchFamily="49" charset="0"/>
              </a:rPr>
              <a:t>/Salaries.csv"</a:t>
            </a:r>
            <a:r>
              <a:rPr lang="en-US" sz="1600" dirty="0">
                <a:solidFill>
                  <a:schemeClr val="bg2">
                    <a:lumMod val="25000"/>
                  </a:schemeClr>
                </a:solidFill>
                <a:latin typeface="Courier New" panose="02070309020205020404" pitchFamily="49" charset="0"/>
                <a:cs typeface="Courier New" panose="02070309020205020404" pitchFamily="49" charset="0"/>
              </a:rPr>
              <a:t>)</a:t>
            </a:r>
          </a:p>
        </p:txBody>
      </p:sp>
      <p:sp>
        <p:nvSpPr>
          <p:cNvPr id="3" name="TextBox 2"/>
          <p:cNvSpPr txBox="1"/>
          <p:nvPr/>
        </p:nvSpPr>
        <p:spPr>
          <a:xfrm>
            <a:off x="669560" y="3538091"/>
            <a:ext cx="11412511" cy="2585323"/>
          </a:xfrm>
          <a:prstGeom prst="rect">
            <a:avLst/>
          </a:prstGeom>
          <a:noFill/>
        </p:spPr>
        <p:txBody>
          <a:bodyPr wrap="square" rtlCol="0">
            <a:spAutoFit/>
          </a:bodyPr>
          <a:lstStyle/>
          <a:p>
            <a:r>
              <a:rPr lang="en-US" dirty="0"/>
              <a:t>There is a number of pandas commands to read other data formats:</a:t>
            </a:r>
          </a:p>
          <a:p>
            <a:endParaRPr lang="en-US" dirty="0"/>
          </a:p>
          <a:p>
            <a:pPr>
              <a:lnSpc>
                <a:spcPct val="150000"/>
              </a:lnSpc>
            </a:pPr>
            <a:r>
              <a:rPr lang="en-US" dirty="0" err="1">
                <a:latin typeface="Courier New" panose="02070309020205020404" pitchFamily="49" charset="0"/>
                <a:cs typeface="Courier New" panose="02070309020205020404" pitchFamily="49" charset="0"/>
              </a:rPr>
              <a:t>pd.read_excel</a:t>
            </a:r>
            <a:r>
              <a:rPr lang="en-US" dirty="0">
                <a:latin typeface="Courier New" panose="02070309020205020404" pitchFamily="49" charset="0"/>
                <a:cs typeface="Courier New" panose="02070309020205020404" pitchFamily="49" charset="0"/>
              </a:rPr>
              <a:t>('myfile.</a:t>
            </a:r>
            <a:r>
              <a:rPr lang="en-US" dirty="0" err="1">
                <a:latin typeface="Courier New" panose="02070309020205020404" pitchFamily="49" charset="0"/>
                <a:cs typeface="Courier New" panose="02070309020205020404" pitchFamily="49" charset="0"/>
              </a:rPr>
              <a:t>xlsx</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sheet_name</a:t>
            </a:r>
            <a:r>
              <a:rPr lang="en-US" dirty="0">
                <a:latin typeface="Courier New" panose="02070309020205020404" pitchFamily="49" charset="0"/>
                <a:cs typeface="Courier New" panose="02070309020205020404" pitchFamily="49" charset="0"/>
              </a:rPr>
              <a:t>='Sheet1', </a:t>
            </a:r>
            <a:r>
              <a:rPr lang="en-US" dirty="0" err="1">
                <a:latin typeface="Courier New" panose="02070309020205020404" pitchFamily="49" charset="0"/>
                <a:cs typeface="Courier New" panose="02070309020205020404" pitchFamily="49" charset="0"/>
              </a:rPr>
              <a:t>index_col</a:t>
            </a:r>
            <a:r>
              <a:rPr lang="en-US" dirty="0">
                <a:latin typeface="Courier New" panose="02070309020205020404" pitchFamily="49" charset="0"/>
                <a:cs typeface="Courier New" panose="02070309020205020404" pitchFamily="49" charset="0"/>
              </a:rPr>
              <a:t>=None, </a:t>
            </a:r>
            <a:r>
              <a:rPr lang="en-US" dirty="0" err="1">
                <a:latin typeface="Courier New" panose="02070309020205020404" pitchFamily="49" charset="0"/>
                <a:cs typeface="Courier New" panose="02070309020205020404" pitchFamily="49" charset="0"/>
              </a:rPr>
              <a:t>na_values</a:t>
            </a:r>
            <a:r>
              <a:rPr lang="en-US" dirty="0">
                <a:latin typeface="Courier New" panose="02070309020205020404" pitchFamily="49" charset="0"/>
                <a:cs typeface="Courier New" panose="02070309020205020404" pitchFamily="49" charset="0"/>
              </a:rPr>
              <a:t>=['NA'])</a:t>
            </a:r>
          </a:p>
          <a:p>
            <a:pPr>
              <a:lnSpc>
                <a:spcPct val="150000"/>
              </a:lnSpc>
            </a:pPr>
            <a:r>
              <a:rPr lang="en-US" dirty="0" err="1">
                <a:latin typeface="Courier New" panose="02070309020205020404" pitchFamily="49" charset="0"/>
                <a:cs typeface="Courier New" panose="02070309020205020404" pitchFamily="49" charset="0"/>
              </a:rPr>
              <a:t>pd.read_stata</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myfile.dta</a:t>
            </a:r>
            <a:r>
              <a:rPr lang="en-US" dirty="0">
                <a:latin typeface="Courier New" panose="02070309020205020404" pitchFamily="49" charset="0"/>
                <a:cs typeface="Courier New" panose="02070309020205020404" pitchFamily="49" charset="0"/>
              </a:rPr>
              <a:t>')</a:t>
            </a:r>
          </a:p>
          <a:p>
            <a:pPr>
              <a:lnSpc>
                <a:spcPct val="150000"/>
              </a:lnSpc>
            </a:pPr>
            <a:r>
              <a:rPr lang="en-US" dirty="0" err="1">
                <a:latin typeface="Courier New" panose="02070309020205020404" pitchFamily="49" charset="0"/>
                <a:cs typeface="Courier New" panose="02070309020205020404" pitchFamily="49" charset="0"/>
              </a:rPr>
              <a:t>pd.read_sas</a:t>
            </a:r>
            <a:r>
              <a:rPr lang="en-US" dirty="0">
                <a:latin typeface="Courier New" panose="02070309020205020404" pitchFamily="49" charset="0"/>
                <a:cs typeface="Courier New" panose="02070309020205020404" pitchFamily="49" charset="0"/>
              </a:rPr>
              <a:t>('myfile.sas7bdat')</a:t>
            </a:r>
          </a:p>
          <a:p>
            <a:pPr>
              <a:lnSpc>
                <a:spcPct val="150000"/>
              </a:lnSpc>
            </a:pPr>
            <a:r>
              <a:rPr lang="en-US" dirty="0" err="1">
                <a:latin typeface="Courier New" panose="02070309020205020404" pitchFamily="49" charset="0"/>
                <a:cs typeface="Courier New" panose="02070309020205020404" pitchFamily="49" charset="0"/>
              </a:rPr>
              <a:t>pd.read_hdf</a:t>
            </a:r>
            <a:r>
              <a:rPr lang="en-US" dirty="0">
                <a:latin typeface="Courier New" panose="02070309020205020404" pitchFamily="49" charset="0"/>
                <a:cs typeface="Courier New" panose="02070309020205020404" pitchFamily="49" charset="0"/>
              </a:rPr>
              <a:t>('myfile.h5','df')</a:t>
            </a:r>
          </a:p>
          <a:p>
            <a:endParaRPr lang="en-US" dirty="0"/>
          </a:p>
        </p:txBody>
      </p:sp>
      <p:sp>
        <p:nvSpPr>
          <p:cNvPr id="5" name="TextBox 4"/>
          <p:cNvSpPr txBox="1"/>
          <p:nvPr/>
        </p:nvSpPr>
        <p:spPr>
          <a:xfrm>
            <a:off x="1543986" y="2574376"/>
            <a:ext cx="9543738" cy="369332"/>
          </a:xfrm>
          <a:prstGeom prst="rect">
            <a:avLst/>
          </a:prstGeom>
          <a:noFill/>
        </p:spPr>
        <p:txBody>
          <a:bodyPr wrap="square" rtlCol="0">
            <a:spAutoFit/>
          </a:bodyPr>
          <a:lstStyle/>
          <a:p>
            <a:r>
              <a:rPr lang="en-US" b="1" i="1" dirty="0">
                <a:solidFill>
                  <a:schemeClr val="accent6">
                    <a:lumMod val="75000"/>
                  </a:schemeClr>
                </a:solidFill>
              </a:rPr>
              <a:t>Note: </a:t>
            </a:r>
            <a:r>
              <a:rPr lang="en-US" dirty="0">
                <a:solidFill>
                  <a:schemeClr val="accent6">
                    <a:lumMod val="75000"/>
                  </a:schemeClr>
                </a:solidFill>
              </a:rPr>
              <a:t>The above command has many optional arguments to fine-tune the data import process.</a:t>
            </a:r>
          </a:p>
        </p:txBody>
      </p:sp>
    </p:spTree>
    <p:extLst>
      <p:ext uri="{BB962C8B-B14F-4D97-AF65-F5344CB8AC3E}">
        <p14:creationId xmlns:p14="http://schemas.microsoft.com/office/powerpoint/2010/main" val="2565270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03023" y="1865480"/>
            <a:ext cx="10453566"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[3]:</a:t>
            </a:r>
          </a:p>
        </p:txBody>
      </p:sp>
      <p:sp>
        <p:nvSpPr>
          <p:cNvPr id="2" name="Title 1"/>
          <p:cNvSpPr>
            <a:spLocks noGrp="1"/>
          </p:cNvSpPr>
          <p:nvPr>
            <p:ph type="title"/>
          </p:nvPr>
        </p:nvSpPr>
        <p:spPr/>
        <p:txBody>
          <a:bodyPr/>
          <a:lstStyle/>
          <a:p>
            <a:r>
              <a:rPr lang="en-US" dirty="0"/>
              <a:t>Exploring data frames</a:t>
            </a:r>
          </a:p>
        </p:txBody>
      </p:sp>
      <p:sp>
        <p:nvSpPr>
          <p:cNvPr id="4" name="Slide Number Placeholder 3"/>
          <p:cNvSpPr>
            <a:spLocks noGrp="1"/>
          </p:cNvSpPr>
          <p:nvPr>
            <p:ph type="sldNum" sz="quarter" idx="12"/>
          </p:nvPr>
        </p:nvSpPr>
        <p:spPr/>
        <p:txBody>
          <a:bodyPr/>
          <a:lstStyle/>
          <a:p>
            <a:fld id="{B841CA95-E0BC-48B5-948A-ECC494EB4D84}" type="slidenum">
              <a:rPr lang="en-US" smtClean="0"/>
              <a:t>19</a:t>
            </a:fld>
            <a:endParaRPr lang="en-US"/>
          </a:p>
        </p:txBody>
      </p:sp>
      <p:sp>
        <p:nvSpPr>
          <p:cNvPr id="7" name="TextBox 6"/>
          <p:cNvSpPr txBox="1"/>
          <p:nvPr/>
        </p:nvSpPr>
        <p:spPr>
          <a:xfrm>
            <a:off x="1648913" y="1865480"/>
            <a:ext cx="10268267" cy="646331"/>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#List first 5 records</a:t>
            </a:r>
          </a:p>
          <a:p>
            <a:r>
              <a:rPr lang="en-US" dirty="0" err="1">
                <a:solidFill>
                  <a:schemeClr val="bg2">
                    <a:lumMod val="25000"/>
                  </a:schemeClr>
                </a:solidFill>
                <a:latin typeface="Courier New" panose="02070309020205020404" pitchFamily="49" charset="0"/>
                <a:cs typeface="Courier New" panose="02070309020205020404" pitchFamily="49" charset="0"/>
              </a:rPr>
              <a:t>df.head</a:t>
            </a:r>
            <a:r>
              <a:rPr lang="en-US" dirty="0">
                <a:solidFill>
                  <a:schemeClr val="bg2">
                    <a:lumMod val="25000"/>
                  </a:schemeClr>
                </a:solidFill>
                <a:latin typeface="Courier New" panose="02070309020205020404" pitchFamily="49" charset="0"/>
                <a:cs typeface="Courier New" panose="02070309020205020404" pitchFamily="49" charset="0"/>
              </a:rPr>
              <a:t>()</a:t>
            </a:r>
          </a:p>
        </p:txBody>
      </p:sp>
      <p:sp>
        <p:nvSpPr>
          <p:cNvPr id="8" name="TextBox 7"/>
          <p:cNvSpPr txBox="1"/>
          <p:nvPr/>
        </p:nvSpPr>
        <p:spPr>
          <a:xfrm>
            <a:off x="200520" y="2797367"/>
            <a:ext cx="10453566" cy="369332"/>
          </a:xfrm>
          <a:prstGeom prst="rect">
            <a:avLst/>
          </a:prstGeom>
          <a:noFill/>
          <a:ln>
            <a:noFill/>
          </a:ln>
        </p:spPr>
        <p:txBody>
          <a:bodyPr wrap="square" rtlCol="0">
            <a:spAutoFit/>
          </a:bodyPr>
          <a:lstStyle/>
          <a:p>
            <a:r>
              <a:rPr lang="en-US" dirty="0"/>
              <a:t>         </a:t>
            </a:r>
            <a:r>
              <a:rPr lang="en-US" sz="1600" dirty="0">
                <a:solidFill>
                  <a:srgbClr val="C00000"/>
                </a:solidFill>
                <a:latin typeface="Courier New" panose="02070309020205020404" pitchFamily="49" charset="0"/>
                <a:cs typeface="Courier New" panose="02070309020205020404" pitchFamily="49" charset="0"/>
              </a:rPr>
              <a:t>Out[3]:</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3091" y="2797367"/>
            <a:ext cx="3261643" cy="1767993"/>
          </a:xfrm>
          <a:prstGeom prst="rect">
            <a:avLst/>
          </a:prstGeom>
        </p:spPr>
      </p:pic>
    </p:spTree>
    <p:extLst>
      <p:ext uri="{BB962C8B-B14F-4D97-AF65-F5344CB8AC3E}">
        <p14:creationId xmlns:p14="http://schemas.microsoft.com/office/powerpoint/2010/main" val="2209972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Frame data types</a:t>
            </a:r>
          </a:p>
        </p:txBody>
      </p:sp>
      <p:graphicFrame>
        <p:nvGraphicFramePr>
          <p:cNvPr id="5" name="Content Placeholder 4"/>
          <p:cNvGraphicFramePr>
            <a:graphicFrameLocks noGrp="1"/>
          </p:cNvGraphicFramePr>
          <p:nvPr>
            <p:ph idx="1"/>
          </p:nvPr>
        </p:nvGraphicFramePr>
        <p:xfrm>
          <a:off x="838200" y="1690688"/>
          <a:ext cx="9153729" cy="4675930"/>
        </p:xfrm>
        <a:graphic>
          <a:graphicData uri="http://schemas.openxmlformats.org/drawingml/2006/table">
            <a:tbl>
              <a:tblPr/>
              <a:tblGrid>
                <a:gridCol w="3051243">
                  <a:extLst>
                    <a:ext uri="{9D8B030D-6E8A-4147-A177-3AD203B41FA5}">
                      <a16:colId xmlns:a16="http://schemas.microsoft.com/office/drawing/2014/main" val="20000"/>
                    </a:ext>
                  </a:extLst>
                </a:gridCol>
                <a:gridCol w="3051243">
                  <a:extLst>
                    <a:ext uri="{9D8B030D-6E8A-4147-A177-3AD203B41FA5}">
                      <a16:colId xmlns:a16="http://schemas.microsoft.com/office/drawing/2014/main" val="20001"/>
                    </a:ext>
                  </a:extLst>
                </a:gridCol>
                <a:gridCol w="3051243">
                  <a:extLst>
                    <a:ext uri="{9D8B030D-6E8A-4147-A177-3AD203B41FA5}">
                      <a16:colId xmlns:a16="http://schemas.microsoft.com/office/drawing/2014/main" val="20002"/>
                    </a:ext>
                  </a:extLst>
                </a:gridCol>
              </a:tblGrid>
              <a:tr h="344923">
                <a:tc>
                  <a:txBody>
                    <a:bodyPr/>
                    <a:lstStyle/>
                    <a:p>
                      <a:pPr algn="l" fontAlgn="b"/>
                      <a:r>
                        <a:rPr lang="en-US" sz="1600" b="1" dirty="0">
                          <a:effectLst/>
                        </a:rPr>
                        <a:t>Pandas Type</a:t>
                      </a:r>
                    </a:p>
                  </a:txBody>
                  <a:tcPr marL="53065" marR="53065" marT="53065" marB="53065" anchor="b">
                    <a:lnL>
                      <a:noFill/>
                    </a:lnL>
                    <a:lnR>
                      <a:noFill/>
                    </a:lnR>
                    <a:lnT>
                      <a:noFill/>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US" sz="1600" b="1">
                          <a:effectLst/>
                        </a:rPr>
                        <a:t>Native Python Type</a:t>
                      </a:r>
                    </a:p>
                  </a:txBody>
                  <a:tcPr marL="53065" marR="53065" marT="53065" marB="53065" anchor="b">
                    <a:lnL>
                      <a:noFill/>
                    </a:lnL>
                    <a:lnR>
                      <a:noFill/>
                    </a:lnR>
                    <a:lnT>
                      <a:noFill/>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US" sz="1600" b="1" dirty="0">
                          <a:effectLst/>
                        </a:rPr>
                        <a:t>Description</a:t>
                      </a:r>
                    </a:p>
                  </a:txBody>
                  <a:tcPr marL="53065" marR="53065" marT="53065" marB="53065" anchor="b">
                    <a:lnL>
                      <a:noFill/>
                    </a:lnL>
                    <a:lnR>
                      <a:noFill/>
                    </a:lnR>
                    <a:lnT>
                      <a:noFill/>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61302">
                <a:tc>
                  <a:txBody>
                    <a:bodyPr/>
                    <a:lstStyle/>
                    <a:p>
                      <a:pPr fontAlgn="t"/>
                      <a:r>
                        <a:rPr lang="en-US" sz="1600" dirty="0">
                          <a:effectLst/>
                        </a:rPr>
                        <a:t>object</a:t>
                      </a:r>
                    </a:p>
                  </a:txBody>
                  <a:tcPr marL="53065" marR="53065" marT="53065" marB="53065">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US" sz="1600" dirty="0">
                          <a:effectLst/>
                        </a:rPr>
                        <a:t>string</a:t>
                      </a:r>
                    </a:p>
                  </a:txBody>
                  <a:tcPr marL="53065" marR="53065" marT="53065" marB="53065">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US" sz="1600">
                          <a:effectLst/>
                        </a:rPr>
                        <a:t>The most general dtype. Will be assigned to your column if column has mixed types (numbers and strings).</a:t>
                      </a:r>
                    </a:p>
                  </a:txBody>
                  <a:tcPr marL="53065" marR="53065" marT="53065" marB="53065">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1"/>
                  </a:ext>
                </a:extLst>
              </a:tr>
              <a:tr h="822509">
                <a:tc>
                  <a:txBody>
                    <a:bodyPr/>
                    <a:lstStyle/>
                    <a:p>
                      <a:pPr fontAlgn="t"/>
                      <a:r>
                        <a:rPr lang="en-US" sz="1600" dirty="0">
                          <a:effectLst/>
                        </a:rPr>
                        <a:t>int64</a:t>
                      </a:r>
                    </a:p>
                  </a:txBody>
                  <a:tcPr marL="53065" marR="53065" marT="53065" marB="53065">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US" sz="1600">
                          <a:effectLst/>
                        </a:rPr>
                        <a:t>int</a:t>
                      </a:r>
                    </a:p>
                  </a:txBody>
                  <a:tcPr marL="53065" marR="53065" marT="53065" marB="53065">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US" sz="1600">
                          <a:effectLst/>
                        </a:rPr>
                        <a:t>Numeric characters. 64 refers to the memory allocated to hold this character.</a:t>
                      </a:r>
                    </a:p>
                  </a:txBody>
                  <a:tcPr marL="53065" marR="53065" marT="53065" marB="53065">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300095">
                <a:tc>
                  <a:txBody>
                    <a:bodyPr/>
                    <a:lstStyle/>
                    <a:p>
                      <a:pPr fontAlgn="t"/>
                      <a:r>
                        <a:rPr lang="en-US" sz="1600">
                          <a:effectLst/>
                        </a:rPr>
                        <a:t>float64</a:t>
                      </a:r>
                    </a:p>
                  </a:txBody>
                  <a:tcPr marL="53065" marR="53065" marT="53065" marB="53065">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US" sz="1600">
                          <a:effectLst/>
                        </a:rPr>
                        <a:t>float</a:t>
                      </a:r>
                    </a:p>
                  </a:txBody>
                  <a:tcPr marL="53065" marR="53065" marT="53065" marB="53065">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US" sz="1600">
                          <a:effectLst/>
                        </a:rPr>
                        <a:t>Numeric characters with decimals. If a column contains numbers and NaNs(see below), pandas will default to float64, in case your missing value has a decimal.</a:t>
                      </a:r>
                    </a:p>
                  </a:txBody>
                  <a:tcPr marL="53065" marR="53065" marT="53065" marB="53065">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3"/>
                  </a:ext>
                </a:extLst>
              </a:tr>
              <a:tr h="822509">
                <a:tc>
                  <a:txBody>
                    <a:bodyPr/>
                    <a:lstStyle/>
                    <a:p>
                      <a:pPr fontAlgn="t"/>
                      <a:r>
                        <a:rPr lang="en-US" sz="1600">
                          <a:effectLst/>
                        </a:rPr>
                        <a:t>datetime64, timedelta[ns]</a:t>
                      </a:r>
                    </a:p>
                  </a:txBody>
                  <a:tcPr marL="53065" marR="53065" marT="53065" marB="53065">
                    <a:lnL>
                      <a:noFill/>
                    </a:lnL>
                    <a:lnR>
                      <a:noFill/>
                    </a:lnR>
                    <a:lnT w="7620" cap="flat" cmpd="sng" algn="ctr">
                      <a:solidFill>
                        <a:srgbClr val="DDDDDD"/>
                      </a:solidFill>
                      <a:prstDash val="solid"/>
                      <a:round/>
                      <a:headEnd type="none" w="med" len="med"/>
                      <a:tailEnd type="none" w="med" len="med"/>
                    </a:lnT>
                    <a:lnB>
                      <a:noFill/>
                    </a:lnB>
                    <a:solidFill>
                      <a:srgbClr val="FFFFFF"/>
                    </a:solidFill>
                  </a:tcPr>
                </a:tc>
                <a:tc>
                  <a:txBody>
                    <a:bodyPr/>
                    <a:lstStyle/>
                    <a:p>
                      <a:pPr fontAlgn="t"/>
                      <a:r>
                        <a:rPr lang="en-US" sz="1600" dirty="0">
                          <a:effectLst/>
                        </a:rPr>
                        <a:t>N/A (but see the </a:t>
                      </a:r>
                      <a:r>
                        <a:rPr lang="en-US" sz="1600" u="none" strike="noStrike" dirty="0" err="1">
                          <a:solidFill>
                            <a:srgbClr val="337AB7"/>
                          </a:solidFill>
                          <a:effectLst/>
                          <a:hlinkClick r:id="rId2"/>
                        </a:rPr>
                        <a:t>datetime</a:t>
                      </a:r>
                      <a:r>
                        <a:rPr lang="en-US" sz="1600" dirty="0">
                          <a:effectLst/>
                        </a:rPr>
                        <a:t> module in Python’s standard library)</a:t>
                      </a:r>
                    </a:p>
                  </a:txBody>
                  <a:tcPr marL="53065" marR="53065" marT="53065" marB="53065">
                    <a:lnL>
                      <a:noFill/>
                    </a:lnL>
                    <a:lnR>
                      <a:noFill/>
                    </a:lnR>
                    <a:lnT w="7620" cap="flat" cmpd="sng" algn="ctr">
                      <a:solidFill>
                        <a:srgbClr val="DDDDDD"/>
                      </a:solidFill>
                      <a:prstDash val="solid"/>
                      <a:round/>
                      <a:headEnd type="none" w="med" len="med"/>
                      <a:tailEnd type="none" w="med" len="med"/>
                    </a:lnT>
                    <a:lnB>
                      <a:noFill/>
                    </a:lnB>
                    <a:solidFill>
                      <a:srgbClr val="FFFFFF"/>
                    </a:solidFill>
                  </a:tcPr>
                </a:tc>
                <a:tc>
                  <a:txBody>
                    <a:bodyPr/>
                    <a:lstStyle/>
                    <a:p>
                      <a:pPr fontAlgn="t"/>
                      <a:r>
                        <a:rPr lang="en-US" sz="1600" dirty="0">
                          <a:effectLst/>
                        </a:rPr>
                        <a:t>Values meant to hold time data. Look into these for time series experiments.</a:t>
                      </a:r>
                    </a:p>
                  </a:txBody>
                  <a:tcPr marL="53065" marR="53065" marT="53065" marB="53065">
                    <a:lnL>
                      <a:noFill/>
                    </a:lnL>
                    <a:lnR>
                      <a:noFill/>
                    </a:lnR>
                    <a:lnT w="7620" cap="flat" cmpd="sng" algn="ctr">
                      <a:solidFill>
                        <a:srgbClr val="DDDDDD"/>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fld id="{B841CA95-E0BC-48B5-948A-ECC494EB4D84}" type="slidenum">
              <a:rPr lang="en-US" smtClean="0"/>
              <a:t>20</a:t>
            </a:fld>
            <a:endParaRPr lang="en-US"/>
          </a:p>
        </p:txBody>
      </p:sp>
    </p:spTree>
    <p:extLst>
      <p:ext uri="{BB962C8B-B14F-4D97-AF65-F5344CB8AC3E}">
        <p14:creationId xmlns:p14="http://schemas.microsoft.com/office/powerpoint/2010/main" val="38440484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Frames attributes</a:t>
            </a:r>
          </a:p>
        </p:txBody>
      </p:sp>
      <p:sp>
        <p:nvSpPr>
          <p:cNvPr id="5" name="Slide Number Placeholder 4"/>
          <p:cNvSpPr>
            <a:spLocks noGrp="1"/>
          </p:cNvSpPr>
          <p:nvPr>
            <p:ph type="sldNum" sz="quarter" idx="12"/>
          </p:nvPr>
        </p:nvSpPr>
        <p:spPr/>
        <p:txBody>
          <a:bodyPr/>
          <a:lstStyle/>
          <a:p>
            <a:fld id="{B841CA95-E0BC-48B5-948A-ECC494EB4D84}" type="slidenum">
              <a:rPr lang="en-US" smtClean="0"/>
              <a:t>21</a:t>
            </a:fld>
            <a:endParaRPr lang="en-US"/>
          </a:p>
        </p:txBody>
      </p:sp>
      <p:sp>
        <p:nvSpPr>
          <p:cNvPr id="6" name="TextBox 5"/>
          <p:cNvSpPr txBox="1"/>
          <p:nvPr/>
        </p:nvSpPr>
        <p:spPr>
          <a:xfrm>
            <a:off x="838200" y="1690688"/>
            <a:ext cx="7485089" cy="369332"/>
          </a:xfrm>
          <a:prstGeom prst="rect">
            <a:avLst/>
          </a:prstGeom>
          <a:noFill/>
        </p:spPr>
        <p:txBody>
          <a:bodyPr wrap="square" rtlCol="0">
            <a:spAutoFit/>
          </a:bodyPr>
          <a:lstStyle/>
          <a:p>
            <a:r>
              <a:rPr lang="en-US" dirty="0"/>
              <a:t>Python objects have </a:t>
            </a:r>
            <a:r>
              <a:rPr lang="en-US" i="1" dirty="0"/>
              <a:t>attributes</a:t>
            </a:r>
            <a:r>
              <a:rPr lang="en-US" dirty="0"/>
              <a:t> and </a:t>
            </a:r>
            <a:r>
              <a:rPr lang="en-US" i="1" dirty="0"/>
              <a:t>methods</a:t>
            </a:r>
            <a:r>
              <a:rPr lang="en-US" dirty="0"/>
              <a:t>.</a:t>
            </a:r>
          </a:p>
        </p:txBody>
      </p:sp>
      <p:graphicFrame>
        <p:nvGraphicFramePr>
          <p:cNvPr id="7" name="Table 6"/>
          <p:cNvGraphicFramePr>
            <a:graphicFrameLocks noGrp="1"/>
          </p:cNvGraphicFramePr>
          <p:nvPr/>
        </p:nvGraphicFramePr>
        <p:xfrm>
          <a:off x="927725" y="2363450"/>
          <a:ext cx="8431134" cy="3492709"/>
        </p:xfrm>
        <a:graphic>
          <a:graphicData uri="http://schemas.openxmlformats.org/drawingml/2006/table">
            <a:tbl>
              <a:tblPr firstRow="1" bandRow="1">
                <a:tableStyleId>{B301B821-A1FF-4177-AEE7-76D212191A09}</a:tableStyleId>
              </a:tblPr>
              <a:tblGrid>
                <a:gridCol w="2200223">
                  <a:extLst>
                    <a:ext uri="{9D8B030D-6E8A-4147-A177-3AD203B41FA5}">
                      <a16:colId xmlns:a16="http://schemas.microsoft.com/office/drawing/2014/main" val="20000"/>
                    </a:ext>
                  </a:extLst>
                </a:gridCol>
                <a:gridCol w="6230911">
                  <a:extLst>
                    <a:ext uri="{9D8B030D-6E8A-4147-A177-3AD203B41FA5}">
                      <a16:colId xmlns:a16="http://schemas.microsoft.com/office/drawing/2014/main" val="20001"/>
                    </a:ext>
                  </a:extLst>
                </a:gridCol>
              </a:tblGrid>
              <a:tr h="4896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err="1"/>
                        <a:t>df.attribute</a:t>
                      </a: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description</a:t>
                      </a:r>
                    </a:p>
                  </a:txBody>
                  <a:tcPr/>
                </a:tc>
                <a:extLst>
                  <a:ext uri="{0D108BD9-81ED-4DB2-BD59-A6C34878D82A}">
                    <a16:rowId xmlns:a16="http://schemas.microsoft.com/office/drawing/2014/main" val="10000"/>
                  </a:ext>
                </a:extLst>
              </a:tr>
              <a:tr h="409731">
                <a:tc>
                  <a:txBody>
                    <a:bodyPr/>
                    <a:lstStyle/>
                    <a:p>
                      <a:r>
                        <a:rPr lang="en-US" dirty="0" err="1"/>
                        <a:t>dtypes</a:t>
                      </a:r>
                      <a:endParaRPr lang="en-US" dirty="0"/>
                    </a:p>
                  </a:txBody>
                  <a:tcPr/>
                </a:tc>
                <a:tc>
                  <a:txBody>
                    <a:bodyPr/>
                    <a:lstStyle/>
                    <a:p>
                      <a:r>
                        <a:rPr lang="en-US" dirty="0"/>
                        <a:t>list the types of the columns</a:t>
                      </a:r>
                    </a:p>
                  </a:txBody>
                  <a:tcPr/>
                </a:tc>
                <a:extLst>
                  <a:ext uri="{0D108BD9-81ED-4DB2-BD59-A6C34878D82A}">
                    <a16:rowId xmlns:a16="http://schemas.microsoft.com/office/drawing/2014/main" val="10001"/>
                  </a:ext>
                </a:extLst>
              </a:tr>
              <a:tr h="409731">
                <a:tc>
                  <a:txBody>
                    <a:bodyPr/>
                    <a:lstStyle/>
                    <a:p>
                      <a:r>
                        <a:rPr lang="en-US" dirty="0"/>
                        <a:t>columns</a:t>
                      </a:r>
                    </a:p>
                  </a:txBody>
                  <a:tcPr/>
                </a:tc>
                <a:tc>
                  <a:txBody>
                    <a:bodyPr/>
                    <a:lstStyle/>
                    <a:p>
                      <a:r>
                        <a:rPr lang="en-US" dirty="0"/>
                        <a:t>list the column names</a:t>
                      </a:r>
                    </a:p>
                  </a:txBody>
                  <a:tcPr/>
                </a:tc>
                <a:extLst>
                  <a:ext uri="{0D108BD9-81ED-4DB2-BD59-A6C34878D82A}">
                    <a16:rowId xmlns:a16="http://schemas.microsoft.com/office/drawing/2014/main" val="10002"/>
                  </a:ext>
                </a:extLst>
              </a:tr>
              <a:tr h="449705">
                <a:tc>
                  <a:txBody>
                    <a:bodyPr/>
                    <a:lstStyle/>
                    <a:p>
                      <a:r>
                        <a:rPr lang="en-US" dirty="0"/>
                        <a:t>axes</a:t>
                      </a:r>
                    </a:p>
                  </a:txBody>
                  <a:tcPr/>
                </a:tc>
                <a:tc>
                  <a:txBody>
                    <a:bodyPr/>
                    <a:lstStyle/>
                    <a:p>
                      <a:r>
                        <a:rPr lang="en-US" dirty="0"/>
                        <a:t>list the row labels</a:t>
                      </a:r>
                      <a:r>
                        <a:rPr lang="en-US" baseline="0" dirty="0"/>
                        <a:t> and column names</a:t>
                      </a:r>
                      <a:endParaRPr lang="en-US" dirty="0"/>
                    </a:p>
                  </a:txBody>
                  <a:tcPr/>
                </a:tc>
                <a:extLst>
                  <a:ext uri="{0D108BD9-81ED-4DB2-BD59-A6C34878D82A}">
                    <a16:rowId xmlns:a16="http://schemas.microsoft.com/office/drawing/2014/main" val="10003"/>
                  </a:ext>
                </a:extLst>
              </a:tr>
              <a:tr h="459698">
                <a:tc>
                  <a:txBody>
                    <a:bodyPr/>
                    <a:lstStyle/>
                    <a:p>
                      <a:r>
                        <a:rPr lang="en-US" dirty="0" err="1"/>
                        <a:t>ndim</a:t>
                      </a:r>
                      <a:endParaRPr lang="en-US" dirty="0"/>
                    </a:p>
                  </a:txBody>
                  <a:tcPr/>
                </a:tc>
                <a:tc>
                  <a:txBody>
                    <a:bodyPr/>
                    <a:lstStyle/>
                    <a:p>
                      <a:r>
                        <a:rPr lang="en-US" dirty="0"/>
                        <a:t>number of dimensions</a:t>
                      </a:r>
                    </a:p>
                  </a:txBody>
                  <a:tcPr/>
                </a:tc>
                <a:extLst>
                  <a:ext uri="{0D108BD9-81ED-4DB2-BD59-A6C34878D82A}">
                    <a16:rowId xmlns:a16="http://schemas.microsoft.com/office/drawing/2014/main" val="10004"/>
                  </a:ext>
                </a:extLst>
              </a:tr>
              <a:tr h="424722">
                <a:tc>
                  <a:txBody>
                    <a:bodyPr/>
                    <a:lstStyle/>
                    <a:p>
                      <a:r>
                        <a:rPr lang="en-US" dirty="0"/>
                        <a:t>size</a:t>
                      </a:r>
                    </a:p>
                  </a:txBody>
                  <a:tcPr/>
                </a:tc>
                <a:tc>
                  <a:txBody>
                    <a:bodyPr/>
                    <a:lstStyle/>
                    <a:p>
                      <a:r>
                        <a:rPr lang="en-US" dirty="0"/>
                        <a:t>number of elements </a:t>
                      </a:r>
                    </a:p>
                  </a:txBody>
                  <a:tcPr/>
                </a:tc>
                <a:extLst>
                  <a:ext uri="{0D108BD9-81ED-4DB2-BD59-A6C34878D82A}">
                    <a16:rowId xmlns:a16="http://schemas.microsoft.com/office/drawing/2014/main" val="10005"/>
                  </a:ext>
                </a:extLst>
              </a:tr>
              <a:tr h="424722">
                <a:tc>
                  <a:txBody>
                    <a:bodyPr/>
                    <a:lstStyle/>
                    <a:p>
                      <a:r>
                        <a:rPr lang="en-US" dirty="0"/>
                        <a:t>shape</a:t>
                      </a:r>
                    </a:p>
                  </a:txBody>
                  <a:tcPr/>
                </a:tc>
                <a:tc>
                  <a:txBody>
                    <a:bodyPr/>
                    <a:lstStyle/>
                    <a:p>
                      <a:r>
                        <a:rPr lang="en-US" dirty="0"/>
                        <a:t>return a tuple</a:t>
                      </a:r>
                      <a:r>
                        <a:rPr lang="en-US" baseline="0" dirty="0"/>
                        <a:t> representing the dimensionality </a:t>
                      </a:r>
                      <a:endParaRPr lang="en-US" dirty="0"/>
                    </a:p>
                  </a:txBody>
                  <a:tcPr/>
                </a:tc>
                <a:extLst>
                  <a:ext uri="{0D108BD9-81ED-4DB2-BD59-A6C34878D82A}">
                    <a16:rowId xmlns:a16="http://schemas.microsoft.com/office/drawing/2014/main" val="10006"/>
                  </a:ext>
                </a:extLst>
              </a:tr>
              <a:tr h="424722">
                <a:tc>
                  <a:txBody>
                    <a:bodyPr/>
                    <a:lstStyle/>
                    <a:p>
                      <a:r>
                        <a:rPr lang="en-US" dirty="0"/>
                        <a:t>values</a:t>
                      </a:r>
                    </a:p>
                  </a:txBody>
                  <a:tcPr/>
                </a:tc>
                <a:tc>
                  <a:txBody>
                    <a:bodyPr/>
                    <a:lstStyle/>
                    <a:p>
                      <a:r>
                        <a:rPr lang="en-US" dirty="0" err="1"/>
                        <a:t>numpy</a:t>
                      </a:r>
                      <a:r>
                        <a:rPr lang="en-US" baseline="0" dirty="0"/>
                        <a:t> representation of the data</a:t>
                      </a:r>
                      <a:endParaRPr lang="en-US"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076849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Frames methods</a:t>
            </a:r>
          </a:p>
        </p:txBody>
      </p:sp>
      <p:sp>
        <p:nvSpPr>
          <p:cNvPr id="5" name="Slide Number Placeholder 4"/>
          <p:cNvSpPr>
            <a:spLocks noGrp="1"/>
          </p:cNvSpPr>
          <p:nvPr>
            <p:ph type="sldNum" sz="quarter" idx="12"/>
          </p:nvPr>
        </p:nvSpPr>
        <p:spPr/>
        <p:txBody>
          <a:bodyPr/>
          <a:lstStyle/>
          <a:p>
            <a:fld id="{B841CA95-E0BC-48B5-948A-ECC494EB4D84}" type="slidenum">
              <a:rPr lang="en-US" smtClean="0"/>
              <a:t>22</a:t>
            </a:fld>
            <a:endParaRPr lang="en-US"/>
          </a:p>
        </p:txBody>
      </p:sp>
      <p:graphicFrame>
        <p:nvGraphicFramePr>
          <p:cNvPr id="7" name="Table 6"/>
          <p:cNvGraphicFramePr>
            <a:graphicFrameLocks noGrp="1"/>
          </p:cNvGraphicFramePr>
          <p:nvPr/>
        </p:nvGraphicFramePr>
        <p:xfrm>
          <a:off x="927725" y="2418414"/>
          <a:ext cx="8431134" cy="4165425"/>
        </p:xfrm>
        <a:graphic>
          <a:graphicData uri="http://schemas.openxmlformats.org/drawingml/2006/table">
            <a:tbl>
              <a:tblPr firstRow="1" bandRow="1">
                <a:tableStyleId>{B301B821-A1FF-4177-AEE7-76D212191A09}</a:tableStyleId>
              </a:tblPr>
              <a:tblGrid>
                <a:gridCol w="2564983">
                  <a:extLst>
                    <a:ext uri="{9D8B030D-6E8A-4147-A177-3AD203B41FA5}">
                      <a16:colId xmlns:a16="http://schemas.microsoft.com/office/drawing/2014/main" val="20000"/>
                    </a:ext>
                  </a:extLst>
                </a:gridCol>
                <a:gridCol w="5866151">
                  <a:extLst>
                    <a:ext uri="{9D8B030D-6E8A-4147-A177-3AD203B41FA5}">
                      <a16:colId xmlns:a16="http://schemas.microsoft.com/office/drawing/2014/main" val="20001"/>
                    </a:ext>
                  </a:extLst>
                </a:gridCol>
              </a:tblGrid>
              <a:tr h="5782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err="1"/>
                        <a:t>df.method</a:t>
                      </a:r>
                      <a:r>
                        <a:rPr lang="en-US" sz="2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description</a:t>
                      </a:r>
                    </a:p>
                  </a:txBody>
                  <a:tcPr/>
                </a:tc>
                <a:extLst>
                  <a:ext uri="{0D108BD9-81ED-4DB2-BD59-A6C34878D82A}">
                    <a16:rowId xmlns:a16="http://schemas.microsoft.com/office/drawing/2014/main" val="10000"/>
                  </a:ext>
                </a:extLst>
              </a:tr>
              <a:tr h="483804">
                <a:tc>
                  <a:txBody>
                    <a:bodyPr/>
                    <a:lstStyle/>
                    <a:p>
                      <a:r>
                        <a:rPr lang="en-US" dirty="0"/>
                        <a:t>head( [n] ), tail( [n] )</a:t>
                      </a:r>
                    </a:p>
                  </a:txBody>
                  <a:tcPr/>
                </a:tc>
                <a:tc>
                  <a:txBody>
                    <a:bodyPr/>
                    <a:lstStyle/>
                    <a:p>
                      <a:r>
                        <a:rPr lang="en-US" dirty="0"/>
                        <a:t>first/last</a:t>
                      </a:r>
                      <a:r>
                        <a:rPr lang="en-US" baseline="0" dirty="0"/>
                        <a:t> n rows</a:t>
                      </a:r>
                      <a:endParaRPr lang="en-US" dirty="0"/>
                    </a:p>
                  </a:txBody>
                  <a:tcPr/>
                </a:tc>
                <a:extLst>
                  <a:ext uri="{0D108BD9-81ED-4DB2-BD59-A6C34878D82A}">
                    <a16:rowId xmlns:a16="http://schemas.microsoft.com/office/drawing/2014/main" val="10001"/>
                  </a:ext>
                </a:extLst>
              </a:tr>
              <a:tr h="483804">
                <a:tc>
                  <a:txBody>
                    <a:bodyPr/>
                    <a:lstStyle/>
                    <a:p>
                      <a:r>
                        <a:rPr lang="en-US" dirty="0"/>
                        <a:t>describe()</a:t>
                      </a:r>
                    </a:p>
                  </a:txBody>
                  <a:tcPr/>
                </a:tc>
                <a:tc>
                  <a:txBody>
                    <a:bodyPr/>
                    <a:lstStyle/>
                    <a:p>
                      <a:r>
                        <a:rPr lang="en-US" dirty="0"/>
                        <a:t>generate descriptive statistics (for numeric columns only)</a:t>
                      </a:r>
                    </a:p>
                  </a:txBody>
                  <a:tcPr/>
                </a:tc>
                <a:extLst>
                  <a:ext uri="{0D108BD9-81ED-4DB2-BD59-A6C34878D82A}">
                    <a16:rowId xmlns:a16="http://schemas.microsoft.com/office/drawing/2014/main" val="10002"/>
                  </a:ext>
                </a:extLst>
              </a:tr>
              <a:tr h="531003">
                <a:tc>
                  <a:txBody>
                    <a:bodyPr/>
                    <a:lstStyle/>
                    <a:p>
                      <a:r>
                        <a:rPr lang="en-US" dirty="0"/>
                        <a:t>max(), min()</a:t>
                      </a:r>
                    </a:p>
                  </a:txBody>
                  <a:tcPr/>
                </a:tc>
                <a:tc>
                  <a:txBody>
                    <a:bodyPr/>
                    <a:lstStyle/>
                    <a:p>
                      <a:r>
                        <a:rPr lang="en-US" dirty="0"/>
                        <a:t>return max/min</a:t>
                      </a:r>
                      <a:r>
                        <a:rPr lang="en-US" baseline="0" dirty="0"/>
                        <a:t> values for all numeric columns</a:t>
                      </a:r>
                      <a:endParaRPr lang="en-US" dirty="0"/>
                    </a:p>
                  </a:txBody>
                  <a:tcPr/>
                </a:tc>
                <a:extLst>
                  <a:ext uri="{0D108BD9-81ED-4DB2-BD59-A6C34878D82A}">
                    <a16:rowId xmlns:a16="http://schemas.microsoft.com/office/drawing/2014/main" val="10003"/>
                  </a:ext>
                </a:extLst>
              </a:tr>
              <a:tr h="542803">
                <a:tc>
                  <a:txBody>
                    <a:bodyPr/>
                    <a:lstStyle/>
                    <a:p>
                      <a:r>
                        <a:rPr lang="en-US" dirty="0"/>
                        <a:t>mean(), median()</a:t>
                      </a:r>
                    </a:p>
                  </a:txBody>
                  <a:tcPr/>
                </a:tc>
                <a:tc>
                  <a:txBody>
                    <a:bodyPr/>
                    <a:lstStyle/>
                    <a:p>
                      <a:r>
                        <a:rPr lang="en-US" dirty="0"/>
                        <a:t>return mean/median</a:t>
                      </a:r>
                      <a:r>
                        <a:rPr lang="en-US" baseline="0" dirty="0"/>
                        <a:t> values for all numeric columns</a:t>
                      </a:r>
                      <a:endParaRPr lang="en-US" dirty="0"/>
                    </a:p>
                  </a:txBody>
                  <a:tcPr/>
                </a:tc>
                <a:extLst>
                  <a:ext uri="{0D108BD9-81ED-4DB2-BD59-A6C34878D82A}">
                    <a16:rowId xmlns:a16="http://schemas.microsoft.com/office/drawing/2014/main" val="10004"/>
                  </a:ext>
                </a:extLst>
              </a:tr>
              <a:tr h="542803">
                <a:tc>
                  <a:txBody>
                    <a:bodyPr/>
                    <a:lstStyle/>
                    <a:p>
                      <a:r>
                        <a:rPr lang="en-US" dirty="0" err="1"/>
                        <a:t>std</a:t>
                      </a:r>
                      <a:r>
                        <a:rPr lang="en-US" dirty="0"/>
                        <a:t>()</a:t>
                      </a:r>
                    </a:p>
                  </a:txBody>
                  <a:tcPr/>
                </a:tc>
                <a:tc>
                  <a:txBody>
                    <a:bodyPr/>
                    <a:lstStyle/>
                    <a:p>
                      <a:r>
                        <a:rPr lang="en-US" dirty="0"/>
                        <a:t>standard deviation</a:t>
                      </a:r>
                    </a:p>
                  </a:txBody>
                  <a:tcPr/>
                </a:tc>
                <a:extLst>
                  <a:ext uri="{0D108BD9-81ED-4DB2-BD59-A6C34878D82A}">
                    <a16:rowId xmlns:a16="http://schemas.microsoft.com/office/drawing/2014/main" val="10005"/>
                  </a:ext>
                </a:extLst>
              </a:tr>
              <a:tr h="501503">
                <a:tc>
                  <a:txBody>
                    <a:bodyPr/>
                    <a:lstStyle/>
                    <a:p>
                      <a:r>
                        <a:rPr lang="en-US" dirty="0"/>
                        <a:t>sample([n])</a:t>
                      </a:r>
                    </a:p>
                  </a:txBody>
                  <a:tcPr/>
                </a:tc>
                <a:tc>
                  <a:txBody>
                    <a:bodyPr/>
                    <a:lstStyle/>
                    <a:p>
                      <a:r>
                        <a:rPr lang="en-US" dirty="0"/>
                        <a:t>returns a random sample of the</a:t>
                      </a:r>
                      <a:r>
                        <a:rPr lang="en-US" baseline="0" dirty="0"/>
                        <a:t> data frame</a:t>
                      </a:r>
                      <a:endParaRPr lang="en-US" dirty="0"/>
                    </a:p>
                  </a:txBody>
                  <a:tcPr/>
                </a:tc>
                <a:extLst>
                  <a:ext uri="{0D108BD9-81ED-4DB2-BD59-A6C34878D82A}">
                    <a16:rowId xmlns:a16="http://schemas.microsoft.com/office/drawing/2014/main" val="10006"/>
                  </a:ext>
                </a:extLst>
              </a:tr>
              <a:tr h="501503">
                <a:tc>
                  <a:txBody>
                    <a:bodyPr/>
                    <a:lstStyle/>
                    <a:p>
                      <a:r>
                        <a:rPr lang="en-US" dirty="0" err="1"/>
                        <a:t>dropna</a:t>
                      </a:r>
                      <a:r>
                        <a:rPr lang="en-US" dirty="0"/>
                        <a:t>()</a:t>
                      </a:r>
                    </a:p>
                  </a:txBody>
                  <a:tcPr/>
                </a:tc>
                <a:tc>
                  <a:txBody>
                    <a:bodyPr/>
                    <a:lstStyle/>
                    <a:p>
                      <a:r>
                        <a:rPr lang="en-US" dirty="0"/>
                        <a:t>drop all the records with missing values</a:t>
                      </a:r>
                    </a:p>
                  </a:txBody>
                  <a:tcPr/>
                </a:tc>
                <a:extLst>
                  <a:ext uri="{0D108BD9-81ED-4DB2-BD59-A6C34878D82A}">
                    <a16:rowId xmlns:a16="http://schemas.microsoft.com/office/drawing/2014/main" val="10007"/>
                  </a:ext>
                </a:extLst>
              </a:tr>
            </a:tbl>
          </a:graphicData>
        </a:graphic>
      </p:graphicFrame>
      <p:sp>
        <p:nvSpPr>
          <p:cNvPr id="8" name="TextBox 7"/>
          <p:cNvSpPr txBox="1"/>
          <p:nvPr/>
        </p:nvSpPr>
        <p:spPr>
          <a:xfrm>
            <a:off x="838200" y="1610741"/>
            <a:ext cx="7485089" cy="646331"/>
          </a:xfrm>
          <a:prstGeom prst="rect">
            <a:avLst/>
          </a:prstGeom>
          <a:noFill/>
        </p:spPr>
        <p:txBody>
          <a:bodyPr wrap="square" rtlCol="0">
            <a:spAutoFit/>
          </a:bodyPr>
          <a:lstStyle/>
          <a:p>
            <a:r>
              <a:rPr lang="en-US" dirty="0"/>
              <a:t>Unlike attributes, python methods have </a:t>
            </a:r>
            <a:r>
              <a:rPr lang="en-US" i="1" dirty="0"/>
              <a:t>parenthesis.</a:t>
            </a:r>
          </a:p>
          <a:p>
            <a:r>
              <a:rPr lang="en-US" dirty="0"/>
              <a:t>All attributes and methods can be listed with a </a:t>
            </a:r>
            <a:r>
              <a:rPr lang="en-US" i="1" dirty="0" err="1"/>
              <a:t>dir</a:t>
            </a:r>
            <a:r>
              <a:rPr lang="en-US" i="1" dirty="0"/>
              <a:t>() </a:t>
            </a:r>
            <a:r>
              <a:rPr lang="en-US" dirty="0"/>
              <a:t>function: </a:t>
            </a:r>
            <a:r>
              <a:rPr lang="en-US" b="1" dirty="0" err="1">
                <a:solidFill>
                  <a:schemeClr val="accent1">
                    <a:lumMod val="50000"/>
                  </a:schemeClr>
                </a:solidFill>
                <a:latin typeface="Courier New" panose="02070309020205020404" pitchFamily="49" charset="0"/>
                <a:cs typeface="Courier New" panose="02070309020205020404" pitchFamily="49" charset="0"/>
              </a:rPr>
              <a:t>dir</a:t>
            </a:r>
            <a:r>
              <a:rPr lang="en-US" b="1" dirty="0">
                <a:solidFill>
                  <a:schemeClr val="accent1">
                    <a:lumMod val="50000"/>
                  </a:schemeClr>
                </a:solidFill>
                <a:latin typeface="Courier New" panose="02070309020205020404" pitchFamily="49" charset="0"/>
                <a:cs typeface="Courier New" panose="02070309020205020404" pitchFamily="49" charset="0"/>
              </a:rPr>
              <a:t>(</a:t>
            </a:r>
            <a:r>
              <a:rPr lang="en-US" b="1" dirty="0" err="1">
                <a:solidFill>
                  <a:schemeClr val="accent1">
                    <a:lumMod val="50000"/>
                  </a:schemeClr>
                </a:solidFill>
                <a:latin typeface="Courier New" panose="02070309020205020404" pitchFamily="49" charset="0"/>
                <a:cs typeface="Courier New" panose="02070309020205020404" pitchFamily="49" charset="0"/>
              </a:rPr>
              <a:t>df</a:t>
            </a:r>
            <a:r>
              <a:rPr lang="en-US" b="1" dirty="0">
                <a:solidFill>
                  <a:schemeClr val="accent1">
                    <a:lumMod val="50000"/>
                  </a:schemeClr>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14986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5E1B3-C29E-4AEC-17FF-FD0F5F6A2933}"/>
              </a:ext>
            </a:extLst>
          </p:cNvPr>
          <p:cNvSpPr>
            <a:spLocks noGrp="1"/>
          </p:cNvSpPr>
          <p:nvPr>
            <p:ph type="title"/>
          </p:nvPr>
        </p:nvSpPr>
        <p:spPr/>
        <p:txBody>
          <a:bodyPr/>
          <a:lstStyle/>
          <a:p>
            <a:r>
              <a:rPr lang="en-GB" dirty="0"/>
              <a:t>Cleaning Data with Pandas</a:t>
            </a:r>
            <a:endParaRPr lang="LID4096" dirty="0"/>
          </a:p>
        </p:txBody>
      </p:sp>
      <p:sp>
        <p:nvSpPr>
          <p:cNvPr id="3" name="Content Placeholder 2">
            <a:extLst>
              <a:ext uri="{FF2B5EF4-FFF2-40B4-BE49-F238E27FC236}">
                <a16:creationId xmlns:a16="http://schemas.microsoft.com/office/drawing/2014/main" id="{3EDD69D8-B185-16B0-041F-0B87121CC98A}"/>
              </a:ext>
            </a:extLst>
          </p:cNvPr>
          <p:cNvSpPr>
            <a:spLocks noGrp="1"/>
          </p:cNvSpPr>
          <p:nvPr>
            <p:ph sz="half" idx="1"/>
          </p:nvPr>
        </p:nvSpPr>
        <p:spPr>
          <a:xfrm>
            <a:off x="838199" y="1825625"/>
            <a:ext cx="10081591" cy="4351338"/>
          </a:xfrm>
        </p:spPr>
        <p:txBody>
          <a:bodyPr/>
          <a:lstStyle/>
          <a:p>
            <a:pPr algn="l"/>
            <a:r>
              <a:rPr lang="en-GB" b="0" i="0" dirty="0">
                <a:solidFill>
                  <a:srgbClr val="000000"/>
                </a:solidFill>
                <a:effectLst/>
                <a:latin typeface="Verdana" panose="020B0604030504040204" pitchFamily="34" charset="0"/>
              </a:rPr>
              <a:t>Data cleaning means fixing bad data in your data set.</a:t>
            </a:r>
          </a:p>
          <a:p>
            <a:r>
              <a:rPr lang="en-GB" b="0" i="0" dirty="0">
                <a:solidFill>
                  <a:srgbClr val="000000"/>
                </a:solidFill>
                <a:effectLst/>
                <a:latin typeface="Verdana" panose="020B0604030504040204" pitchFamily="34" charset="0"/>
              </a:rPr>
              <a:t>Bad data could be:</a:t>
            </a:r>
          </a:p>
          <a:p>
            <a:pPr lvl="1"/>
            <a:r>
              <a:rPr lang="en-GB" dirty="0">
                <a:solidFill>
                  <a:srgbClr val="000000"/>
                </a:solidFill>
                <a:latin typeface="Verdana" panose="020B0604030504040204" pitchFamily="34" charset="0"/>
              </a:rPr>
              <a:t>Unnecessary Data Attributes</a:t>
            </a:r>
            <a:endParaRPr lang="en-GB" b="0" i="0" dirty="0">
              <a:solidFill>
                <a:srgbClr val="000000"/>
              </a:solidFill>
              <a:effectLst/>
              <a:latin typeface="Verdana" panose="020B0604030504040204" pitchFamily="34" charset="0"/>
            </a:endParaRPr>
          </a:p>
          <a:p>
            <a:pPr lvl="1"/>
            <a:r>
              <a:rPr lang="en-GB" b="0" i="0" dirty="0">
                <a:solidFill>
                  <a:srgbClr val="000000"/>
                </a:solidFill>
                <a:effectLst/>
                <a:latin typeface="Verdana" panose="020B0604030504040204" pitchFamily="34" charset="0"/>
              </a:rPr>
              <a:t>Empty cells</a:t>
            </a:r>
          </a:p>
          <a:p>
            <a:pPr lvl="1"/>
            <a:r>
              <a:rPr lang="en-GB" b="0" i="0" dirty="0">
                <a:solidFill>
                  <a:srgbClr val="000000"/>
                </a:solidFill>
                <a:effectLst/>
                <a:latin typeface="Verdana" panose="020B0604030504040204" pitchFamily="34" charset="0"/>
              </a:rPr>
              <a:t>Data in wrong format</a:t>
            </a:r>
          </a:p>
          <a:p>
            <a:pPr lvl="1"/>
            <a:r>
              <a:rPr lang="en-GB" b="0" i="0" dirty="0">
                <a:solidFill>
                  <a:srgbClr val="000000"/>
                </a:solidFill>
                <a:effectLst/>
                <a:latin typeface="Verdana" panose="020B0604030504040204" pitchFamily="34" charset="0"/>
              </a:rPr>
              <a:t>Wrong data</a:t>
            </a:r>
          </a:p>
          <a:p>
            <a:pPr lvl="1"/>
            <a:r>
              <a:rPr lang="en-GB" b="0" i="0" dirty="0">
                <a:solidFill>
                  <a:srgbClr val="000000"/>
                </a:solidFill>
                <a:effectLst/>
                <a:latin typeface="Verdana" panose="020B0604030504040204" pitchFamily="34" charset="0"/>
              </a:rPr>
              <a:t>Duplicates</a:t>
            </a:r>
          </a:p>
          <a:p>
            <a:pPr lvl="1"/>
            <a:r>
              <a:rPr lang="en-GB" dirty="0">
                <a:solidFill>
                  <a:srgbClr val="000000"/>
                </a:solidFill>
                <a:latin typeface="Verdana" panose="020B0604030504040204" pitchFamily="34" charset="0"/>
              </a:rPr>
              <a:t>outliers</a:t>
            </a:r>
            <a:endParaRPr lang="en-GB" b="0" i="0" dirty="0">
              <a:solidFill>
                <a:srgbClr val="000000"/>
              </a:solidFill>
              <a:effectLst/>
              <a:latin typeface="Verdana" panose="020B0604030504040204" pitchFamily="34" charset="0"/>
            </a:endParaRPr>
          </a:p>
          <a:p>
            <a:endParaRPr lang="LID4096" dirty="0"/>
          </a:p>
        </p:txBody>
      </p:sp>
      <p:sp>
        <p:nvSpPr>
          <p:cNvPr id="5" name="Slide Number Placeholder 4">
            <a:extLst>
              <a:ext uri="{FF2B5EF4-FFF2-40B4-BE49-F238E27FC236}">
                <a16:creationId xmlns:a16="http://schemas.microsoft.com/office/drawing/2014/main" id="{EB36CC5B-41F9-0433-80C2-EFFEC968C560}"/>
              </a:ext>
            </a:extLst>
          </p:cNvPr>
          <p:cNvSpPr>
            <a:spLocks noGrp="1"/>
          </p:cNvSpPr>
          <p:nvPr>
            <p:ph type="sldNum" sz="quarter" idx="12"/>
          </p:nvPr>
        </p:nvSpPr>
        <p:spPr/>
        <p:txBody>
          <a:bodyPr/>
          <a:lstStyle/>
          <a:p>
            <a:fld id="{B841CA95-E0BC-48B5-948A-ECC494EB4D84}" type="slidenum">
              <a:rPr lang="en-US" smtClean="0"/>
              <a:t>23</a:t>
            </a:fld>
            <a:endParaRPr lang="en-US"/>
          </a:p>
        </p:txBody>
      </p:sp>
    </p:spTree>
    <p:extLst>
      <p:ext uri="{BB962C8B-B14F-4D97-AF65-F5344CB8AC3E}">
        <p14:creationId xmlns:p14="http://schemas.microsoft.com/office/powerpoint/2010/main" val="15196302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5E1B3-C29E-4AEC-17FF-FD0F5F6A2933}"/>
              </a:ext>
            </a:extLst>
          </p:cNvPr>
          <p:cNvSpPr>
            <a:spLocks noGrp="1"/>
          </p:cNvSpPr>
          <p:nvPr>
            <p:ph type="title"/>
          </p:nvPr>
        </p:nvSpPr>
        <p:spPr/>
        <p:txBody>
          <a:bodyPr/>
          <a:lstStyle/>
          <a:p>
            <a:r>
              <a:rPr lang="en-GB" dirty="0"/>
              <a:t>Cleaning Data with Pandas</a:t>
            </a:r>
            <a:endParaRPr lang="LID4096" dirty="0"/>
          </a:p>
        </p:txBody>
      </p:sp>
      <p:sp>
        <p:nvSpPr>
          <p:cNvPr id="3" name="Content Placeholder 2">
            <a:extLst>
              <a:ext uri="{FF2B5EF4-FFF2-40B4-BE49-F238E27FC236}">
                <a16:creationId xmlns:a16="http://schemas.microsoft.com/office/drawing/2014/main" id="{3EDD69D8-B185-16B0-041F-0B87121CC98A}"/>
              </a:ext>
            </a:extLst>
          </p:cNvPr>
          <p:cNvSpPr>
            <a:spLocks noGrp="1"/>
          </p:cNvSpPr>
          <p:nvPr>
            <p:ph sz="half" idx="1"/>
          </p:nvPr>
        </p:nvSpPr>
        <p:spPr>
          <a:xfrm>
            <a:off x="838199" y="1825625"/>
            <a:ext cx="10081591" cy="4351338"/>
          </a:xfrm>
        </p:spPr>
        <p:txBody>
          <a:bodyPr/>
          <a:lstStyle/>
          <a:p>
            <a:pPr algn="l"/>
            <a:r>
              <a:rPr lang="en-GB" b="0" i="0" dirty="0">
                <a:solidFill>
                  <a:srgbClr val="000000"/>
                </a:solidFill>
                <a:effectLst/>
                <a:latin typeface="Verdana" panose="020B0604030504040204" pitchFamily="34" charset="0"/>
              </a:rPr>
              <a:t>Dropping a Column</a:t>
            </a:r>
          </a:p>
          <a:p>
            <a:pPr lvl="1"/>
            <a:r>
              <a:rPr lang="en-GB" b="0" i="0" dirty="0" err="1">
                <a:solidFill>
                  <a:schemeClr val="accent6">
                    <a:lumMod val="75000"/>
                  </a:schemeClr>
                </a:solidFill>
                <a:effectLst/>
                <a:latin typeface="Verdana" panose="020B0604030504040204" pitchFamily="34" charset="0"/>
              </a:rPr>
              <a:t>DataFrame.drop</a:t>
            </a:r>
            <a:r>
              <a:rPr lang="en-GB" b="0" i="0" dirty="0">
                <a:solidFill>
                  <a:schemeClr val="accent6">
                    <a:lumMod val="75000"/>
                  </a:schemeClr>
                </a:solidFill>
                <a:effectLst/>
                <a:latin typeface="Verdana" panose="020B0604030504040204" pitchFamily="34" charset="0"/>
              </a:rPr>
              <a:t>([‘column1’, ‘column2’], axis=1)</a:t>
            </a:r>
          </a:p>
          <a:p>
            <a:pPr algn="l"/>
            <a:r>
              <a:rPr lang="en-GB" dirty="0">
                <a:solidFill>
                  <a:srgbClr val="000000"/>
                </a:solidFill>
                <a:latin typeface="Verdana" panose="020B0604030504040204" pitchFamily="34" charset="0"/>
              </a:rPr>
              <a:t>Counting null values</a:t>
            </a:r>
          </a:p>
          <a:p>
            <a:pPr lvl="1"/>
            <a:r>
              <a:rPr lang="en-GB" b="0" i="0" dirty="0" err="1">
                <a:solidFill>
                  <a:schemeClr val="accent6">
                    <a:lumMod val="75000"/>
                  </a:schemeClr>
                </a:solidFill>
                <a:effectLst/>
                <a:latin typeface="Verdana" panose="020B0604030504040204" pitchFamily="34" charset="0"/>
              </a:rPr>
              <a:t>DataFrame.isna</a:t>
            </a:r>
            <a:r>
              <a:rPr lang="en-GB" b="0" i="0" dirty="0">
                <a:solidFill>
                  <a:schemeClr val="accent6">
                    <a:lumMod val="75000"/>
                  </a:schemeClr>
                </a:solidFill>
                <a:effectLst/>
                <a:latin typeface="Verdana" panose="020B0604030504040204" pitchFamily="34" charset="0"/>
              </a:rPr>
              <a:t>().sum()</a:t>
            </a:r>
          </a:p>
          <a:p>
            <a:pPr algn="l"/>
            <a:r>
              <a:rPr lang="en-GB" dirty="0">
                <a:solidFill>
                  <a:srgbClr val="000000"/>
                </a:solidFill>
                <a:latin typeface="Verdana" panose="020B0604030504040204" pitchFamily="34" charset="0"/>
              </a:rPr>
              <a:t>Dropping rows having null values</a:t>
            </a:r>
          </a:p>
          <a:p>
            <a:pPr lvl="1"/>
            <a:r>
              <a:rPr lang="en-GB" b="0" i="0" dirty="0" err="1">
                <a:solidFill>
                  <a:schemeClr val="accent6">
                    <a:lumMod val="75000"/>
                  </a:schemeClr>
                </a:solidFill>
                <a:effectLst/>
                <a:latin typeface="Verdana" panose="020B0604030504040204" pitchFamily="34" charset="0"/>
              </a:rPr>
              <a:t>DataFrame.dropna</a:t>
            </a:r>
            <a:r>
              <a:rPr lang="en-GB" b="0" i="0" dirty="0">
                <a:solidFill>
                  <a:schemeClr val="accent6">
                    <a:lumMod val="75000"/>
                  </a:schemeClr>
                </a:solidFill>
                <a:effectLst/>
                <a:latin typeface="Verdana" panose="020B0604030504040204" pitchFamily="34" charset="0"/>
              </a:rPr>
              <a:t>()</a:t>
            </a:r>
          </a:p>
          <a:p>
            <a:pPr algn="l"/>
            <a:r>
              <a:rPr lang="en-GB" dirty="0">
                <a:solidFill>
                  <a:srgbClr val="000000"/>
                </a:solidFill>
                <a:latin typeface="Verdana" panose="020B0604030504040204" pitchFamily="34" charset="0"/>
              </a:rPr>
              <a:t>Replacing null values</a:t>
            </a:r>
          </a:p>
          <a:p>
            <a:pPr lvl="1"/>
            <a:r>
              <a:rPr lang="en-GB" b="0" i="0" dirty="0" err="1">
                <a:solidFill>
                  <a:schemeClr val="accent6">
                    <a:lumMod val="75000"/>
                  </a:schemeClr>
                </a:solidFill>
                <a:effectLst/>
                <a:latin typeface="Verdana" panose="020B0604030504040204" pitchFamily="34" charset="0"/>
              </a:rPr>
              <a:t>DataFrame.fillna</a:t>
            </a:r>
            <a:r>
              <a:rPr lang="en-GB" b="0" i="0" dirty="0">
                <a:solidFill>
                  <a:schemeClr val="accent6">
                    <a:lumMod val="75000"/>
                  </a:schemeClr>
                </a:solidFill>
                <a:effectLst/>
                <a:latin typeface="Verdana" panose="020B0604030504040204" pitchFamily="34" charset="0"/>
              </a:rPr>
              <a:t>(value)</a:t>
            </a:r>
          </a:p>
          <a:p>
            <a:pPr lvl="1"/>
            <a:r>
              <a:rPr lang="en-GB" dirty="0" err="1">
                <a:solidFill>
                  <a:schemeClr val="accent6">
                    <a:lumMod val="75000"/>
                  </a:schemeClr>
                </a:solidFill>
                <a:latin typeface="Verdana" panose="020B0604030504040204" pitchFamily="34" charset="0"/>
              </a:rPr>
              <a:t>DataFrame.interpolate</a:t>
            </a:r>
            <a:r>
              <a:rPr lang="en-GB" dirty="0">
                <a:solidFill>
                  <a:schemeClr val="accent6">
                    <a:lumMod val="75000"/>
                  </a:schemeClr>
                </a:solidFill>
                <a:latin typeface="Verdana" panose="020B0604030504040204" pitchFamily="34" charset="0"/>
              </a:rPr>
              <a:t>(‘linear’)</a:t>
            </a:r>
            <a:endParaRPr lang="en-GB" b="0" i="0" dirty="0">
              <a:solidFill>
                <a:schemeClr val="accent6">
                  <a:lumMod val="75000"/>
                </a:schemeClr>
              </a:solidFill>
              <a:effectLst/>
              <a:latin typeface="Verdana" panose="020B0604030504040204" pitchFamily="34" charset="0"/>
            </a:endParaRPr>
          </a:p>
          <a:p>
            <a:pPr marL="914400" lvl="2" indent="0">
              <a:buNone/>
            </a:pPr>
            <a:endParaRPr lang="en-GB" b="0" i="0" dirty="0">
              <a:solidFill>
                <a:schemeClr val="accent6">
                  <a:lumMod val="75000"/>
                </a:schemeClr>
              </a:solidFill>
              <a:effectLst/>
              <a:latin typeface="Verdana" panose="020B0604030504040204" pitchFamily="34" charset="0"/>
            </a:endParaRPr>
          </a:p>
          <a:p>
            <a:endParaRPr lang="LID4096" dirty="0"/>
          </a:p>
        </p:txBody>
      </p:sp>
      <p:sp>
        <p:nvSpPr>
          <p:cNvPr id="5" name="Slide Number Placeholder 4">
            <a:extLst>
              <a:ext uri="{FF2B5EF4-FFF2-40B4-BE49-F238E27FC236}">
                <a16:creationId xmlns:a16="http://schemas.microsoft.com/office/drawing/2014/main" id="{EB36CC5B-41F9-0433-80C2-EFFEC968C560}"/>
              </a:ext>
            </a:extLst>
          </p:cNvPr>
          <p:cNvSpPr>
            <a:spLocks noGrp="1"/>
          </p:cNvSpPr>
          <p:nvPr>
            <p:ph type="sldNum" sz="quarter" idx="12"/>
          </p:nvPr>
        </p:nvSpPr>
        <p:spPr/>
        <p:txBody>
          <a:bodyPr/>
          <a:lstStyle/>
          <a:p>
            <a:fld id="{B841CA95-E0BC-48B5-948A-ECC494EB4D84}" type="slidenum">
              <a:rPr lang="en-US" smtClean="0"/>
              <a:t>24</a:t>
            </a:fld>
            <a:endParaRPr lang="en-US"/>
          </a:p>
        </p:txBody>
      </p:sp>
    </p:spTree>
    <p:extLst>
      <p:ext uri="{BB962C8B-B14F-4D97-AF65-F5344CB8AC3E}">
        <p14:creationId xmlns:p14="http://schemas.microsoft.com/office/powerpoint/2010/main" val="4077444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5E1B3-C29E-4AEC-17FF-FD0F5F6A2933}"/>
              </a:ext>
            </a:extLst>
          </p:cNvPr>
          <p:cNvSpPr>
            <a:spLocks noGrp="1"/>
          </p:cNvSpPr>
          <p:nvPr>
            <p:ph type="title"/>
          </p:nvPr>
        </p:nvSpPr>
        <p:spPr/>
        <p:txBody>
          <a:bodyPr/>
          <a:lstStyle/>
          <a:p>
            <a:r>
              <a:rPr lang="en-GB" dirty="0"/>
              <a:t>Cleaning Data with Pandas</a:t>
            </a:r>
            <a:endParaRPr lang="LID4096" dirty="0"/>
          </a:p>
        </p:txBody>
      </p:sp>
      <p:sp>
        <p:nvSpPr>
          <p:cNvPr id="3" name="Content Placeholder 2">
            <a:extLst>
              <a:ext uri="{FF2B5EF4-FFF2-40B4-BE49-F238E27FC236}">
                <a16:creationId xmlns:a16="http://schemas.microsoft.com/office/drawing/2014/main" id="{3EDD69D8-B185-16B0-041F-0B87121CC98A}"/>
              </a:ext>
            </a:extLst>
          </p:cNvPr>
          <p:cNvSpPr>
            <a:spLocks noGrp="1"/>
          </p:cNvSpPr>
          <p:nvPr>
            <p:ph sz="half" idx="1"/>
          </p:nvPr>
        </p:nvSpPr>
        <p:spPr>
          <a:xfrm>
            <a:off x="838199" y="1825625"/>
            <a:ext cx="10081591" cy="4351338"/>
          </a:xfrm>
        </p:spPr>
        <p:txBody>
          <a:bodyPr>
            <a:normAutofit fontScale="92500" lnSpcReduction="20000"/>
          </a:bodyPr>
          <a:lstStyle/>
          <a:p>
            <a:pPr algn="l"/>
            <a:r>
              <a:rPr lang="en-GB" b="0" i="0" dirty="0">
                <a:solidFill>
                  <a:srgbClr val="000000"/>
                </a:solidFill>
                <a:effectLst/>
                <a:latin typeface="Verdana" panose="020B0604030504040204" pitchFamily="34" charset="0"/>
              </a:rPr>
              <a:t>Changing Format</a:t>
            </a:r>
          </a:p>
          <a:p>
            <a:pPr lvl="1"/>
            <a:r>
              <a:rPr lang="en-GB" b="0" i="0" dirty="0" err="1">
                <a:solidFill>
                  <a:schemeClr val="accent6">
                    <a:lumMod val="75000"/>
                  </a:schemeClr>
                </a:solidFill>
                <a:effectLst/>
                <a:latin typeface="Verdana" panose="020B0604030504040204" pitchFamily="34" charset="0"/>
              </a:rPr>
              <a:t>DataFrame.to_date</a:t>
            </a:r>
            <a:r>
              <a:rPr lang="en-GB" dirty="0" err="1">
                <a:solidFill>
                  <a:schemeClr val="accent6">
                    <a:lumMod val="75000"/>
                  </a:schemeClr>
                </a:solidFill>
                <a:latin typeface="Verdana" panose="020B0604030504040204" pitchFamily="34" charset="0"/>
              </a:rPr>
              <a:t>time</a:t>
            </a:r>
            <a:r>
              <a:rPr lang="en-GB" dirty="0">
                <a:solidFill>
                  <a:schemeClr val="accent6">
                    <a:lumMod val="75000"/>
                  </a:schemeClr>
                </a:solidFill>
                <a:latin typeface="Verdana" panose="020B0604030504040204" pitchFamily="34" charset="0"/>
              </a:rPr>
              <a:t>(‘column’)</a:t>
            </a:r>
          </a:p>
          <a:p>
            <a:pPr lvl="2"/>
            <a:r>
              <a:rPr lang="en-GB" dirty="0" err="1">
                <a:solidFill>
                  <a:schemeClr val="accent6">
                    <a:lumMod val="75000"/>
                  </a:schemeClr>
                </a:solidFill>
                <a:latin typeface="Verdana" panose="020B0604030504040204" pitchFamily="34" charset="0"/>
              </a:rPr>
              <a:t>df</a:t>
            </a:r>
            <a:r>
              <a:rPr lang="en-GB" dirty="0">
                <a:solidFill>
                  <a:schemeClr val="accent6">
                    <a:lumMod val="75000"/>
                  </a:schemeClr>
                </a:solidFill>
                <a:latin typeface="Verdana" panose="020B0604030504040204" pitchFamily="34" charset="0"/>
              </a:rPr>
              <a:t>['datetime']=</a:t>
            </a:r>
            <a:r>
              <a:rPr lang="en-GB" dirty="0" err="1">
                <a:solidFill>
                  <a:schemeClr val="accent6">
                    <a:lumMod val="75000"/>
                  </a:schemeClr>
                </a:solidFill>
                <a:latin typeface="Verdana" panose="020B0604030504040204" pitchFamily="34" charset="0"/>
              </a:rPr>
              <a:t>pd.to_datetime</a:t>
            </a:r>
            <a:r>
              <a:rPr lang="en-GB" dirty="0">
                <a:solidFill>
                  <a:schemeClr val="accent6">
                    <a:lumMod val="75000"/>
                  </a:schemeClr>
                </a:solidFill>
                <a:latin typeface="Verdana" panose="020B0604030504040204" pitchFamily="34" charset="0"/>
              </a:rPr>
              <a:t>(</a:t>
            </a:r>
            <a:r>
              <a:rPr lang="en-GB" dirty="0" err="1">
                <a:solidFill>
                  <a:schemeClr val="accent6">
                    <a:lumMod val="75000"/>
                  </a:schemeClr>
                </a:solidFill>
                <a:latin typeface="Verdana" panose="020B0604030504040204" pitchFamily="34" charset="0"/>
              </a:rPr>
              <a:t>df</a:t>
            </a:r>
            <a:r>
              <a:rPr lang="en-GB" dirty="0">
                <a:solidFill>
                  <a:schemeClr val="accent6">
                    <a:lumMod val="75000"/>
                  </a:schemeClr>
                </a:solidFill>
                <a:latin typeface="Verdana" panose="020B0604030504040204" pitchFamily="34" charset="0"/>
              </a:rPr>
              <a:t>['date'],format='mixed’)</a:t>
            </a:r>
          </a:p>
          <a:p>
            <a:pPr lvl="2"/>
            <a:r>
              <a:rPr lang="en-GB" dirty="0" err="1">
                <a:solidFill>
                  <a:schemeClr val="accent6">
                    <a:lumMod val="75000"/>
                  </a:schemeClr>
                </a:solidFill>
                <a:latin typeface="Verdana" panose="020B0604030504040204" pitchFamily="34" charset="0"/>
              </a:rPr>
              <a:t>df</a:t>
            </a:r>
            <a:r>
              <a:rPr lang="en-GB" dirty="0">
                <a:solidFill>
                  <a:schemeClr val="accent6">
                    <a:lumMod val="75000"/>
                  </a:schemeClr>
                </a:solidFill>
                <a:latin typeface="Verdana" panose="020B0604030504040204" pitchFamily="34" charset="0"/>
              </a:rPr>
              <a:t>['</a:t>
            </a:r>
            <a:r>
              <a:rPr lang="en-GB" dirty="0" err="1">
                <a:solidFill>
                  <a:schemeClr val="accent6">
                    <a:lumMod val="75000"/>
                  </a:schemeClr>
                </a:solidFill>
                <a:latin typeface="Verdana" panose="020B0604030504040204" pitchFamily="34" charset="0"/>
              </a:rPr>
              <a:t>monts</a:t>
            </a:r>
            <a:r>
              <a:rPr lang="en-GB" dirty="0">
                <a:solidFill>
                  <a:schemeClr val="accent6">
                    <a:lumMod val="75000"/>
                  </a:schemeClr>
                </a:solidFill>
                <a:latin typeface="Verdana" panose="020B0604030504040204" pitchFamily="34" charset="0"/>
              </a:rPr>
              <a:t>']=</a:t>
            </a:r>
            <a:r>
              <a:rPr lang="en-GB" dirty="0" err="1">
                <a:solidFill>
                  <a:schemeClr val="accent6">
                    <a:lumMod val="75000"/>
                  </a:schemeClr>
                </a:solidFill>
                <a:latin typeface="Verdana" panose="020B0604030504040204" pitchFamily="34" charset="0"/>
              </a:rPr>
              <a:t>df</a:t>
            </a:r>
            <a:r>
              <a:rPr lang="en-GB" dirty="0">
                <a:solidFill>
                  <a:schemeClr val="accent6">
                    <a:lumMod val="75000"/>
                  </a:schemeClr>
                </a:solidFill>
                <a:latin typeface="Verdana" panose="020B0604030504040204" pitchFamily="34" charset="0"/>
              </a:rPr>
              <a:t>['datetime'].</a:t>
            </a:r>
            <a:r>
              <a:rPr lang="en-GB" dirty="0" err="1">
                <a:solidFill>
                  <a:schemeClr val="accent6">
                    <a:lumMod val="75000"/>
                  </a:schemeClr>
                </a:solidFill>
                <a:latin typeface="Verdana" panose="020B0604030504040204" pitchFamily="34" charset="0"/>
              </a:rPr>
              <a:t>dt.month</a:t>
            </a:r>
            <a:endParaRPr lang="en-GB" dirty="0">
              <a:solidFill>
                <a:schemeClr val="accent6">
                  <a:lumMod val="75000"/>
                </a:schemeClr>
              </a:solidFill>
              <a:latin typeface="Verdana" panose="020B0604030504040204" pitchFamily="34" charset="0"/>
            </a:endParaRPr>
          </a:p>
          <a:p>
            <a:pPr lvl="1"/>
            <a:r>
              <a:rPr lang="en-GB" b="0" i="0" dirty="0" err="1">
                <a:solidFill>
                  <a:schemeClr val="accent6">
                    <a:lumMod val="75000"/>
                  </a:schemeClr>
                </a:solidFill>
                <a:effectLst/>
                <a:latin typeface="Verdana" panose="020B0604030504040204" pitchFamily="34" charset="0"/>
              </a:rPr>
              <a:t>DataFrame.to_numeric</a:t>
            </a:r>
            <a:r>
              <a:rPr lang="en-GB" dirty="0">
                <a:solidFill>
                  <a:schemeClr val="accent6">
                    <a:lumMod val="75000"/>
                  </a:schemeClr>
                </a:solidFill>
                <a:latin typeface="Verdana" panose="020B0604030504040204" pitchFamily="34" charset="0"/>
              </a:rPr>
              <a:t>(‘column’)</a:t>
            </a:r>
            <a:endParaRPr lang="en-GB" b="0" i="0" dirty="0">
              <a:solidFill>
                <a:schemeClr val="accent6">
                  <a:lumMod val="75000"/>
                </a:schemeClr>
              </a:solidFill>
              <a:effectLst/>
              <a:latin typeface="Verdana" panose="020B0604030504040204" pitchFamily="34" charset="0"/>
            </a:endParaRPr>
          </a:p>
          <a:p>
            <a:pPr algn="l"/>
            <a:r>
              <a:rPr lang="en-GB" dirty="0">
                <a:solidFill>
                  <a:srgbClr val="000000"/>
                </a:solidFill>
                <a:latin typeface="Verdana" panose="020B0604030504040204" pitchFamily="34" charset="0"/>
              </a:rPr>
              <a:t>Changing Values</a:t>
            </a:r>
          </a:p>
          <a:p>
            <a:pPr lvl="1"/>
            <a:r>
              <a:rPr lang="en-GB" b="0" i="0" dirty="0" err="1">
                <a:solidFill>
                  <a:schemeClr val="accent6">
                    <a:lumMod val="75000"/>
                  </a:schemeClr>
                </a:solidFill>
                <a:effectLst/>
                <a:latin typeface="Verdana" panose="020B0604030504040204" pitchFamily="34" charset="0"/>
              </a:rPr>
              <a:t>DataFrame.loc</a:t>
            </a:r>
            <a:r>
              <a:rPr lang="en-GB" b="0" i="0" dirty="0">
                <a:solidFill>
                  <a:schemeClr val="accent6">
                    <a:lumMod val="75000"/>
                  </a:schemeClr>
                </a:solidFill>
                <a:effectLst/>
                <a:latin typeface="Verdana" panose="020B0604030504040204" pitchFamily="34" charset="0"/>
              </a:rPr>
              <a:t>[</a:t>
            </a:r>
            <a:r>
              <a:rPr lang="en-GB" b="0" i="0" dirty="0" err="1">
                <a:solidFill>
                  <a:schemeClr val="accent6">
                    <a:lumMod val="75000"/>
                  </a:schemeClr>
                </a:solidFill>
                <a:effectLst/>
                <a:latin typeface="Verdana" panose="020B0604030504040204" pitchFamily="34" charset="0"/>
              </a:rPr>
              <a:t>row_number</a:t>
            </a:r>
            <a:r>
              <a:rPr lang="en-GB" b="0" i="0" dirty="0">
                <a:solidFill>
                  <a:schemeClr val="accent6">
                    <a:lumMod val="75000"/>
                  </a:schemeClr>
                </a:solidFill>
                <a:effectLst/>
                <a:latin typeface="Verdana" panose="020B0604030504040204" pitchFamily="34" charset="0"/>
              </a:rPr>
              <a:t>, ‘column’] = value</a:t>
            </a:r>
          </a:p>
          <a:p>
            <a:pPr algn="l"/>
            <a:r>
              <a:rPr lang="en-GB" dirty="0">
                <a:solidFill>
                  <a:srgbClr val="000000"/>
                </a:solidFill>
                <a:latin typeface="Verdana" panose="020B0604030504040204" pitchFamily="34" charset="0"/>
              </a:rPr>
              <a:t>Counting Duplicate rows</a:t>
            </a:r>
          </a:p>
          <a:p>
            <a:pPr lvl="1"/>
            <a:r>
              <a:rPr lang="en-GB" b="0" i="0" dirty="0" err="1">
                <a:solidFill>
                  <a:schemeClr val="accent6">
                    <a:lumMod val="75000"/>
                  </a:schemeClr>
                </a:solidFill>
                <a:effectLst/>
                <a:latin typeface="Verdana" panose="020B0604030504040204" pitchFamily="34" charset="0"/>
              </a:rPr>
              <a:t>DataFrame.duplicated</a:t>
            </a:r>
            <a:r>
              <a:rPr lang="en-GB" b="0" i="0" dirty="0">
                <a:solidFill>
                  <a:schemeClr val="accent6">
                    <a:lumMod val="75000"/>
                  </a:schemeClr>
                </a:solidFill>
                <a:effectLst/>
                <a:latin typeface="Verdana" panose="020B0604030504040204" pitchFamily="34" charset="0"/>
              </a:rPr>
              <a:t>().sum()</a:t>
            </a:r>
          </a:p>
          <a:p>
            <a:pPr algn="l"/>
            <a:r>
              <a:rPr lang="en-GB" dirty="0">
                <a:solidFill>
                  <a:srgbClr val="000000"/>
                </a:solidFill>
                <a:latin typeface="Verdana" panose="020B0604030504040204" pitchFamily="34" charset="0"/>
              </a:rPr>
              <a:t>Dropping Duplicates</a:t>
            </a:r>
          </a:p>
          <a:p>
            <a:pPr lvl="1"/>
            <a:r>
              <a:rPr lang="en-GB" b="0" i="0" dirty="0" err="1">
                <a:solidFill>
                  <a:schemeClr val="accent6">
                    <a:lumMod val="75000"/>
                  </a:schemeClr>
                </a:solidFill>
                <a:effectLst/>
                <a:latin typeface="Verdana" panose="020B0604030504040204" pitchFamily="34" charset="0"/>
              </a:rPr>
              <a:t>DataFrame.drop_duplicates</a:t>
            </a:r>
            <a:r>
              <a:rPr lang="en-GB" b="0" i="0" dirty="0">
                <a:solidFill>
                  <a:schemeClr val="accent6">
                    <a:lumMod val="75000"/>
                  </a:schemeClr>
                </a:solidFill>
                <a:effectLst/>
                <a:latin typeface="Verdana" panose="020B0604030504040204" pitchFamily="34" charset="0"/>
              </a:rPr>
              <a:t>()</a:t>
            </a:r>
          </a:p>
          <a:p>
            <a:r>
              <a:rPr lang="en-GB" dirty="0">
                <a:solidFill>
                  <a:srgbClr val="000000"/>
                </a:solidFill>
                <a:latin typeface="Verdana" panose="020B0604030504040204" pitchFamily="34" charset="0"/>
              </a:rPr>
              <a:t>Dropping a row</a:t>
            </a:r>
          </a:p>
          <a:p>
            <a:pPr lvl="1"/>
            <a:r>
              <a:rPr lang="en-GB" b="0" i="0" dirty="0" err="1">
                <a:solidFill>
                  <a:schemeClr val="accent6">
                    <a:lumMod val="75000"/>
                  </a:schemeClr>
                </a:solidFill>
                <a:effectLst/>
                <a:latin typeface="Verdana" panose="020B0604030504040204" pitchFamily="34" charset="0"/>
              </a:rPr>
              <a:t>DataFrame.drop</a:t>
            </a:r>
            <a:r>
              <a:rPr lang="en-GB" b="0" i="0" dirty="0">
                <a:solidFill>
                  <a:schemeClr val="accent6">
                    <a:lumMod val="75000"/>
                  </a:schemeClr>
                </a:solidFill>
                <a:effectLst/>
                <a:latin typeface="Verdana" panose="020B0604030504040204" pitchFamily="34" charset="0"/>
              </a:rPr>
              <a:t>(</a:t>
            </a:r>
            <a:r>
              <a:rPr lang="en-GB" b="0" i="0" dirty="0" err="1">
                <a:solidFill>
                  <a:schemeClr val="accent6">
                    <a:lumMod val="75000"/>
                  </a:schemeClr>
                </a:solidFill>
                <a:effectLst/>
                <a:latin typeface="Verdana" panose="020B0604030504040204" pitchFamily="34" charset="0"/>
              </a:rPr>
              <a:t>row_number</a:t>
            </a:r>
            <a:r>
              <a:rPr lang="en-GB" b="0" i="0" dirty="0">
                <a:solidFill>
                  <a:schemeClr val="accent6">
                    <a:lumMod val="75000"/>
                  </a:schemeClr>
                </a:solidFill>
                <a:effectLst/>
                <a:latin typeface="Verdana" panose="020B0604030504040204" pitchFamily="34" charset="0"/>
              </a:rPr>
              <a:t>)</a:t>
            </a:r>
          </a:p>
          <a:p>
            <a:endParaRPr lang="en-GB" b="0" i="0" dirty="0">
              <a:solidFill>
                <a:schemeClr val="accent6">
                  <a:lumMod val="75000"/>
                </a:schemeClr>
              </a:solidFill>
              <a:effectLst/>
              <a:latin typeface="Verdana" panose="020B0604030504040204" pitchFamily="34" charset="0"/>
            </a:endParaRPr>
          </a:p>
          <a:p>
            <a:endParaRPr lang="en-GB" b="0" i="0" dirty="0">
              <a:solidFill>
                <a:schemeClr val="accent6">
                  <a:lumMod val="75000"/>
                </a:schemeClr>
              </a:solidFill>
              <a:effectLst/>
              <a:latin typeface="Verdana" panose="020B0604030504040204" pitchFamily="34" charset="0"/>
            </a:endParaRPr>
          </a:p>
          <a:p>
            <a:endParaRPr lang="LID4096" dirty="0"/>
          </a:p>
        </p:txBody>
      </p:sp>
      <p:sp>
        <p:nvSpPr>
          <p:cNvPr id="5" name="Slide Number Placeholder 4">
            <a:extLst>
              <a:ext uri="{FF2B5EF4-FFF2-40B4-BE49-F238E27FC236}">
                <a16:creationId xmlns:a16="http://schemas.microsoft.com/office/drawing/2014/main" id="{EB36CC5B-41F9-0433-80C2-EFFEC968C560}"/>
              </a:ext>
            </a:extLst>
          </p:cNvPr>
          <p:cNvSpPr>
            <a:spLocks noGrp="1"/>
          </p:cNvSpPr>
          <p:nvPr>
            <p:ph type="sldNum" sz="quarter" idx="12"/>
          </p:nvPr>
        </p:nvSpPr>
        <p:spPr/>
        <p:txBody>
          <a:bodyPr/>
          <a:lstStyle/>
          <a:p>
            <a:fld id="{B841CA95-E0BC-48B5-948A-ECC494EB4D84}" type="slidenum">
              <a:rPr lang="en-US" smtClean="0"/>
              <a:t>25</a:t>
            </a:fld>
            <a:endParaRPr lang="en-US"/>
          </a:p>
        </p:txBody>
      </p:sp>
    </p:spTree>
    <p:extLst>
      <p:ext uri="{BB962C8B-B14F-4D97-AF65-F5344CB8AC3E}">
        <p14:creationId xmlns:p14="http://schemas.microsoft.com/office/powerpoint/2010/main" val="37680547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5E70E-9BCF-FFCC-C4A4-DBF6D5ED8704}"/>
              </a:ext>
            </a:extLst>
          </p:cNvPr>
          <p:cNvSpPr>
            <a:spLocks noGrp="1"/>
          </p:cNvSpPr>
          <p:nvPr>
            <p:ph type="title"/>
          </p:nvPr>
        </p:nvSpPr>
        <p:spPr/>
        <p:txBody>
          <a:bodyPr/>
          <a:lstStyle/>
          <a:p>
            <a:r>
              <a:rPr lang="en-GB" dirty="0"/>
              <a:t>Outlier Detection</a:t>
            </a:r>
            <a:endParaRPr lang="LID4096" dirty="0"/>
          </a:p>
        </p:txBody>
      </p:sp>
      <p:sp>
        <p:nvSpPr>
          <p:cNvPr id="3" name="Content Placeholder 2">
            <a:extLst>
              <a:ext uri="{FF2B5EF4-FFF2-40B4-BE49-F238E27FC236}">
                <a16:creationId xmlns:a16="http://schemas.microsoft.com/office/drawing/2014/main" id="{361F3B1E-70F5-D037-8DF1-BCEE65D80D2D}"/>
              </a:ext>
            </a:extLst>
          </p:cNvPr>
          <p:cNvSpPr>
            <a:spLocks noGrp="1"/>
          </p:cNvSpPr>
          <p:nvPr>
            <p:ph sz="half" idx="1"/>
          </p:nvPr>
        </p:nvSpPr>
        <p:spPr>
          <a:xfrm>
            <a:off x="838200" y="1825625"/>
            <a:ext cx="10515600" cy="4351338"/>
          </a:xfrm>
        </p:spPr>
        <p:txBody>
          <a:bodyPr/>
          <a:lstStyle/>
          <a:p>
            <a:r>
              <a:rPr lang="it-IT" dirty="0"/>
              <a:t>Q1= df[‘attribute'].quantile(0.25)</a:t>
            </a:r>
          </a:p>
          <a:p>
            <a:r>
              <a:rPr lang="it-IT" dirty="0"/>
              <a:t>Q3= df[‘attribute'].quantile(0.75)</a:t>
            </a:r>
          </a:p>
          <a:p>
            <a:r>
              <a:rPr lang="it-IT" dirty="0"/>
              <a:t>IQR = Q3 – Q1</a:t>
            </a:r>
          </a:p>
          <a:p>
            <a:r>
              <a:rPr lang="en-US" dirty="0"/>
              <a:t>lower = Q1 - 1.5*IQR</a:t>
            </a:r>
          </a:p>
          <a:p>
            <a:r>
              <a:rPr lang="en-US" dirty="0"/>
              <a:t>upper </a:t>
            </a:r>
            <a:r>
              <a:rPr lang="en-US"/>
              <a:t>= Q3 </a:t>
            </a:r>
            <a:r>
              <a:rPr lang="en-US" dirty="0"/>
              <a:t>+1.5*IQR</a:t>
            </a:r>
            <a:endParaRPr lang="it-IT" dirty="0"/>
          </a:p>
          <a:p>
            <a:r>
              <a:rPr lang="en-GB" dirty="0" err="1"/>
              <a:t>cleandf</a:t>
            </a:r>
            <a:r>
              <a:rPr lang="en-GB" dirty="0"/>
              <a:t> = </a:t>
            </a:r>
            <a:r>
              <a:rPr lang="en-GB" dirty="0" err="1"/>
              <a:t>df</a:t>
            </a:r>
            <a:r>
              <a:rPr lang="en-GB" dirty="0"/>
              <a:t>[(</a:t>
            </a:r>
            <a:r>
              <a:rPr lang="en-GB" dirty="0" err="1"/>
              <a:t>df</a:t>
            </a:r>
            <a:r>
              <a:rPr lang="en-GB" dirty="0"/>
              <a:t>[‘column']&gt;lower) &amp; (</a:t>
            </a:r>
            <a:r>
              <a:rPr lang="en-GB" dirty="0" err="1"/>
              <a:t>df</a:t>
            </a:r>
            <a:r>
              <a:rPr lang="en-GB" dirty="0"/>
              <a:t>[‘column']&lt;upper)]</a:t>
            </a:r>
            <a:endParaRPr lang="LID4096" dirty="0"/>
          </a:p>
        </p:txBody>
      </p:sp>
      <p:sp>
        <p:nvSpPr>
          <p:cNvPr id="5" name="Slide Number Placeholder 4">
            <a:extLst>
              <a:ext uri="{FF2B5EF4-FFF2-40B4-BE49-F238E27FC236}">
                <a16:creationId xmlns:a16="http://schemas.microsoft.com/office/drawing/2014/main" id="{E6474EC6-31F6-F644-4653-5A0077EF712A}"/>
              </a:ext>
            </a:extLst>
          </p:cNvPr>
          <p:cNvSpPr>
            <a:spLocks noGrp="1"/>
          </p:cNvSpPr>
          <p:nvPr>
            <p:ph type="sldNum" sz="quarter" idx="12"/>
          </p:nvPr>
        </p:nvSpPr>
        <p:spPr/>
        <p:txBody>
          <a:bodyPr/>
          <a:lstStyle/>
          <a:p>
            <a:fld id="{B841CA95-E0BC-48B5-948A-ECC494EB4D84}" type="slidenum">
              <a:rPr lang="en-US" smtClean="0"/>
              <a:t>26</a:t>
            </a:fld>
            <a:endParaRPr lang="en-US"/>
          </a:p>
        </p:txBody>
      </p:sp>
    </p:spTree>
    <p:extLst>
      <p:ext uri="{BB962C8B-B14F-4D97-AF65-F5344CB8AC3E}">
        <p14:creationId xmlns:p14="http://schemas.microsoft.com/office/powerpoint/2010/main" val="4290010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2814B-E132-BE02-9BF2-C5B5E20C8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9D1331-13D8-78C5-4830-4FC07426564C}"/>
              </a:ext>
            </a:extLst>
          </p:cNvPr>
          <p:cNvSpPr>
            <a:spLocks noGrp="1"/>
          </p:cNvSpPr>
          <p:nvPr>
            <p:ph type="title"/>
          </p:nvPr>
        </p:nvSpPr>
        <p:spPr/>
        <p:txBody>
          <a:bodyPr/>
          <a:lstStyle/>
          <a:p>
            <a:r>
              <a:rPr lang="en-GB" dirty="0"/>
              <a:t>Outlier Detection…</a:t>
            </a:r>
            <a:endParaRPr lang="LID4096" dirty="0"/>
          </a:p>
        </p:txBody>
      </p:sp>
      <p:sp>
        <p:nvSpPr>
          <p:cNvPr id="3" name="Content Placeholder 2">
            <a:extLst>
              <a:ext uri="{FF2B5EF4-FFF2-40B4-BE49-F238E27FC236}">
                <a16:creationId xmlns:a16="http://schemas.microsoft.com/office/drawing/2014/main" id="{A04EC399-9DFB-3212-6193-7AAA11089297}"/>
              </a:ext>
            </a:extLst>
          </p:cNvPr>
          <p:cNvSpPr>
            <a:spLocks noGrp="1"/>
          </p:cNvSpPr>
          <p:nvPr>
            <p:ph sz="half" idx="1"/>
          </p:nvPr>
        </p:nvSpPr>
        <p:spPr>
          <a:xfrm>
            <a:off x="838200" y="1825625"/>
            <a:ext cx="10515600" cy="4351338"/>
          </a:xfrm>
        </p:spPr>
        <p:txBody>
          <a:bodyPr/>
          <a:lstStyle/>
          <a:p>
            <a:r>
              <a:rPr lang="it-IT" dirty="0"/>
              <a:t>from scipy import stats</a:t>
            </a:r>
          </a:p>
          <a:p>
            <a:r>
              <a:rPr lang="en-US" dirty="0" err="1"/>
              <a:t>df</a:t>
            </a:r>
            <a:r>
              <a:rPr lang="en-US" dirty="0"/>
              <a:t>[‘</a:t>
            </a:r>
            <a:r>
              <a:rPr lang="en-US" dirty="0" err="1"/>
              <a:t>new_Z_score_col</a:t>
            </a:r>
            <a:r>
              <a:rPr lang="en-US" dirty="0"/>
              <a:t>']=</a:t>
            </a:r>
            <a:r>
              <a:rPr lang="en-US" dirty="0" err="1"/>
              <a:t>stats.zscore</a:t>
            </a:r>
            <a:r>
              <a:rPr lang="en-US" dirty="0"/>
              <a:t>(</a:t>
            </a:r>
            <a:r>
              <a:rPr lang="en-US" dirty="0" err="1"/>
              <a:t>df</a:t>
            </a:r>
            <a:r>
              <a:rPr lang="en-US" dirty="0"/>
              <a:t>[‘col']).abs()</a:t>
            </a:r>
          </a:p>
          <a:p>
            <a:r>
              <a:rPr lang="en-GB" dirty="0" err="1"/>
              <a:t>cleandf</a:t>
            </a:r>
            <a:r>
              <a:rPr lang="en-GB" dirty="0"/>
              <a:t> = </a:t>
            </a:r>
            <a:r>
              <a:rPr lang="en-GB" dirty="0" err="1"/>
              <a:t>df</a:t>
            </a:r>
            <a:r>
              <a:rPr lang="en-GB" dirty="0"/>
              <a:t>[(</a:t>
            </a:r>
            <a:r>
              <a:rPr lang="en-GB" dirty="0" err="1"/>
              <a:t>df</a:t>
            </a:r>
            <a:r>
              <a:rPr lang="en-GB" dirty="0"/>
              <a:t>[‘</a:t>
            </a:r>
            <a:r>
              <a:rPr lang="en-GB" dirty="0" err="1"/>
              <a:t>new_Z_score_col</a:t>
            </a:r>
            <a:r>
              <a:rPr lang="en-GB" dirty="0"/>
              <a:t>’]&lt;3)]</a:t>
            </a:r>
          </a:p>
          <a:p>
            <a:endParaRPr lang="en-GB" dirty="0"/>
          </a:p>
          <a:p>
            <a:r>
              <a:rPr lang="en-GB" dirty="0" err="1"/>
              <a:t>df</a:t>
            </a:r>
            <a:r>
              <a:rPr lang="en-GB" dirty="0"/>
              <a:t>=</a:t>
            </a:r>
            <a:r>
              <a:rPr lang="en-GB" dirty="0" err="1"/>
              <a:t>df</a:t>
            </a:r>
            <a:r>
              <a:rPr lang="en-GB" dirty="0"/>
              <a:t>[‘col'].clip(lower=</a:t>
            </a:r>
            <a:r>
              <a:rPr lang="en-GB" dirty="0" err="1"/>
              <a:t>val</a:t>
            </a:r>
            <a:r>
              <a:rPr lang="en-GB" dirty="0"/>
              <a:t>, upper=</a:t>
            </a:r>
            <a:r>
              <a:rPr lang="en-GB" dirty="0" err="1"/>
              <a:t>val</a:t>
            </a:r>
            <a:r>
              <a:rPr lang="en-GB" dirty="0"/>
              <a:t>)</a:t>
            </a:r>
            <a:endParaRPr lang="LID4096" dirty="0"/>
          </a:p>
        </p:txBody>
      </p:sp>
      <p:sp>
        <p:nvSpPr>
          <p:cNvPr id="5" name="Slide Number Placeholder 4">
            <a:extLst>
              <a:ext uri="{FF2B5EF4-FFF2-40B4-BE49-F238E27FC236}">
                <a16:creationId xmlns:a16="http://schemas.microsoft.com/office/drawing/2014/main" id="{7605B95C-FAD8-AE58-8495-E9396EA0E42F}"/>
              </a:ext>
            </a:extLst>
          </p:cNvPr>
          <p:cNvSpPr>
            <a:spLocks noGrp="1"/>
          </p:cNvSpPr>
          <p:nvPr>
            <p:ph type="sldNum" sz="quarter" idx="12"/>
          </p:nvPr>
        </p:nvSpPr>
        <p:spPr/>
        <p:txBody>
          <a:bodyPr/>
          <a:lstStyle/>
          <a:p>
            <a:fld id="{B841CA95-E0BC-48B5-948A-ECC494EB4D84}" type="slidenum">
              <a:rPr lang="en-US" smtClean="0"/>
              <a:t>27</a:t>
            </a:fld>
            <a:endParaRPr lang="en-US"/>
          </a:p>
        </p:txBody>
      </p:sp>
    </p:spTree>
    <p:extLst>
      <p:ext uri="{BB962C8B-B14F-4D97-AF65-F5344CB8AC3E}">
        <p14:creationId xmlns:p14="http://schemas.microsoft.com/office/powerpoint/2010/main" val="35238072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Data Selection in Pandas</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ctr">
            <a:normAutofit lnSpcReduction="10000"/>
          </a:bodyPr>
          <a:lstStyle/>
          <a:p>
            <a:pPr marL="0" indent="0">
              <a:lnSpc>
                <a:spcPct val="107000"/>
              </a:lnSpc>
              <a:spcBef>
                <a:spcPts val="0"/>
              </a:spcBef>
              <a:spcAft>
                <a:spcPts val="800"/>
              </a:spcAft>
              <a:buNone/>
            </a:pPr>
            <a:r>
              <a:rPr lang="de-DE" b="1" kern="0" dirty="0">
                <a:effectLst/>
                <a:latin typeface="Calibri" panose="020F0502020204030204" pitchFamily="34" charset="0"/>
                <a:ea typeface="Times New Roman" panose="02020603050405020304" pitchFamily="18" charset="0"/>
                <a:cs typeface="Calibri" panose="020F0502020204030204" pitchFamily="34" charset="0"/>
              </a:rPr>
              <a:t>Selecting Columns</a:t>
            </a:r>
            <a:endParaRPr lang="de-DE" kern="100" dirty="0">
              <a:effectLst/>
              <a:latin typeface="Calibri" panose="020F0502020204030204" pitchFamily="34" charset="0"/>
              <a:ea typeface="Aptos" panose="020B0004020202020204" pitchFamily="34" charset="0"/>
              <a:cs typeface="Calibri" panose="020F0502020204030204" pitchFamily="34" charset="0"/>
            </a:endParaRPr>
          </a:p>
          <a:p>
            <a:pPr>
              <a:lnSpc>
                <a:spcPct val="107000"/>
              </a:lnSpc>
              <a:spcBef>
                <a:spcPts val="0"/>
              </a:spcBef>
              <a:spcAft>
                <a:spcPts val="800"/>
              </a:spcAft>
              <a:buSzPts val="1000"/>
              <a:tabLst>
                <a:tab pos="457200" algn="l"/>
              </a:tabLs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Syntax</a:t>
            </a:r>
            <a:r>
              <a:rPr lang="de-DE" sz="2000" kern="0" dirty="0">
                <a:effectLst/>
                <a:latin typeface="Calibri" panose="020F0502020204030204" pitchFamily="34" charset="0"/>
                <a:ea typeface="Times New Roman" panose="02020603050405020304" pitchFamily="18" charset="0"/>
                <a:cs typeface="Calibri" panose="020F0502020204030204" pitchFamily="34" charset="0"/>
              </a:rPr>
              <a:t>: df['column_name']</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lvl="1">
              <a:lnSpc>
                <a:spcPct val="107000"/>
              </a:lnSpc>
              <a:spcBef>
                <a:spcPts val="0"/>
              </a:spcBef>
              <a:spcAft>
                <a:spcPts val="800"/>
              </a:spcAft>
              <a:buSzPts val="1000"/>
              <a:tabLst>
                <a:tab pos="457200" algn="l"/>
              </a:tabLst>
            </a:pPr>
            <a:r>
              <a:rPr lang="de-DE" sz="1600" b="1" kern="0" dirty="0">
                <a:effectLst/>
                <a:latin typeface="Calibri" panose="020F0502020204030204" pitchFamily="34" charset="0"/>
                <a:ea typeface="Times New Roman" panose="02020603050405020304" pitchFamily="18" charset="0"/>
                <a:cs typeface="Calibri" panose="020F0502020204030204" pitchFamily="34" charset="0"/>
              </a:rPr>
              <a:t>Description</a:t>
            </a:r>
            <a:r>
              <a:rPr lang="de-DE" sz="1600" kern="0" dirty="0">
                <a:effectLst/>
                <a:latin typeface="Calibri" panose="020F0502020204030204" pitchFamily="34" charset="0"/>
                <a:ea typeface="Times New Roman" panose="02020603050405020304" pitchFamily="18" charset="0"/>
                <a:cs typeface="Calibri" panose="020F0502020204030204" pitchFamily="34" charset="0"/>
              </a:rPr>
              <a:t>: Selects a single column by name.</a:t>
            </a:r>
            <a:endParaRPr lang="de-DE" sz="1600" kern="100" dirty="0">
              <a:effectLst/>
              <a:latin typeface="Calibri" panose="020F0502020204030204" pitchFamily="34" charset="0"/>
              <a:ea typeface="Aptos" panose="020B0004020202020204" pitchFamily="34" charset="0"/>
              <a:cs typeface="Calibri" panose="020F0502020204030204" pitchFamily="34" charset="0"/>
            </a:endParaRPr>
          </a:p>
          <a:p>
            <a:pPr lvl="1">
              <a:lnSpc>
                <a:spcPct val="107000"/>
              </a:lnSpc>
              <a:spcBef>
                <a:spcPts val="0"/>
              </a:spcBef>
              <a:spcAft>
                <a:spcPts val="800"/>
              </a:spcAft>
              <a:buSzPts val="1000"/>
              <a:tabLst>
                <a:tab pos="457200" algn="l"/>
              </a:tabLst>
            </a:pPr>
            <a:r>
              <a:rPr lang="de-DE" sz="1600" b="1" kern="0" dirty="0">
                <a:effectLst/>
                <a:latin typeface="Calibri" panose="020F0502020204030204" pitchFamily="34" charset="0"/>
                <a:ea typeface="Times New Roman" panose="02020603050405020304" pitchFamily="18" charset="0"/>
                <a:cs typeface="Calibri" panose="020F0502020204030204" pitchFamily="34" charset="0"/>
              </a:rPr>
              <a:t>Parameters</a:t>
            </a:r>
            <a:r>
              <a:rPr lang="de-DE" sz="1600" kern="0" dirty="0">
                <a:effectLst/>
                <a:latin typeface="Calibri" panose="020F0502020204030204" pitchFamily="34" charset="0"/>
                <a:ea typeface="Times New Roman" panose="02020603050405020304" pitchFamily="18" charset="0"/>
                <a:cs typeface="Calibri" panose="020F0502020204030204" pitchFamily="34" charset="0"/>
              </a:rPr>
              <a:t>:</a:t>
            </a:r>
            <a:endParaRPr lang="de-DE" sz="1600" kern="100" dirty="0">
              <a:effectLst/>
              <a:latin typeface="Calibri" panose="020F0502020204030204" pitchFamily="34" charset="0"/>
              <a:ea typeface="Aptos" panose="020B0004020202020204" pitchFamily="34" charset="0"/>
              <a:cs typeface="Calibri" panose="020F0502020204030204" pitchFamily="34" charset="0"/>
            </a:endParaRPr>
          </a:p>
          <a:p>
            <a:pPr lvl="2">
              <a:lnSpc>
                <a:spcPct val="107000"/>
              </a:lnSpc>
              <a:spcBef>
                <a:spcPts val="0"/>
              </a:spcBef>
              <a:spcAft>
                <a:spcPts val="800"/>
              </a:spcAft>
              <a:buSzPts val="1000"/>
              <a:tabLst>
                <a:tab pos="914400" algn="l"/>
              </a:tabLst>
            </a:pPr>
            <a:r>
              <a:rPr lang="de-DE" sz="1600" kern="0" dirty="0">
                <a:effectLst/>
                <a:latin typeface="Calibri" panose="020F0502020204030204" pitchFamily="34" charset="0"/>
                <a:ea typeface="Times New Roman" panose="02020603050405020304" pitchFamily="18" charset="0"/>
                <a:cs typeface="Calibri" panose="020F0502020204030204" pitchFamily="34" charset="0"/>
              </a:rPr>
              <a:t>column_name (str): The name of the column to select.</a:t>
            </a:r>
          </a:p>
          <a:p>
            <a:pPr>
              <a:lnSpc>
                <a:spcPct val="107000"/>
              </a:lnSpc>
              <a:spcBef>
                <a:spcPts val="0"/>
              </a:spcBef>
              <a:spcAft>
                <a:spcPts val="800"/>
              </a:spcAft>
              <a:buSzPts val="1000"/>
              <a:tabLst>
                <a:tab pos="914400" algn="l"/>
              </a:tabLst>
            </a:pPr>
            <a:r>
              <a:rPr lang="de-DE" sz="2000" b="1" kern="0" dirty="0">
                <a:latin typeface="Calibri" panose="020F0502020204030204" pitchFamily="34" charset="0"/>
                <a:cs typeface="Calibri" panose="020F0502020204030204" pitchFamily="34" charset="0"/>
              </a:rPr>
              <a:t>df.column_name</a:t>
            </a:r>
          </a:p>
          <a:p>
            <a:pPr>
              <a:lnSpc>
                <a:spcPct val="107000"/>
              </a:lnSpc>
              <a:spcBef>
                <a:spcPts val="1200"/>
              </a:spcBef>
              <a:spcAft>
                <a:spcPts val="800"/>
              </a:spcAf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Selecting Multiple Columns</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lvl="1">
              <a:lnSpc>
                <a:spcPct val="107000"/>
              </a:lnSpc>
              <a:spcBef>
                <a:spcPts val="0"/>
              </a:spcBef>
              <a:spcAft>
                <a:spcPts val="800"/>
              </a:spcAft>
              <a:buSzPts val="1000"/>
              <a:tabLst>
                <a:tab pos="457200" algn="l"/>
              </a:tabLst>
            </a:pPr>
            <a:r>
              <a:rPr lang="de-DE" sz="1600" b="1" kern="0" dirty="0">
                <a:effectLst/>
                <a:latin typeface="Calibri" panose="020F0502020204030204" pitchFamily="34" charset="0"/>
                <a:ea typeface="Times New Roman" panose="02020603050405020304" pitchFamily="18" charset="0"/>
                <a:cs typeface="Calibri" panose="020F0502020204030204" pitchFamily="34" charset="0"/>
              </a:rPr>
              <a:t>Syntax</a:t>
            </a:r>
            <a:r>
              <a:rPr lang="de-DE" sz="1600" kern="0" dirty="0">
                <a:effectLst/>
                <a:latin typeface="Calibri" panose="020F0502020204030204" pitchFamily="34" charset="0"/>
                <a:ea typeface="Times New Roman" panose="02020603050405020304" pitchFamily="18" charset="0"/>
                <a:cs typeface="Calibri" panose="020F0502020204030204" pitchFamily="34" charset="0"/>
              </a:rPr>
              <a:t>: df[['column1', 'column2']]</a:t>
            </a:r>
            <a:endParaRPr lang="de-DE" sz="1600" kern="100" dirty="0">
              <a:effectLst/>
              <a:latin typeface="Calibri" panose="020F0502020204030204" pitchFamily="34" charset="0"/>
              <a:ea typeface="Aptos" panose="020B0004020202020204" pitchFamily="34" charset="0"/>
              <a:cs typeface="Calibri" panose="020F0502020204030204" pitchFamily="34" charset="0"/>
            </a:endParaRPr>
          </a:p>
          <a:p>
            <a:pPr lvl="1">
              <a:lnSpc>
                <a:spcPct val="107000"/>
              </a:lnSpc>
              <a:spcBef>
                <a:spcPts val="0"/>
              </a:spcBef>
              <a:spcAft>
                <a:spcPts val="800"/>
              </a:spcAft>
              <a:buSzPts val="1000"/>
              <a:tabLst>
                <a:tab pos="457200" algn="l"/>
              </a:tabLst>
            </a:pPr>
            <a:r>
              <a:rPr lang="de-DE" sz="1600" b="1" kern="0" dirty="0">
                <a:effectLst/>
                <a:latin typeface="Calibri" panose="020F0502020204030204" pitchFamily="34" charset="0"/>
                <a:ea typeface="Times New Roman" panose="02020603050405020304" pitchFamily="18" charset="0"/>
                <a:cs typeface="Calibri" panose="020F0502020204030204" pitchFamily="34" charset="0"/>
              </a:rPr>
              <a:t>Description</a:t>
            </a:r>
            <a:r>
              <a:rPr lang="de-DE" sz="1600" kern="0" dirty="0">
                <a:effectLst/>
                <a:latin typeface="Calibri" panose="020F0502020204030204" pitchFamily="34" charset="0"/>
                <a:ea typeface="Times New Roman" panose="02020603050405020304" pitchFamily="18" charset="0"/>
                <a:cs typeface="Calibri" panose="020F0502020204030204" pitchFamily="34" charset="0"/>
              </a:rPr>
              <a:t>: Selects multiple columns by names.</a:t>
            </a:r>
            <a:endParaRPr lang="de-DE" sz="1600" kern="100" dirty="0">
              <a:effectLst/>
              <a:latin typeface="Calibri" panose="020F0502020204030204" pitchFamily="34" charset="0"/>
              <a:ea typeface="Aptos" panose="020B0004020202020204" pitchFamily="34" charset="0"/>
              <a:cs typeface="Calibri" panose="020F0502020204030204" pitchFamily="34" charset="0"/>
            </a:endParaRPr>
          </a:p>
          <a:p>
            <a:pPr lvl="1">
              <a:lnSpc>
                <a:spcPct val="107000"/>
              </a:lnSpc>
              <a:spcBef>
                <a:spcPts val="0"/>
              </a:spcBef>
              <a:spcAft>
                <a:spcPts val="800"/>
              </a:spcAft>
              <a:buSzPts val="1000"/>
              <a:tabLst>
                <a:tab pos="457200" algn="l"/>
              </a:tabLst>
            </a:pPr>
            <a:r>
              <a:rPr lang="de-DE" sz="1600" b="1" kern="0" dirty="0">
                <a:effectLst/>
                <a:latin typeface="Calibri" panose="020F0502020204030204" pitchFamily="34" charset="0"/>
                <a:ea typeface="Times New Roman" panose="02020603050405020304" pitchFamily="18" charset="0"/>
                <a:cs typeface="Calibri" panose="020F0502020204030204" pitchFamily="34" charset="0"/>
              </a:rPr>
              <a:t>Parameters</a:t>
            </a:r>
            <a:r>
              <a:rPr lang="de-DE" sz="1600" kern="0" dirty="0">
                <a:effectLst/>
                <a:latin typeface="Calibri" panose="020F0502020204030204" pitchFamily="34" charset="0"/>
                <a:ea typeface="Times New Roman" panose="02020603050405020304" pitchFamily="18" charset="0"/>
                <a:cs typeface="Calibri" panose="020F0502020204030204" pitchFamily="34" charset="0"/>
              </a:rPr>
              <a:t>:</a:t>
            </a:r>
            <a:endParaRPr lang="de-DE" sz="1600" kern="100" dirty="0">
              <a:effectLst/>
              <a:latin typeface="Calibri" panose="020F0502020204030204" pitchFamily="34" charset="0"/>
              <a:ea typeface="Aptos" panose="020B0004020202020204" pitchFamily="34" charset="0"/>
              <a:cs typeface="Calibri" panose="020F0502020204030204" pitchFamily="34" charset="0"/>
            </a:endParaRPr>
          </a:p>
          <a:p>
            <a:pPr lvl="2">
              <a:lnSpc>
                <a:spcPct val="107000"/>
              </a:lnSpc>
              <a:spcBef>
                <a:spcPts val="0"/>
              </a:spcBef>
              <a:spcAft>
                <a:spcPts val="800"/>
              </a:spcAft>
              <a:buSzPts val="1000"/>
              <a:tabLst>
                <a:tab pos="914400" algn="l"/>
              </a:tabLst>
            </a:pPr>
            <a:r>
              <a:rPr lang="de-DE" sz="1600" kern="0" dirty="0">
                <a:effectLst/>
                <a:latin typeface="Calibri" panose="020F0502020204030204" pitchFamily="34" charset="0"/>
                <a:ea typeface="Times New Roman" panose="02020603050405020304" pitchFamily="18" charset="0"/>
                <a:cs typeface="Calibri" panose="020F0502020204030204" pitchFamily="34" charset="0"/>
              </a:rPr>
              <a:t>column1, column2, ... (str): Names of the columns to select.</a:t>
            </a:r>
            <a:endParaRPr lang="de-DE" sz="1600" kern="100" dirty="0">
              <a:effectLst/>
              <a:latin typeface="Calibri" panose="020F0502020204030204" pitchFamily="34" charset="0"/>
              <a:ea typeface="Aptos" panose="020B000402020202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574148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Data Selection in Pandas</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t">
            <a:normAutofit/>
          </a:bodyPr>
          <a:lstStyle/>
          <a:p>
            <a:pPr marL="0" indent="0">
              <a:lnSpc>
                <a:spcPct val="107000"/>
              </a:lnSpc>
              <a:spcBef>
                <a:spcPts val="0"/>
              </a:spcBef>
              <a:spcAft>
                <a:spcPts val="800"/>
              </a:spcAft>
              <a:buNone/>
            </a:pPr>
            <a:r>
              <a:rPr lang="de-DE" b="1" kern="0" dirty="0">
                <a:effectLst/>
                <a:latin typeface="Calibri" panose="020F0502020204030204" pitchFamily="34" charset="0"/>
                <a:ea typeface="Times New Roman" panose="02020603050405020304" pitchFamily="18" charset="0"/>
                <a:cs typeface="Calibri" panose="020F0502020204030204" pitchFamily="34" charset="0"/>
              </a:rPr>
              <a:t>Selecting Rows</a:t>
            </a:r>
            <a:endParaRPr lang="de-DE" kern="100" dirty="0">
              <a:effectLst/>
              <a:latin typeface="Calibri" panose="020F0502020204030204" pitchFamily="34" charset="0"/>
              <a:ea typeface="Aptos" panose="020B0004020202020204" pitchFamily="34" charset="0"/>
              <a:cs typeface="Calibri" panose="020F0502020204030204" pitchFamily="34" charset="0"/>
            </a:endParaRPr>
          </a:p>
          <a:p>
            <a:pPr marL="0" marR="0">
              <a:lnSpc>
                <a:spcPct val="107000"/>
              </a:lnSpc>
              <a:spcBef>
                <a:spcPts val="0"/>
              </a:spcBef>
              <a:spcAft>
                <a:spcPts val="800"/>
              </a:spcAf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df.iloc[]</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Syntax</a:t>
            </a:r>
            <a:r>
              <a:rPr lang="de-DE" sz="2000" kern="0" dirty="0">
                <a:effectLst/>
                <a:latin typeface="Calibri" panose="020F0502020204030204" pitchFamily="34" charset="0"/>
                <a:ea typeface="Times New Roman" panose="02020603050405020304" pitchFamily="18" charset="0"/>
                <a:cs typeface="Calibri" panose="020F0502020204030204" pitchFamily="34" charset="0"/>
              </a:rPr>
              <a:t>: df.iloc[row_indices, column_indices]</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Description</a:t>
            </a:r>
            <a:r>
              <a:rPr lang="de-DE" sz="2000" kern="0" dirty="0">
                <a:effectLst/>
                <a:latin typeface="Calibri" panose="020F0502020204030204" pitchFamily="34" charset="0"/>
                <a:ea typeface="Times New Roman" panose="02020603050405020304" pitchFamily="18" charset="0"/>
                <a:cs typeface="Calibri" panose="020F0502020204030204" pitchFamily="34" charset="0"/>
              </a:rPr>
              <a:t>: Selects rows and columns by integer location.</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Parameters</a:t>
            </a:r>
            <a:r>
              <a:rPr lang="de-DE" sz="2000" kern="0" dirty="0">
                <a:effectLst/>
                <a:latin typeface="Calibri" panose="020F0502020204030204" pitchFamily="34" charset="0"/>
                <a:ea typeface="Times New Roman" panose="02020603050405020304" pitchFamily="18" charset="0"/>
                <a:cs typeface="Calibri" panose="020F0502020204030204" pitchFamily="34" charset="0"/>
              </a:rPr>
              <a:t>:</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de-DE" sz="2000" kern="0" dirty="0">
                <a:effectLst/>
                <a:latin typeface="Calibri" panose="020F0502020204030204" pitchFamily="34" charset="0"/>
                <a:ea typeface="Times New Roman" panose="02020603050405020304" pitchFamily="18" charset="0"/>
                <a:cs typeface="Calibri" panose="020F0502020204030204" pitchFamily="34" charset="0"/>
              </a:rPr>
              <a:t>row_indices (int, slice, list, or array): Row indices to select.</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de-DE" sz="2000" kern="0" dirty="0">
                <a:effectLst/>
                <a:latin typeface="Calibri" panose="020F0502020204030204" pitchFamily="34" charset="0"/>
                <a:ea typeface="Times New Roman" panose="02020603050405020304" pitchFamily="18" charset="0"/>
                <a:cs typeface="Calibri" panose="020F0502020204030204" pitchFamily="34" charset="0"/>
              </a:rPr>
              <a:t>column_indices (int, slice, list, or array, optional): Column indices to select.</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411790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Data Selection in Pandas</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t">
            <a:normAutofit/>
          </a:bodyPr>
          <a:lstStyle/>
          <a:p>
            <a:pPr marL="0" indent="0">
              <a:lnSpc>
                <a:spcPct val="107000"/>
              </a:lnSpc>
              <a:spcBef>
                <a:spcPts val="0"/>
              </a:spcBef>
              <a:spcAft>
                <a:spcPts val="800"/>
              </a:spcAft>
              <a:buNone/>
            </a:pPr>
            <a:r>
              <a:rPr lang="de-DE" b="1" kern="0" dirty="0">
                <a:effectLst/>
                <a:latin typeface="Calibri" panose="020F0502020204030204" pitchFamily="34" charset="0"/>
                <a:ea typeface="Times New Roman" panose="02020603050405020304" pitchFamily="18" charset="0"/>
                <a:cs typeface="Calibri" panose="020F0502020204030204" pitchFamily="34" charset="0"/>
              </a:rPr>
              <a:t>Conditional Selection</a:t>
            </a:r>
            <a:endParaRPr lang="de-DE" kern="100" dirty="0">
              <a:effectLst/>
              <a:latin typeface="Calibri" panose="020F0502020204030204" pitchFamily="34" charset="0"/>
              <a:ea typeface="Aptos" panose="020B0004020202020204" pitchFamily="34" charset="0"/>
              <a:cs typeface="Calibri" panose="020F0502020204030204" pitchFamily="34" charset="0"/>
            </a:endParaRPr>
          </a:p>
          <a:p>
            <a:pPr marL="0" marR="0">
              <a:lnSpc>
                <a:spcPct val="107000"/>
              </a:lnSpc>
              <a:spcBef>
                <a:spcPts val="0"/>
              </a:spcBef>
              <a:spcAft>
                <a:spcPts val="800"/>
              </a:spcAft>
            </a:pPr>
            <a:r>
              <a:rPr lang="en-GB" sz="1800" b="1" kern="0" dirty="0" err="1">
                <a:effectLst/>
                <a:latin typeface="Calibri" panose="020F0502020204030204" pitchFamily="34" charset="0"/>
                <a:ea typeface="Times New Roman" panose="02020603050405020304" pitchFamily="18" charset="0"/>
                <a:cs typeface="Calibri" panose="020F0502020204030204" pitchFamily="34" charset="0"/>
              </a:rPr>
              <a:t>df</a:t>
            </a:r>
            <a:r>
              <a:rPr lang="en-GB" sz="1800" b="1" kern="0" dirty="0">
                <a:effectLst/>
                <a:latin typeface="Calibri" panose="020F0502020204030204" pitchFamily="34" charset="0"/>
                <a:ea typeface="Times New Roman" panose="02020603050405020304" pitchFamily="18" charset="0"/>
                <a:cs typeface="Calibri" panose="020F0502020204030204" pitchFamily="34" charset="0"/>
              </a:rPr>
              <a:t>[</a:t>
            </a:r>
            <a:r>
              <a:rPr lang="en-GB" sz="1800" b="1" kern="0" dirty="0" err="1">
                <a:effectLst/>
                <a:latin typeface="Calibri" panose="020F0502020204030204" pitchFamily="34" charset="0"/>
                <a:ea typeface="Times New Roman" panose="02020603050405020304" pitchFamily="18" charset="0"/>
                <a:cs typeface="Calibri" panose="020F0502020204030204" pitchFamily="34" charset="0"/>
              </a:rPr>
              <a:t>df</a:t>
            </a:r>
            <a:r>
              <a:rPr lang="en-GB" sz="1800" b="1" kern="0" dirty="0">
                <a:effectLst/>
                <a:latin typeface="Calibri" panose="020F0502020204030204" pitchFamily="34" charset="0"/>
                <a:ea typeface="Times New Roman" panose="02020603050405020304" pitchFamily="18" charset="0"/>
                <a:cs typeface="Calibri" panose="020F0502020204030204" pitchFamily="34" charset="0"/>
              </a:rPr>
              <a:t>['</a:t>
            </a:r>
            <a:r>
              <a:rPr lang="en-GB" sz="1800" b="1" kern="0" dirty="0" err="1">
                <a:effectLst/>
                <a:latin typeface="Calibri" panose="020F0502020204030204" pitchFamily="34" charset="0"/>
                <a:ea typeface="Times New Roman" panose="02020603050405020304" pitchFamily="18" charset="0"/>
                <a:cs typeface="Calibri" panose="020F0502020204030204" pitchFamily="34" charset="0"/>
              </a:rPr>
              <a:t>column_name</a:t>
            </a:r>
            <a:r>
              <a:rPr lang="en-GB" sz="1800" b="1" kern="0" dirty="0">
                <a:effectLst/>
                <a:latin typeface="Calibri" panose="020F0502020204030204" pitchFamily="34" charset="0"/>
                <a:ea typeface="Times New Roman" panose="02020603050405020304" pitchFamily="18" charset="0"/>
                <a:cs typeface="Calibri" panose="020F0502020204030204" pitchFamily="34" charset="0"/>
              </a:rPr>
              <a:t>'] &gt; value]</a:t>
            </a:r>
            <a:endParaRPr lang="en-GB" sz="1800" b="1" kern="100" dirty="0">
              <a:effectLst/>
              <a:latin typeface="Calibri" panose="020F0502020204030204" pitchFamily="34" charset="0"/>
              <a:ea typeface="Aptos" panose="020B0004020202020204" pitchFamily="34" charset="0"/>
              <a:cs typeface="Calibri" panose="020F0502020204030204" pitchFamily="34" charset="0"/>
            </a:endParaRPr>
          </a:p>
          <a:p>
            <a:pPr marL="800100" lvl="1" indent="-342900">
              <a:lnSpc>
                <a:spcPct val="107000"/>
              </a:lnSpc>
              <a:spcBef>
                <a:spcPts val="0"/>
              </a:spcBef>
              <a:spcAft>
                <a:spcPts val="800"/>
              </a:spcAft>
              <a:buSzPts val="1000"/>
              <a:buFont typeface="Symbol" panose="05050102010706020507" pitchFamily="18" charset="2"/>
              <a:buChar char=""/>
              <a:tabLst>
                <a:tab pos="457200" algn="l"/>
              </a:tabLst>
            </a:pPr>
            <a:r>
              <a:rPr lang="en-GB" sz="1400" b="1" kern="0" dirty="0">
                <a:effectLst/>
                <a:latin typeface="Calibri" panose="020F0502020204030204" pitchFamily="34" charset="0"/>
                <a:ea typeface="Times New Roman" panose="02020603050405020304" pitchFamily="18" charset="0"/>
                <a:cs typeface="Calibri" panose="020F0502020204030204" pitchFamily="34" charset="0"/>
              </a:rPr>
              <a:t>Syntax</a:t>
            </a:r>
            <a:r>
              <a:rPr lang="en-GB" sz="1400" kern="0" dirty="0">
                <a:effectLst/>
                <a:latin typeface="Calibri" panose="020F0502020204030204" pitchFamily="34" charset="0"/>
                <a:ea typeface="Times New Roman" panose="02020603050405020304" pitchFamily="18" charset="0"/>
                <a:cs typeface="Calibri" panose="020F0502020204030204" pitchFamily="34" charset="0"/>
              </a:rPr>
              <a:t>: </a:t>
            </a:r>
            <a:r>
              <a:rPr lang="en-GB" sz="1400" kern="0" dirty="0" err="1">
                <a:effectLst/>
                <a:latin typeface="Calibri" panose="020F0502020204030204" pitchFamily="34" charset="0"/>
                <a:ea typeface="Times New Roman" panose="02020603050405020304" pitchFamily="18" charset="0"/>
                <a:cs typeface="Calibri" panose="020F0502020204030204" pitchFamily="34" charset="0"/>
              </a:rPr>
              <a:t>df</a:t>
            </a:r>
            <a:r>
              <a:rPr lang="en-GB" sz="1400" kern="0" dirty="0">
                <a:effectLst/>
                <a:latin typeface="Calibri" panose="020F0502020204030204" pitchFamily="34" charset="0"/>
                <a:ea typeface="Times New Roman" panose="02020603050405020304" pitchFamily="18" charset="0"/>
                <a:cs typeface="Calibri" panose="020F0502020204030204" pitchFamily="34" charset="0"/>
              </a:rPr>
              <a:t>[</a:t>
            </a:r>
            <a:r>
              <a:rPr lang="en-GB" sz="1400" kern="0" dirty="0" err="1">
                <a:effectLst/>
                <a:latin typeface="Calibri" panose="020F0502020204030204" pitchFamily="34" charset="0"/>
                <a:ea typeface="Times New Roman" panose="02020603050405020304" pitchFamily="18" charset="0"/>
                <a:cs typeface="Calibri" panose="020F0502020204030204" pitchFamily="34" charset="0"/>
              </a:rPr>
              <a:t>df</a:t>
            </a:r>
            <a:r>
              <a:rPr lang="en-GB" sz="1400" kern="0" dirty="0">
                <a:effectLst/>
                <a:latin typeface="Calibri" panose="020F0502020204030204" pitchFamily="34" charset="0"/>
                <a:ea typeface="Times New Roman" panose="02020603050405020304" pitchFamily="18" charset="0"/>
                <a:cs typeface="Calibri" panose="020F0502020204030204" pitchFamily="34" charset="0"/>
              </a:rPr>
              <a:t>['</a:t>
            </a:r>
            <a:r>
              <a:rPr lang="en-GB" sz="1400" kern="0" dirty="0" err="1">
                <a:effectLst/>
                <a:latin typeface="Calibri" panose="020F0502020204030204" pitchFamily="34" charset="0"/>
                <a:ea typeface="Times New Roman" panose="02020603050405020304" pitchFamily="18" charset="0"/>
                <a:cs typeface="Calibri" panose="020F0502020204030204" pitchFamily="34" charset="0"/>
              </a:rPr>
              <a:t>column_name</a:t>
            </a:r>
            <a:r>
              <a:rPr lang="en-GB" sz="1400" kern="0" dirty="0">
                <a:effectLst/>
                <a:latin typeface="Calibri" panose="020F0502020204030204" pitchFamily="34" charset="0"/>
                <a:ea typeface="Times New Roman" panose="02020603050405020304" pitchFamily="18" charset="0"/>
                <a:cs typeface="Calibri" panose="020F0502020204030204" pitchFamily="34" charset="0"/>
              </a:rPr>
              <a:t>'] &gt; value]</a:t>
            </a:r>
            <a:endParaRPr lang="en-GB" sz="1400" kern="100" dirty="0">
              <a:effectLst/>
              <a:latin typeface="Calibri" panose="020F0502020204030204" pitchFamily="34" charset="0"/>
              <a:ea typeface="Aptos" panose="020B0004020202020204" pitchFamily="34" charset="0"/>
              <a:cs typeface="Calibri" panose="020F0502020204030204" pitchFamily="34" charset="0"/>
            </a:endParaRPr>
          </a:p>
          <a:p>
            <a:pPr marL="800100" lvl="1" indent="-342900">
              <a:lnSpc>
                <a:spcPct val="107000"/>
              </a:lnSpc>
              <a:spcBef>
                <a:spcPts val="0"/>
              </a:spcBef>
              <a:spcAft>
                <a:spcPts val="800"/>
              </a:spcAft>
              <a:buSzPts val="1000"/>
              <a:buFont typeface="Symbol" panose="05050102010706020507" pitchFamily="18" charset="2"/>
              <a:buChar char=""/>
              <a:tabLst>
                <a:tab pos="457200" algn="l"/>
              </a:tabLst>
            </a:pPr>
            <a:r>
              <a:rPr lang="en-GB" sz="1400" b="1" kern="0" dirty="0">
                <a:effectLst/>
                <a:latin typeface="Calibri" panose="020F0502020204030204" pitchFamily="34" charset="0"/>
                <a:ea typeface="Times New Roman" panose="02020603050405020304" pitchFamily="18" charset="0"/>
                <a:cs typeface="Calibri" panose="020F0502020204030204" pitchFamily="34" charset="0"/>
              </a:rPr>
              <a:t>Description</a:t>
            </a:r>
            <a:r>
              <a:rPr lang="en-GB" sz="1400" kern="0" dirty="0">
                <a:effectLst/>
                <a:latin typeface="Calibri" panose="020F0502020204030204" pitchFamily="34" charset="0"/>
                <a:ea typeface="Times New Roman" panose="02020603050405020304" pitchFamily="18" charset="0"/>
                <a:cs typeface="Calibri" panose="020F0502020204030204" pitchFamily="34" charset="0"/>
              </a:rPr>
              <a:t>: Selects rows based on a condition.</a:t>
            </a:r>
            <a:endParaRPr lang="en-GB" sz="1400" kern="100" dirty="0">
              <a:effectLst/>
              <a:latin typeface="Calibri" panose="020F0502020204030204" pitchFamily="34" charset="0"/>
              <a:ea typeface="Aptos" panose="020B0004020202020204" pitchFamily="34" charset="0"/>
              <a:cs typeface="Calibri" panose="020F0502020204030204" pitchFamily="34" charset="0"/>
            </a:endParaRPr>
          </a:p>
          <a:p>
            <a:pPr marL="800100" lvl="1" indent="-342900">
              <a:lnSpc>
                <a:spcPct val="107000"/>
              </a:lnSpc>
              <a:spcBef>
                <a:spcPts val="0"/>
              </a:spcBef>
              <a:spcAft>
                <a:spcPts val="800"/>
              </a:spcAft>
              <a:buSzPts val="1000"/>
              <a:buFont typeface="Symbol" panose="05050102010706020507" pitchFamily="18" charset="2"/>
              <a:buChar char=""/>
              <a:tabLst>
                <a:tab pos="457200" algn="l"/>
              </a:tabLst>
            </a:pPr>
            <a:r>
              <a:rPr lang="en-GB" sz="1400" b="1" kern="0" dirty="0">
                <a:effectLst/>
                <a:latin typeface="Calibri" panose="020F0502020204030204" pitchFamily="34" charset="0"/>
                <a:ea typeface="Times New Roman" panose="02020603050405020304" pitchFamily="18" charset="0"/>
                <a:cs typeface="Calibri" panose="020F0502020204030204" pitchFamily="34" charset="0"/>
              </a:rPr>
              <a:t>Parameters</a:t>
            </a:r>
            <a:r>
              <a:rPr lang="en-GB" sz="1400" kern="0" dirty="0">
                <a:effectLst/>
                <a:latin typeface="Calibri" panose="020F0502020204030204" pitchFamily="34" charset="0"/>
                <a:ea typeface="Times New Roman" panose="02020603050405020304" pitchFamily="18" charset="0"/>
                <a:cs typeface="Calibri" panose="020F0502020204030204" pitchFamily="34" charset="0"/>
              </a:rPr>
              <a:t>:</a:t>
            </a:r>
            <a:endParaRPr lang="en-GB" sz="1400" kern="100" dirty="0">
              <a:effectLst/>
              <a:latin typeface="Calibri" panose="020F0502020204030204" pitchFamily="34" charset="0"/>
              <a:ea typeface="Aptos" panose="020B0004020202020204" pitchFamily="34" charset="0"/>
              <a:cs typeface="Calibri" panose="020F050202020403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GB" sz="1800" kern="0" dirty="0" err="1">
                <a:effectLst/>
                <a:latin typeface="Calibri" panose="020F0502020204030204" pitchFamily="34" charset="0"/>
                <a:ea typeface="Times New Roman" panose="02020603050405020304" pitchFamily="18" charset="0"/>
                <a:cs typeface="Calibri" panose="020F0502020204030204" pitchFamily="34" charset="0"/>
              </a:rPr>
              <a:t>column_name</a:t>
            </a:r>
            <a:r>
              <a:rPr lang="en-GB" sz="1800" kern="0" dirty="0">
                <a:effectLst/>
                <a:latin typeface="Calibri" panose="020F0502020204030204" pitchFamily="34" charset="0"/>
                <a:ea typeface="Times New Roman" panose="02020603050405020304" pitchFamily="18" charset="0"/>
                <a:cs typeface="Calibri" panose="020F0502020204030204" pitchFamily="34" charset="0"/>
              </a:rPr>
              <a:t> (str): The name of the column to apply the condition on.</a:t>
            </a:r>
            <a:endParaRPr lang="en-GB" sz="1800" kern="100" dirty="0">
              <a:effectLst/>
              <a:latin typeface="Calibri" panose="020F0502020204030204" pitchFamily="34" charset="0"/>
              <a:ea typeface="Aptos" panose="020B0004020202020204" pitchFamily="34" charset="0"/>
              <a:cs typeface="Calibri" panose="020F050202020403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GB" sz="1800" kern="0" dirty="0">
                <a:effectLst/>
                <a:latin typeface="Calibri" panose="020F0502020204030204" pitchFamily="34" charset="0"/>
                <a:ea typeface="Times New Roman" panose="02020603050405020304" pitchFamily="18" charset="0"/>
                <a:cs typeface="Calibri" panose="020F0502020204030204" pitchFamily="34" charset="0"/>
              </a:rPr>
              <a:t>value (any): The value to compare against.</a:t>
            </a:r>
            <a:endParaRPr lang="en-GB" sz="1800" kern="100" dirty="0">
              <a:effectLst/>
              <a:latin typeface="Calibri" panose="020F0502020204030204" pitchFamily="34" charset="0"/>
              <a:ea typeface="Aptos" panose="020B0004020202020204" pitchFamily="34" charset="0"/>
              <a:cs typeface="Calibri" panose="020F0502020204030204" pitchFamily="34" charset="0"/>
            </a:endParaRPr>
          </a:p>
          <a:p>
            <a:pPr marL="0" marR="0">
              <a:lnSpc>
                <a:spcPct val="107000"/>
              </a:lnSpc>
              <a:spcBef>
                <a:spcPts val="0"/>
              </a:spcBef>
              <a:spcAft>
                <a:spcPts val="800"/>
              </a:spcAft>
            </a:pPr>
            <a:r>
              <a:rPr lang="en-GB" sz="1800" b="1" kern="0" dirty="0" err="1">
                <a:effectLst/>
                <a:latin typeface="Calibri" panose="020F0502020204030204" pitchFamily="34" charset="0"/>
                <a:ea typeface="Times New Roman" panose="02020603050405020304" pitchFamily="18" charset="0"/>
                <a:cs typeface="Calibri" panose="020F0502020204030204" pitchFamily="34" charset="0"/>
              </a:rPr>
              <a:t>df.query</a:t>
            </a:r>
            <a:r>
              <a:rPr lang="en-GB" sz="1800" b="1" kern="0" dirty="0">
                <a:effectLst/>
                <a:latin typeface="Calibri" panose="020F0502020204030204" pitchFamily="34" charset="0"/>
                <a:ea typeface="Times New Roman" panose="02020603050405020304" pitchFamily="18" charset="0"/>
                <a:cs typeface="Calibri" panose="020F0502020204030204" pitchFamily="34" charset="0"/>
              </a:rPr>
              <a:t>('condition')</a:t>
            </a:r>
            <a:endParaRPr lang="en-GB" sz="1800" b="1" kern="100" dirty="0">
              <a:effectLst/>
              <a:latin typeface="Calibri" panose="020F0502020204030204" pitchFamily="34" charset="0"/>
              <a:ea typeface="Aptos" panose="020B0004020202020204" pitchFamily="34" charset="0"/>
              <a:cs typeface="Calibri" panose="020F0502020204030204" pitchFamily="34" charset="0"/>
            </a:endParaRPr>
          </a:p>
          <a:p>
            <a:pPr marL="800100" lvl="1" indent="-342900">
              <a:lnSpc>
                <a:spcPct val="107000"/>
              </a:lnSpc>
              <a:spcBef>
                <a:spcPts val="0"/>
              </a:spcBef>
              <a:spcAft>
                <a:spcPts val="800"/>
              </a:spcAft>
              <a:buSzPts val="1000"/>
              <a:buFont typeface="Symbol" panose="05050102010706020507" pitchFamily="18" charset="2"/>
              <a:buChar char=""/>
              <a:tabLst>
                <a:tab pos="457200" algn="l"/>
              </a:tabLst>
            </a:pPr>
            <a:r>
              <a:rPr lang="en-GB" sz="1400" b="1" kern="0" dirty="0">
                <a:effectLst/>
                <a:latin typeface="Calibri" panose="020F0502020204030204" pitchFamily="34" charset="0"/>
                <a:ea typeface="Times New Roman" panose="02020603050405020304" pitchFamily="18" charset="0"/>
                <a:cs typeface="Calibri" panose="020F0502020204030204" pitchFamily="34" charset="0"/>
              </a:rPr>
              <a:t>Syntax</a:t>
            </a:r>
            <a:r>
              <a:rPr lang="en-GB" sz="1400" kern="0" dirty="0">
                <a:effectLst/>
                <a:latin typeface="Calibri" panose="020F0502020204030204" pitchFamily="34" charset="0"/>
                <a:ea typeface="Times New Roman" panose="02020603050405020304" pitchFamily="18" charset="0"/>
                <a:cs typeface="Calibri" panose="020F0502020204030204" pitchFamily="34" charset="0"/>
              </a:rPr>
              <a:t>: </a:t>
            </a:r>
            <a:r>
              <a:rPr lang="en-GB" sz="1400" kern="0" dirty="0" err="1">
                <a:effectLst/>
                <a:latin typeface="Calibri" panose="020F0502020204030204" pitchFamily="34" charset="0"/>
                <a:ea typeface="Times New Roman" panose="02020603050405020304" pitchFamily="18" charset="0"/>
                <a:cs typeface="Calibri" panose="020F0502020204030204" pitchFamily="34" charset="0"/>
              </a:rPr>
              <a:t>df.query</a:t>
            </a:r>
            <a:r>
              <a:rPr lang="en-GB" sz="1400" kern="0" dirty="0">
                <a:effectLst/>
                <a:latin typeface="Calibri" panose="020F0502020204030204" pitchFamily="34" charset="0"/>
                <a:ea typeface="Times New Roman" panose="02020603050405020304" pitchFamily="18" charset="0"/>
                <a:cs typeface="Calibri" panose="020F0502020204030204" pitchFamily="34" charset="0"/>
              </a:rPr>
              <a:t>('condition')</a:t>
            </a:r>
            <a:endParaRPr lang="en-GB" sz="1400" kern="100" dirty="0">
              <a:effectLst/>
              <a:latin typeface="Calibri" panose="020F0502020204030204" pitchFamily="34" charset="0"/>
              <a:ea typeface="Aptos" panose="020B0004020202020204" pitchFamily="34" charset="0"/>
              <a:cs typeface="Calibri" panose="020F0502020204030204" pitchFamily="34" charset="0"/>
            </a:endParaRPr>
          </a:p>
          <a:p>
            <a:pPr marL="800100" lvl="1" indent="-342900">
              <a:lnSpc>
                <a:spcPct val="107000"/>
              </a:lnSpc>
              <a:spcBef>
                <a:spcPts val="0"/>
              </a:spcBef>
              <a:spcAft>
                <a:spcPts val="800"/>
              </a:spcAft>
              <a:buSzPts val="1000"/>
              <a:buFont typeface="Symbol" panose="05050102010706020507" pitchFamily="18" charset="2"/>
              <a:buChar char=""/>
              <a:tabLst>
                <a:tab pos="457200" algn="l"/>
              </a:tabLst>
            </a:pPr>
            <a:r>
              <a:rPr lang="en-GB" sz="1400" b="1" kern="0" dirty="0">
                <a:effectLst/>
                <a:latin typeface="Calibri" panose="020F0502020204030204" pitchFamily="34" charset="0"/>
                <a:ea typeface="Times New Roman" panose="02020603050405020304" pitchFamily="18" charset="0"/>
                <a:cs typeface="Calibri" panose="020F0502020204030204" pitchFamily="34" charset="0"/>
              </a:rPr>
              <a:t>Description</a:t>
            </a:r>
            <a:r>
              <a:rPr lang="en-GB" sz="1400" kern="0" dirty="0">
                <a:effectLst/>
                <a:latin typeface="Calibri" panose="020F0502020204030204" pitchFamily="34" charset="0"/>
                <a:ea typeface="Times New Roman" panose="02020603050405020304" pitchFamily="18" charset="0"/>
                <a:cs typeface="Calibri" panose="020F0502020204030204" pitchFamily="34" charset="0"/>
              </a:rPr>
              <a:t>: Selects rows based on a condition using a query string.</a:t>
            </a:r>
            <a:endParaRPr lang="en-GB" sz="1400" kern="100" dirty="0">
              <a:effectLst/>
              <a:latin typeface="Calibri" panose="020F0502020204030204" pitchFamily="34" charset="0"/>
              <a:ea typeface="Aptos" panose="020B0004020202020204" pitchFamily="34" charset="0"/>
              <a:cs typeface="Calibri" panose="020F0502020204030204" pitchFamily="34" charset="0"/>
            </a:endParaRPr>
          </a:p>
          <a:p>
            <a:pPr marL="800100" lvl="1" indent="-342900">
              <a:lnSpc>
                <a:spcPct val="107000"/>
              </a:lnSpc>
              <a:spcBef>
                <a:spcPts val="0"/>
              </a:spcBef>
              <a:spcAft>
                <a:spcPts val="800"/>
              </a:spcAft>
              <a:buSzPts val="1000"/>
              <a:buFont typeface="Symbol" panose="05050102010706020507" pitchFamily="18" charset="2"/>
              <a:buChar char=""/>
              <a:tabLst>
                <a:tab pos="457200" algn="l"/>
              </a:tabLst>
            </a:pPr>
            <a:r>
              <a:rPr lang="en-GB" sz="1400" b="1" kern="0" dirty="0">
                <a:effectLst/>
                <a:latin typeface="Calibri" panose="020F0502020204030204" pitchFamily="34" charset="0"/>
                <a:ea typeface="Times New Roman" panose="02020603050405020304" pitchFamily="18" charset="0"/>
                <a:cs typeface="Calibri" panose="020F0502020204030204" pitchFamily="34" charset="0"/>
              </a:rPr>
              <a:t>Parameters</a:t>
            </a:r>
            <a:r>
              <a:rPr lang="en-GB" sz="1400" kern="0" dirty="0">
                <a:effectLst/>
                <a:latin typeface="Calibri" panose="020F0502020204030204" pitchFamily="34" charset="0"/>
                <a:ea typeface="Times New Roman" panose="02020603050405020304" pitchFamily="18" charset="0"/>
                <a:cs typeface="Calibri" panose="020F0502020204030204" pitchFamily="34" charset="0"/>
              </a:rPr>
              <a:t>: condition (str): The condition to apply, written as a string.</a:t>
            </a:r>
            <a:endParaRPr lang="en-GB" sz="1400" kern="100" dirty="0">
              <a:effectLst/>
              <a:latin typeface="Calibri" panose="020F0502020204030204" pitchFamily="34" charset="0"/>
              <a:ea typeface="Aptos" panose="020B000402020202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301122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Data Selection in Pandas</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t">
            <a:normAutofit/>
          </a:bodyPr>
          <a:lstStyle/>
          <a:p>
            <a:pPr marL="0" indent="0">
              <a:lnSpc>
                <a:spcPct val="107000"/>
              </a:lnSpc>
              <a:spcBef>
                <a:spcPts val="0"/>
              </a:spcBef>
              <a:spcAft>
                <a:spcPts val="800"/>
              </a:spcAft>
              <a:buNone/>
            </a:pPr>
            <a:r>
              <a:rPr lang="de-DE" b="1" kern="0" dirty="0">
                <a:effectLst/>
                <a:latin typeface="Calibri" panose="020F0502020204030204" pitchFamily="34" charset="0"/>
                <a:ea typeface="Times New Roman" panose="02020603050405020304" pitchFamily="18" charset="0"/>
                <a:cs typeface="Calibri" panose="020F0502020204030204" pitchFamily="34" charset="0"/>
              </a:rPr>
              <a:t>Conditional Selection</a:t>
            </a:r>
          </a:p>
          <a:p>
            <a:pPr marL="0" marR="0">
              <a:lnSpc>
                <a:spcPct val="107000"/>
              </a:lnSpc>
              <a:spcBef>
                <a:spcPts val="0"/>
              </a:spcBef>
              <a:spcAft>
                <a:spcPts val="800"/>
              </a:spcAft>
            </a:pPr>
            <a:r>
              <a:rPr lang="en-GB" sz="2000" b="1" kern="0" dirty="0" err="1">
                <a:effectLst/>
                <a:latin typeface="Calibri" panose="020F0502020204030204" pitchFamily="34" charset="0"/>
                <a:ea typeface="Times New Roman" panose="02020603050405020304" pitchFamily="18" charset="0"/>
                <a:cs typeface="Calibri" panose="020F0502020204030204" pitchFamily="34" charset="0"/>
              </a:rPr>
              <a:t>df</a:t>
            </a: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a:t>
            </a:r>
            <a:r>
              <a:rPr lang="en-GB" sz="2000" b="1" kern="0" dirty="0" err="1">
                <a:effectLst/>
                <a:latin typeface="Calibri" panose="020F0502020204030204" pitchFamily="34" charset="0"/>
                <a:ea typeface="Times New Roman" panose="02020603050405020304" pitchFamily="18" charset="0"/>
                <a:cs typeface="Calibri" panose="020F0502020204030204" pitchFamily="34" charset="0"/>
              </a:rPr>
              <a:t>df</a:t>
            </a: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['column1'] &gt; value1) &amp; (</a:t>
            </a:r>
            <a:r>
              <a:rPr lang="en-GB" sz="2000" b="1" kern="0" dirty="0" err="1">
                <a:effectLst/>
                <a:latin typeface="Calibri" panose="020F0502020204030204" pitchFamily="34" charset="0"/>
                <a:ea typeface="Times New Roman" panose="02020603050405020304" pitchFamily="18" charset="0"/>
                <a:cs typeface="Calibri" panose="020F0502020204030204" pitchFamily="34" charset="0"/>
              </a:rPr>
              <a:t>df</a:t>
            </a: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['column2'] &lt; value2)]</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Syntax</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 </a:t>
            </a:r>
            <a:r>
              <a:rPr lang="en-GB" sz="2000" kern="0" dirty="0" err="1">
                <a:effectLst/>
                <a:latin typeface="Calibri" panose="020F0502020204030204" pitchFamily="34" charset="0"/>
                <a:ea typeface="Times New Roman" panose="02020603050405020304" pitchFamily="18" charset="0"/>
                <a:cs typeface="Calibri" panose="020F0502020204030204" pitchFamily="34" charset="0"/>
              </a:rPr>
              <a:t>df</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a:t>
            </a:r>
            <a:r>
              <a:rPr lang="en-GB" sz="2000" kern="0" dirty="0" err="1">
                <a:effectLst/>
                <a:latin typeface="Calibri" panose="020F0502020204030204" pitchFamily="34" charset="0"/>
                <a:ea typeface="Times New Roman" panose="02020603050405020304" pitchFamily="18" charset="0"/>
                <a:cs typeface="Calibri" panose="020F0502020204030204" pitchFamily="34" charset="0"/>
              </a:rPr>
              <a:t>df</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['column1'] &gt; value1) &amp; (</a:t>
            </a:r>
            <a:r>
              <a:rPr lang="en-GB" sz="2000" kern="0" dirty="0" err="1">
                <a:effectLst/>
                <a:latin typeface="Calibri" panose="020F0502020204030204" pitchFamily="34" charset="0"/>
                <a:ea typeface="Times New Roman" panose="02020603050405020304" pitchFamily="18" charset="0"/>
                <a:cs typeface="Calibri" panose="020F0502020204030204" pitchFamily="34" charset="0"/>
              </a:rPr>
              <a:t>df</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['column2'] &lt; value2)]</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Description</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 Combines multiple conditions using Boolean operators.</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Parameters</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GB" sz="2000" kern="0" dirty="0">
                <a:effectLst/>
                <a:latin typeface="Calibri" panose="020F0502020204030204" pitchFamily="34" charset="0"/>
                <a:ea typeface="Times New Roman" panose="02020603050405020304" pitchFamily="18" charset="0"/>
                <a:cs typeface="Calibri" panose="020F0502020204030204" pitchFamily="34" charset="0"/>
              </a:rPr>
              <a:t>column1, column2 (str): The names of the columns to apply the conditions on.</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GB" sz="2000" kern="0" dirty="0">
                <a:effectLst/>
                <a:latin typeface="Calibri" panose="020F0502020204030204" pitchFamily="34" charset="0"/>
                <a:ea typeface="Times New Roman" panose="02020603050405020304" pitchFamily="18" charset="0"/>
                <a:cs typeface="Calibri" panose="020F0502020204030204" pitchFamily="34" charset="0"/>
              </a:rPr>
              <a:t>value1, value2 (any): The values to compare against.</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874471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Data Selection in Pandas</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t">
            <a:normAutofit/>
          </a:bodyPr>
          <a:lstStyle/>
          <a:p>
            <a:pPr marL="0" indent="0">
              <a:lnSpc>
                <a:spcPct val="107000"/>
              </a:lnSpc>
              <a:spcBef>
                <a:spcPts val="0"/>
              </a:spcBef>
              <a:spcAft>
                <a:spcPts val="800"/>
              </a:spcAft>
              <a:buNone/>
            </a:pPr>
            <a:r>
              <a:rPr lang="de-DE" b="1" kern="0" dirty="0">
                <a:effectLst/>
                <a:latin typeface="Calibri" panose="020F0502020204030204" pitchFamily="34" charset="0"/>
                <a:ea typeface="Times New Roman" panose="02020603050405020304" pitchFamily="18" charset="0"/>
                <a:cs typeface="Calibri" panose="020F0502020204030204" pitchFamily="34" charset="0"/>
              </a:rPr>
              <a:t>Conditional Selection</a:t>
            </a:r>
          </a:p>
          <a:p>
            <a:pPr marL="0" marR="0">
              <a:lnSpc>
                <a:spcPct val="107000"/>
              </a:lnSpc>
              <a:spcBef>
                <a:spcPts val="0"/>
              </a:spcBef>
              <a:spcAft>
                <a:spcPts val="800"/>
              </a:spcAft>
            </a:pPr>
            <a:r>
              <a:rPr lang="en-GB" sz="2000" b="1" kern="0" dirty="0" err="1">
                <a:effectLst/>
                <a:latin typeface="Calibri" panose="020F0502020204030204" pitchFamily="34" charset="0"/>
                <a:ea typeface="Times New Roman" panose="02020603050405020304" pitchFamily="18" charset="0"/>
                <a:cs typeface="Calibri" panose="020F0502020204030204" pitchFamily="34" charset="0"/>
              </a:rPr>
              <a:t>df</a:t>
            </a: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a:t>
            </a:r>
            <a:r>
              <a:rPr lang="en-GB" sz="2000" b="1" kern="0" dirty="0" err="1">
                <a:effectLst/>
                <a:latin typeface="Calibri" panose="020F0502020204030204" pitchFamily="34" charset="0"/>
                <a:ea typeface="Times New Roman" panose="02020603050405020304" pitchFamily="18" charset="0"/>
                <a:cs typeface="Calibri" panose="020F0502020204030204" pitchFamily="34" charset="0"/>
              </a:rPr>
              <a:t>df</a:t>
            </a: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['column'].</a:t>
            </a:r>
            <a:r>
              <a:rPr lang="en-GB" sz="2000" b="1" kern="0" dirty="0" err="1">
                <a:effectLst/>
                <a:latin typeface="Calibri" panose="020F0502020204030204" pitchFamily="34" charset="0"/>
                <a:ea typeface="Times New Roman" panose="02020603050405020304" pitchFamily="18" charset="0"/>
                <a:cs typeface="Calibri" panose="020F0502020204030204" pitchFamily="34" charset="0"/>
              </a:rPr>
              <a:t>isin</a:t>
            </a: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(['value1', 'value2'])]</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Syntax</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 </a:t>
            </a:r>
            <a:r>
              <a:rPr lang="en-GB" sz="2000" kern="0" dirty="0" err="1">
                <a:effectLst/>
                <a:latin typeface="Calibri" panose="020F0502020204030204" pitchFamily="34" charset="0"/>
                <a:ea typeface="Times New Roman" panose="02020603050405020304" pitchFamily="18" charset="0"/>
                <a:cs typeface="Calibri" panose="020F0502020204030204" pitchFamily="34" charset="0"/>
              </a:rPr>
              <a:t>df</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a:t>
            </a:r>
            <a:r>
              <a:rPr lang="en-GB" sz="2000" kern="0" dirty="0" err="1">
                <a:effectLst/>
                <a:latin typeface="Calibri" panose="020F0502020204030204" pitchFamily="34" charset="0"/>
                <a:ea typeface="Times New Roman" panose="02020603050405020304" pitchFamily="18" charset="0"/>
                <a:cs typeface="Calibri" panose="020F0502020204030204" pitchFamily="34" charset="0"/>
              </a:rPr>
              <a:t>df</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['column'].</a:t>
            </a:r>
            <a:r>
              <a:rPr lang="en-GB" sz="2000" kern="0" dirty="0" err="1">
                <a:effectLst/>
                <a:latin typeface="Calibri" panose="020F0502020204030204" pitchFamily="34" charset="0"/>
                <a:ea typeface="Times New Roman" panose="02020603050405020304" pitchFamily="18" charset="0"/>
                <a:cs typeface="Calibri" panose="020F0502020204030204" pitchFamily="34" charset="0"/>
              </a:rPr>
              <a:t>isin</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(['value1', 'value2'])]</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Description</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 Selects rows where column values are in a list.</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Parameters</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GB" sz="2000" kern="0" dirty="0">
                <a:effectLst/>
                <a:latin typeface="Calibri" panose="020F0502020204030204" pitchFamily="34" charset="0"/>
                <a:ea typeface="Times New Roman" panose="02020603050405020304" pitchFamily="18" charset="0"/>
                <a:cs typeface="Calibri" panose="020F0502020204030204" pitchFamily="34" charset="0"/>
              </a:rPr>
              <a:t>column (str): The name of the column to check.</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GB" sz="2000" kern="0" dirty="0">
                <a:effectLst/>
                <a:latin typeface="Calibri" panose="020F0502020204030204" pitchFamily="34" charset="0"/>
                <a:ea typeface="Times New Roman" panose="02020603050405020304" pitchFamily="18" charset="0"/>
                <a:cs typeface="Calibri" panose="020F0502020204030204" pitchFamily="34" charset="0"/>
              </a:rPr>
              <a:t>value1, value2, ... (any): The values to check for.</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452020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Data Selection in Pandas</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t">
            <a:normAutofit/>
          </a:bodyPr>
          <a:lstStyle/>
          <a:p>
            <a:pPr marL="0" marR="0" indent="0">
              <a:lnSpc>
                <a:spcPct val="107000"/>
              </a:lnSpc>
              <a:spcBef>
                <a:spcPts val="0"/>
              </a:spcBef>
              <a:spcAft>
                <a:spcPts val="800"/>
              </a:spcAft>
              <a:buNone/>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Selecting Rows and Columns Simultaneously</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0" marR="0">
              <a:lnSpc>
                <a:spcPct val="107000"/>
              </a:lnSpc>
              <a:spcBef>
                <a:spcPts val="0"/>
              </a:spcBef>
              <a:spcAft>
                <a:spcPts val="800"/>
              </a:spcAf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df.iloc[row_indices, column_indices]</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Syntax</a:t>
            </a:r>
            <a:r>
              <a:rPr lang="de-DE" sz="2000" kern="0" dirty="0">
                <a:effectLst/>
                <a:latin typeface="Calibri" panose="020F0502020204030204" pitchFamily="34" charset="0"/>
                <a:ea typeface="Times New Roman" panose="02020603050405020304" pitchFamily="18" charset="0"/>
                <a:cs typeface="Calibri" panose="020F0502020204030204" pitchFamily="34" charset="0"/>
              </a:rPr>
              <a:t>: df.iloc[row_indices, column_indices]</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Description</a:t>
            </a:r>
            <a:r>
              <a:rPr lang="de-DE" sz="2000" kern="0" dirty="0">
                <a:effectLst/>
                <a:latin typeface="Calibri" panose="020F0502020204030204" pitchFamily="34" charset="0"/>
                <a:ea typeface="Times New Roman" panose="02020603050405020304" pitchFamily="18" charset="0"/>
                <a:cs typeface="Calibri" panose="020F0502020204030204" pitchFamily="34" charset="0"/>
              </a:rPr>
              <a:t>: Selects rows and columns by integer location.</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Parameters</a:t>
            </a:r>
            <a:r>
              <a:rPr lang="de-DE" sz="2000" kern="0" dirty="0">
                <a:effectLst/>
                <a:latin typeface="Calibri" panose="020F0502020204030204" pitchFamily="34" charset="0"/>
                <a:ea typeface="Times New Roman" panose="02020603050405020304" pitchFamily="18" charset="0"/>
                <a:cs typeface="Calibri" panose="020F0502020204030204" pitchFamily="34" charset="0"/>
              </a:rPr>
              <a:t>:</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de-DE" sz="2000" kern="0" dirty="0">
                <a:effectLst/>
                <a:latin typeface="Calibri" panose="020F0502020204030204" pitchFamily="34" charset="0"/>
                <a:ea typeface="Times New Roman" panose="02020603050405020304" pitchFamily="18" charset="0"/>
                <a:cs typeface="Calibri" panose="020F0502020204030204" pitchFamily="34" charset="0"/>
              </a:rPr>
              <a:t>row_indices (int, slice, list, or array): Row indices to select.</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de-DE" sz="2000" kern="0" dirty="0">
                <a:effectLst/>
                <a:latin typeface="Calibri" panose="020F0502020204030204" pitchFamily="34" charset="0"/>
                <a:ea typeface="Times New Roman" panose="02020603050405020304" pitchFamily="18" charset="0"/>
                <a:cs typeface="Calibri" panose="020F0502020204030204" pitchFamily="34" charset="0"/>
              </a:rPr>
              <a:t>column_indices (int, slice, list, or array): Column indices to select.</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544662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Data Selection in Pandas</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t">
            <a:normAutofit/>
          </a:bodyPr>
          <a:lstStyle/>
          <a:p>
            <a:pPr marL="0" marR="0" indent="0">
              <a:lnSpc>
                <a:spcPct val="107000"/>
              </a:lnSpc>
              <a:spcBef>
                <a:spcPts val="0"/>
              </a:spcBef>
              <a:spcAft>
                <a:spcPts val="800"/>
              </a:spcAft>
              <a:buNone/>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Selecting Specific Data Types</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0" marR="0">
              <a:lnSpc>
                <a:spcPct val="107000"/>
              </a:lnSpc>
              <a:spcBef>
                <a:spcPts val="0"/>
              </a:spcBef>
              <a:spcAft>
                <a:spcPts val="800"/>
              </a:spcAf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df.select_dtypes(include='data_type')</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Syntax</a:t>
            </a:r>
            <a:r>
              <a:rPr lang="de-DE" sz="2000" kern="0" dirty="0">
                <a:effectLst/>
                <a:latin typeface="Calibri" panose="020F0502020204030204" pitchFamily="34" charset="0"/>
                <a:ea typeface="Times New Roman" panose="02020603050405020304" pitchFamily="18" charset="0"/>
                <a:cs typeface="Calibri" panose="020F0502020204030204" pitchFamily="34" charset="0"/>
              </a:rPr>
              <a:t>: df.select_dtypes(include='data_type')</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Description</a:t>
            </a:r>
            <a:r>
              <a:rPr lang="de-DE" sz="2000" kern="0" dirty="0">
                <a:effectLst/>
                <a:latin typeface="Calibri" panose="020F0502020204030204" pitchFamily="34" charset="0"/>
                <a:ea typeface="Times New Roman" panose="02020603050405020304" pitchFamily="18" charset="0"/>
                <a:cs typeface="Calibri" panose="020F0502020204030204" pitchFamily="34" charset="0"/>
              </a:rPr>
              <a:t>: Selects columns with specific data types.</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Parameters</a:t>
            </a:r>
            <a:r>
              <a:rPr lang="de-DE" sz="2000" kern="0" dirty="0">
                <a:effectLst/>
                <a:latin typeface="Calibri" panose="020F0502020204030204" pitchFamily="34" charset="0"/>
                <a:ea typeface="Times New Roman" panose="02020603050405020304" pitchFamily="18" charset="0"/>
                <a:cs typeface="Calibri" panose="020F0502020204030204" pitchFamily="34" charset="0"/>
              </a:rPr>
              <a:t>:</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de-DE" sz="2000" kern="0" dirty="0">
                <a:effectLst/>
                <a:latin typeface="Calibri" panose="020F0502020204030204" pitchFamily="34" charset="0"/>
                <a:ea typeface="Times New Roman" panose="02020603050405020304" pitchFamily="18" charset="0"/>
                <a:cs typeface="Calibri" panose="020F0502020204030204" pitchFamily="34" charset="0"/>
              </a:rPr>
              <a:t>include (str, list, or None): Data types to include (e.g., 'number', 'object').</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0" marR="0">
              <a:lnSpc>
                <a:spcPct val="107000"/>
              </a:lnSpc>
              <a:spcBef>
                <a:spcPts val="0"/>
              </a:spcBef>
              <a:spcAft>
                <a:spcPts val="800"/>
              </a:spcAft>
            </a:pPr>
            <a:endParaRPr lang="de-DE"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48562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Data Selection in Pandas</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t">
            <a:normAutofit/>
          </a:bodyPr>
          <a:lstStyle/>
          <a:p>
            <a:pPr marL="0" marR="0" indent="0">
              <a:lnSpc>
                <a:spcPct val="107000"/>
              </a:lnSpc>
              <a:spcBef>
                <a:spcPts val="0"/>
              </a:spcBef>
              <a:spcAft>
                <a:spcPts val="800"/>
              </a:spcAft>
              <a:buNone/>
            </a:pP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Accessing Specific Elements</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a:p>
            <a:pPr marL="0" marR="0">
              <a:lnSpc>
                <a:spcPct val="107000"/>
              </a:lnSpc>
              <a:spcBef>
                <a:spcPts val="0"/>
              </a:spcBef>
              <a:spcAft>
                <a:spcPts val="800"/>
              </a:spcAft>
            </a:pPr>
            <a:r>
              <a:rPr lang="en-GB" sz="2000" b="1" kern="0" dirty="0" err="1">
                <a:effectLst/>
                <a:latin typeface="Calibri" panose="020F0502020204030204" pitchFamily="34" charset="0"/>
                <a:ea typeface="Times New Roman" panose="02020603050405020304" pitchFamily="18" charset="0"/>
                <a:cs typeface="Calibri" panose="020F0502020204030204" pitchFamily="34" charset="0"/>
              </a:rPr>
              <a:t>df.iat</a:t>
            </a: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a:t>
            </a:r>
            <a:r>
              <a:rPr lang="en-GB" sz="2000" b="1" kern="0" dirty="0" err="1">
                <a:effectLst/>
                <a:latin typeface="Calibri" panose="020F0502020204030204" pitchFamily="34" charset="0"/>
                <a:ea typeface="Times New Roman" panose="02020603050405020304" pitchFamily="18" charset="0"/>
                <a:cs typeface="Calibri" panose="020F0502020204030204" pitchFamily="34" charset="0"/>
              </a:rPr>
              <a:t>row_index</a:t>
            </a: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 </a:t>
            </a:r>
            <a:r>
              <a:rPr lang="en-GB" sz="2000" b="1" kern="0" dirty="0" err="1">
                <a:effectLst/>
                <a:latin typeface="Calibri" panose="020F0502020204030204" pitchFamily="34" charset="0"/>
                <a:ea typeface="Times New Roman" panose="02020603050405020304" pitchFamily="18" charset="0"/>
                <a:cs typeface="Calibri" panose="020F0502020204030204" pitchFamily="34" charset="0"/>
              </a:rPr>
              <a:t>column_index</a:t>
            </a: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Syntax</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 </a:t>
            </a:r>
            <a:r>
              <a:rPr lang="en-GB" sz="2000" kern="0" dirty="0" err="1">
                <a:effectLst/>
                <a:latin typeface="Calibri" panose="020F0502020204030204" pitchFamily="34" charset="0"/>
                <a:ea typeface="Times New Roman" panose="02020603050405020304" pitchFamily="18" charset="0"/>
                <a:cs typeface="Calibri" panose="020F0502020204030204" pitchFamily="34" charset="0"/>
              </a:rPr>
              <a:t>df.iat</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a:t>
            </a:r>
            <a:r>
              <a:rPr lang="en-GB" sz="2000" kern="0" dirty="0" err="1">
                <a:effectLst/>
                <a:latin typeface="Calibri" panose="020F0502020204030204" pitchFamily="34" charset="0"/>
                <a:ea typeface="Times New Roman" panose="02020603050405020304" pitchFamily="18" charset="0"/>
                <a:cs typeface="Calibri" panose="020F0502020204030204" pitchFamily="34" charset="0"/>
              </a:rPr>
              <a:t>row_index</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 </a:t>
            </a:r>
            <a:r>
              <a:rPr lang="en-GB" sz="2000" kern="0" dirty="0" err="1">
                <a:effectLst/>
                <a:latin typeface="Calibri" panose="020F0502020204030204" pitchFamily="34" charset="0"/>
                <a:ea typeface="Times New Roman" panose="02020603050405020304" pitchFamily="18" charset="0"/>
                <a:cs typeface="Calibri" panose="020F0502020204030204" pitchFamily="34" charset="0"/>
              </a:rPr>
              <a:t>column_index</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Description</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 Accesses a single value for a row/column index pair.</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GB" sz="2000" b="1" kern="0" dirty="0">
                <a:effectLst/>
                <a:latin typeface="Calibri" panose="020F0502020204030204" pitchFamily="34" charset="0"/>
                <a:ea typeface="Times New Roman" panose="02020603050405020304" pitchFamily="18" charset="0"/>
                <a:cs typeface="Calibri" panose="020F0502020204030204" pitchFamily="34" charset="0"/>
              </a:rPr>
              <a:t>Parameters</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GB" sz="2000" kern="0" dirty="0" err="1">
                <a:effectLst/>
                <a:latin typeface="Calibri" panose="020F0502020204030204" pitchFamily="34" charset="0"/>
                <a:ea typeface="Times New Roman" panose="02020603050405020304" pitchFamily="18" charset="0"/>
                <a:cs typeface="Calibri" panose="020F0502020204030204" pitchFamily="34" charset="0"/>
              </a:rPr>
              <a:t>row_index</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 (int): The index of the row to access.</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GB" sz="2000" kern="0" dirty="0" err="1">
                <a:effectLst/>
                <a:latin typeface="Calibri" panose="020F0502020204030204" pitchFamily="34" charset="0"/>
                <a:ea typeface="Times New Roman" panose="02020603050405020304" pitchFamily="18" charset="0"/>
                <a:cs typeface="Calibri" panose="020F0502020204030204" pitchFamily="34" charset="0"/>
              </a:rPr>
              <a:t>column_index</a:t>
            </a:r>
            <a:r>
              <a:rPr lang="en-GB" sz="2000" kern="0" dirty="0">
                <a:effectLst/>
                <a:latin typeface="Calibri" panose="020F0502020204030204" pitchFamily="34" charset="0"/>
                <a:ea typeface="Times New Roman" panose="02020603050405020304" pitchFamily="18" charset="0"/>
                <a:cs typeface="Calibri" panose="020F0502020204030204" pitchFamily="34" charset="0"/>
              </a:rPr>
              <a:t> (int): The index of the column to access.</a:t>
            </a:r>
            <a:endParaRPr lang="en-GB" sz="2000" kern="100" dirty="0">
              <a:effectLst/>
              <a:latin typeface="Calibri" panose="020F0502020204030204" pitchFamily="34" charset="0"/>
              <a:ea typeface="Aptos" panose="020B0004020202020204" pitchFamily="34" charset="0"/>
              <a:cs typeface="Calibri" panose="020F0502020204030204" pitchFamily="34" charset="0"/>
            </a:endParaRPr>
          </a:p>
          <a:p>
            <a:pPr marL="0" marR="0">
              <a:lnSpc>
                <a:spcPct val="107000"/>
              </a:lnSpc>
              <a:spcBef>
                <a:spcPts val="0"/>
              </a:spcBef>
              <a:spcAft>
                <a:spcPts val="800"/>
              </a:spcAft>
            </a:pPr>
            <a:endParaRPr lang="de-DE"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829780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Data Selection in Pandas</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t">
            <a:normAutofit lnSpcReduction="10000"/>
          </a:bodyPr>
          <a:lstStyle/>
          <a:p>
            <a:pPr marL="0" marR="0" indent="0">
              <a:lnSpc>
                <a:spcPct val="107000"/>
              </a:lnSpc>
              <a:spcBef>
                <a:spcPts val="0"/>
              </a:spcBef>
              <a:spcAft>
                <a:spcPts val="800"/>
              </a:spcAft>
              <a:buNone/>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Using Index</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0" marR="0">
              <a:lnSpc>
                <a:spcPct val="107000"/>
              </a:lnSpc>
              <a:spcBef>
                <a:spcPts val="0"/>
              </a:spcBef>
              <a:spcAft>
                <a:spcPts val="800"/>
              </a:spcAf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df.set_index('column_name')</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Syntax</a:t>
            </a:r>
            <a:r>
              <a:rPr lang="de-DE" sz="2000" kern="0" dirty="0">
                <a:effectLst/>
                <a:latin typeface="Calibri" panose="020F0502020204030204" pitchFamily="34" charset="0"/>
                <a:ea typeface="Times New Roman" panose="02020603050405020304" pitchFamily="18" charset="0"/>
                <a:cs typeface="Calibri" panose="020F0502020204030204" pitchFamily="34" charset="0"/>
              </a:rPr>
              <a:t>: df.set_index('column_name')</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Description</a:t>
            </a:r>
            <a:r>
              <a:rPr lang="de-DE" sz="2000" kern="0" dirty="0">
                <a:effectLst/>
                <a:latin typeface="Calibri" panose="020F0502020204030204" pitchFamily="34" charset="0"/>
                <a:ea typeface="Times New Roman" panose="02020603050405020304" pitchFamily="18" charset="0"/>
                <a:cs typeface="Calibri" panose="020F0502020204030204" pitchFamily="34" charset="0"/>
              </a:rPr>
              <a:t>: Sets the DataFrame index using an existing column.</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Parameters</a:t>
            </a:r>
            <a:r>
              <a:rPr lang="de-DE" sz="2000" kern="0" dirty="0">
                <a:effectLst/>
                <a:latin typeface="Calibri" panose="020F0502020204030204" pitchFamily="34" charset="0"/>
                <a:ea typeface="Times New Roman" panose="02020603050405020304" pitchFamily="18" charset="0"/>
                <a:cs typeface="Calibri" panose="020F0502020204030204" pitchFamily="34" charset="0"/>
              </a:rPr>
              <a:t>:</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de-DE" sz="2000" kern="0" dirty="0">
                <a:effectLst/>
                <a:latin typeface="Calibri" panose="020F0502020204030204" pitchFamily="34" charset="0"/>
                <a:ea typeface="Times New Roman" panose="02020603050405020304" pitchFamily="18" charset="0"/>
                <a:cs typeface="Calibri" panose="020F0502020204030204" pitchFamily="34" charset="0"/>
              </a:rPr>
              <a:t>column_name (str): The name of the column to set as the index.</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0" marR="0">
              <a:lnSpc>
                <a:spcPct val="107000"/>
              </a:lnSpc>
              <a:spcBef>
                <a:spcPts val="0"/>
              </a:spcBef>
              <a:spcAft>
                <a:spcPts val="800"/>
              </a:spcAf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df.reset_index()</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Syntax</a:t>
            </a:r>
            <a:r>
              <a:rPr lang="de-DE" sz="2000" kern="0" dirty="0">
                <a:effectLst/>
                <a:latin typeface="Calibri" panose="020F0502020204030204" pitchFamily="34" charset="0"/>
                <a:ea typeface="Times New Roman" panose="02020603050405020304" pitchFamily="18" charset="0"/>
                <a:cs typeface="Calibri" panose="020F0502020204030204" pitchFamily="34" charset="0"/>
              </a:rPr>
              <a:t>: df.reset_index()</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Description</a:t>
            </a:r>
            <a:r>
              <a:rPr lang="de-DE" sz="2000" kern="0" dirty="0">
                <a:effectLst/>
                <a:latin typeface="Calibri" panose="020F0502020204030204" pitchFamily="34" charset="0"/>
                <a:ea typeface="Times New Roman" panose="02020603050405020304" pitchFamily="18" charset="0"/>
                <a:cs typeface="Calibri" panose="020F0502020204030204" pitchFamily="34" charset="0"/>
              </a:rPr>
              <a:t>: Resets the DataFrame index, moving the index back to columns.</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de-DE" sz="2000" b="1" kern="0" dirty="0">
                <a:effectLst/>
                <a:latin typeface="Calibri" panose="020F0502020204030204" pitchFamily="34" charset="0"/>
                <a:ea typeface="Times New Roman" panose="02020603050405020304" pitchFamily="18" charset="0"/>
                <a:cs typeface="Calibri" panose="020F0502020204030204" pitchFamily="34" charset="0"/>
              </a:rPr>
              <a:t>Parameters</a:t>
            </a:r>
            <a:r>
              <a:rPr lang="de-DE" sz="2000" kern="0" dirty="0">
                <a:effectLst/>
                <a:latin typeface="Calibri" panose="020F0502020204030204" pitchFamily="34" charset="0"/>
                <a:ea typeface="Times New Roman" panose="02020603050405020304" pitchFamily="18" charset="0"/>
                <a:cs typeface="Calibri" panose="020F0502020204030204" pitchFamily="34" charset="0"/>
              </a:rPr>
              <a:t>: None (default behavior).</a:t>
            </a:r>
            <a:endParaRPr lang="de-DE" sz="2000" kern="100" dirty="0">
              <a:effectLst/>
              <a:latin typeface="Calibri" panose="020F0502020204030204" pitchFamily="34" charset="0"/>
              <a:ea typeface="Aptos" panose="020B0004020202020204" pitchFamily="34" charset="0"/>
              <a:cs typeface="Calibri" panose="020F0502020204030204" pitchFamily="34" charset="0"/>
            </a:endParaRPr>
          </a:p>
          <a:p>
            <a:pPr marL="0" marR="0">
              <a:lnSpc>
                <a:spcPct val="107000"/>
              </a:lnSpc>
              <a:spcBef>
                <a:spcPts val="0"/>
              </a:spcBef>
              <a:spcAft>
                <a:spcPts val="800"/>
              </a:spcAft>
            </a:pPr>
            <a:endParaRPr lang="de-DE"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727413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Descriptive Statistics</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t">
            <a:normAutofit/>
          </a:bodyPr>
          <a:lstStyle/>
          <a:p>
            <a:pPr eaLnBrk="0" fontAlgn="base" hangingPunct="0">
              <a:lnSpc>
                <a:spcPct val="150000"/>
              </a:lnSpc>
              <a:spcBef>
                <a:spcPct val="0"/>
              </a:spcBef>
              <a:spcAft>
                <a:spcPct val="0"/>
              </a:spcAft>
            </a:pPr>
            <a:r>
              <a:rPr kumimoji="0" lang="LID4096" altLang="LID4096" sz="20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mean()</a:t>
            </a:r>
            <a:r>
              <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Compute the mean of numeric columns.</a:t>
            </a:r>
          </a:p>
          <a:p>
            <a:pPr eaLnBrk="0" fontAlgn="base" hangingPunct="0">
              <a:lnSpc>
                <a:spcPct val="150000"/>
              </a:lnSpc>
              <a:spcBef>
                <a:spcPct val="0"/>
              </a:spcBef>
              <a:spcAft>
                <a:spcPct val="0"/>
              </a:spcAft>
            </a:pPr>
            <a:r>
              <a:rPr kumimoji="0" lang="LID4096" altLang="LID4096" sz="20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median()</a:t>
            </a:r>
            <a:r>
              <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Compute the median of numeric columns.</a:t>
            </a:r>
          </a:p>
          <a:p>
            <a:pPr eaLnBrk="0" fontAlgn="base" hangingPunct="0">
              <a:lnSpc>
                <a:spcPct val="150000"/>
              </a:lnSpc>
              <a:spcBef>
                <a:spcPct val="0"/>
              </a:spcBef>
              <a:spcAft>
                <a:spcPct val="0"/>
              </a:spcAft>
            </a:pPr>
            <a:r>
              <a:rPr kumimoji="0" lang="LID4096" altLang="LID4096" sz="20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mode()</a:t>
            </a:r>
            <a:r>
              <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Compute the mode(s) of each element along the columns.</a:t>
            </a:r>
          </a:p>
          <a:p>
            <a:pPr eaLnBrk="0" fontAlgn="base" hangingPunct="0">
              <a:lnSpc>
                <a:spcPct val="150000"/>
              </a:lnSpc>
              <a:spcBef>
                <a:spcPct val="0"/>
              </a:spcBef>
              <a:spcAft>
                <a:spcPct val="0"/>
              </a:spcAft>
            </a:pPr>
            <a:r>
              <a:rPr kumimoji="0" lang="LID4096" altLang="LID4096" sz="20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std()</a:t>
            </a:r>
            <a:r>
              <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Compute the standard deviation of numeric columns.</a:t>
            </a:r>
          </a:p>
          <a:p>
            <a:pPr eaLnBrk="0" fontAlgn="base" hangingPunct="0">
              <a:lnSpc>
                <a:spcPct val="150000"/>
              </a:lnSpc>
              <a:spcBef>
                <a:spcPct val="0"/>
              </a:spcBef>
              <a:spcAft>
                <a:spcPct val="0"/>
              </a:spcAft>
            </a:pPr>
            <a:r>
              <a:rPr kumimoji="0" lang="LID4096" altLang="LID4096" sz="20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var()</a:t>
            </a:r>
            <a:r>
              <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Compute the variance of numeric columns.</a:t>
            </a:r>
          </a:p>
          <a:p>
            <a:pPr eaLnBrk="0" fontAlgn="base" hangingPunct="0">
              <a:lnSpc>
                <a:spcPct val="150000"/>
              </a:lnSpc>
              <a:spcBef>
                <a:spcPct val="0"/>
              </a:spcBef>
              <a:spcAft>
                <a:spcPct val="0"/>
              </a:spcAft>
            </a:pPr>
            <a:r>
              <a:rPr kumimoji="0" lang="LID4096" altLang="LID4096" sz="20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min()</a:t>
            </a:r>
            <a:r>
              <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Compute the minimum value of each numeric column.</a:t>
            </a:r>
          </a:p>
          <a:p>
            <a:pPr eaLnBrk="0" fontAlgn="base" hangingPunct="0">
              <a:lnSpc>
                <a:spcPct val="150000"/>
              </a:lnSpc>
              <a:spcBef>
                <a:spcPct val="0"/>
              </a:spcBef>
              <a:spcAft>
                <a:spcPct val="0"/>
              </a:spcAft>
            </a:pPr>
            <a:r>
              <a:rPr kumimoji="0" lang="LID4096" altLang="LID4096" sz="20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max()</a:t>
            </a:r>
            <a:r>
              <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Compute the maximum value of each numeric column.</a:t>
            </a:r>
            <a:endParaRPr kumimoji="0" lang="en-GB"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eaLnBrk="0" fontAlgn="base" hangingPunct="0">
              <a:lnSpc>
                <a:spcPct val="150000"/>
              </a:lnSpc>
              <a:spcBef>
                <a:spcPct val="0"/>
              </a:spcBef>
              <a:spcAft>
                <a:spcPct val="0"/>
              </a:spcAft>
            </a:pPr>
            <a:r>
              <a:rPr kumimoji="0" lang="LID4096" altLang="LID4096" sz="20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quantile()</a:t>
            </a:r>
            <a:r>
              <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Compute the quantiles of numeric columns.</a:t>
            </a:r>
          </a:p>
          <a:p>
            <a:pPr marL="0" indent="0" eaLnBrk="0" fontAlgn="base" hangingPunct="0">
              <a:lnSpc>
                <a:spcPct val="150000"/>
              </a:lnSpc>
              <a:spcBef>
                <a:spcPct val="0"/>
              </a:spcBef>
              <a:spcAft>
                <a:spcPct val="0"/>
              </a:spcAft>
              <a:buNone/>
            </a:pPr>
            <a:endPar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a:lnSpc>
                <a:spcPct val="107000"/>
              </a:lnSpc>
              <a:spcBef>
                <a:spcPts val="0"/>
              </a:spcBef>
              <a:spcAft>
                <a:spcPts val="800"/>
              </a:spcAft>
            </a:pPr>
            <a:endParaRPr lang="de-DE"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19901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Descriptive Statistics</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t">
            <a:normAutofit fontScale="92500" lnSpcReduction="10000"/>
          </a:bodyPr>
          <a:lstStyle/>
          <a:p>
            <a:pPr eaLnBrk="0" fontAlgn="base" hangingPunct="0">
              <a:lnSpc>
                <a:spcPct val="150000"/>
              </a:lnSpc>
              <a:spcBef>
                <a:spcPct val="0"/>
              </a:spcBef>
              <a:spcAft>
                <a:spcPct val="0"/>
              </a:spcAft>
            </a:pPr>
            <a:r>
              <a:rPr kumimoji="0" lang="LID4096" altLang="LID4096" sz="20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describe()</a:t>
            </a:r>
            <a:r>
              <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Generate descriptive statistics that summarize the central tendency, dispersion, and shape of a dataset’s distribution.</a:t>
            </a:r>
          </a:p>
          <a:p>
            <a:pPr eaLnBrk="0" fontAlgn="base" hangingPunct="0">
              <a:lnSpc>
                <a:spcPct val="150000"/>
              </a:lnSpc>
              <a:spcBef>
                <a:spcPct val="0"/>
              </a:spcBef>
              <a:spcAft>
                <a:spcPct val="0"/>
              </a:spcAft>
            </a:pPr>
            <a:r>
              <a:rPr kumimoji="0" lang="LID4096" altLang="LID4096" sz="20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count()</a:t>
            </a:r>
            <a:r>
              <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Count non-NA/null observations in each column or row.</a:t>
            </a:r>
          </a:p>
          <a:p>
            <a:pPr eaLnBrk="0" fontAlgn="base" hangingPunct="0">
              <a:lnSpc>
                <a:spcPct val="150000"/>
              </a:lnSpc>
              <a:spcBef>
                <a:spcPct val="0"/>
              </a:spcBef>
              <a:spcAft>
                <a:spcPct val="0"/>
              </a:spcAft>
            </a:pPr>
            <a:r>
              <a:rPr kumimoji="0" lang="LID4096" altLang="LID4096" sz="20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sum()</a:t>
            </a:r>
            <a:r>
              <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Compute the sum of values for each numeric column.</a:t>
            </a:r>
          </a:p>
          <a:p>
            <a:pPr eaLnBrk="0" fontAlgn="base" hangingPunct="0">
              <a:lnSpc>
                <a:spcPct val="150000"/>
              </a:lnSpc>
              <a:spcBef>
                <a:spcPct val="0"/>
              </a:spcBef>
              <a:spcAft>
                <a:spcPct val="0"/>
              </a:spcAft>
            </a:pPr>
            <a:r>
              <a:rPr kumimoji="0" lang="LID4096" altLang="LID4096" sz="20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cumsum()</a:t>
            </a:r>
            <a:r>
              <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Compute cumulative sum over a DataFrame or Series axis.</a:t>
            </a:r>
          </a:p>
          <a:p>
            <a:pPr eaLnBrk="0" fontAlgn="base" hangingPunct="0">
              <a:lnSpc>
                <a:spcPct val="150000"/>
              </a:lnSpc>
              <a:spcBef>
                <a:spcPct val="0"/>
              </a:spcBef>
              <a:spcAft>
                <a:spcPct val="0"/>
              </a:spcAft>
            </a:pPr>
            <a:r>
              <a:rPr kumimoji="0" lang="LID4096" altLang="LID4096" sz="20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skew()</a:t>
            </a:r>
            <a:r>
              <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Compute the skewness (degree of asymmetry) of each numeric column.</a:t>
            </a:r>
          </a:p>
          <a:p>
            <a:pPr eaLnBrk="0" fontAlgn="base" hangingPunct="0">
              <a:lnSpc>
                <a:spcPct val="150000"/>
              </a:lnSpc>
              <a:spcBef>
                <a:spcPct val="0"/>
              </a:spcBef>
              <a:spcAft>
                <a:spcPct val="0"/>
              </a:spcAft>
            </a:pPr>
            <a:r>
              <a:rPr kumimoji="0" lang="LID4096" altLang="LID4096" sz="20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kurt()</a:t>
            </a:r>
            <a:r>
              <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Compute the kurtosis (degree of tailedness) of each numeric column.</a:t>
            </a:r>
          </a:p>
          <a:p>
            <a:pPr eaLnBrk="0" fontAlgn="base" hangingPunct="0">
              <a:lnSpc>
                <a:spcPct val="150000"/>
              </a:lnSpc>
              <a:spcBef>
                <a:spcPct val="0"/>
              </a:spcBef>
              <a:spcAft>
                <a:spcPct val="0"/>
              </a:spcAft>
            </a:pPr>
            <a:r>
              <a:rPr kumimoji="0" lang="LID4096" altLang="LID4096" sz="20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corr()</a:t>
            </a:r>
            <a:r>
              <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Compute pairwise correlation of columns, excluding NA/null values.</a:t>
            </a:r>
          </a:p>
          <a:p>
            <a:pPr eaLnBrk="0" fontAlgn="base" hangingPunct="0">
              <a:lnSpc>
                <a:spcPct val="150000"/>
              </a:lnSpc>
              <a:spcBef>
                <a:spcPct val="0"/>
              </a:spcBef>
              <a:spcAft>
                <a:spcPct val="0"/>
              </a:spcAft>
            </a:pPr>
            <a:r>
              <a:rPr kumimoji="0" lang="LID4096" altLang="LID4096" sz="20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cov()</a:t>
            </a:r>
            <a:r>
              <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Compute covariance matrix of columns, excluding NA/null values.</a:t>
            </a:r>
          </a:p>
          <a:p>
            <a:pPr eaLnBrk="0" fontAlgn="base" hangingPunct="0">
              <a:lnSpc>
                <a:spcPct val="150000"/>
              </a:lnSpc>
              <a:spcBef>
                <a:spcPct val="0"/>
              </a:spcBef>
              <a:spcAft>
                <a:spcPct val="0"/>
              </a:spcAft>
            </a:pPr>
            <a:r>
              <a:rPr kumimoji="0" lang="LID4096" altLang="LID4096" sz="20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mad()</a:t>
            </a:r>
            <a:r>
              <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Compute the mean absolute deviation from the mean value for each numeric column.</a:t>
            </a:r>
          </a:p>
          <a:p>
            <a:pPr marL="0" indent="0" eaLnBrk="0" fontAlgn="base" hangingPunct="0">
              <a:lnSpc>
                <a:spcPct val="150000"/>
              </a:lnSpc>
              <a:spcBef>
                <a:spcPct val="0"/>
              </a:spcBef>
              <a:spcAft>
                <a:spcPct val="0"/>
              </a:spcAft>
              <a:buNone/>
            </a:pPr>
            <a:endPar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a:lnSpc>
                <a:spcPct val="107000"/>
              </a:lnSpc>
              <a:spcBef>
                <a:spcPts val="0"/>
              </a:spcBef>
              <a:spcAft>
                <a:spcPts val="800"/>
              </a:spcAft>
            </a:pPr>
            <a:endParaRPr lang="de-DE"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659167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Groupby and Agg</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t">
            <a:normAutofit/>
          </a:bodyPr>
          <a:lstStyle/>
          <a:p>
            <a:pPr eaLnBrk="0" fontAlgn="base" hangingPunct="0">
              <a:lnSpc>
                <a:spcPct val="100000"/>
              </a:lnSpc>
              <a:spcBef>
                <a:spcPct val="0"/>
              </a:spcBef>
              <a:spcAft>
                <a:spcPct val="0"/>
              </a:spcAft>
            </a:pPr>
            <a:r>
              <a:rPr lang="en-GB" altLang="LID4096" sz="2000" b="1" dirty="0">
                <a:latin typeface="Calibri" panose="020F0502020204030204" pitchFamily="34" charset="0"/>
                <a:cs typeface="Calibri" panose="020F0502020204030204" pitchFamily="34" charset="0"/>
              </a:rPr>
              <a:t>Groupby: </a:t>
            </a:r>
            <a:r>
              <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groupby function in pandas is used to split the data into groups based on some criteria, apply a function to each group independently, and then combine the results. It enables grouping rows of a DataFrame by values in one or more columns.</a:t>
            </a:r>
            <a:endParaRPr kumimoji="0" lang="en-GB"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pPr>
            <a:endParaRPr lang="en-GB" altLang="LID4096" sz="2000" dirty="0">
              <a:latin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pPr>
            <a:r>
              <a:rPr kumimoji="0" lang="en-GB" altLang="LID4096" sz="20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df.groupby</a:t>
            </a:r>
            <a:r>
              <a:rPr kumimoji="0" lang="en-GB"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r>
              <a:rPr kumimoji="0" lang="en-GB" altLang="LID4096" sz="20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column_name</a:t>
            </a:r>
            <a:r>
              <a:rPr kumimoji="0" lang="en-GB"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p>
            <a:pPr eaLnBrk="0" fontAlgn="base" hangingPunct="0">
              <a:lnSpc>
                <a:spcPct val="100000"/>
              </a:lnSpc>
              <a:spcBef>
                <a:spcPct val="0"/>
              </a:spcBef>
              <a:spcAft>
                <a:spcPct val="0"/>
              </a:spcAft>
            </a:pPr>
            <a:endParaRPr lang="en-GB" altLang="LID4096" sz="2000" dirty="0">
              <a:latin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pPr>
            <a:r>
              <a:rPr kumimoji="0" lang="en-GB" altLang="LID4096" sz="20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agg : </a:t>
            </a:r>
            <a:r>
              <a:rPr lang="LID4096" altLang="LID4096" sz="2000" dirty="0">
                <a:latin typeface="Calibri" panose="020F0502020204030204" pitchFamily="34" charset="0"/>
                <a:cs typeface="Calibri" panose="020F0502020204030204" pitchFamily="34" charset="0"/>
              </a:rPr>
              <a:t>The agg function in pandas is used to apply one or more aggregation operations to the grouped data. It allows you to compute multiple statistics (like mean, sum, count, etc.) in a single step for each group. </a:t>
            </a:r>
            <a:endParaRPr lang="en-GB" altLang="LID4096" sz="2000" dirty="0">
              <a:latin typeface="Calibri" panose="020F0502020204030204" pitchFamily="34" charset="0"/>
              <a:cs typeface="Calibri" panose="020F0502020204030204" pitchFamily="34" charset="0"/>
            </a:endParaRPr>
          </a:p>
          <a:p>
            <a:pPr marL="0" indent="0" eaLnBrk="0" fontAlgn="base" hangingPunct="0">
              <a:lnSpc>
                <a:spcPct val="100000"/>
              </a:lnSpc>
              <a:spcBef>
                <a:spcPct val="0"/>
              </a:spcBef>
              <a:spcAft>
                <a:spcPct val="0"/>
              </a:spcAft>
              <a:buNone/>
            </a:pPr>
            <a:endParaRPr lang="en-GB" altLang="LID4096" sz="2000" dirty="0">
              <a:latin typeface="Calibri" panose="020F0502020204030204" pitchFamily="34" charset="0"/>
              <a:cs typeface="Calibri" panose="020F0502020204030204" pitchFamily="34" charset="0"/>
            </a:endParaRPr>
          </a:p>
          <a:p>
            <a:pPr marL="0" indent="0" eaLnBrk="0" fontAlgn="base" hangingPunct="0">
              <a:lnSpc>
                <a:spcPct val="100000"/>
              </a:lnSpc>
              <a:spcBef>
                <a:spcPct val="0"/>
              </a:spcBef>
              <a:spcAft>
                <a:spcPct val="0"/>
              </a:spcAft>
              <a:buNone/>
            </a:pPr>
            <a:r>
              <a:rPr lang="en-GB" altLang="LID4096" sz="2000" dirty="0" err="1">
                <a:latin typeface="Calibri" panose="020F0502020204030204" pitchFamily="34" charset="0"/>
                <a:cs typeface="Calibri" panose="020F0502020204030204" pitchFamily="34" charset="0"/>
              </a:rPr>
              <a:t>df.groupby</a:t>
            </a:r>
            <a:r>
              <a:rPr lang="en-GB" altLang="LID4096" sz="2000" dirty="0">
                <a:latin typeface="Calibri" panose="020F0502020204030204" pitchFamily="34" charset="0"/>
                <a:cs typeface="Calibri" panose="020F0502020204030204" pitchFamily="34" charset="0"/>
              </a:rPr>
              <a:t>(‘</a:t>
            </a:r>
            <a:r>
              <a:rPr lang="en-GB" altLang="LID4096" sz="2000" dirty="0" err="1">
                <a:latin typeface="Calibri" panose="020F0502020204030204" pitchFamily="34" charset="0"/>
                <a:cs typeface="Calibri" panose="020F0502020204030204" pitchFamily="34" charset="0"/>
              </a:rPr>
              <a:t>column_name</a:t>
            </a:r>
            <a:r>
              <a:rPr lang="en-GB" altLang="LID4096" sz="2000" dirty="0">
                <a:latin typeface="Calibri" panose="020F0502020204030204" pitchFamily="34" charset="0"/>
                <a:cs typeface="Calibri" panose="020F0502020204030204" pitchFamily="34" charset="0"/>
              </a:rPr>
              <a:t>’).agg({‘</a:t>
            </a:r>
            <a:r>
              <a:rPr lang="en-GB" altLang="LID4096" sz="2000" dirty="0" err="1">
                <a:latin typeface="Calibri" panose="020F0502020204030204" pitchFamily="34" charset="0"/>
                <a:cs typeface="Calibri" panose="020F0502020204030204" pitchFamily="34" charset="0"/>
              </a:rPr>
              <a:t>column_name</a:t>
            </a:r>
            <a:r>
              <a:rPr lang="en-GB" altLang="LID4096" sz="2000" dirty="0">
                <a:latin typeface="Calibri" panose="020F0502020204030204" pitchFamily="34" charset="0"/>
                <a:cs typeface="Calibri" panose="020F0502020204030204" pitchFamily="34" charset="0"/>
              </a:rPr>
              <a:t>’:[‘sum’, ’mean’, …. ]})</a:t>
            </a:r>
          </a:p>
          <a:p>
            <a:pPr marL="0" indent="0" eaLnBrk="0" fontAlgn="base" hangingPunct="0">
              <a:lnSpc>
                <a:spcPct val="100000"/>
              </a:lnSpc>
              <a:spcBef>
                <a:spcPct val="0"/>
              </a:spcBef>
              <a:spcAft>
                <a:spcPct val="0"/>
              </a:spcAft>
              <a:buNone/>
            </a:pPr>
            <a:r>
              <a:rPr lang="en-GB" altLang="LID4096" sz="2000" b="1" dirty="0">
                <a:latin typeface="Calibri" panose="020F0502020204030204" pitchFamily="34" charset="0"/>
                <a:cs typeface="Calibri" panose="020F0502020204030204" pitchFamily="34" charset="0"/>
              </a:rPr>
              <a:t>Example: </a:t>
            </a:r>
            <a:endParaRPr lang="LID4096" altLang="LID4096" sz="2000" dirty="0">
              <a:latin typeface="Calibri" panose="020F0502020204030204" pitchFamily="34" charset="0"/>
              <a:cs typeface="Calibri" panose="020F0502020204030204" pitchFamily="34" charset="0"/>
            </a:endParaRPr>
          </a:p>
          <a:p>
            <a:pPr marL="0" marR="0">
              <a:lnSpc>
                <a:spcPct val="107000"/>
              </a:lnSpc>
              <a:spcBef>
                <a:spcPts val="0"/>
              </a:spcBef>
              <a:spcAft>
                <a:spcPts val="800"/>
              </a:spcAft>
            </a:pPr>
            <a:endParaRPr lang="de-DE"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4" name="Rectangle 1">
            <a:extLst>
              <a:ext uri="{FF2B5EF4-FFF2-40B4-BE49-F238E27FC236}">
                <a16:creationId xmlns:a16="http://schemas.microsoft.com/office/drawing/2014/main" id="{DF6562ED-8338-07E7-6872-1CE4FFDFCD83}"/>
              </a:ext>
            </a:extLst>
          </p:cNvPr>
          <p:cNvSpPr>
            <a:spLocks noChangeArrowheads="1"/>
          </p:cNvSpPr>
          <p:nvPr/>
        </p:nvSpPr>
        <p:spPr bwMode="auto">
          <a:xfrm>
            <a:off x="0" y="-130805"/>
            <a:ext cx="21352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100" b="0" i="0" u="none" strike="noStrike" cap="none" normalizeH="0" baseline="0" dirty="0">
                <a:ln>
                  <a:noFill/>
                </a:ln>
                <a:solidFill>
                  <a:schemeClr val="tx1"/>
                </a:solidFill>
                <a:effectLst/>
              </a:rPr>
              <a:t> </a:t>
            </a:r>
            <a:endParaRPr kumimoji="0" lang="LID4096" altLang="LID4096"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E6506AF7-3C35-A930-A553-5FFC32B2E08C}"/>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LID4096" altLang="LID4096"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F50EBED4-A1AE-6984-271B-401AD70CDD80}"/>
              </a:ext>
            </a:extLst>
          </p:cNvPr>
          <p:cNvPicPr>
            <a:picLocks noChangeAspect="1"/>
          </p:cNvPicPr>
          <p:nvPr/>
        </p:nvPicPr>
        <p:blipFill>
          <a:blip r:embed="rId2"/>
          <a:stretch>
            <a:fillRect/>
          </a:stretch>
        </p:blipFill>
        <p:spPr>
          <a:xfrm>
            <a:off x="1288983" y="5409051"/>
            <a:ext cx="6505575" cy="371475"/>
          </a:xfrm>
          <a:prstGeom prst="rect">
            <a:avLst/>
          </a:prstGeom>
        </p:spPr>
      </p:pic>
    </p:spTree>
    <p:extLst>
      <p:ext uri="{BB962C8B-B14F-4D97-AF65-F5344CB8AC3E}">
        <p14:creationId xmlns:p14="http://schemas.microsoft.com/office/powerpoint/2010/main" val="39860200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Visualizing Data</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t">
            <a:normAutofit fontScale="85000" lnSpcReduction="20000"/>
          </a:bodyPr>
          <a:lstStyle/>
          <a:p>
            <a:r>
              <a:rPr lang="en-GB" sz="2000" b="1" dirty="0">
                <a:latin typeface="Calibri" panose="020F0502020204030204" pitchFamily="34" charset="0"/>
                <a:cs typeface="Calibri" panose="020F0502020204030204" pitchFamily="34" charset="0"/>
              </a:rPr>
              <a:t>Histogram</a:t>
            </a:r>
          </a:p>
          <a:p>
            <a:r>
              <a:rPr lang="en-GB" sz="2000" b="1" dirty="0">
                <a:latin typeface="Calibri" panose="020F0502020204030204" pitchFamily="34" charset="0"/>
                <a:cs typeface="Calibri" panose="020F0502020204030204" pitchFamily="34" charset="0"/>
              </a:rPr>
              <a:t>Description:</a:t>
            </a:r>
            <a:r>
              <a:rPr lang="en-GB" sz="2000" dirty="0">
                <a:latin typeface="Calibri" panose="020F0502020204030204" pitchFamily="34" charset="0"/>
                <a:cs typeface="Calibri" panose="020F0502020204030204" pitchFamily="34" charset="0"/>
              </a:rPr>
              <a:t> A histogram displays the distribution of a continuous variable by dividing the data into bins and displaying the frequency of observations in each bin.</a:t>
            </a:r>
          </a:p>
          <a:p>
            <a:r>
              <a:rPr lang="en-GB" sz="2000" b="1" dirty="0">
                <a:latin typeface="Calibri" panose="020F0502020204030204" pitchFamily="34" charset="0"/>
                <a:cs typeface="Calibri" panose="020F0502020204030204" pitchFamily="34" charset="0"/>
              </a:rPr>
              <a:t>Usage:</a:t>
            </a:r>
            <a:r>
              <a:rPr lang="en-GB" sz="2000" dirty="0">
                <a:latin typeface="Calibri" panose="020F0502020204030204" pitchFamily="34" charset="0"/>
                <a:cs typeface="Calibri" panose="020F0502020204030204" pitchFamily="34" charset="0"/>
              </a:rPr>
              <a:t> Histograms are used to visualize the central tendency, dispersion, and shape of the distribution of a single variable.</a:t>
            </a:r>
          </a:p>
          <a:p>
            <a:pPr marL="0" indent="0" eaLnBrk="0" fontAlgn="base" hangingPunct="0">
              <a:lnSpc>
                <a:spcPct val="150000"/>
              </a:lnSpc>
              <a:spcBef>
                <a:spcPct val="0"/>
              </a:spcBef>
              <a:spcAft>
                <a:spcPct val="0"/>
              </a:spcAft>
              <a:buNone/>
            </a:pPr>
            <a:endParaRPr kumimoji="0" lang="LID4096" altLang="LID4096"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r>
              <a:rPr lang="de-DE" sz="2000" dirty="0">
                <a:latin typeface="Consolas" panose="020B0609020204030204" pitchFamily="49" charset="0"/>
              </a:rPr>
              <a:t>import matplotlib.pyplot as plt </a:t>
            </a:r>
          </a:p>
          <a:p>
            <a:pPr marL="0" marR="0" indent="0">
              <a:lnSpc>
                <a:spcPct val="107000"/>
              </a:lnSpc>
              <a:spcBef>
                <a:spcPts val="0"/>
              </a:spcBef>
              <a:spcAft>
                <a:spcPts val="800"/>
              </a:spcAft>
              <a:buNone/>
            </a:pPr>
            <a:r>
              <a:rPr lang="de-DE" sz="2000" dirty="0">
                <a:latin typeface="Consolas" panose="020B0609020204030204" pitchFamily="49" charset="0"/>
              </a:rPr>
              <a:t># Plotting a histogram </a:t>
            </a:r>
          </a:p>
          <a:p>
            <a:pPr marL="0" marR="0" indent="0">
              <a:lnSpc>
                <a:spcPct val="107000"/>
              </a:lnSpc>
              <a:spcBef>
                <a:spcPts val="0"/>
              </a:spcBef>
              <a:spcAft>
                <a:spcPts val="800"/>
              </a:spcAft>
              <a:buNone/>
            </a:pPr>
            <a:r>
              <a:rPr lang="de-DE" sz="2000" dirty="0">
                <a:latin typeface="Consolas" panose="020B0609020204030204" pitchFamily="49" charset="0"/>
              </a:rPr>
              <a:t>plt.figure(figsize=(8, 6))</a:t>
            </a:r>
          </a:p>
          <a:p>
            <a:pPr marL="0" marR="0" indent="0">
              <a:lnSpc>
                <a:spcPct val="107000"/>
              </a:lnSpc>
              <a:spcBef>
                <a:spcPts val="0"/>
              </a:spcBef>
              <a:spcAft>
                <a:spcPts val="800"/>
              </a:spcAft>
              <a:buNone/>
            </a:pPr>
            <a:r>
              <a:rPr lang="de-DE" sz="2000" dirty="0">
                <a:latin typeface="Consolas" panose="020B0609020204030204" pitchFamily="49" charset="0"/>
              </a:rPr>
              <a:t>plt.hist(data['column_name'], bins=20, edgecolor='black‘)</a:t>
            </a:r>
          </a:p>
          <a:p>
            <a:pPr marL="0" marR="0" indent="0">
              <a:lnSpc>
                <a:spcPct val="107000"/>
              </a:lnSpc>
              <a:spcBef>
                <a:spcPts val="0"/>
              </a:spcBef>
              <a:spcAft>
                <a:spcPts val="800"/>
              </a:spcAft>
              <a:buNone/>
            </a:pPr>
            <a:r>
              <a:rPr lang="de-DE" sz="2000" dirty="0">
                <a:latin typeface="Consolas" panose="020B0609020204030204" pitchFamily="49" charset="0"/>
              </a:rPr>
              <a:t>plt.xlabel('Values‘) </a:t>
            </a:r>
          </a:p>
          <a:p>
            <a:pPr marL="0" marR="0" indent="0">
              <a:lnSpc>
                <a:spcPct val="107000"/>
              </a:lnSpc>
              <a:spcBef>
                <a:spcPts val="0"/>
              </a:spcBef>
              <a:spcAft>
                <a:spcPts val="800"/>
              </a:spcAft>
              <a:buNone/>
            </a:pPr>
            <a:r>
              <a:rPr lang="de-DE" sz="2000" dirty="0">
                <a:latin typeface="Consolas" panose="020B0609020204030204" pitchFamily="49" charset="0"/>
              </a:rPr>
              <a:t>plt.ylabel('Frequency‘)</a:t>
            </a:r>
          </a:p>
          <a:p>
            <a:pPr marL="0" marR="0" indent="0">
              <a:lnSpc>
                <a:spcPct val="107000"/>
              </a:lnSpc>
              <a:spcBef>
                <a:spcPts val="0"/>
              </a:spcBef>
              <a:spcAft>
                <a:spcPts val="800"/>
              </a:spcAft>
              <a:buNone/>
            </a:pPr>
            <a:r>
              <a:rPr lang="de-DE" sz="2000" dirty="0">
                <a:latin typeface="Consolas" panose="020B0609020204030204" pitchFamily="49" charset="0"/>
              </a:rPr>
              <a:t>plt.title('Histogram of Column‘) </a:t>
            </a:r>
          </a:p>
          <a:p>
            <a:pPr marL="0" marR="0" indent="0">
              <a:lnSpc>
                <a:spcPct val="107000"/>
              </a:lnSpc>
              <a:spcBef>
                <a:spcPts val="0"/>
              </a:spcBef>
              <a:spcAft>
                <a:spcPts val="800"/>
              </a:spcAft>
              <a:buNone/>
            </a:pPr>
            <a:r>
              <a:rPr lang="de-DE" sz="2000" dirty="0">
                <a:latin typeface="Consolas" panose="020B0609020204030204" pitchFamily="49" charset="0"/>
              </a:rPr>
              <a:t>plt.show()</a:t>
            </a:r>
            <a:endParaRPr lang="de-DE" sz="2000" kern="100" dirty="0">
              <a:effectLst/>
              <a:latin typeface="Consolas" panose="020B0609020204030204" pitchFamily="49" charset="0"/>
              <a:ea typeface="Aptos" panose="020B000402020202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955296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Visualizing Data</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t">
            <a:normAutofit/>
          </a:bodyPr>
          <a:lstStyle/>
          <a:p>
            <a:pPr marL="0" indent="0">
              <a:buNone/>
            </a:pPr>
            <a:r>
              <a:rPr lang="en-GB" sz="2000" b="1" dirty="0">
                <a:latin typeface="Calibri" panose="020F0502020204030204" pitchFamily="34" charset="0"/>
                <a:cs typeface="Calibri" panose="020F0502020204030204" pitchFamily="34" charset="0"/>
              </a:rPr>
              <a:t>Box Plot (Box-and-Whisker Plot)</a:t>
            </a:r>
          </a:p>
          <a:p>
            <a:pPr>
              <a:buFont typeface="Arial" panose="020B0604020202020204" pitchFamily="34" charset="0"/>
              <a:buChar char="•"/>
            </a:pPr>
            <a:r>
              <a:rPr lang="en-GB" sz="2000" b="1" dirty="0">
                <a:latin typeface="Calibri" panose="020F0502020204030204" pitchFamily="34" charset="0"/>
                <a:cs typeface="Calibri" panose="020F0502020204030204" pitchFamily="34" charset="0"/>
              </a:rPr>
              <a:t>Description:</a:t>
            </a:r>
            <a:r>
              <a:rPr lang="en-GB" sz="2000" dirty="0">
                <a:latin typeface="Calibri" panose="020F0502020204030204" pitchFamily="34" charset="0"/>
                <a:cs typeface="Calibri" panose="020F0502020204030204" pitchFamily="34" charset="0"/>
              </a:rPr>
              <a:t> A box plot displays the distribution of numerical data through quartiles. It shows the median, quartiles, and potential outliers using whiskers extending from the boxes.</a:t>
            </a:r>
          </a:p>
          <a:p>
            <a:pPr>
              <a:buFont typeface="Arial" panose="020B0604020202020204" pitchFamily="34" charset="0"/>
              <a:buChar char="•"/>
            </a:pPr>
            <a:r>
              <a:rPr lang="en-GB" sz="2000" b="1" dirty="0">
                <a:latin typeface="Calibri" panose="020F0502020204030204" pitchFamily="34" charset="0"/>
                <a:cs typeface="Calibri" panose="020F0502020204030204" pitchFamily="34" charset="0"/>
              </a:rPr>
              <a:t>Usage:</a:t>
            </a:r>
            <a:r>
              <a:rPr lang="en-GB" sz="2000" dirty="0">
                <a:latin typeface="Calibri" panose="020F0502020204030204" pitchFamily="34" charset="0"/>
                <a:cs typeface="Calibri" panose="020F0502020204030204" pitchFamily="34" charset="0"/>
              </a:rPr>
              <a:t> Box plots are used to visualize the spread and skewness of the data distribution, as well as to detect outliers.</a:t>
            </a:r>
          </a:p>
          <a:p>
            <a:pPr>
              <a:buFont typeface="Arial" panose="020B0604020202020204" pitchFamily="34" charset="0"/>
              <a:buChar char="•"/>
            </a:pPr>
            <a:endParaRPr lang="de-DE" sz="1400" dirty="0"/>
          </a:p>
          <a:p>
            <a:pPr marL="0" indent="0">
              <a:buNone/>
            </a:pPr>
            <a:r>
              <a:rPr lang="de-DE" sz="1800" dirty="0">
                <a:latin typeface="Consolas" panose="020B0609020204030204" pitchFamily="49" charset="0"/>
              </a:rPr>
              <a:t>import seaborn as sns </a:t>
            </a:r>
          </a:p>
          <a:p>
            <a:pPr marL="0" indent="0">
              <a:buNone/>
            </a:pPr>
            <a:r>
              <a:rPr lang="de-DE" sz="1800" dirty="0">
                <a:latin typeface="Consolas" panose="020B0609020204030204" pitchFamily="49" charset="0"/>
              </a:rPr>
              <a:t>sns.boxplot(x='column_name', data=data) </a:t>
            </a:r>
          </a:p>
          <a:p>
            <a:pPr marL="0" indent="0">
              <a:buNone/>
            </a:pPr>
            <a:r>
              <a:rPr lang="de-DE" sz="1800" dirty="0">
                <a:latin typeface="Consolas" panose="020B0609020204030204" pitchFamily="49" charset="0"/>
              </a:rPr>
              <a:t>plt.xlabel('Values‘) </a:t>
            </a:r>
          </a:p>
          <a:p>
            <a:pPr marL="0" indent="0">
              <a:buNone/>
            </a:pPr>
            <a:r>
              <a:rPr lang="de-DE" sz="1800" dirty="0">
                <a:latin typeface="Consolas" panose="020B0609020204030204" pitchFamily="49" charset="0"/>
              </a:rPr>
              <a:t>plt.title('Box Plot of Column‘)</a:t>
            </a:r>
          </a:p>
          <a:p>
            <a:pPr marL="0" indent="0">
              <a:buNone/>
            </a:pPr>
            <a:r>
              <a:rPr lang="en-GB" sz="1800">
                <a:latin typeface="Consolas" panose="020B0609020204030204" pitchFamily="49" charset="0"/>
                <a:cs typeface="Calibri" panose="020F0502020204030204" pitchFamily="34" charset="0"/>
              </a:rPr>
              <a:t>sns</a:t>
            </a:r>
            <a:r>
              <a:rPr lang="en-GB" sz="1800" dirty="0" err="1">
                <a:latin typeface="Consolas" panose="020B0609020204030204" pitchFamily="49" charset="0"/>
                <a:cs typeface="Calibri" panose="020F0502020204030204" pitchFamily="34" charset="0"/>
              </a:rPr>
              <a:t>.boxplot</a:t>
            </a:r>
            <a:r>
              <a:rPr lang="en-GB" sz="1800" dirty="0">
                <a:latin typeface="Consolas" panose="020B0609020204030204" pitchFamily="49" charset="0"/>
                <a:cs typeface="Calibri" panose="020F0502020204030204" pitchFamily="34" charset="0"/>
              </a:rPr>
              <a:t>(data=</a:t>
            </a:r>
            <a:r>
              <a:rPr lang="en-GB" sz="1800" dirty="0" err="1">
                <a:latin typeface="Consolas" panose="020B0609020204030204" pitchFamily="49" charset="0"/>
                <a:cs typeface="Calibri" panose="020F0502020204030204" pitchFamily="34" charset="0"/>
              </a:rPr>
              <a:t>df</a:t>
            </a:r>
            <a:r>
              <a:rPr lang="en-GB" sz="1800" dirty="0">
                <a:latin typeface="Consolas" panose="020B0609020204030204" pitchFamily="49" charset="0"/>
                <a:cs typeface="Calibri" panose="020F0502020204030204" pitchFamily="34" charset="0"/>
              </a:rPr>
              <a:t>[['</a:t>
            </a:r>
            <a:r>
              <a:rPr lang="en-GB" sz="1800" dirty="0" err="1">
                <a:latin typeface="Consolas" panose="020B0609020204030204" pitchFamily="49" charset="0"/>
                <a:cs typeface="Calibri" panose="020F0502020204030204" pitchFamily="34" charset="0"/>
              </a:rPr>
              <a:t>age','eval</a:t>
            </a:r>
            <a:r>
              <a:rPr lang="en-GB" sz="1800" dirty="0">
                <a:latin typeface="Consolas" panose="020B0609020204030204" pitchFamily="49" charset="0"/>
                <a:cs typeface="Calibri" panose="020F0502020204030204" pitchFamily="34" charset="0"/>
              </a:rPr>
              <a:t>’]]) # for multiple columns</a:t>
            </a: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572607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Visualizing Data</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t">
            <a:normAutofit/>
          </a:bodyPr>
          <a:lstStyle/>
          <a:p>
            <a:pPr marL="0" indent="0">
              <a:buNone/>
            </a:pPr>
            <a:r>
              <a:rPr lang="en-GB" sz="2000" b="1" dirty="0">
                <a:latin typeface="Calibri" panose="020F0502020204030204" pitchFamily="34" charset="0"/>
                <a:cs typeface="Calibri" panose="020F0502020204030204" pitchFamily="34" charset="0"/>
              </a:rPr>
              <a:t>Scatter Plot</a:t>
            </a:r>
          </a:p>
          <a:p>
            <a:r>
              <a:rPr lang="en-GB" sz="2000" b="1" dirty="0">
                <a:latin typeface="Calibri" panose="020F0502020204030204" pitchFamily="34" charset="0"/>
                <a:cs typeface="Calibri" panose="020F0502020204030204" pitchFamily="34" charset="0"/>
              </a:rPr>
              <a:t>Description: </a:t>
            </a:r>
            <a:r>
              <a:rPr lang="en-GB" sz="2000" dirty="0">
                <a:latin typeface="Calibri" panose="020F0502020204030204" pitchFamily="34" charset="0"/>
                <a:cs typeface="Calibri" panose="020F0502020204030204" pitchFamily="34" charset="0"/>
              </a:rPr>
              <a:t>A scatter plot displays the relationship between two numerical variables by plotting points on a Cartesian plane, where each point represents an observation.</a:t>
            </a:r>
          </a:p>
          <a:p>
            <a:r>
              <a:rPr lang="en-GB" sz="2000" b="1" dirty="0">
                <a:latin typeface="Calibri" panose="020F0502020204030204" pitchFamily="34" charset="0"/>
                <a:cs typeface="Calibri" panose="020F0502020204030204" pitchFamily="34" charset="0"/>
              </a:rPr>
              <a:t>Usage: </a:t>
            </a:r>
            <a:r>
              <a:rPr lang="en-GB" sz="2000" dirty="0">
                <a:latin typeface="Calibri" panose="020F0502020204030204" pitchFamily="34" charset="0"/>
                <a:cs typeface="Calibri" panose="020F0502020204030204" pitchFamily="34" charset="0"/>
              </a:rPr>
              <a:t>Scatter plots are used to identify relationships or correlations between variables and to detect patterns such as clusters or outliers. </a:t>
            </a:r>
          </a:p>
          <a:p>
            <a:pPr>
              <a:buFont typeface="Arial" panose="020B0604020202020204" pitchFamily="34" charset="0"/>
              <a:buChar char="•"/>
            </a:pPr>
            <a:endParaRPr lang="de-DE" sz="1400" dirty="0"/>
          </a:p>
          <a:p>
            <a:pPr marL="0" indent="0">
              <a:buNone/>
            </a:pPr>
            <a:r>
              <a:rPr lang="de-DE" sz="1800" dirty="0">
                <a:latin typeface="Consolas" panose="020B0609020204030204" pitchFamily="49" charset="0"/>
              </a:rPr>
              <a:t>import matplotlib.pyplot as plt</a:t>
            </a:r>
          </a:p>
          <a:p>
            <a:pPr marL="0" indent="0">
              <a:buNone/>
            </a:pPr>
            <a:r>
              <a:rPr lang="de-DE" sz="1800" dirty="0">
                <a:latin typeface="Consolas" panose="020B0609020204030204" pitchFamily="49" charset="0"/>
              </a:rPr>
              <a:t>plt.scatter(data['column1'], data['column2‘])</a:t>
            </a:r>
          </a:p>
          <a:p>
            <a:pPr marL="0" indent="0">
              <a:buNone/>
            </a:pPr>
            <a:r>
              <a:rPr lang="de-DE" sz="1800" dirty="0">
                <a:latin typeface="Consolas" panose="020B0609020204030204" pitchFamily="49" charset="0"/>
              </a:rPr>
              <a:t>plt.xlabel('X-axis label‘)</a:t>
            </a:r>
          </a:p>
          <a:p>
            <a:pPr marL="0" indent="0">
              <a:buNone/>
            </a:pPr>
            <a:r>
              <a:rPr lang="de-DE" sz="1800" dirty="0">
                <a:latin typeface="Consolas" panose="020B0609020204030204" pitchFamily="49" charset="0"/>
              </a:rPr>
              <a:t>plt.ylabel('Y-axis label‘)</a:t>
            </a:r>
          </a:p>
          <a:p>
            <a:pPr marL="0" indent="0">
              <a:buNone/>
            </a:pPr>
            <a:r>
              <a:rPr lang="de-DE" sz="1800" dirty="0">
                <a:latin typeface="Consolas" panose="020B0609020204030204" pitchFamily="49" charset="0"/>
              </a:rPr>
              <a:t>plt.title('Scatter Plot‘)</a:t>
            </a:r>
          </a:p>
          <a:p>
            <a:pPr marL="0" indent="0">
              <a:buNone/>
            </a:pPr>
            <a:r>
              <a:rPr lang="de-DE" sz="1800" dirty="0">
                <a:latin typeface="Consolas" panose="020B0609020204030204" pitchFamily="49" charset="0"/>
              </a:rPr>
              <a:t>plt.show()</a:t>
            </a:r>
            <a:endParaRPr lang="en-GB" sz="1800" dirty="0">
              <a:latin typeface="Consolas" panose="020B0609020204030204" pitchFamily="49" charset="0"/>
              <a:cs typeface="Calibri" panose="020F0502020204030204" pitchFamily="34"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008670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Visualizing Data</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t">
            <a:normAutofit/>
          </a:bodyPr>
          <a:lstStyle/>
          <a:p>
            <a:pPr marL="0" indent="0">
              <a:buNone/>
            </a:pPr>
            <a:r>
              <a:rPr lang="en-GB" sz="2000" b="1" dirty="0">
                <a:latin typeface="Calibri" panose="020F0502020204030204" pitchFamily="34" charset="0"/>
                <a:cs typeface="Calibri" panose="020F0502020204030204" pitchFamily="34" charset="0"/>
              </a:rPr>
              <a:t>Bar Plot</a:t>
            </a:r>
          </a:p>
          <a:p>
            <a:pPr>
              <a:buFont typeface="Arial" panose="020B0604020202020204" pitchFamily="34" charset="0"/>
              <a:buChar char="•"/>
            </a:pPr>
            <a:r>
              <a:rPr lang="en-GB" sz="2000" b="1" dirty="0">
                <a:latin typeface="Calibri" panose="020F0502020204030204" pitchFamily="34" charset="0"/>
                <a:cs typeface="Calibri" panose="020F0502020204030204" pitchFamily="34" charset="0"/>
              </a:rPr>
              <a:t>Description:</a:t>
            </a:r>
            <a:r>
              <a:rPr lang="en-GB" sz="2000" dirty="0">
                <a:latin typeface="Calibri" panose="020F0502020204030204" pitchFamily="34" charset="0"/>
                <a:cs typeface="Calibri" panose="020F0502020204030204" pitchFamily="34" charset="0"/>
              </a:rPr>
              <a:t> A bar plot displays categorical data with rectangular bars, where the length or height of each bar represents the frequency or count of each category.</a:t>
            </a:r>
          </a:p>
          <a:p>
            <a:pPr>
              <a:buFont typeface="Arial" panose="020B0604020202020204" pitchFamily="34" charset="0"/>
              <a:buChar char="•"/>
            </a:pPr>
            <a:r>
              <a:rPr lang="en-GB" sz="2000" b="1" dirty="0">
                <a:latin typeface="Calibri" panose="020F0502020204030204" pitchFamily="34" charset="0"/>
                <a:cs typeface="Calibri" panose="020F0502020204030204" pitchFamily="34" charset="0"/>
              </a:rPr>
              <a:t>Usage:</a:t>
            </a:r>
            <a:r>
              <a:rPr lang="en-GB" sz="2000" dirty="0">
                <a:latin typeface="Calibri" panose="020F0502020204030204" pitchFamily="34" charset="0"/>
                <a:cs typeface="Calibri" panose="020F0502020204030204" pitchFamily="34" charset="0"/>
              </a:rPr>
              <a:t> Bar plots are used to compare categorical variables or to show the distribution of data across categories.</a:t>
            </a:r>
          </a:p>
          <a:p>
            <a:pPr marL="0" indent="0">
              <a:buNone/>
            </a:pPr>
            <a:endParaRPr lang="de-DE" sz="1200" dirty="0"/>
          </a:p>
          <a:p>
            <a:pPr marL="0" indent="0">
              <a:buNone/>
            </a:pPr>
            <a:r>
              <a:rPr lang="en-GB" sz="1800" dirty="0">
                <a:latin typeface="Consolas" panose="020B0609020204030204" pitchFamily="49" charset="0"/>
              </a:rPr>
              <a:t>gender=</a:t>
            </a:r>
            <a:r>
              <a:rPr lang="en-GB" sz="1800" dirty="0" err="1">
                <a:latin typeface="Consolas" panose="020B0609020204030204" pitchFamily="49" charset="0"/>
              </a:rPr>
              <a:t>df</a:t>
            </a:r>
            <a:r>
              <a:rPr lang="en-GB" sz="1800" dirty="0">
                <a:latin typeface="Consolas" panose="020B0609020204030204" pitchFamily="49" charset="0"/>
              </a:rPr>
              <a:t>['age'].</a:t>
            </a:r>
            <a:r>
              <a:rPr lang="en-GB" sz="1800" dirty="0" err="1">
                <a:latin typeface="Consolas" panose="020B0609020204030204" pitchFamily="49" charset="0"/>
              </a:rPr>
              <a:t>value_counts</a:t>
            </a:r>
            <a:r>
              <a:rPr lang="en-GB" sz="1800" dirty="0">
                <a:latin typeface="Consolas" panose="020B0609020204030204" pitchFamily="49" charset="0"/>
              </a:rPr>
              <a:t>()</a:t>
            </a:r>
          </a:p>
          <a:p>
            <a:pPr marL="0" indent="0">
              <a:buNone/>
            </a:pPr>
            <a:r>
              <a:rPr lang="en-GB" sz="1800" dirty="0" err="1">
                <a:latin typeface="Consolas" panose="020B0609020204030204" pitchFamily="49" charset="0"/>
              </a:rPr>
              <a:t>plt.figure</a:t>
            </a:r>
            <a:r>
              <a:rPr lang="en-GB" sz="1800" dirty="0">
                <a:latin typeface="Consolas" panose="020B0609020204030204" pitchFamily="49" charset="0"/>
              </a:rPr>
              <a:t>(</a:t>
            </a:r>
            <a:r>
              <a:rPr lang="en-GB" sz="1800" dirty="0" err="1">
                <a:latin typeface="Consolas" panose="020B0609020204030204" pitchFamily="49" charset="0"/>
              </a:rPr>
              <a:t>figsize</a:t>
            </a:r>
            <a:r>
              <a:rPr lang="en-GB" sz="1800" dirty="0">
                <a:latin typeface="Consolas" panose="020B0609020204030204" pitchFamily="49" charset="0"/>
              </a:rPr>
              <a:t>=(4,4))</a:t>
            </a:r>
          </a:p>
          <a:p>
            <a:pPr marL="0" indent="0">
              <a:buNone/>
            </a:pPr>
            <a:r>
              <a:rPr lang="en-GB" sz="1800" dirty="0" err="1">
                <a:latin typeface="Consolas" panose="020B0609020204030204" pitchFamily="49" charset="0"/>
              </a:rPr>
              <a:t>gender.plot</a:t>
            </a:r>
            <a:r>
              <a:rPr lang="en-GB" sz="1800" dirty="0">
                <a:latin typeface="Consolas" panose="020B0609020204030204" pitchFamily="49" charset="0"/>
              </a:rPr>
              <a:t>(kind='bar', </a:t>
            </a:r>
            <a:r>
              <a:rPr lang="en-GB" sz="1800" dirty="0" err="1">
                <a:latin typeface="Consolas" panose="020B0609020204030204" pitchFamily="49" charset="0"/>
              </a:rPr>
              <a:t>color</a:t>
            </a:r>
            <a:r>
              <a:rPr lang="en-GB" sz="1800" dirty="0">
                <a:latin typeface="Consolas" panose="020B0609020204030204" pitchFamily="49" charset="0"/>
              </a:rPr>
              <a:t>='red')</a:t>
            </a:r>
          </a:p>
          <a:p>
            <a:pPr marL="0" indent="0">
              <a:buNone/>
            </a:pPr>
            <a:r>
              <a:rPr lang="en-GB" sz="1800" dirty="0" err="1">
                <a:latin typeface="Consolas" panose="020B0609020204030204" pitchFamily="49" charset="0"/>
              </a:rPr>
              <a:t>plt.xlabel</a:t>
            </a:r>
            <a:r>
              <a:rPr lang="en-GB" sz="1800" dirty="0">
                <a:latin typeface="Consolas" panose="020B0609020204030204" pitchFamily="49" charset="0"/>
              </a:rPr>
              <a:t>('Age')</a:t>
            </a:r>
          </a:p>
          <a:p>
            <a:pPr marL="0" indent="0">
              <a:buNone/>
            </a:pPr>
            <a:r>
              <a:rPr lang="en-GB" sz="1800" dirty="0" err="1">
                <a:latin typeface="Consolas" panose="020B0609020204030204" pitchFamily="49" charset="0"/>
              </a:rPr>
              <a:t>plt.ylabel</a:t>
            </a:r>
            <a:r>
              <a:rPr lang="en-GB" sz="1800" dirty="0">
                <a:latin typeface="Consolas" panose="020B0609020204030204" pitchFamily="49" charset="0"/>
              </a:rPr>
              <a:t>('Frequency')</a:t>
            </a:r>
          </a:p>
          <a:p>
            <a:pPr marL="0" indent="0">
              <a:buNone/>
            </a:pPr>
            <a:r>
              <a:rPr lang="en-GB" sz="1800" dirty="0" err="1">
                <a:latin typeface="Consolas" panose="020B0609020204030204" pitchFamily="49" charset="0"/>
              </a:rPr>
              <a:t>plt.title</a:t>
            </a:r>
            <a:r>
              <a:rPr lang="en-GB" sz="1800" dirty="0">
                <a:latin typeface="Consolas" panose="020B0609020204030204" pitchFamily="49" charset="0"/>
              </a:rPr>
              <a:t>('Age Distribution')</a:t>
            </a:r>
            <a:endParaRPr lang="en-GB" sz="1800" dirty="0">
              <a:latin typeface="Consolas" panose="020B0609020204030204" pitchFamily="49" charset="0"/>
              <a:cs typeface="Calibri" panose="020F0502020204030204" pitchFamily="34"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067693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Visualizing Data</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t">
            <a:normAutofit/>
          </a:bodyPr>
          <a:lstStyle/>
          <a:p>
            <a:pPr marL="0" indent="0">
              <a:buNone/>
            </a:pPr>
            <a:r>
              <a:rPr lang="en-GB" sz="2000" b="1" dirty="0">
                <a:latin typeface="Calibri" panose="020F0502020204030204" pitchFamily="34" charset="0"/>
                <a:cs typeface="Calibri" panose="020F0502020204030204" pitchFamily="34" charset="0"/>
              </a:rPr>
              <a:t>Line Plot</a:t>
            </a:r>
          </a:p>
          <a:p>
            <a:pPr>
              <a:buFont typeface="Arial" panose="020B0604020202020204" pitchFamily="34" charset="0"/>
              <a:buChar char="•"/>
            </a:pPr>
            <a:r>
              <a:rPr lang="en-GB" sz="2000" b="1" dirty="0">
                <a:latin typeface="Calibri" panose="020F0502020204030204" pitchFamily="34" charset="0"/>
                <a:cs typeface="Calibri" panose="020F0502020204030204" pitchFamily="34" charset="0"/>
              </a:rPr>
              <a:t>Description:</a:t>
            </a:r>
            <a:r>
              <a:rPr lang="en-GB" sz="2000" dirty="0">
                <a:latin typeface="Calibri" panose="020F0502020204030204" pitchFamily="34" charset="0"/>
                <a:cs typeface="Calibri" panose="020F0502020204030204" pitchFamily="34" charset="0"/>
              </a:rPr>
              <a:t> A line plot displays data points connected by straight line segments. It is typically used to visualize trends or changes over time.</a:t>
            </a:r>
          </a:p>
          <a:p>
            <a:pPr>
              <a:buFont typeface="Arial" panose="020B0604020202020204" pitchFamily="34" charset="0"/>
              <a:buChar char="•"/>
            </a:pPr>
            <a:r>
              <a:rPr lang="en-GB" sz="2000" b="1" dirty="0">
                <a:latin typeface="Calibri" panose="020F0502020204030204" pitchFamily="34" charset="0"/>
                <a:cs typeface="Calibri" panose="020F0502020204030204" pitchFamily="34" charset="0"/>
              </a:rPr>
              <a:t>Usage:</a:t>
            </a:r>
            <a:r>
              <a:rPr lang="en-GB" sz="2000" dirty="0">
                <a:latin typeface="Calibri" panose="020F0502020204030204" pitchFamily="34" charset="0"/>
                <a:cs typeface="Calibri" panose="020F0502020204030204" pitchFamily="34" charset="0"/>
              </a:rPr>
              <a:t> Line plots are useful for showing the relationship and trends in data points ordered by x-axis.</a:t>
            </a:r>
          </a:p>
          <a:p>
            <a:pPr marL="0" indent="0">
              <a:buNone/>
            </a:pPr>
            <a:endParaRPr lang="de-DE" sz="1200" dirty="0"/>
          </a:p>
          <a:p>
            <a:pPr marL="0" indent="0">
              <a:buNone/>
            </a:pPr>
            <a:r>
              <a:rPr lang="de-DE" sz="1800" dirty="0">
                <a:latin typeface="Consolas" panose="020B0609020204030204" pitchFamily="49" charset="0"/>
              </a:rPr>
              <a:t>import matplotlib.pyplot as plt</a:t>
            </a:r>
          </a:p>
          <a:p>
            <a:pPr marL="0" indent="0">
              <a:buNone/>
            </a:pPr>
            <a:r>
              <a:rPr lang="de-DE" sz="1800" dirty="0">
                <a:latin typeface="Consolas" panose="020B0609020204030204" pitchFamily="49" charset="0"/>
              </a:rPr>
              <a:t>df2=df.groupby('age')[['eval','beauty']].mean().reset_index()</a:t>
            </a:r>
          </a:p>
          <a:p>
            <a:pPr marL="0" indent="0">
              <a:buNone/>
            </a:pPr>
            <a:r>
              <a:rPr lang="de-DE" sz="1800" dirty="0">
                <a:latin typeface="Consolas" panose="020B0609020204030204" pitchFamily="49" charset="0"/>
              </a:rPr>
              <a:t>df2</a:t>
            </a:r>
          </a:p>
          <a:p>
            <a:pPr marL="0" indent="0">
              <a:buNone/>
            </a:pPr>
            <a:r>
              <a:rPr lang="de-DE" sz="1800" dirty="0">
                <a:latin typeface="Consolas" panose="020B0609020204030204" pitchFamily="49" charset="0"/>
              </a:rPr>
              <a:t>plt.plot(df2['age'], df2['eval'])</a:t>
            </a:r>
            <a:endParaRPr lang="en-GB" sz="1800" dirty="0">
              <a:latin typeface="Consolas" panose="020B0609020204030204" pitchFamily="49" charset="0"/>
              <a:cs typeface="Calibri" panose="020F0502020204030204" pitchFamily="34"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11370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CB06ED5-0B35-BA0E-127C-DAC725EE3E71}"/>
              </a:ext>
            </a:extLst>
          </p:cNvPr>
          <p:cNvSpPr>
            <a:spLocks noGrp="1"/>
          </p:cNvSpPr>
          <p:nvPr>
            <p:ph type="title"/>
          </p:nvPr>
        </p:nvSpPr>
        <p:spPr>
          <a:xfrm>
            <a:off x="1178848" y="248083"/>
            <a:ext cx="9849751" cy="1349671"/>
          </a:xfrm>
        </p:spPr>
        <p:txBody>
          <a:bodyPr anchor="b">
            <a:normAutofit/>
          </a:bodyPr>
          <a:lstStyle/>
          <a:p>
            <a:r>
              <a:rPr lang="en-GB" sz="5400" dirty="0"/>
              <a:t>Visualizing Data</a:t>
            </a:r>
            <a:endParaRPr lang="LID4096" sz="5400" dirty="0"/>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289304" y="1597754"/>
            <a:ext cx="9849751" cy="4337327"/>
          </a:xfrm>
        </p:spPr>
        <p:txBody>
          <a:bodyPr anchor="t">
            <a:normAutofit fontScale="92500" lnSpcReduction="20000"/>
          </a:bodyPr>
          <a:lstStyle/>
          <a:p>
            <a:pPr marL="0" indent="0">
              <a:buNone/>
            </a:pPr>
            <a:r>
              <a:rPr lang="en-GB" sz="2000" b="1" dirty="0">
                <a:latin typeface="Calibri" panose="020F0502020204030204" pitchFamily="34" charset="0"/>
                <a:cs typeface="Calibri" panose="020F0502020204030204" pitchFamily="34" charset="0"/>
              </a:rPr>
              <a:t>Heatmap</a:t>
            </a:r>
          </a:p>
          <a:p>
            <a:pPr>
              <a:buFont typeface="Arial" panose="020B0604020202020204" pitchFamily="34" charset="0"/>
              <a:buChar char="•"/>
            </a:pPr>
            <a:r>
              <a:rPr lang="en-GB" sz="2000" b="1" dirty="0">
                <a:latin typeface="Calibri" panose="020F0502020204030204" pitchFamily="34" charset="0"/>
                <a:cs typeface="Calibri" panose="020F0502020204030204" pitchFamily="34" charset="0"/>
              </a:rPr>
              <a:t>Description:</a:t>
            </a:r>
            <a:r>
              <a:rPr lang="en-GB" sz="2000" dirty="0">
                <a:latin typeface="Calibri" panose="020F0502020204030204" pitchFamily="34" charset="0"/>
                <a:cs typeface="Calibri" panose="020F0502020204030204" pitchFamily="34" charset="0"/>
              </a:rPr>
              <a:t> A heatmap is a graphical representation of data where values are depicted by color. It is often used to visualize correlations or matrix-like data.</a:t>
            </a:r>
          </a:p>
          <a:p>
            <a:pPr>
              <a:buFont typeface="Arial" panose="020B0604020202020204" pitchFamily="34" charset="0"/>
              <a:buChar char="•"/>
            </a:pPr>
            <a:r>
              <a:rPr lang="en-GB" sz="2000" b="1" dirty="0">
                <a:latin typeface="Calibri" panose="020F0502020204030204" pitchFamily="34" charset="0"/>
                <a:cs typeface="Calibri" panose="020F0502020204030204" pitchFamily="34" charset="0"/>
              </a:rPr>
              <a:t>Usage:</a:t>
            </a:r>
            <a:r>
              <a:rPr lang="en-GB" sz="2000" dirty="0">
                <a:latin typeface="Calibri" panose="020F0502020204030204" pitchFamily="34" charset="0"/>
                <a:cs typeface="Calibri" panose="020F0502020204030204" pitchFamily="34" charset="0"/>
              </a:rPr>
              <a:t> Heatmaps are useful for identifying patterns and relationships in large datasets, especially when dealing with correlation matrices</a:t>
            </a:r>
            <a:r>
              <a:rPr lang="en-GB" sz="1400" dirty="0"/>
              <a:t>.</a:t>
            </a:r>
          </a:p>
          <a:p>
            <a:pPr marL="0" indent="0">
              <a:buNone/>
            </a:pPr>
            <a:endParaRPr lang="de-DE" sz="1200" dirty="0"/>
          </a:p>
          <a:p>
            <a:pPr marL="0" indent="0">
              <a:buNone/>
            </a:pPr>
            <a:r>
              <a:rPr lang="de-DE" sz="1800" dirty="0">
                <a:latin typeface="Consolas" panose="020B0609020204030204" pitchFamily="49" charset="0"/>
              </a:rPr>
              <a:t>df=pd.read_csv('teachingratings.csv')</a:t>
            </a:r>
          </a:p>
          <a:p>
            <a:pPr marL="0" indent="0">
              <a:buNone/>
            </a:pPr>
            <a:r>
              <a:rPr lang="de-DE" sz="1800" dirty="0">
                <a:latin typeface="Consolas" panose="020B0609020204030204" pitchFamily="49" charset="0"/>
              </a:rPr>
              <a:t>heatmap_data = pd.crosstab(df['age'], df['eval'])</a:t>
            </a:r>
          </a:p>
          <a:p>
            <a:pPr marL="0" indent="0">
              <a:buNone/>
            </a:pPr>
            <a:r>
              <a:rPr lang="de-DE" sz="1800" dirty="0">
                <a:latin typeface="Consolas" panose="020B0609020204030204" pitchFamily="49" charset="0"/>
              </a:rPr>
              <a:t>plt.figure(figsize=(10, 6))</a:t>
            </a:r>
          </a:p>
          <a:p>
            <a:pPr marL="0" indent="0">
              <a:buNone/>
            </a:pPr>
            <a:r>
              <a:rPr lang="de-DE" sz="1800" dirty="0">
                <a:latin typeface="Consolas" panose="020B0609020204030204" pitchFamily="49" charset="0"/>
              </a:rPr>
              <a:t>sns.heatmap(heatmap_data, annot=True, cmap=‚coolwarm')</a:t>
            </a:r>
          </a:p>
          <a:p>
            <a:pPr marL="0" indent="0">
              <a:buNone/>
            </a:pPr>
            <a:r>
              <a:rPr lang="de-DE" sz="1800" dirty="0">
                <a:latin typeface="Consolas" panose="020B0609020204030204" pitchFamily="49" charset="0"/>
              </a:rPr>
              <a:t>plt.title('Heatmap of Age vs Evaluation Score')</a:t>
            </a:r>
          </a:p>
          <a:p>
            <a:pPr marL="0" indent="0">
              <a:buNone/>
            </a:pPr>
            <a:r>
              <a:rPr lang="de-DE" sz="1800" dirty="0">
                <a:latin typeface="Consolas" panose="020B0609020204030204" pitchFamily="49" charset="0"/>
              </a:rPr>
              <a:t>plt.xlabel('Evaluation Score')</a:t>
            </a:r>
          </a:p>
          <a:p>
            <a:pPr marL="0" indent="0">
              <a:buNone/>
            </a:pPr>
            <a:r>
              <a:rPr lang="de-DE" sz="1800" dirty="0">
                <a:latin typeface="Consolas" panose="020B0609020204030204" pitchFamily="49" charset="0"/>
              </a:rPr>
              <a:t>plt.ylabel('Age')</a:t>
            </a:r>
          </a:p>
          <a:p>
            <a:pPr marL="0" indent="0">
              <a:buNone/>
            </a:pPr>
            <a:r>
              <a:rPr lang="de-DE" sz="1800" dirty="0">
                <a:latin typeface="Consolas" panose="020B0609020204030204" pitchFamily="49" charset="0"/>
              </a:rPr>
              <a:t>plt.show()</a:t>
            </a:r>
            <a:endParaRPr lang="en-GB" sz="1800" dirty="0">
              <a:latin typeface="Consolas" panose="020B0609020204030204" pitchFamily="49" charset="0"/>
              <a:cs typeface="Calibri" panose="020F0502020204030204" pitchFamily="34"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375045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9" name="Rectangle 2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Content Placeholder 6">
            <a:extLst>
              <a:ext uri="{FF2B5EF4-FFF2-40B4-BE49-F238E27FC236}">
                <a16:creationId xmlns:a16="http://schemas.microsoft.com/office/drawing/2014/main" id="{FF158863-4BAF-F436-D2DE-7E5934A3AB7B}"/>
              </a:ext>
            </a:extLst>
          </p:cNvPr>
          <p:cNvSpPr>
            <a:spLocks noGrp="1"/>
          </p:cNvSpPr>
          <p:nvPr>
            <p:ph idx="1"/>
          </p:nvPr>
        </p:nvSpPr>
        <p:spPr>
          <a:xfrm>
            <a:off x="1106599" y="635848"/>
            <a:ext cx="9849751" cy="4337327"/>
          </a:xfrm>
        </p:spPr>
        <p:txBody>
          <a:bodyPr anchor="ctr">
            <a:normAutofit/>
          </a:bodyPr>
          <a:lstStyle/>
          <a:p>
            <a:pPr marL="0" indent="0" algn="ctr">
              <a:buNone/>
            </a:pPr>
            <a:r>
              <a:rPr lang="en-GB" sz="4000" b="1" dirty="0">
                <a:latin typeface="Calibri" panose="020F0502020204030204" pitchFamily="34" charset="0"/>
                <a:cs typeface="Calibri" panose="020F0502020204030204" pitchFamily="34" charset="0"/>
              </a:rPr>
              <a:t>The End</a:t>
            </a:r>
            <a:endParaRPr lang="en-GB" sz="4000" dirty="0">
              <a:latin typeface="Consolas" panose="020B0609020204030204" pitchFamily="49" charset="0"/>
              <a:cs typeface="Calibri" panose="020F0502020204030204" pitchFamily="34" charset="0"/>
            </a:endParaRPr>
          </a:p>
        </p:txBody>
      </p:sp>
      <p:sp>
        <p:nvSpPr>
          <p:cNvPr id="3" name="Footer Placeholder 2">
            <a:extLst>
              <a:ext uri="{FF2B5EF4-FFF2-40B4-BE49-F238E27FC236}">
                <a16:creationId xmlns:a16="http://schemas.microsoft.com/office/drawing/2014/main" id="{938C77D0-65CA-A2E8-8177-61ED39CFCFB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Department of Computer Science, COMSATS University Islamabad</a:t>
            </a:r>
            <a:endParaRPr kumimoji="0" lang="LID4096"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745580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4694</TotalTime>
  <Words>4210</Words>
  <Application>Microsoft Office PowerPoint</Application>
  <PresentationFormat>Widescreen</PresentationFormat>
  <Paragraphs>489</Paragraphs>
  <Slides>46</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46</vt:i4>
      </vt:variant>
    </vt:vector>
  </HeadingPairs>
  <TitlesOfParts>
    <vt:vector size="58" baseType="lpstr">
      <vt:lpstr>AdvOT260e5629</vt:lpstr>
      <vt:lpstr>Aptos</vt:lpstr>
      <vt:lpstr>Aptos Display</vt:lpstr>
      <vt:lpstr>Arial</vt:lpstr>
      <vt:lpstr>Calibri</vt:lpstr>
      <vt:lpstr>Consolas</vt:lpstr>
      <vt:lpstr>Courier New</vt:lpstr>
      <vt:lpstr>Symbol</vt:lpstr>
      <vt:lpstr>Verdana</vt:lpstr>
      <vt:lpstr>Wingdings</vt:lpstr>
      <vt:lpstr>Office Theme</vt:lpstr>
      <vt:lpstr>1_Office Theme</vt:lpstr>
      <vt:lpstr>Exploratory Data Analysis</vt:lpstr>
      <vt:lpstr>Data Exploration</vt:lpstr>
      <vt:lpstr>Data Exploration ...</vt:lpstr>
      <vt:lpstr>Data Exploration ...</vt:lpstr>
      <vt:lpstr>Data Exploration ...</vt:lpstr>
      <vt:lpstr>Data Exploration ...</vt:lpstr>
      <vt:lpstr>Data Exploration ...</vt:lpstr>
      <vt:lpstr>Data Exploration ...</vt:lpstr>
      <vt:lpstr>Example: EDA on Iris Dataset </vt:lpstr>
      <vt:lpstr>Python Libraries for Data Analysis</vt:lpstr>
      <vt:lpstr>Python Libraries for Data Analysis</vt:lpstr>
      <vt:lpstr>Python Libraries for Data Analysis</vt:lpstr>
      <vt:lpstr>Python Libraries for Data Analysis</vt:lpstr>
      <vt:lpstr>Python Libraries for Data Analysis</vt:lpstr>
      <vt:lpstr>Python Libraries for Data Analysis</vt:lpstr>
      <vt:lpstr>Core components of pandas:  Series &amp; DataFrames</vt:lpstr>
      <vt:lpstr>Creating a DataFrame from scratch</vt:lpstr>
      <vt:lpstr>Reading data using pandas</vt:lpstr>
      <vt:lpstr>Exploring data frames</vt:lpstr>
      <vt:lpstr>Data Frame data types</vt:lpstr>
      <vt:lpstr>Data Frames attributes</vt:lpstr>
      <vt:lpstr>Data Frames methods</vt:lpstr>
      <vt:lpstr>Cleaning Data with Pandas</vt:lpstr>
      <vt:lpstr>Cleaning Data with Pandas</vt:lpstr>
      <vt:lpstr>Cleaning Data with Pandas</vt:lpstr>
      <vt:lpstr>Outlier Detection</vt:lpstr>
      <vt:lpstr>Outlier Detection…</vt:lpstr>
      <vt:lpstr>Data Selection in Pandas</vt:lpstr>
      <vt:lpstr>Data Selection in Pandas</vt:lpstr>
      <vt:lpstr>Data Selection in Pandas</vt:lpstr>
      <vt:lpstr>Data Selection in Pandas</vt:lpstr>
      <vt:lpstr>Data Selection in Pandas</vt:lpstr>
      <vt:lpstr>Data Selection in Pandas</vt:lpstr>
      <vt:lpstr>Data Selection in Pandas</vt:lpstr>
      <vt:lpstr>Data Selection in Pandas</vt:lpstr>
      <vt:lpstr>Data Selection in Pandas</vt:lpstr>
      <vt:lpstr>Descriptive Statistics</vt:lpstr>
      <vt:lpstr>Descriptive Statistics</vt:lpstr>
      <vt:lpstr>Groupby and Agg</vt:lpstr>
      <vt:lpstr>Visualizing Data</vt:lpstr>
      <vt:lpstr>Visualizing Data</vt:lpstr>
      <vt:lpstr>Visualizing Data</vt:lpstr>
      <vt:lpstr>Visualizing Data</vt:lpstr>
      <vt:lpstr>Visualizing Data</vt:lpstr>
      <vt:lpstr>Visualizing Data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Basharat Mahmood</dc:creator>
  <cp:lastModifiedBy>Basharat Mahmood</cp:lastModifiedBy>
  <cp:revision>105</cp:revision>
  <dcterms:created xsi:type="dcterms:W3CDTF">2024-07-10T04:37:55Z</dcterms:created>
  <dcterms:modified xsi:type="dcterms:W3CDTF">2025-02-27T03:25:59Z</dcterms:modified>
</cp:coreProperties>
</file>