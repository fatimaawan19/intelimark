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4"/>
  </p:notesMasterIdLst>
  <p:sldIdLst>
    <p:sldId id="306" r:id="rId2"/>
    <p:sldId id="339" r:id="rId3"/>
    <p:sldId id="321" r:id="rId4"/>
    <p:sldId id="322" r:id="rId5"/>
    <p:sldId id="323" r:id="rId6"/>
    <p:sldId id="324" r:id="rId7"/>
    <p:sldId id="325" r:id="rId8"/>
    <p:sldId id="326" r:id="rId9"/>
    <p:sldId id="327" r:id="rId10"/>
    <p:sldId id="328" r:id="rId11"/>
    <p:sldId id="329" r:id="rId12"/>
    <p:sldId id="330" r:id="rId13"/>
  </p:sldIdLst>
  <p:sldSz cx="12192000" cy="6858000"/>
  <p:notesSz cx="7102475" cy="10234613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DF48"/>
    <a:srgbClr val="009999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/>
    <p:restoredTop sz="94712"/>
  </p:normalViewPr>
  <p:slideViewPr>
    <p:cSldViewPr>
      <p:cViewPr varScale="1">
        <p:scale>
          <a:sx n="81" d="100"/>
          <a:sy n="81" d="100"/>
        </p:scale>
        <p:origin x="72" y="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8163" cy="511175"/>
          </a:xfrm>
          <a:prstGeom prst="rect">
            <a:avLst/>
          </a:prstGeom>
          <a:noFill/>
          <a:ln>
            <a:noFill/>
          </a:ln>
        </p:spPr>
        <p:txBody>
          <a:bodyPr vert="horz" wrap="square" lIns="99066" tIns="49533" rIns="99066" bIns="49533" numCol="1" anchor="t" anchorCtr="0" compatLnSpc="1">
            <a:prstTxWarp prst="textNoShape">
              <a:avLst/>
            </a:prstTxWarp>
          </a:bodyPr>
          <a:lstStyle>
            <a:lvl1pPr defTabSz="990600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8163" cy="511175"/>
          </a:xfrm>
          <a:prstGeom prst="rect">
            <a:avLst/>
          </a:prstGeom>
          <a:noFill/>
          <a:ln>
            <a:noFill/>
          </a:ln>
        </p:spPr>
        <p:txBody>
          <a:bodyPr vert="horz" wrap="square" lIns="99066" tIns="49533" rIns="99066" bIns="49533" numCol="1" anchor="t" anchorCtr="0" compatLnSpc="1">
            <a:prstTxWarp prst="textNoShape">
              <a:avLst/>
            </a:prstTxWarp>
          </a:bodyPr>
          <a:lstStyle>
            <a:lvl1pPr algn="r" defTabSz="990600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41288" y="768350"/>
            <a:ext cx="68199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3250" cy="4605338"/>
          </a:xfrm>
          <a:prstGeom prst="rect">
            <a:avLst/>
          </a:prstGeom>
          <a:noFill/>
          <a:ln>
            <a:noFill/>
          </a:ln>
        </p:spPr>
        <p:txBody>
          <a:bodyPr vert="horz" wrap="square" lIns="99066" tIns="49533" rIns="99066" bIns="4953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68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8163" cy="511175"/>
          </a:xfrm>
          <a:prstGeom prst="rect">
            <a:avLst/>
          </a:prstGeom>
          <a:noFill/>
          <a:ln>
            <a:noFill/>
          </a:ln>
        </p:spPr>
        <p:txBody>
          <a:bodyPr vert="horz" wrap="square" lIns="99066" tIns="49533" rIns="99066" bIns="49533" numCol="1" anchor="b" anchorCtr="0" compatLnSpc="1">
            <a:prstTxWarp prst="textNoShape">
              <a:avLst/>
            </a:prstTxWarp>
          </a:bodyPr>
          <a:lstStyle>
            <a:lvl1pPr defTabSz="990600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68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1850"/>
            <a:ext cx="3078163" cy="511175"/>
          </a:xfrm>
          <a:prstGeom prst="rect">
            <a:avLst/>
          </a:prstGeom>
          <a:noFill/>
          <a:ln>
            <a:noFill/>
          </a:ln>
        </p:spPr>
        <p:txBody>
          <a:bodyPr vert="horz" wrap="square" lIns="99066" tIns="49533" rIns="99066" bIns="49533" numCol="1" anchor="b" anchorCtr="0" compatLnSpc="1">
            <a:prstTxWarp prst="textNoShape">
              <a:avLst/>
            </a:prstTxWarp>
          </a:bodyPr>
          <a:lstStyle>
            <a:lvl1pPr algn="r" defTabSz="990600" eaLnBrk="1" hangingPunct="1">
              <a:defRPr sz="1300"/>
            </a:lvl1pPr>
          </a:lstStyle>
          <a:p>
            <a:fld id="{A5CE024D-A8F9-4859-8A63-46A05E0654C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736363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3DE78C3-304B-4BBA-8DEF-13EC86C019B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84747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2B3838-5DA3-401E-993B-20BED99F7C5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85739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434424D-0358-4C61-8E8C-A95F7A119A4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01767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EC9108A-7B98-4A28-953D-0E845859884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63131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F3530B-9530-4BC7-BFA9-5C4AD0EF12E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5916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317488-5CC3-423A-993A-C3A7E9093B9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832935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0D8F85-790C-468F-8B10-34236115ADD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560399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754407-4C60-420B-861D-9C2A10BC975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9139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66DC00-4530-4866-AF8B-EEB46A606C6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70201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3CDAAA-C42A-4612-8078-26F10139841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57524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6036AC4-FF49-43B4-AB4D-81CE0981BF1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89365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fld id="{132D1672-A002-4114-9637-30308C12409F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ftr="0" dt="0"/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3.bin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 noChangeArrowheads="1"/>
          </p:cNvSpPr>
          <p:nvPr>
            <p:ph type="ctrTitle"/>
          </p:nvPr>
        </p:nvSpPr>
        <p:spPr>
          <a:xfrm>
            <a:off x="2857500" y="2592388"/>
            <a:ext cx="6477000" cy="990600"/>
          </a:xfrm>
        </p:spPr>
        <p:txBody>
          <a:bodyPr/>
          <a:lstStyle/>
          <a:p>
            <a:r>
              <a:rPr lang="en-US" altLang="en-US" sz="3200" dirty="0"/>
              <a:t>Repetition Statements (loops)</a:t>
            </a:r>
            <a:br>
              <a:rPr lang="en-US" altLang="en-US" dirty="0"/>
            </a:br>
            <a:r>
              <a:rPr lang="en-US" altLang="en-US" sz="2400" dirty="0"/>
              <a:t>Lecture 11</a:t>
            </a:r>
            <a:endParaRPr lang="en-US" altLang="en-US" dirty="0"/>
          </a:p>
        </p:txBody>
      </p:sp>
      <p:sp>
        <p:nvSpPr>
          <p:cNvPr id="3075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457200">
              <a:defRPr sz="28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defTabSz="457200"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defTabSz="4572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defTabSz="4572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fld id="{26961E04-CD45-4441-919D-F97B33B87E93}" type="slidenum">
              <a:rPr lang="en-US" altLang="en-US" sz="1400">
                <a:latin typeface="Arial" pitchFamily="34" charset="0"/>
              </a:rPr>
              <a:pPr/>
              <a:t>1</a:t>
            </a:fld>
            <a:endParaRPr lang="en-US" altLang="en-US" sz="1400">
              <a:latin typeface="Arial" pitchFamily="34" charset="0"/>
            </a:endParaRPr>
          </a:p>
        </p:txBody>
      </p:sp>
      <p:sp>
        <p:nvSpPr>
          <p:cNvPr id="3076" name="TextBox 6"/>
          <p:cNvSpPr txBox="1">
            <a:spLocks noChangeArrowheads="1"/>
          </p:cNvSpPr>
          <p:nvPr/>
        </p:nvSpPr>
        <p:spPr bwMode="auto">
          <a:xfrm>
            <a:off x="1973263" y="5305425"/>
            <a:ext cx="8991600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57200">
              <a:defRPr sz="28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defTabSz="457200"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defTabSz="4572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defTabSz="4572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/>
            <a:r>
              <a:rPr lang="en-US" sz="1600" dirty="0">
                <a:latin typeface="Arial" pitchFamily="34" charset="0"/>
              </a:rPr>
              <a:t>Instructor</a:t>
            </a:r>
          </a:p>
          <a:p>
            <a:pPr eaLnBrk="1" hangingPunct="1"/>
            <a:r>
              <a:rPr lang="en-US" sz="1600" dirty="0">
                <a:latin typeface="Arial" pitchFamily="34" charset="0"/>
              </a:rPr>
              <a:t>Mr. Rizwan Rashid</a:t>
            </a:r>
            <a:endParaRPr lang="en-US" altLang="en-US" sz="1600" dirty="0">
              <a:latin typeface="Arial" pitchFamily="34" charset="0"/>
            </a:endParaRPr>
          </a:p>
        </p:txBody>
      </p:sp>
      <p:sp>
        <p:nvSpPr>
          <p:cNvPr id="3077" name="TextBox 8"/>
          <p:cNvSpPr txBox="1">
            <a:spLocks noChangeArrowheads="1"/>
          </p:cNvSpPr>
          <p:nvPr/>
        </p:nvSpPr>
        <p:spPr bwMode="auto">
          <a:xfrm>
            <a:off x="2057400" y="1552575"/>
            <a:ext cx="8382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57200">
              <a:defRPr sz="28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defTabSz="457200"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defTabSz="4572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defTabSz="4572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/>
            <a:r>
              <a:rPr lang="en-US" altLang="en-US" sz="3600">
                <a:latin typeface="Arial" pitchFamily="34" charset="0"/>
              </a:rPr>
              <a:t> CSC103 – Programming Fundamentals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F4481CE-F21B-1CC1-C0C8-188B27301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1AEB763-3B3A-0A58-E5C5-8757C99EDF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Loop</a:t>
            </a:r>
          </a:p>
          <a:p>
            <a:r>
              <a:rPr lang="en-US" b="1" dirty="0">
                <a:solidFill>
                  <a:schemeClr val="accent1"/>
                </a:solidFill>
                <a:latin typeface="Courier"/>
              </a:rPr>
              <a:t>break</a:t>
            </a:r>
            <a:r>
              <a:rPr lang="en-US" dirty="0"/>
              <a:t> and </a:t>
            </a:r>
            <a:r>
              <a:rPr lang="en-US" b="1" dirty="0">
                <a:solidFill>
                  <a:schemeClr val="accent1"/>
                </a:solidFill>
                <a:latin typeface="Courier"/>
              </a:rPr>
              <a:t>continue</a:t>
            </a:r>
            <a:r>
              <a:rPr lang="en-US" dirty="0"/>
              <a:t> Statement</a:t>
            </a:r>
          </a:p>
          <a:p>
            <a:r>
              <a:rPr lang="en-US" dirty="0"/>
              <a:t>Nested Loops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8CE0E0-ECD6-5A39-C2BD-CCFC2C95B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B3838-5DA3-401E-993B-20BED99F7C58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268438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B6C5CA01-F7CD-4F29-B1D2-1743C30B8CB6}" type="slidenum">
              <a:rPr lang="en-US" altLang="en-US" sz="1400"/>
              <a:pPr/>
              <a:t>3</a:t>
            </a:fld>
            <a:endParaRPr lang="en-US" altLang="en-US" sz="1400"/>
          </a:p>
        </p:txBody>
      </p:sp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152400"/>
            <a:ext cx="10363200" cy="685800"/>
          </a:xfrm>
        </p:spPr>
        <p:txBody>
          <a:bodyPr/>
          <a:lstStyle/>
          <a:p>
            <a:r>
              <a:rPr lang="en-US" altLang="en-US" sz="4200" dirty="0">
                <a:latin typeface="Courier New" pitchFamily="49" charset="0"/>
              </a:rPr>
              <a:t>for</a:t>
            </a:r>
            <a:r>
              <a:rPr lang="en-US" altLang="en-US" dirty="0"/>
              <a:t> Loops</a:t>
            </a:r>
            <a:endParaRPr lang="en-US" altLang="en-US" b="1" dirty="0">
              <a:latin typeface="Book Antiqua" pitchFamily="18" charset="0"/>
            </a:endParaRPr>
          </a:p>
        </p:txBody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893764"/>
            <a:ext cx="6477000" cy="2078037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en-US" sz="2400" dirty="0"/>
              <a:t>for (</a:t>
            </a:r>
            <a:r>
              <a:rPr lang="en-US" altLang="en-US" sz="2400" dirty="0">
                <a:solidFill>
                  <a:schemeClr val="accent2"/>
                </a:solidFill>
              </a:rPr>
              <a:t>initial-action</a:t>
            </a:r>
            <a:r>
              <a:rPr lang="en-US" altLang="en-US" sz="2400" dirty="0"/>
              <a:t>; </a:t>
            </a:r>
            <a:r>
              <a:rPr lang="en-US" altLang="en-US" sz="2400" dirty="0">
                <a:solidFill>
                  <a:srgbClr val="00B050"/>
                </a:solidFill>
              </a:rPr>
              <a:t>loop-continuation-condition</a:t>
            </a:r>
            <a:r>
              <a:rPr lang="en-US" altLang="en-US" sz="2400" dirty="0"/>
              <a:t>; </a:t>
            </a:r>
            <a:r>
              <a:rPr lang="en-US" altLang="en-US" sz="2400" dirty="0">
                <a:solidFill>
                  <a:schemeClr val="accent5"/>
                </a:solidFill>
              </a:rPr>
              <a:t>action-after-each-iteration</a:t>
            </a:r>
            <a:r>
              <a:rPr lang="en-US" altLang="en-US" sz="2400" dirty="0"/>
              <a:t>) {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en-US" sz="2400" dirty="0"/>
              <a:t>   // loop body;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en-US" sz="2400" dirty="0"/>
              <a:t>   Statement(s);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en-US" sz="2400" dirty="0"/>
              <a:t>}</a:t>
            </a:r>
          </a:p>
        </p:txBody>
      </p:sp>
      <p:sp>
        <p:nvSpPr>
          <p:cNvPr id="26629" name="Rectangle 5"/>
          <p:cNvSpPr>
            <a:spLocks noChangeArrowheads="1"/>
          </p:cNvSpPr>
          <p:nvPr/>
        </p:nvSpPr>
        <p:spPr bwMode="auto">
          <a:xfrm>
            <a:off x="2990851" y="1933575"/>
            <a:ext cx="12192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 altLang="en-US"/>
          </a:p>
        </p:txBody>
      </p:sp>
      <p:sp>
        <p:nvSpPr>
          <p:cNvPr id="26630" name="Rectangle 7"/>
          <p:cNvSpPr>
            <a:spLocks noChangeArrowheads="1"/>
          </p:cNvSpPr>
          <p:nvPr/>
        </p:nvSpPr>
        <p:spPr bwMode="auto">
          <a:xfrm>
            <a:off x="7772400" y="931863"/>
            <a:ext cx="4114800" cy="198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dirty="0" err="1"/>
              <a:t>int</a:t>
            </a:r>
            <a:r>
              <a:rPr lang="en-US" altLang="en-US" dirty="0"/>
              <a:t> i;</a:t>
            </a:r>
          </a:p>
          <a:p>
            <a:pPr marL="342900" indent="-342900"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dirty="0"/>
              <a:t>for (i = 0; i &lt; 100; i++) {	 </a:t>
            </a:r>
          </a:p>
          <a:p>
            <a:pPr marL="342900" indent="-342900"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dirty="0"/>
              <a:t>  </a:t>
            </a:r>
            <a:r>
              <a:rPr lang="en-US" altLang="en-US" dirty="0" err="1"/>
              <a:t>System.out.println</a:t>
            </a:r>
            <a:r>
              <a:rPr lang="en-US" altLang="en-US" dirty="0"/>
              <a:t>("Welcome to Java!"); </a:t>
            </a:r>
          </a:p>
          <a:p>
            <a:pPr marL="342900" indent="-342900"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dirty="0"/>
              <a:t>}</a:t>
            </a:r>
          </a:p>
        </p:txBody>
      </p:sp>
      <p:sp>
        <p:nvSpPr>
          <p:cNvPr id="26631" name="Rectangle 10"/>
          <p:cNvSpPr>
            <a:spLocks noChangeArrowheads="1"/>
          </p:cNvSpPr>
          <p:nvPr/>
        </p:nvSpPr>
        <p:spPr bwMode="auto">
          <a:xfrm>
            <a:off x="2990851" y="1933575"/>
            <a:ext cx="12192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 altLang="en-US"/>
          </a:p>
        </p:txBody>
      </p:sp>
      <p:sp>
        <p:nvSpPr>
          <p:cNvPr id="26632" name="Rectangle 12"/>
          <p:cNvSpPr>
            <a:spLocks noChangeArrowheads="1"/>
          </p:cNvSpPr>
          <p:nvPr/>
        </p:nvSpPr>
        <p:spPr bwMode="auto">
          <a:xfrm>
            <a:off x="2990851" y="1933575"/>
            <a:ext cx="12192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 altLang="en-US"/>
          </a:p>
        </p:txBody>
      </p:sp>
      <p:pic>
        <p:nvPicPr>
          <p:cNvPr id="26633" name="Picture 1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228"/>
          <a:stretch/>
        </p:blipFill>
        <p:spPr bwMode="auto">
          <a:xfrm>
            <a:off x="306760" y="2743200"/>
            <a:ext cx="3126474" cy="40840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26634" name="Line 8"/>
          <p:cNvSpPr>
            <a:spLocks noChangeShapeType="1"/>
          </p:cNvSpPr>
          <p:nvPr/>
        </p:nvSpPr>
        <p:spPr bwMode="auto">
          <a:xfrm>
            <a:off x="9245600" y="1922463"/>
            <a:ext cx="0" cy="656152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 type="none" w="sm" len="sm"/>
            <a:tailEnd type="stealth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635" name="Line 6"/>
          <p:cNvSpPr>
            <a:spLocks noChangeShapeType="1"/>
          </p:cNvSpPr>
          <p:nvPr/>
        </p:nvSpPr>
        <p:spPr bwMode="auto">
          <a:xfrm flipH="1">
            <a:off x="2362200" y="2244170"/>
            <a:ext cx="0" cy="668893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 type="none" w="sm" len="sm"/>
            <a:tailEnd type="stealth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12" name="Picture 1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 bwMode="auto">
          <a:xfrm>
            <a:off x="7379230" y="2628900"/>
            <a:ext cx="3415242" cy="394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396873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D03C4A2F-2A70-416A-B35D-8DE6EFAB82DA}" type="slidenum">
              <a:rPr lang="en-US" altLang="en-US" sz="1400"/>
              <a:pPr/>
              <a:t>4</a:t>
            </a:fld>
            <a:endParaRPr lang="en-US" altLang="en-US" sz="1400"/>
          </a:p>
        </p:txBody>
      </p:sp>
      <p:sp>
        <p:nvSpPr>
          <p:cNvPr id="37891" name="Rectangle 2"/>
          <p:cNvSpPr>
            <a:spLocks noGrp="1" noChangeArrowheads="1"/>
          </p:cNvSpPr>
          <p:nvPr>
            <p:ph type="title"/>
          </p:nvPr>
        </p:nvSpPr>
        <p:spPr>
          <a:xfrm>
            <a:off x="422322" y="228600"/>
            <a:ext cx="10363200" cy="609600"/>
          </a:xfrm>
        </p:spPr>
        <p:txBody>
          <a:bodyPr/>
          <a:lstStyle/>
          <a:p>
            <a:r>
              <a:rPr lang="en-US" altLang="en-US"/>
              <a:t>Note</a:t>
            </a:r>
          </a:p>
        </p:txBody>
      </p:sp>
      <p:sp>
        <p:nvSpPr>
          <p:cNvPr id="37892" name="Text Box 3"/>
          <p:cNvSpPr txBox="1">
            <a:spLocks noChangeArrowheads="1"/>
          </p:cNvSpPr>
          <p:nvPr/>
        </p:nvSpPr>
        <p:spPr bwMode="auto">
          <a:xfrm>
            <a:off x="406400" y="990600"/>
            <a:ext cx="11480800" cy="54168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457200"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457200" indent="-457200">
              <a:spcBef>
                <a:spcPct val="50000"/>
              </a:spcBef>
              <a:buFont typeface="Arial" pitchFamily="34" charset="0"/>
              <a:buChar char="•"/>
            </a:pPr>
            <a:r>
              <a:rPr lang="en-US" altLang="en-US" sz="2800" dirty="0">
                <a:latin typeface="+mn-lt"/>
                <a:cs typeface="Courier New" pitchFamily="49" charset="0"/>
              </a:rPr>
              <a:t>The </a:t>
            </a:r>
            <a:r>
              <a:rPr lang="en-US" altLang="en-US" sz="2800" b="1" u="sng" dirty="0">
                <a:solidFill>
                  <a:schemeClr val="accent2"/>
                </a:solidFill>
                <a:latin typeface="+mn-lt"/>
                <a:cs typeface="Courier New" pitchFamily="49" charset="0"/>
              </a:rPr>
              <a:t>initial-action</a:t>
            </a:r>
            <a:r>
              <a:rPr lang="en-US" altLang="en-US" sz="2800" dirty="0">
                <a:latin typeface="+mn-lt"/>
                <a:cs typeface="Courier New" pitchFamily="49" charset="0"/>
              </a:rPr>
              <a:t> in a </a:t>
            </a:r>
            <a:r>
              <a:rPr lang="en-US" altLang="en-US" sz="2800" u="sng" dirty="0">
                <a:latin typeface="+mn-lt"/>
                <a:cs typeface="Courier New" pitchFamily="49" charset="0"/>
              </a:rPr>
              <a:t>for</a:t>
            </a:r>
            <a:r>
              <a:rPr lang="en-US" altLang="en-US" sz="2800" dirty="0">
                <a:latin typeface="+mn-lt"/>
                <a:cs typeface="Courier New" pitchFamily="49" charset="0"/>
              </a:rPr>
              <a:t> loop can be a list of zero or more comma-separated expressions. </a:t>
            </a:r>
          </a:p>
          <a:p>
            <a:pPr marL="457200" indent="-457200">
              <a:spcBef>
                <a:spcPct val="50000"/>
              </a:spcBef>
              <a:buFont typeface="Arial" pitchFamily="34" charset="0"/>
              <a:buChar char="•"/>
            </a:pPr>
            <a:r>
              <a:rPr lang="en-US" altLang="en-US" sz="2800" dirty="0">
                <a:latin typeface="+mn-lt"/>
                <a:cs typeface="Courier New" pitchFamily="49" charset="0"/>
              </a:rPr>
              <a:t>The </a:t>
            </a:r>
            <a:r>
              <a:rPr lang="en-US" altLang="en-US" sz="2800" b="1" u="sng" dirty="0">
                <a:solidFill>
                  <a:schemeClr val="accent1"/>
                </a:solidFill>
                <a:latin typeface="+mn-lt"/>
                <a:cs typeface="Courier New" pitchFamily="49" charset="0"/>
              </a:rPr>
              <a:t>action-after-each-iteration</a:t>
            </a:r>
            <a:r>
              <a:rPr lang="en-US" altLang="en-US" sz="2800" dirty="0">
                <a:latin typeface="+mn-lt"/>
                <a:cs typeface="Courier New" pitchFamily="49" charset="0"/>
              </a:rPr>
              <a:t> in a </a:t>
            </a:r>
            <a:r>
              <a:rPr lang="en-US" altLang="en-US" sz="2800" u="sng" dirty="0">
                <a:latin typeface="+mn-lt"/>
                <a:cs typeface="Courier New" pitchFamily="49" charset="0"/>
              </a:rPr>
              <a:t>for</a:t>
            </a:r>
            <a:r>
              <a:rPr lang="en-US" altLang="en-US" sz="2800" dirty="0">
                <a:latin typeface="+mn-lt"/>
                <a:cs typeface="Courier New" pitchFamily="49" charset="0"/>
              </a:rPr>
              <a:t> loop can be a list of zero or more comma-separated statements. </a:t>
            </a:r>
          </a:p>
          <a:p>
            <a:pPr marL="457200" indent="-457200">
              <a:spcBef>
                <a:spcPct val="50000"/>
              </a:spcBef>
              <a:buFont typeface="Arial" pitchFamily="34" charset="0"/>
              <a:buChar char="•"/>
            </a:pPr>
            <a:r>
              <a:rPr lang="en-US" altLang="en-US" sz="2800" dirty="0">
                <a:latin typeface="+mn-lt"/>
                <a:cs typeface="Courier New" pitchFamily="49" charset="0"/>
              </a:rPr>
              <a:t>Therefore, the following two </a:t>
            </a:r>
            <a:r>
              <a:rPr lang="en-US" altLang="en-US" sz="2800" u="sng" dirty="0">
                <a:latin typeface="+mn-lt"/>
                <a:cs typeface="Courier New" pitchFamily="49" charset="0"/>
              </a:rPr>
              <a:t>for</a:t>
            </a:r>
            <a:r>
              <a:rPr lang="en-US" altLang="en-US" sz="2800" dirty="0">
                <a:latin typeface="+mn-lt"/>
                <a:cs typeface="Courier New" pitchFamily="49" charset="0"/>
              </a:rPr>
              <a:t> loops are correct. They are rarely used in practice, however.</a:t>
            </a:r>
          </a:p>
          <a:p>
            <a:pPr lvl="1">
              <a:spcBef>
                <a:spcPct val="50000"/>
              </a:spcBef>
            </a:pPr>
            <a:r>
              <a:rPr lang="en-US" altLang="en-US" sz="2400" b="1" dirty="0">
                <a:latin typeface="+mn-lt"/>
                <a:cs typeface="Courier New" pitchFamily="49" charset="0"/>
              </a:rPr>
              <a:t>for (</a:t>
            </a:r>
            <a:r>
              <a:rPr lang="en-US" altLang="en-US" sz="2400" b="1" dirty="0" err="1">
                <a:latin typeface="+mn-lt"/>
                <a:cs typeface="Courier New" pitchFamily="49" charset="0"/>
              </a:rPr>
              <a:t>int</a:t>
            </a:r>
            <a:r>
              <a:rPr lang="en-US" altLang="en-US" sz="2400" b="1" dirty="0">
                <a:latin typeface="+mn-lt"/>
                <a:cs typeface="Courier New" pitchFamily="49" charset="0"/>
              </a:rPr>
              <a:t> i = 1; i &lt; 100; </a:t>
            </a:r>
            <a:r>
              <a:rPr lang="en-US" altLang="en-US" sz="2400" b="1" dirty="0" err="1">
                <a:latin typeface="+mn-lt"/>
                <a:cs typeface="Courier New" pitchFamily="49" charset="0"/>
              </a:rPr>
              <a:t>System.out.println</a:t>
            </a:r>
            <a:r>
              <a:rPr lang="en-US" altLang="en-US" sz="2400" b="1" dirty="0">
                <a:latin typeface="+mn-lt"/>
                <a:cs typeface="Courier New" pitchFamily="49" charset="0"/>
              </a:rPr>
              <a:t>(i++));</a:t>
            </a:r>
            <a:endParaRPr lang="en-US" altLang="en-US" sz="2400" b="1" dirty="0">
              <a:latin typeface="+mn-lt"/>
              <a:cs typeface="Times New Roman" pitchFamily="18" charset="0"/>
            </a:endParaRPr>
          </a:p>
          <a:p>
            <a:pPr lvl="1">
              <a:spcBef>
                <a:spcPct val="50000"/>
              </a:spcBef>
            </a:pPr>
            <a:r>
              <a:rPr lang="en-US" altLang="en-US" sz="2400" b="1" dirty="0">
                <a:latin typeface="+mn-lt"/>
                <a:cs typeface="Courier New" pitchFamily="49" charset="0"/>
              </a:rPr>
              <a:t>for (</a:t>
            </a:r>
            <a:r>
              <a:rPr lang="en-US" altLang="en-US" sz="2400" b="1" dirty="0" err="1">
                <a:latin typeface="+mn-lt"/>
                <a:cs typeface="Courier New" pitchFamily="49" charset="0"/>
              </a:rPr>
              <a:t>int</a:t>
            </a:r>
            <a:r>
              <a:rPr lang="en-US" altLang="en-US" sz="2400" b="1" dirty="0">
                <a:latin typeface="+mn-lt"/>
                <a:cs typeface="Courier New" pitchFamily="49" charset="0"/>
              </a:rPr>
              <a:t> i = 0, j = 0; (i + j &lt; 10); i++, j++) {</a:t>
            </a:r>
            <a:endParaRPr lang="en-US" altLang="en-US" sz="2400" b="1" dirty="0">
              <a:latin typeface="+mn-lt"/>
              <a:cs typeface="Times New Roman" pitchFamily="18" charset="0"/>
            </a:endParaRPr>
          </a:p>
          <a:p>
            <a:pPr lvl="1">
              <a:spcBef>
                <a:spcPct val="50000"/>
              </a:spcBef>
            </a:pPr>
            <a:r>
              <a:rPr lang="en-US" altLang="en-US" sz="2400" b="1" dirty="0">
                <a:latin typeface="+mn-lt"/>
                <a:cs typeface="Courier New" pitchFamily="49" charset="0"/>
              </a:rPr>
              <a:t>  // Do something</a:t>
            </a:r>
            <a:endParaRPr lang="en-US" altLang="en-US" sz="2400" b="1" dirty="0">
              <a:latin typeface="+mn-lt"/>
              <a:cs typeface="Times New Roman" pitchFamily="18" charset="0"/>
            </a:endParaRPr>
          </a:p>
          <a:p>
            <a:pPr lvl="1">
              <a:spcBef>
                <a:spcPct val="50000"/>
              </a:spcBef>
            </a:pPr>
            <a:r>
              <a:rPr lang="en-US" altLang="en-US" sz="2400" b="1" dirty="0">
                <a:latin typeface="+mn-lt"/>
                <a:cs typeface="Courier New" pitchFamily="49" charset="0"/>
              </a:rPr>
              <a:t>}</a:t>
            </a:r>
            <a:r>
              <a:rPr lang="en-US" altLang="en-US" u="sng" dirty="0">
                <a:latin typeface="+mn-lt"/>
                <a:cs typeface="Courier New" pitchFamily="49" charset="0"/>
              </a:rPr>
              <a:t>     </a:t>
            </a:r>
            <a:endParaRPr lang="en-US" altLang="en-US" dirty="0">
              <a:latin typeface="+mn-lt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14661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FEA90CB1-BA80-4728-9B88-8645E67FC251}" type="slidenum">
              <a:rPr lang="en-US" altLang="en-US" sz="1400"/>
              <a:pPr/>
              <a:t>5</a:t>
            </a:fld>
            <a:endParaRPr lang="en-US" altLang="en-US" sz="1400"/>
          </a:p>
        </p:txBody>
      </p:sp>
      <p:sp>
        <p:nvSpPr>
          <p:cNvPr id="38915" name="Rectangle 2"/>
          <p:cNvSpPr>
            <a:spLocks noGrp="1" noChangeArrowheads="1"/>
          </p:cNvSpPr>
          <p:nvPr>
            <p:ph type="title"/>
          </p:nvPr>
        </p:nvSpPr>
        <p:spPr>
          <a:xfrm>
            <a:off x="383654" y="228600"/>
            <a:ext cx="10363200" cy="609600"/>
          </a:xfrm>
        </p:spPr>
        <p:txBody>
          <a:bodyPr/>
          <a:lstStyle/>
          <a:p>
            <a:r>
              <a:rPr lang="en-US" altLang="en-US"/>
              <a:t>Note</a:t>
            </a:r>
          </a:p>
        </p:txBody>
      </p:sp>
      <p:sp>
        <p:nvSpPr>
          <p:cNvPr id="38916" name="Text Box 3"/>
          <p:cNvSpPr txBox="1">
            <a:spLocks noChangeArrowheads="1"/>
          </p:cNvSpPr>
          <p:nvPr/>
        </p:nvSpPr>
        <p:spPr bwMode="auto">
          <a:xfrm>
            <a:off x="406400" y="990601"/>
            <a:ext cx="11480800" cy="246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457200" indent="-457200">
              <a:spcBef>
                <a:spcPct val="50000"/>
              </a:spcBef>
              <a:buFont typeface="Arial" pitchFamily="34" charset="0"/>
              <a:buChar char="•"/>
            </a:pPr>
            <a:r>
              <a:rPr lang="en-US" altLang="en-US" sz="2800" dirty="0">
                <a:latin typeface="+mn-lt"/>
                <a:cs typeface="Courier New" pitchFamily="49" charset="0"/>
              </a:rPr>
              <a:t>If the </a:t>
            </a:r>
            <a:r>
              <a:rPr lang="en-US" altLang="en-US" sz="2800" b="1" u="sng" dirty="0">
                <a:solidFill>
                  <a:srgbClr val="00B050"/>
                </a:solidFill>
                <a:latin typeface="+mn-lt"/>
                <a:cs typeface="Courier New" pitchFamily="49" charset="0"/>
              </a:rPr>
              <a:t>loop-continuation-condition</a:t>
            </a:r>
            <a:r>
              <a:rPr lang="en-US" altLang="en-US" sz="2800" dirty="0">
                <a:latin typeface="+mn-lt"/>
                <a:cs typeface="Courier New" pitchFamily="49" charset="0"/>
              </a:rPr>
              <a:t> in a </a:t>
            </a:r>
            <a:r>
              <a:rPr lang="en-US" altLang="en-US" sz="2800" u="sng" dirty="0">
                <a:latin typeface="+mn-lt"/>
                <a:cs typeface="Courier New" pitchFamily="49" charset="0"/>
              </a:rPr>
              <a:t>for</a:t>
            </a:r>
            <a:r>
              <a:rPr lang="en-US" altLang="en-US" sz="2800" dirty="0">
                <a:latin typeface="+mn-lt"/>
                <a:cs typeface="Courier New" pitchFamily="49" charset="0"/>
              </a:rPr>
              <a:t> loop is omitted, it is implicitly true.</a:t>
            </a:r>
          </a:p>
          <a:p>
            <a:pPr marL="457200" indent="-457200">
              <a:spcBef>
                <a:spcPct val="50000"/>
              </a:spcBef>
              <a:buFont typeface="Arial" pitchFamily="34" charset="0"/>
              <a:buChar char="•"/>
            </a:pPr>
            <a:r>
              <a:rPr lang="en-US" altLang="en-US" sz="2800" dirty="0">
                <a:latin typeface="+mn-lt"/>
                <a:cs typeface="Courier New" pitchFamily="49" charset="0"/>
              </a:rPr>
              <a:t>Thus the statement given below in (a), which is an infinite loop, is correct. Nevertheless, it is better to use the equivalent loop in (b) to avoid confusion:</a:t>
            </a:r>
            <a:endParaRPr lang="en-US" altLang="en-US" sz="2800" dirty="0">
              <a:latin typeface="+mn-lt"/>
              <a:cs typeface="Times New Roman" pitchFamily="18" charset="0"/>
            </a:endParaRPr>
          </a:p>
        </p:txBody>
      </p:sp>
      <p:sp>
        <p:nvSpPr>
          <p:cNvPr id="38917" name="Rectangle 5"/>
          <p:cNvSpPr>
            <a:spLocks noChangeArrowheads="1"/>
          </p:cNvSpPr>
          <p:nvPr/>
        </p:nvSpPr>
        <p:spPr bwMode="auto">
          <a:xfrm>
            <a:off x="4032251" y="3133725"/>
            <a:ext cx="12192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 altLang="en-US"/>
          </a:p>
        </p:txBody>
      </p:sp>
      <p:graphicFrame>
        <p:nvGraphicFramePr>
          <p:cNvPr id="38918" name="Object 4"/>
          <p:cNvGraphicFramePr>
            <a:graphicFrameLocks noChangeAspect="1"/>
          </p:cNvGraphicFramePr>
          <p:nvPr/>
        </p:nvGraphicFramePr>
        <p:xfrm>
          <a:off x="406400" y="3733800"/>
          <a:ext cx="11277600" cy="161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3203448" imgH="612648" progId="Word.Picture.8">
                  <p:embed/>
                </p:oleObj>
              </mc:Choice>
              <mc:Fallback>
                <p:oleObj name="Picture" r:id="rId2" imgW="3203448" imgH="612648" progId="Word.Picture.8">
                  <p:embed/>
                  <p:pic>
                    <p:nvPicPr>
                      <p:cNvPr id="3891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400" y="3733800"/>
                        <a:ext cx="11277600" cy="161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22314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30D482F0-541E-4228-B9B4-4316FF869AD8}" type="slidenum">
              <a:rPr lang="en-US" altLang="en-US" sz="1400"/>
              <a:pPr/>
              <a:t>6</a:t>
            </a:fld>
            <a:endParaRPr lang="en-US" altLang="en-US" sz="1400"/>
          </a:p>
        </p:txBody>
      </p:sp>
      <p:sp>
        <p:nvSpPr>
          <p:cNvPr id="39939" name="Rectangle 2"/>
          <p:cNvSpPr>
            <a:spLocks noGrp="1" noChangeArrowheads="1"/>
          </p:cNvSpPr>
          <p:nvPr>
            <p:ph type="title"/>
          </p:nvPr>
        </p:nvSpPr>
        <p:spPr>
          <a:xfrm>
            <a:off x="924984" y="317500"/>
            <a:ext cx="10363200" cy="685800"/>
          </a:xfrm>
        </p:spPr>
        <p:txBody>
          <a:bodyPr/>
          <a:lstStyle/>
          <a:p>
            <a:r>
              <a:rPr lang="en-US" altLang="en-US"/>
              <a:t>Caution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6401" y="1316039"/>
            <a:ext cx="11527367" cy="1055687"/>
          </a:xfrm>
        </p:spPr>
        <p:txBody>
          <a:bodyPr/>
          <a:lstStyle/>
          <a:p>
            <a:pPr marL="0" indent="0">
              <a:buFont typeface="Monotype Sorts" pitchFamily="2" charset="2"/>
              <a:buNone/>
            </a:pPr>
            <a:r>
              <a:rPr lang="en-US" altLang="en-US" sz="3000">
                <a:cs typeface="Times New Roman" pitchFamily="18" charset="0"/>
              </a:rPr>
              <a:t>Adding a semicolon at the end of the </a:t>
            </a:r>
            <a:r>
              <a:rPr lang="en-US" altLang="en-US" sz="3000" u="sng">
                <a:cs typeface="Times New Roman" pitchFamily="18" charset="0"/>
              </a:rPr>
              <a:t>for</a:t>
            </a:r>
            <a:r>
              <a:rPr lang="en-US" altLang="en-US" sz="3000">
                <a:cs typeface="Times New Roman" pitchFamily="18" charset="0"/>
              </a:rPr>
              <a:t> clause before the loop body is a common mistake, as shown below:</a:t>
            </a:r>
          </a:p>
        </p:txBody>
      </p:sp>
      <p:sp>
        <p:nvSpPr>
          <p:cNvPr id="39941" name="Text Box 4"/>
          <p:cNvSpPr txBox="1">
            <a:spLocks noChangeArrowheads="1"/>
          </p:cNvSpPr>
          <p:nvPr/>
        </p:nvSpPr>
        <p:spPr bwMode="auto">
          <a:xfrm>
            <a:off x="8553451" y="2430464"/>
            <a:ext cx="1727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/>
              <a:t>Logic Error</a:t>
            </a:r>
          </a:p>
        </p:txBody>
      </p:sp>
      <p:sp>
        <p:nvSpPr>
          <p:cNvPr id="39942" name="Rectangle 6"/>
          <p:cNvSpPr>
            <a:spLocks noChangeArrowheads="1"/>
          </p:cNvSpPr>
          <p:nvPr/>
        </p:nvSpPr>
        <p:spPr bwMode="auto">
          <a:xfrm>
            <a:off x="668867" y="3544889"/>
            <a:ext cx="9575800" cy="1919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lang="en-US" sz="2600" b="1" dirty="0">
                <a:latin typeface="Courier New" pitchFamily="49" charset="0"/>
              </a:rPr>
              <a:t>for (</a:t>
            </a:r>
            <a:r>
              <a:rPr lang="en-US" sz="2600" b="1" dirty="0" err="1">
                <a:latin typeface="Courier New" pitchFamily="49" charset="0"/>
              </a:rPr>
              <a:t>int</a:t>
            </a:r>
            <a:r>
              <a:rPr lang="en-US" sz="2600" b="1" dirty="0">
                <a:latin typeface="Courier New" pitchFamily="49" charset="0"/>
              </a:rPr>
              <a:t> </a:t>
            </a:r>
            <a:r>
              <a:rPr lang="en-US" sz="2600" b="1" dirty="0" err="1">
                <a:latin typeface="Courier New" pitchFamily="49" charset="0"/>
              </a:rPr>
              <a:t>i</a:t>
            </a:r>
            <a:r>
              <a:rPr lang="en-US" sz="2600" b="1" dirty="0">
                <a:latin typeface="Courier New" pitchFamily="49" charset="0"/>
              </a:rPr>
              <a:t>=0; </a:t>
            </a:r>
            <a:r>
              <a:rPr lang="en-US" sz="2600" b="1" dirty="0" err="1">
                <a:latin typeface="Courier New" pitchFamily="49" charset="0"/>
              </a:rPr>
              <a:t>i</a:t>
            </a:r>
            <a:r>
              <a:rPr lang="en-US" sz="2600" b="1" dirty="0">
                <a:latin typeface="Courier New" pitchFamily="49" charset="0"/>
              </a:rPr>
              <a:t>&lt;10; </a:t>
            </a:r>
            <a:r>
              <a:rPr lang="en-US" sz="2600" b="1" dirty="0" err="1">
                <a:latin typeface="Courier New" pitchFamily="49" charset="0"/>
              </a:rPr>
              <a:t>i</a:t>
            </a:r>
            <a:r>
              <a:rPr lang="en-US" sz="2600" b="1" dirty="0">
                <a:latin typeface="Courier New" pitchFamily="49" charset="0"/>
              </a:rPr>
              <a:t>++);</a:t>
            </a:r>
          </a:p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lang="en-US" sz="2600" b="1" dirty="0">
                <a:latin typeface="Courier New" pitchFamily="49" charset="0"/>
              </a:rPr>
              <a:t>{</a:t>
            </a:r>
          </a:p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lang="en-US" sz="2600" b="1" dirty="0">
                <a:latin typeface="Courier New" pitchFamily="49" charset="0"/>
              </a:rPr>
              <a:t>  </a:t>
            </a:r>
            <a:r>
              <a:rPr lang="en-US" sz="2600" b="1" dirty="0" err="1">
                <a:latin typeface="Courier New" pitchFamily="49" charset="0"/>
              </a:rPr>
              <a:t>System.out.println</a:t>
            </a:r>
            <a:r>
              <a:rPr lang="en-US" sz="2600" b="1" dirty="0">
                <a:latin typeface="Courier New" pitchFamily="49" charset="0"/>
              </a:rPr>
              <a:t>("</a:t>
            </a:r>
            <a:r>
              <a:rPr lang="en-US" sz="2600" b="1" dirty="0" err="1">
                <a:latin typeface="Courier New" pitchFamily="49" charset="0"/>
              </a:rPr>
              <a:t>i</a:t>
            </a:r>
            <a:r>
              <a:rPr lang="en-US" sz="2600" b="1" dirty="0">
                <a:latin typeface="Courier New" pitchFamily="49" charset="0"/>
              </a:rPr>
              <a:t> is " + </a:t>
            </a:r>
            <a:r>
              <a:rPr lang="en-US" sz="2600" b="1" dirty="0" err="1">
                <a:latin typeface="Courier New" pitchFamily="49" charset="0"/>
              </a:rPr>
              <a:t>i</a:t>
            </a:r>
            <a:r>
              <a:rPr lang="en-US" sz="2600" b="1" dirty="0">
                <a:latin typeface="Courier New" pitchFamily="49" charset="0"/>
              </a:rPr>
              <a:t>);</a:t>
            </a:r>
          </a:p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lang="en-US" sz="2600" b="1" dirty="0">
                <a:latin typeface="Courier New" pitchFamily="49" charset="0"/>
              </a:rPr>
              <a:t>}</a:t>
            </a:r>
          </a:p>
        </p:txBody>
      </p:sp>
      <p:sp>
        <p:nvSpPr>
          <p:cNvPr id="39943" name="Line 5"/>
          <p:cNvSpPr>
            <a:spLocks noChangeShapeType="1"/>
          </p:cNvSpPr>
          <p:nvPr/>
        </p:nvSpPr>
        <p:spPr bwMode="auto">
          <a:xfrm flipH="1">
            <a:off x="7376584" y="3198814"/>
            <a:ext cx="1176867" cy="458787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2145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0CEBF01E-8A62-4F78-8203-43F788561F6D}" type="slidenum">
              <a:rPr lang="en-US" altLang="en-US" sz="1400"/>
              <a:pPr/>
              <a:t>7</a:t>
            </a:fld>
            <a:endParaRPr lang="en-US" altLang="en-US" sz="1400"/>
          </a:p>
        </p:txBody>
      </p:sp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76200"/>
            <a:ext cx="10363200" cy="685800"/>
          </a:xfrm>
        </p:spPr>
        <p:txBody>
          <a:bodyPr/>
          <a:lstStyle/>
          <a:p>
            <a:r>
              <a:rPr lang="en-US" altLang="en-US"/>
              <a:t>Caution, cont.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3200" y="838200"/>
            <a:ext cx="11785600" cy="5867400"/>
          </a:xfrm>
        </p:spPr>
        <p:txBody>
          <a:bodyPr/>
          <a:lstStyle/>
          <a:p>
            <a:pPr marL="0" indent="0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3000" dirty="0">
                <a:cs typeface="Times New Roman" pitchFamily="18" charset="0"/>
              </a:rPr>
              <a:t>Similarly, the following loop is also wrong: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en-US" sz="2600" dirty="0" err="1">
                <a:latin typeface="Courier" pitchFamily="49" charset="0"/>
              </a:rPr>
              <a:t>int</a:t>
            </a:r>
            <a:r>
              <a:rPr lang="en-US" altLang="en-US" sz="2600" dirty="0">
                <a:latin typeface="Courier" pitchFamily="49" charset="0"/>
              </a:rPr>
              <a:t> i=0; 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en-US" sz="2600" dirty="0">
                <a:latin typeface="Courier" pitchFamily="49" charset="0"/>
              </a:rPr>
              <a:t>while (i &lt; 10);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en-US" sz="2600" dirty="0">
                <a:latin typeface="Courier" pitchFamily="49" charset="0"/>
              </a:rPr>
              <a:t>{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en-US" sz="2600" dirty="0">
                <a:latin typeface="Courier" pitchFamily="49" charset="0"/>
              </a:rPr>
              <a:t>  </a:t>
            </a:r>
            <a:r>
              <a:rPr lang="en-US" altLang="en-US" sz="2600" dirty="0" err="1">
                <a:latin typeface="Courier" pitchFamily="49" charset="0"/>
              </a:rPr>
              <a:t>System.out.println</a:t>
            </a:r>
            <a:r>
              <a:rPr lang="en-US" altLang="en-US" sz="2600" dirty="0">
                <a:latin typeface="Courier" pitchFamily="49" charset="0"/>
              </a:rPr>
              <a:t>("i is " + i);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en-US" sz="2600" dirty="0">
                <a:latin typeface="Courier" pitchFamily="49" charset="0"/>
              </a:rPr>
              <a:t>  i++;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en-US" sz="2600" dirty="0">
                <a:latin typeface="Courier" pitchFamily="49" charset="0"/>
              </a:rPr>
              <a:t>}</a:t>
            </a:r>
            <a:endParaRPr lang="en-US" altLang="en-US" sz="3000" dirty="0">
              <a:latin typeface="Courier" pitchFamily="49" charset="0"/>
              <a:cs typeface="Times New Roman" pitchFamily="18" charset="0"/>
            </a:endParaRPr>
          </a:p>
          <a:p>
            <a:pPr marL="0" indent="0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3000" dirty="0">
                <a:cs typeface="Times New Roman" pitchFamily="18" charset="0"/>
              </a:rPr>
              <a:t>In the case of the </a:t>
            </a:r>
            <a:r>
              <a:rPr lang="en-US" altLang="en-US" sz="3000" u="sng" dirty="0">
                <a:cs typeface="Times New Roman" pitchFamily="18" charset="0"/>
              </a:rPr>
              <a:t>do</a:t>
            </a:r>
            <a:r>
              <a:rPr lang="en-US" altLang="en-US" sz="3000" dirty="0">
                <a:cs typeface="Times New Roman" pitchFamily="18" charset="0"/>
              </a:rPr>
              <a:t> loop, the following semicolon is needed to end the loop.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en-US" sz="2600" dirty="0" err="1">
                <a:latin typeface="Courier" pitchFamily="49" charset="0"/>
              </a:rPr>
              <a:t>int</a:t>
            </a:r>
            <a:r>
              <a:rPr lang="en-US" altLang="en-US" sz="2600" dirty="0">
                <a:latin typeface="Courier" pitchFamily="49" charset="0"/>
              </a:rPr>
              <a:t> i=0; 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en-US" sz="2600" dirty="0">
                <a:latin typeface="Courier" pitchFamily="49" charset="0"/>
              </a:rPr>
              <a:t>do {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en-US" sz="2600" dirty="0">
                <a:latin typeface="Courier" pitchFamily="49" charset="0"/>
              </a:rPr>
              <a:t>  </a:t>
            </a:r>
            <a:r>
              <a:rPr lang="en-US" altLang="en-US" sz="2600" dirty="0" err="1">
                <a:latin typeface="Courier" pitchFamily="49" charset="0"/>
              </a:rPr>
              <a:t>System.out.println</a:t>
            </a:r>
            <a:r>
              <a:rPr lang="en-US" altLang="en-US" sz="2600" dirty="0">
                <a:latin typeface="Courier" pitchFamily="49" charset="0"/>
              </a:rPr>
              <a:t>("i is " + i);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en-US" sz="2600" dirty="0">
                <a:latin typeface="Courier" pitchFamily="49" charset="0"/>
              </a:rPr>
              <a:t>  i++;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en-US" sz="2600" dirty="0">
                <a:latin typeface="Courier" pitchFamily="49" charset="0"/>
              </a:rPr>
              <a:t>} while (i&lt;10);</a:t>
            </a:r>
          </a:p>
        </p:txBody>
      </p:sp>
      <p:sp>
        <p:nvSpPr>
          <p:cNvPr id="40965" name="Text Box 4"/>
          <p:cNvSpPr txBox="1">
            <a:spLocks noChangeArrowheads="1"/>
          </p:cNvSpPr>
          <p:nvPr/>
        </p:nvSpPr>
        <p:spPr bwMode="auto">
          <a:xfrm>
            <a:off x="4419600" y="1447800"/>
            <a:ext cx="2438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 dirty="0"/>
              <a:t>Logic Error</a:t>
            </a:r>
          </a:p>
        </p:txBody>
      </p:sp>
      <p:sp>
        <p:nvSpPr>
          <p:cNvPr id="40966" name="Line 5"/>
          <p:cNvSpPr>
            <a:spLocks noChangeShapeType="1"/>
          </p:cNvSpPr>
          <p:nvPr/>
        </p:nvSpPr>
        <p:spPr bwMode="auto">
          <a:xfrm flipH="1">
            <a:off x="3251200" y="1676400"/>
            <a:ext cx="1016000" cy="1524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67" name="Text Box 6"/>
          <p:cNvSpPr txBox="1">
            <a:spLocks noChangeArrowheads="1"/>
          </p:cNvSpPr>
          <p:nvPr/>
        </p:nvSpPr>
        <p:spPr bwMode="auto">
          <a:xfrm>
            <a:off x="4775200" y="5638800"/>
            <a:ext cx="172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 dirty="0"/>
              <a:t>Correct</a:t>
            </a:r>
          </a:p>
        </p:txBody>
      </p:sp>
      <p:sp>
        <p:nvSpPr>
          <p:cNvPr id="40968" name="Line 7"/>
          <p:cNvSpPr>
            <a:spLocks noChangeShapeType="1"/>
          </p:cNvSpPr>
          <p:nvPr/>
        </p:nvSpPr>
        <p:spPr bwMode="auto">
          <a:xfrm flipH="1">
            <a:off x="3251200" y="5867400"/>
            <a:ext cx="1219200" cy="1524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3144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1563D33B-A721-451E-A5FE-CC2BA7E406A2}" type="slidenum">
              <a:rPr lang="en-US" altLang="en-US" sz="1400"/>
              <a:pPr/>
              <a:t>8</a:t>
            </a:fld>
            <a:endParaRPr lang="en-US" altLang="en-US" sz="1400"/>
          </a:p>
        </p:txBody>
      </p:sp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52400"/>
            <a:ext cx="10363200" cy="609600"/>
          </a:xfrm>
        </p:spPr>
        <p:txBody>
          <a:bodyPr/>
          <a:lstStyle/>
          <a:p>
            <a:r>
              <a:rPr lang="en-US" altLang="en-US" dirty="0"/>
              <a:t>Which Loop to Use?</a:t>
            </a:r>
          </a:p>
        </p:txBody>
      </p:sp>
      <p:sp>
        <p:nvSpPr>
          <p:cNvPr id="41988" name="Text Box 3"/>
          <p:cNvSpPr txBox="1">
            <a:spLocks noChangeArrowheads="1"/>
          </p:cNvSpPr>
          <p:nvPr/>
        </p:nvSpPr>
        <p:spPr bwMode="auto">
          <a:xfrm>
            <a:off x="406400" y="914401"/>
            <a:ext cx="114808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>
                <a:cs typeface="Times New Roman" pitchFamily="18" charset="0"/>
              </a:rPr>
              <a:t>The three forms of loop statements, </a:t>
            </a:r>
            <a:r>
              <a:rPr lang="en-US" altLang="en-US" sz="2400" u="sng">
                <a:cs typeface="Times New Roman" pitchFamily="18" charset="0"/>
              </a:rPr>
              <a:t>while</a:t>
            </a:r>
            <a:r>
              <a:rPr lang="en-US" altLang="en-US" sz="2400">
                <a:cs typeface="Times New Roman" pitchFamily="18" charset="0"/>
              </a:rPr>
              <a:t>, </a:t>
            </a:r>
            <a:r>
              <a:rPr lang="en-US" altLang="en-US" sz="2400" u="sng">
                <a:cs typeface="Times New Roman" pitchFamily="18" charset="0"/>
              </a:rPr>
              <a:t>do-while</a:t>
            </a:r>
            <a:r>
              <a:rPr lang="en-US" altLang="en-US" sz="2400">
                <a:cs typeface="Times New Roman" pitchFamily="18" charset="0"/>
              </a:rPr>
              <a:t>, and </a:t>
            </a:r>
            <a:r>
              <a:rPr lang="en-US" altLang="en-US" sz="2400" u="sng">
                <a:cs typeface="Times New Roman" pitchFamily="18" charset="0"/>
              </a:rPr>
              <a:t>for</a:t>
            </a:r>
            <a:r>
              <a:rPr lang="en-US" altLang="en-US" sz="2400">
                <a:cs typeface="Times New Roman" pitchFamily="18" charset="0"/>
              </a:rPr>
              <a:t>, are expressively equivalent; that is, you can write a loop in any of these three forms.</a:t>
            </a:r>
            <a:r>
              <a:rPr lang="en-US" altLang="en-US" sz="2400"/>
              <a:t> </a:t>
            </a:r>
            <a:r>
              <a:rPr lang="en-US" altLang="en-US" sz="2400">
                <a:cs typeface="Courier New" pitchFamily="49" charset="0"/>
              </a:rPr>
              <a:t>For example, a </a:t>
            </a:r>
            <a:r>
              <a:rPr lang="en-US" altLang="en-US" sz="2400" u="sng">
                <a:cs typeface="Courier New" pitchFamily="49" charset="0"/>
              </a:rPr>
              <a:t>while</a:t>
            </a:r>
            <a:r>
              <a:rPr lang="en-US" altLang="en-US" sz="2400">
                <a:cs typeface="Courier New" pitchFamily="49" charset="0"/>
              </a:rPr>
              <a:t> loop in (a) in the following figure can always be converted into the following </a:t>
            </a:r>
            <a:r>
              <a:rPr lang="en-US" altLang="en-US" sz="2400" u="sng">
                <a:cs typeface="Courier New" pitchFamily="49" charset="0"/>
              </a:rPr>
              <a:t>for</a:t>
            </a:r>
            <a:r>
              <a:rPr lang="en-US" altLang="en-US" sz="2400">
                <a:cs typeface="Courier New" pitchFamily="49" charset="0"/>
              </a:rPr>
              <a:t> loop in (b):</a:t>
            </a:r>
            <a:endParaRPr lang="en-US" altLang="en-US" sz="2400"/>
          </a:p>
        </p:txBody>
      </p:sp>
      <p:sp>
        <p:nvSpPr>
          <p:cNvPr id="41989" name="Rectangle 10"/>
          <p:cNvSpPr>
            <a:spLocks noChangeArrowheads="1"/>
          </p:cNvSpPr>
          <p:nvPr/>
        </p:nvSpPr>
        <p:spPr bwMode="auto">
          <a:xfrm>
            <a:off x="2635251" y="3133725"/>
            <a:ext cx="12192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 altLang="en-US"/>
          </a:p>
        </p:txBody>
      </p:sp>
      <p:sp>
        <p:nvSpPr>
          <p:cNvPr id="41990" name="Text Box 11"/>
          <p:cNvSpPr txBox="1">
            <a:spLocks noChangeArrowheads="1"/>
          </p:cNvSpPr>
          <p:nvPr/>
        </p:nvSpPr>
        <p:spPr bwMode="auto">
          <a:xfrm>
            <a:off x="406400" y="3962401"/>
            <a:ext cx="1148080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altLang="en-US" sz="2000" dirty="0">
                <a:cs typeface="Times New Roman" pitchFamily="18" charset="0"/>
              </a:rPr>
              <a:t>A for loop in (a) in the following figure can generally be converted into the following while loop in (b) except in certain special</a:t>
            </a:r>
          </a:p>
        </p:txBody>
      </p:sp>
      <p:sp>
        <p:nvSpPr>
          <p:cNvPr id="41991" name="Rectangle 13"/>
          <p:cNvSpPr>
            <a:spLocks noChangeArrowheads="1"/>
          </p:cNvSpPr>
          <p:nvPr/>
        </p:nvSpPr>
        <p:spPr bwMode="auto">
          <a:xfrm>
            <a:off x="2698751" y="3009900"/>
            <a:ext cx="12192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 altLang="en-US"/>
          </a:p>
        </p:txBody>
      </p:sp>
      <p:graphicFrame>
        <p:nvGraphicFramePr>
          <p:cNvPr id="41992" name="Object 12"/>
          <p:cNvGraphicFramePr>
            <a:graphicFrameLocks noChangeAspect="1"/>
          </p:cNvGraphicFramePr>
          <p:nvPr/>
        </p:nvGraphicFramePr>
        <p:xfrm>
          <a:off x="306918" y="5029200"/>
          <a:ext cx="11679767" cy="1441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5277612" imgH="870204" progId="Word.Picture.8">
                  <p:embed/>
                </p:oleObj>
              </mc:Choice>
              <mc:Fallback>
                <p:oleObj name="Picture" r:id="rId2" imgW="5277612" imgH="870204" progId="Word.Picture.8">
                  <p:embed/>
                  <p:pic>
                    <p:nvPicPr>
                      <p:cNvPr id="41992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918" y="5029200"/>
                        <a:ext cx="11679767" cy="1441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3" name="Rectangle 15"/>
          <p:cNvSpPr>
            <a:spLocks noChangeArrowheads="1"/>
          </p:cNvSpPr>
          <p:nvPr/>
        </p:nvSpPr>
        <p:spPr bwMode="auto">
          <a:xfrm>
            <a:off x="2635251" y="3133725"/>
            <a:ext cx="12192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 altLang="en-US"/>
          </a:p>
        </p:txBody>
      </p:sp>
      <p:graphicFrame>
        <p:nvGraphicFramePr>
          <p:cNvPr id="41994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1330971"/>
              </p:ext>
            </p:extLst>
          </p:nvPr>
        </p:nvGraphicFramePr>
        <p:xfrm>
          <a:off x="152400" y="2459098"/>
          <a:ext cx="11988800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4" imgW="5375148" imgH="612648" progId="Word.Picture.8">
                  <p:embed/>
                </p:oleObj>
              </mc:Choice>
              <mc:Fallback>
                <p:oleObj name="Picture" r:id="rId4" imgW="5375148" imgH="612648" progId="Word.Picture.8">
                  <p:embed/>
                  <p:pic>
                    <p:nvPicPr>
                      <p:cNvPr id="41994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2459098"/>
                        <a:ext cx="11988800" cy="1022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998420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4D65B4C6-CCC4-4045-AE80-6E6FAFE43D13}" type="slidenum">
              <a:rPr lang="en-US" altLang="en-US" sz="1400"/>
              <a:pPr/>
              <a:t>9</a:t>
            </a:fld>
            <a:endParaRPr lang="en-US" altLang="en-US" sz="1400"/>
          </a:p>
        </p:txBody>
      </p:sp>
      <p:sp>
        <p:nvSpPr>
          <p:cNvPr id="43011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0"/>
            <a:ext cx="10363200" cy="1219200"/>
          </a:xfrm>
        </p:spPr>
        <p:txBody>
          <a:bodyPr/>
          <a:lstStyle/>
          <a:p>
            <a:r>
              <a:rPr lang="en-US" altLang="en-US"/>
              <a:t>Recommendations</a:t>
            </a:r>
          </a:p>
        </p:txBody>
      </p:sp>
      <p:sp>
        <p:nvSpPr>
          <p:cNvPr id="43012" name="Text Box 3"/>
          <p:cNvSpPr txBox="1">
            <a:spLocks noChangeArrowheads="1"/>
          </p:cNvSpPr>
          <p:nvPr/>
        </p:nvSpPr>
        <p:spPr bwMode="auto">
          <a:xfrm>
            <a:off x="406400" y="1143001"/>
            <a:ext cx="11277600" cy="37548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800" dirty="0">
                <a:latin typeface="+mn-lt"/>
                <a:cs typeface="Times New Roman" pitchFamily="18" charset="0"/>
              </a:rPr>
              <a:t>Use the one that is most intuitive and comfortable for you. </a:t>
            </a:r>
          </a:p>
          <a:p>
            <a:pPr marL="457200" indent="-457200">
              <a:spcBef>
                <a:spcPct val="50000"/>
              </a:spcBef>
              <a:buFont typeface="Arial" pitchFamily="34" charset="0"/>
              <a:buChar char="•"/>
            </a:pPr>
            <a:r>
              <a:rPr lang="en-US" altLang="en-US" sz="2800" dirty="0">
                <a:latin typeface="+mn-lt"/>
                <a:cs typeface="Times New Roman" pitchFamily="18" charset="0"/>
              </a:rPr>
              <a:t>In general, a </a:t>
            </a:r>
            <a:r>
              <a:rPr lang="en-US" altLang="en-US" sz="2800" b="1" dirty="0">
                <a:latin typeface="+mn-lt"/>
                <a:cs typeface="Times New Roman" pitchFamily="18" charset="0"/>
              </a:rPr>
              <a:t>for loop </a:t>
            </a:r>
            <a:r>
              <a:rPr lang="en-US" altLang="en-US" sz="2800" dirty="0">
                <a:latin typeface="+mn-lt"/>
                <a:cs typeface="Times New Roman" pitchFamily="18" charset="0"/>
              </a:rPr>
              <a:t>may be used if the number of repetitions is known, as, for example, when you need to print a message 100 times. </a:t>
            </a:r>
          </a:p>
          <a:p>
            <a:pPr marL="457200" indent="-457200">
              <a:spcBef>
                <a:spcPct val="50000"/>
              </a:spcBef>
              <a:buFont typeface="Arial" pitchFamily="34" charset="0"/>
              <a:buChar char="•"/>
            </a:pPr>
            <a:r>
              <a:rPr lang="en-US" altLang="en-US" sz="2800" dirty="0">
                <a:latin typeface="+mn-lt"/>
                <a:cs typeface="Times New Roman" pitchFamily="18" charset="0"/>
              </a:rPr>
              <a:t>A </a:t>
            </a:r>
            <a:r>
              <a:rPr lang="en-US" altLang="en-US" sz="2800" b="1" dirty="0">
                <a:latin typeface="+mn-lt"/>
                <a:cs typeface="Times New Roman" pitchFamily="18" charset="0"/>
              </a:rPr>
              <a:t>while loop </a:t>
            </a:r>
            <a:r>
              <a:rPr lang="en-US" altLang="en-US" sz="2800" dirty="0">
                <a:latin typeface="+mn-lt"/>
                <a:cs typeface="Times New Roman" pitchFamily="18" charset="0"/>
              </a:rPr>
              <a:t>may be used if the number of repetitions is not known, as in the case of reading the numbers until the input is 0. </a:t>
            </a:r>
          </a:p>
          <a:p>
            <a:pPr marL="457200" indent="-457200">
              <a:spcBef>
                <a:spcPct val="50000"/>
              </a:spcBef>
              <a:buFont typeface="Arial" pitchFamily="34" charset="0"/>
              <a:buChar char="•"/>
            </a:pPr>
            <a:r>
              <a:rPr lang="en-US" altLang="en-US" sz="2800" dirty="0">
                <a:latin typeface="+mn-lt"/>
                <a:cs typeface="Times New Roman" pitchFamily="18" charset="0"/>
              </a:rPr>
              <a:t>A </a:t>
            </a:r>
            <a:r>
              <a:rPr lang="en-US" altLang="en-US" sz="2800" b="1" dirty="0">
                <a:latin typeface="+mn-lt"/>
                <a:cs typeface="Times New Roman" pitchFamily="18" charset="0"/>
              </a:rPr>
              <a:t>do-while loop </a:t>
            </a:r>
            <a:r>
              <a:rPr lang="en-US" altLang="en-US" sz="2800" dirty="0">
                <a:latin typeface="+mn-lt"/>
                <a:cs typeface="Times New Roman" pitchFamily="18" charset="0"/>
              </a:rPr>
              <a:t>can be used to replace a while loop if the loop body has to be executed before testing the continuation condition.</a:t>
            </a:r>
          </a:p>
        </p:txBody>
      </p:sp>
    </p:spTree>
    <p:extLst>
      <p:ext uri="{BB962C8B-B14F-4D97-AF65-F5344CB8AC3E}">
        <p14:creationId xmlns:p14="http://schemas.microsoft.com/office/powerpoint/2010/main" val="14190338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FA0679A6-9AC4-4BD5-94AC-9B1894320337}" type="slidenum">
              <a:rPr lang="en-US" altLang="en-US" sz="1400"/>
              <a:pPr/>
              <a:t>10</a:t>
            </a:fld>
            <a:endParaRPr lang="en-US" altLang="en-US" sz="1400"/>
          </a:p>
        </p:txBody>
      </p:sp>
      <p:sp>
        <p:nvSpPr>
          <p:cNvPr id="52227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0"/>
            <a:ext cx="10363200" cy="1428750"/>
          </a:xfrm>
        </p:spPr>
        <p:txBody>
          <a:bodyPr/>
          <a:lstStyle/>
          <a:p>
            <a:r>
              <a:rPr lang="en-US" altLang="en-US" sz="4200">
                <a:latin typeface="Courier New" pitchFamily="49" charset="0"/>
              </a:rPr>
              <a:t>break</a:t>
            </a:r>
            <a:endParaRPr lang="en-US" altLang="en-US"/>
          </a:p>
        </p:txBody>
      </p:sp>
      <p:sp>
        <p:nvSpPr>
          <p:cNvPr id="52228" name="Rectangle 11"/>
          <p:cNvSpPr>
            <a:spLocks noChangeArrowheads="1"/>
          </p:cNvSpPr>
          <p:nvPr/>
        </p:nvSpPr>
        <p:spPr bwMode="auto">
          <a:xfrm>
            <a:off x="-101600" y="22918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 altLang="en-US"/>
          </a:p>
        </p:txBody>
      </p:sp>
      <p:graphicFrame>
        <p:nvGraphicFramePr>
          <p:cNvPr id="52229" name="Object 10"/>
          <p:cNvGraphicFramePr>
            <a:graphicFrameLocks noChangeAspect="1"/>
          </p:cNvGraphicFramePr>
          <p:nvPr/>
        </p:nvGraphicFramePr>
        <p:xfrm>
          <a:off x="421218" y="1162050"/>
          <a:ext cx="10170583" cy="439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3429000" imgH="1968500" progId="Word.Picture.8">
                  <p:embed/>
                </p:oleObj>
              </mc:Choice>
              <mc:Fallback>
                <p:oleObj name="Picture" r:id="rId2" imgW="3429000" imgH="1968500" progId="Word.Picture.8">
                  <p:embed/>
                  <p:pic>
                    <p:nvPicPr>
                      <p:cNvPr id="52229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218" y="1162050"/>
                        <a:ext cx="10170583" cy="4395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30" name="Rectangle 12"/>
          <p:cNvSpPr>
            <a:spLocks noChangeArrowheads="1"/>
          </p:cNvSpPr>
          <p:nvPr/>
        </p:nvSpPr>
        <p:spPr bwMode="auto">
          <a:xfrm>
            <a:off x="101600" y="41968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71417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938328A9-BC83-4ECE-B8D3-91E8175137CC}" type="slidenum">
              <a:rPr lang="en-US" altLang="en-US" sz="1400"/>
              <a:pPr/>
              <a:t>11</a:t>
            </a:fld>
            <a:endParaRPr lang="en-US" altLang="en-US" sz="1400"/>
          </a:p>
        </p:txBody>
      </p:sp>
      <p:sp>
        <p:nvSpPr>
          <p:cNvPr id="53251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0"/>
            <a:ext cx="10363200" cy="1428750"/>
          </a:xfrm>
        </p:spPr>
        <p:txBody>
          <a:bodyPr/>
          <a:lstStyle/>
          <a:p>
            <a:r>
              <a:rPr lang="en-US" altLang="en-US" sz="4200">
                <a:latin typeface="Courier New" pitchFamily="49" charset="0"/>
              </a:rPr>
              <a:t>continue</a:t>
            </a:r>
            <a:endParaRPr lang="en-US" altLang="en-US"/>
          </a:p>
        </p:txBody>
      </p:sp>
      <p:sp>
        <p:nvSpPr>
          <p:cNvPr id="53252" name="Rectangle 3"/>
          <p:cNvSpPr>
            <a:spLocks noChangeArrowheads="1"/>
          </p:cNvSpPr>
          <p:nvPr/>
        </p:nvSpPr>
        <p:spPr bwMode="auto">
          <a:xfrm>
            <a:off x="-101600" y="22918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 altLang="en-US"/>
          </a:p>
        </p:txBody>
      </p:sp>
      <p:sp>
        <p:nvSpPr>
          <p:cNvPr id="53253" name="Rectangle 5"/>
          <p:cNvSpPr>
            <a:spLocks noChangeArrowheads="1"/>
          </p:cNvSpPr>
          <p:nvPr/>
        </p:nvSpPr>
        <p:spPr bwMode="auto">
          <a:xfrm>
            <a:off x="101600" y="41968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 altLang="en-US"/>
          </a:p>
        </p:txBody>
      </p:sp>
      <p:sp>
        <p:nvSpPr>
          <p:cNvPr id="53254" name="Rectangle 7"/>
          <p:cNvSpPr>
            <a:spLocks noChangeArrowheads="1"/>
          </p:cNvSpPr>
          <p:nvPr/>
        </p:nvSpPr>
        <p:spPr bwMode="auto">
          <a:xfrm>
            <a:off x="0" y="233945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 altLang="en-US"/>
          </a:p>
        </p:txBody>
      </p:sp>
      <p:sp>
        <p:nvSpPr>
          <p:cNvPr id="53255" name="Rectangle 9"/>
          <p:cNvSpPr>
            <a:spLocks noChangeArrowheads="1"/>
          </p:cNvSpPr>
          <p:nvPr/>
        </p:nvSpPr>
        <p:spPr bwMode="auto">
          <a:xfrm>
            <a:off x="0" y="233945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 altLang="en-US"/>
          </a:p>
        </p:txBody>
      </p:sp>
      <p:graphicFrame>
        <p:nvGraphicFramePr>
          <p:cNvPr id="5325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5440635"/>
              </p:ext>
            </p:extLst>
          </p:nvPr>
        </p:nvGraphicFramePr>
        <p:xfrm>
          <a:off x="304800" y="1284288"/>
          <a:ext cx="10826750" cy="4846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3114000" imgH="1874520" progId="Word.Picture.8">
                  <p:embed/>
                </p:oleObj>
              </mc:Choice>
              <mc:Fallback>
                <p:oleObj name="Picture" r:id="rId2" imgW="3114000" imgH="1874520" progId="Word.Picture.8">
                  <p:embed/>
                  <p:pic>
                    <p:nvPicPr>
                      <p:cNvPr id="5325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1284288"/>
                        <a:ext cx="10826750" cy="4846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53564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CB38BAF0-C77B-4D51-A6D0-DAFBFD2612A7}" type="slidenum">
              <a:rPr lang="en-US" altLang="en-US" sz="1400"/>
              <a:pPr/>
              <a:t>12</a:t>
            </a:fld>
            <a:endParaRPr lang="en-US" altLang="en-US" sz="1400"/>
          </a:p>
        </p:txBody>
      </p:sp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228600"/>
            <a:ext cx="11379200" cy="1143000"/>
          </a:xfrm>
        </p:spPr>
        <p:txBody>
          <a:bodyPr/>
          <a:lstStyle/>
          <a:p>
            <a:r>
              <a:rPr lang="en-US" altLang="en-US"/>
              <a:t>Nested Loops </a:t>
            </a:r>
          </a:p>
        </p:txBody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00201"/>
            <a:ext cx="11582400" cy="1444625"/>
          </a:xfrm>
        </p:spPr>
        <p:txBody>
          <a:bodyPr/>
          <a:lstStyle/>
          <a:p>
            <a:pPr marL="0" indent="0">
              <a:buFont typeface="Monotype Sorts" pitchFamily="2" charset="2"/>
              <a:buNone/>
            </a:pPr>
            <a:r>
              <a:rPr lang="en-US" altLang="en-US" sz="3400">
                <a:cs typeface="Courier New" pitchFamily="49" charset="0"/>
              </a:rPr>
              <a:t>Problem: Write a program that uses nested for loops to print a multiplication table.</a:t>
            </a:r>
          </a:p>
        </p:txBody>
      </p:sp>
    </p:spTree>
    <p:extLst>
      <p:ext uri="{BB962C8B-B14F-4D97-AF65-F5344CB8AC3E}">
        <p14:creationId xmlns:p14="http://schemas.microsoft.com/office/powerpoint/2010/main" val="4911295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12915</TotalTime>
  <Words>603</Words>
  <Application>Microsoft Office PowerPoint</Application>
  <PresentationFormat>Widescreen</PresentationFormat>
  <Paragraphs>75</Paragraphs>
  <Slides>12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Arial</vt:lpstr>
      <vt:lpstr>Book Antiqua</vt:lpstr>
      <vt:lpstr>Calibri</vt:lpstr>
      <vt:lpstr>Calibri Light</vt:lpstr>
      <vt:lpstr>Courier</vt:lpstr>
      <vt:lpstr>Courier New</vt:lpstr>
      <vt:lpstr>Monotype Sorts</vt:lpstr>
      <vt:lpstr>Times New Roman</vt:lpstr>
      <vt:lpstr>Office Theme</vt:lpstr>
      <vt:lpstr>Picture</vt:lpstr>
      <vt:lpstr>Repetition Statements (loops) Lecture 11</vt:lpstr>
      <vt:lpstr>Outline</vt:lpstr>
      <vt:lpstr>for Loops</vt:lpstr>
      <vt:lpstr>Note</vt:lpstr>
      <vt:lpstr>Note</vt:lpstr>
      <vt:lpstr>Caution</vt:lpstr>
      <vt:lpstr>Caution, cont.</vt:lpstr>
      <vt:lpstr>Which Loop to Use?</vt:lpstr>
      <vt:lpstr>Recommendations</vt:lpstr>
      <vt:lpstr>break</vt:lpstr>
      <vt:lpstr>continue</vt:lpstr>
      <vt:lpstr>Nested Loops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Loops – While, Do, For</dc:title>
  <dc:creator>mh sh</dc:creator>
  <cp:lastModifiedBy>Rizwan Rashid</cp:lastModifiedBy>
  <cp:revision>44</cp:revision>
  <dcterms:created xsi:type="dcterms:W3CDTF">2015-11-10T11:22:03Z</dcterms:created>
  <dcterms:modified xsi:type="dcterms:W3CDTF">2022-10-18T05:39:22Z</dcterms:modified>
</cp:coreProperties>
</file>