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30"/>
  </p:notesMasterIdLst>
  <p:sldIdLst>
    <p:sldId id="256" r:id="rId4"/>
    <p:sldId id="275" r:id="rId5"/>
    <p:sldId id="25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2" r:id="rId20"/>
    <p:sldId id="293" r:id="rId21"/>
    <p:sldId id="294" r:id="rId22"/>
    <p:sldId id="297" r:id="rId23"/>
    <p:sldId id="295" r:id="rId24"/>
    <p:sldId id="298" r:id="rId25"/>
    <p:sldId id="299" r:id="rId26"/>
    <p:sldId id="296" r:id="rId27"/>
    <p:sldId id="300" r:id="rId28"/>
    <p:sldId id="30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49444E-BB70-2D8A-CD23-5CD3981B5BAE}" v="1" dt="2024-04-01T17:12:00.959"/>
    <p1510:client id="{354CE573-E2B6-4BAE-9AF9-A235FF6F4858}" v="1" dt="2024-04-02T00:26:05.150"/>
    <p1510:client id="{884DF8F3-BF07-88D1-E075-016BA276BB51}" v="5" dt="2024-03-31T18:16:32.940"/>
    <p1510:client id="{C111B794-ACCE-D2C7-AFD5-7FCE9BF05FDF}" v="13" dt="2024-03-31T13:44:50.4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1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microsoft.com/office/2015/10/relationships/revisionInfo" Target="revisionInfo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FA23-BDS-024) MUHAMMAD ALI ARSHAD" userId="S::fa23-bds-024@isbstudent.comsats.edu.pk::6d06d01e-0f6d-4926-a708-0ddff21ee8a6" providerId="AD" clId="Web-{C111B794-ACCE-D2C7-AFD5-7FCE9BF05FDF}"/>
    <pc:docChg chg="modSld">
      <pc:chgData name="(FA23-BDS-024) MUHAMMAD ALI ARSHAD" userId="S::fa23-bds-024@isbstudent.comsats.edu.pk::6d06d01e-0f6d-4926-a708-0ddff21ee8a6" providerId="AD" clId="Web-{C111B794-ACCE-D2C7-AFD5-7FCE9BF05FDF}" dt="2024-03-31T13:44:50.494" v="12" actId="14100"/>
      <pc:docMkLst>
        <pc:docMk/>
      </pc:docMkLst>
      <pc:sldChg chg="modSp">
        <pc:chgData name="(FA23-BDS-024) MUHAMMAD ALI ARSHAD" userId="S::fa23-bds-024@isbstudent.comsats.edu.pk::6d06d01e-0f6d-4926-a708-0ddff21ee8a6" providerId="AD" clId="Web-{C111B794-ACCE-D2C7-AFD5-7FCE9BF05FDF}" dt="2024-03-31T13:12:32.991" v="1" actId="1076"/>
        <pc:sldMkLst>
          <pc:docMk/>
          <pc:sldMk cId="2879906895" sldId="289"/>
        </pc:sldMkLst>
        <pc:picChg chg="mod">
          <ac:chgData name="(FA23-BDS-024) MUHAMMAD ALI ARSHAD" userId="S::fa23-bds-024@isbstudent.comsats.edu.pk::6d06d01e-0f6d-4926-a708-0ddff21ee8a6" providerId="AD" clId="Web-{C111B794-ACCE-D2C7-AFD5-7FCE9BF05FDF}" dt="2024-03-31T13:12:32.991" v="1" actId="1076"/>
          <ac:picMkLst>
            <pc:docMk/>
            <pc:sldMk cId="2879906895" sldId="289"/>
            <ac:picMk id="5" creationId="{985FB3B4-7E29-DD0B-1991-95780EF90F4F}"/>
          </ac:picMkLst>
        </pc:picChg>
      </pc:sldChg>
      <pc:sldChg chg="modSp">
        <pc:chgData name="(FA23-BDS-024) MUHAMMAD ALI ARSHAD" userId="S::fa23-bds-024@isbstudent.comsats.edu.pk::6d06d01e-0f6d-4926-a708-0ddff21ee8a6" providerId="AD" clId="Web-{C111B794-ACCE-D2C7-AFD5-7FCE9BF05FDF}" dt="2024-03-31T13:43:08.099" v="3" actId="1076"/>
        <pc:sldMkLst>
          <pc:docMk/>
          <pc:sldMk cId="1452319016" sldId="290"/>
        </pc:sldMkLst>
        <pc:picChg chg="mod">
          <ac:chgData name="(FA23-BDS-024) MUHAMMAD ALI ARSHAD" userId="S::fa23-bds-024@isbstudent.comsats.edu.pk::6d06d01e-0f6d-4926-a708-0ddff21ee8a6" providerId="AD" clId="Web-{C111B794-ACCE-D2C7-AFD5-7FCE9BF05FDF}" dt="2024-03-31T13:43:08.099" v="3" actId="1076"/>
          <ac:picMkLst>
            <pc:docMk/>
            <pc:sldMk cId="1452319016" sldId="290"/>
            <ac:picMk id="5" creationId="{D8116972-8D3D-D577-14FB-CA09C4D48796}"/>
          </ac:picMkLst>
        </pc:picChg>
      </pc:sldChg>
      <pc:sldChg chg="modSp">
        <pc:chgData name="(FA23-BDS-024) MUHAMMAD ALI ARSHAD" userId="S::fa23-bds-024@isbstudent.comsats.edu.pk::6d06d01e-0f6d-4926-a708-0ddff21ee8a6" providerId="AD" clId="Web-{C111B794-ACCE-D2C7-AFD5-7FCE9BF05FDF}" dt="2024-03-31T13:44:50.494" v="12" actId="14100"/>
        <pc:sldMkLst>
          <pc:docMk/>
          <pc:sldMk cId="3913163186" sldId="292"/>
        </pc:sldMkLst>
        <pc:picChg chg="mod">
          <ac:chgData name="(FA23-BDS-024) MUHAMMAD ALI ARSHAD" userId="S::fa23-bds-024@isbstudent.comsats.edu.pk::6d06d01e-0f6d-4926-a708-0ddff21ee8a6" providerId="AD" clId="Web-{C111B794-ACCE-D2C7-AFD5-7FCE9BF05FDF}" dt="2024-03-31T13:44:50.494" v="12" actId="14100"/>
          <ac:picMkLst>
            <pc:docMk/>
            <pc:sldMk cId="3913163186" sldId="292"/>
            <ac:picMk id="5" creationId="{887AC099-0E0D-C1DE-BB10-29307C523759}"/>
          </ac:picMkLst>
        </pc:picChg>
      </pc:sldChg>
    </pc:docChg>
  </pc:docChgLst>
  <pc:docChgLst>
    <pc:chgData name="(FA23-BDS-036) SHARIA NOOR" userId="S::fa23-bds-036@isbstudent.comsats.edu.pk::1b2a9453-6ecc-4ebe-9b96-3d7c31d6788b" providerId="AD" clId="Web-{354CE573-E2B6-4BAE-9AF9-A235FF6F4858}"/>
    <pc:docChg chg="modSld">
      <pc:chgData name="(FA23-BDS-036) SHARIA NOOR" userId="S::fa23-bds-036@isbstudent.comsats.edu.pk::1b2a9453-6ecc-4ebe-9b96-3d7c31d6788b" providerId="AD" clId="Web-{354CE573-E2B6-4BAE-9AF9-A235FF6F4858}" dt="2024-04-02T00:26:05.150" v="0" actId="1076"/>
      <pc:docMkLst>
        <pc:docMk/>
      </pc:docMkLst>
      <pc:sldChg chg="modSp">
        <pc:chgData name="(FA23-BDS-036) SHARIA NOOR" userId="S::fa23-bds-036@isbstudent.comsats.edu.pk::1b2a9453-6ecc-4ebe-9b96-3d7c31d6788b" providerId="AD" clId="Web-{354CE573-E2B6-4BAE-9AF9-A235FF6F4858}" dt="2024-04-02T00:26:05.150" v="0" actId="1076"/>
        <pc:sldMkLst>
          <pc:docMk/>
          <pc:sldMk cId="2044830460" sldId="294"/>
        </pc:sldMkLst>
        <pc:picChg chg="mod">
          <ac:chgData name="(FA23-BDS-036) SHARIA NOOR" userId="S::fa23-bds-036@isbstudent.comsats.edu.pk::1b2a9453-6ecc-4ebe-9b96-3d7c31d6788b" providerId="AD" clId="Web-{354CE573-E2B6-4BAE-9AF9-A235FF6F4858}" dt="2024-04-02T00:26:05.150" v="0" actId="1076"/>
          <ac:picMkLst>
            <pc:docMk/>
            <pc:sldMk cId="2044830460" sldId="294"/>
            <ac:picMk id="7" creationId="{A2ACBBAE-604B-97E6-D0C6-2F1958A647C7}"/>
          </ac:picMkLst>
        </pc:picChg>
      </pc:sldChg>
    </pc:docChg>
  </pc:docChgLst>
  <pc:docChgLst>
    <pc:chgData name="(FA23-BDS-024) MUHAMMAD ALI ARSHAD" userId="S::fa23-bds-024@isbstudent.comsats.edu.pk::6d06d01e-0f6d-4926-a708-0ddff21ee8a6" providerId="AD" clId="Web-{884DF8F3-BF07-88D1-E075-016BA276BB51}"/>
    <pc:docChg chg="modSld">
      <pc:chgData name="(FA23-BDS-024) MUHAMMAD ALI ARSHAD" userId="S::fa23-bds-024@isbstudent.comsats.edu.pk::6d06d01e-0f6d-4926-a708-0ddff21ee8a6" providerId="AD" clId="Web-{884DF8F3-BF07-88D1-E075-016BA276BB51}" dt="2024-03-31T18:16:32.940" v="4" actId="1076"/>
      <pc:docMkLst>
        <pc:docMk/>
      </pc:docMkLst>
      <pc:sldChg chg="modSp">
        <pc:chgData name="(FA23-BDS-024) MUHAMMAD ALI ARSHAD" userId="S::fa23-bds-024@isbstudent.comsats.edu.pk::6d06d01e-0f6d-4926-a708-0ddff21ee8a6" providerId="AD" clId="Web-{884DF8F3-BF07-88D1-E075-016BA276BB51}" dt="2024-03-31T18:16:32.940" v="4" actId="1076"/>
        <pc:sldMkLst>
          <pc:docMk/>
          <pc:sldMk cId="3913163186" sldId="292"/>
        </pc:sldMkLst>
        <pc:picChg chg="mod">
          <ac:chgData name="(FA23-BDS-024) MUHAMMAD ALI ARSHAD" userId="S::fa23-bds-024@isbstudent.comsats.edu.pk::6d06d01e-0f6d-4926-a708-0ddff21ee8a6" providerId="AD" clId="Web-{884DF8F3-BF07-88D1-E075-016BA276BB51}" dt="2024-03-31T18:16:32.940" v="4" actId="1076"/>
          <ac:picMkLst>
            <pc:docMk/>
            <pc:sldMk cId="3913163186" sldId="292"/>
            <ac:picMk id="5" creationId="{887AC099-0E0D-C1DE-BB10-29307C523759}"/>
          </ac:picMkLst>
        </pc:picChg>
      </pc:sldChg>
    </pc:docChg>
  </pc:docChgLst>
  <pc:docChgLst>
    <pc:chgData name="(FA23-BDS-022) MOMINA" userId="S::fa23-bds-022@isbstudent.comsats.edu.pk::ee01b7be-dc7b-47b8-a3ad-edd0a5a9c577" providerId="AD" clId="Web-{0149444E-BB70-2D8A-CD23-5CD3981B5BAE}"/>
    <pc:docChg chg="sldOrd">
      <pc:chgData name="(FA23-BDS-022) MOMINA" userId="S::fa23-bds-022@isbstudent.comsats.edu.pk::ee01b7be-dc7b-47b8-a3ad-edd0a5a9c577" providerId="AD" clId="Web-{0149444E-BB70-2D8A-CD23-5CD3981B5BAE}" dt="2024-04-01T17:12:00.959" v="0"/>
      <pc:docMkLst>
        <pc:docMk/>
      </pc:docMkLst>
      <pc:sldChg chg="ord">
        <pc:chgData name="(FA23-BDS-022) MOMINA" userId="S::fa23-bds-022@isbstudent.comsats.edu.pk::ee01b7be-dc7b-47b8-a3ad-edd0a5a9c577" providerId="AD" clId="Web-{0149444E-BB70-2D8A-CD23-5CD3981B5BAE}" dt="2024-04-01T17:12:00.959" v="0"/>
        <pc:sldMkLst>
          <pc:docMk/>
          <pc:sldMk cId="223263312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2414C2-1AFD-4239-855D-8D8B04ADB8AA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9D7088-9D15-42A8-863D-E536478BFD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69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b="1"/>
              <a:t>Calculate the mean (average)</a:t>
            </a:r>
          </a:p>
          <a:p>
            <a:pPr>
              <a:buFont typeface="+mj-lt"/>
              <a:buAutoNum type="arabicPeriod"/>
            </a:pPr>
            <a:r>
              <a:rPr lang="en-US" b="1"/>
              <a:t>Calculate the squared difference</a:t>
            </a:r>
            <a:r>
              <a:rPr lang="en-US"/>
              <a:t> (num – mean) power 2</a:t>
            </a:r>
          </a:p>
          <a:p>
            <a:pPr>
              <a:buFont typeface="+mj-lt"/>
              <a:buAutoNum type="arabicPeriod"/>
            </a:pPr>
            <a:r>
              <a:rPr lang="en-US" b="1"/>
              <a:t>Calculate the mean of the squared differences</a:t>
            </a:r>
            <a:r>
              <a:rPr lang="en-US"/>
              <a:t>.</a:t>
            </a:r>
          </a:p>
          <a:p>
            <a:pPr>
              <a:buFont typeface="+mj-lt"/>
              <a:buAutoNum type="arabicPeriod"/>
            </a:pPr>
            <a:r>
              <a:rPr lang="en-US" b="1"/>
              <a:t>Take the square root</a:t>
            </a:r>
            <a:r>
              <a:rPr lang="en-US"/>
              <a:t> of the mean of the squared differences.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D7088-9D15-42A8-863D-E536478BFD2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9369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BB49-1727-4D80-2A01-58F81373EE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334F3E-7B04-DF52-C971-7CD24C64D7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28605-6652-E0F2-D19F-EF87A3C49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2FE32-060B-43CE-81FE-F87E3EEF0A03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D6006-DD5D-F1CD-5B12-8DC1AD6D6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14F5D-351D-8952-7B10-29357A3DC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15760-9013-49B3-B2B9-259B1330E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120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BDC4A-4961-0E42-D680-0D8C459B6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F7B6A-F96D-D211-2A38-9A4C84890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AD913-1FA4-ED4C-E0A0-EB32850C1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2FE32-060B-43CE-81FE-F87E3EEF0A03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70D324-BC1D-8126-03FB-2E6FF444C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54C61-2A4D-2280-CDA5-D9BA75C78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15760-9013-49B3-B2B9-259B1330E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740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894C2-B589-85F2-5D77-E237981A1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F12EC-246E-F988-32DF-BE6E89821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840942-BE65-7829-B14A-C48F93E06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2FE32-060B-43CE-81FE-F87E3EEF0A03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412C8-A12F-03C4-FA64-37816595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61120-4B16-B5CA-CEE8-4F65B42A1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15760-9013-49B3-B2B9-259B1330E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314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FCC44-D4EC-7D93-3739-E1654DC96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62FA4-A156-F32C-17CB-41C6BD5FF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5A13A8-8F72-BD6D-9EB7-DA94A738D7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85C7A-94C9-44CD-36E8-C7FF36174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2FE32-060B-43CE-81FE-F87E3EEF0A03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A87B9C-6766-3826-8F20-54E7A90BD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5F7B8E-DE93-6A3B-8E81-F4048D77B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15760-9013-49B3-B2B9-259B1330E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08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98BBA-5E10-F867-F8F6-FBA454DFA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864E9-CB90-595C-CFD2-6E88E87E7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C8B38D-8CE3-2B3F-41CF-42D6DF4346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F6E647-0859-1537-B27A-88328B1D65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0985CD-BB3E-FDD3-347D-F27DFFE9A4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B7CDAC-3CFD-CD52-CCAB-954C2CED2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2FE32-060B-43CE-81FE-F87E3EEF0A03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109286-F1AA-DA8F-BA19-ABC6AB05A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92B684-2268-2AC0-62B5-720A409BD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15760-9013-49B3-B2B9-259B1330E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989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35951-6B97-57BE-7D32-775D61133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4A7597-1B18-19D4-28D6-6725A6753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2FE32-060B-43CE-81FE-F87E3EEF0A03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5C48C5-1FEF-FCD2-9047-5F1B505F5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60F4A9-0A55-9B2D-7218-8C00E8F71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15760-9013-49B3-B2B9-259B1330E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1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55B7B3-E1DF-F4B1-411E-70B39DE81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2FE32-060B-43CE-81FE-F87E3EEF0A03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1F9193-81D2-59B3-51BE-A02933CC2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56A48-94DA-1F1E-6CB3-D65A08BF9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15760-9013-49B3-B2B9-259B1330E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469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E4409-FFAF-782A-C97E-616048895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41628-9952-F65C-AF05-844908007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2281A2-8456-DF06-72BF-219F593437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0E068-67CE-9F6D-C4E7-F40B8ACE9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2FE32-060B-43CE-81FE-F87E3EEF0A03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E9EB4-0332-D69D-5130-53C432274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56D305-CE88-3702-25BF-24A3A0AC5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15760-9013-49B3-B2B9-259B1330E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72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22FD5-95DD-9D7B-A9E6-0221903D2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8301E9-8FB6-E7A6-A895-7B6C38A0FB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D764C-28AA-4E9D-2989-B21AAE423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0EEFE-E25E-A8A8-0CA6-9515E910F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2FE32-060B-43CE-81FE-F87E3EEF0A03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C2C7A-781F-D3AD-AA69-859B1C97A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04EFB-70AF-803F-DC74-2E4D12872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15760-9013-49B3-B2B9-259B1330E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79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D8CED-3E1A-A5B7-BCD5-8EDD74BC3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EE26E4-0EF2-2ED0-A789-06FC654AE5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CEA932-F063-A8A0-5A7D-01DF62590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2FE32-060B-43CE-81FE-F87E3EEF0A03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AF13B-7CBC-5F29-C0DF-5BFBA1A18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87B40-B918-D8B7-38F1-DF206934D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15760-9013-49B3-B2B9-259B1330E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674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DC5C7C-A73F-5D4C-214E-311639A891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DBE8F7-9054-E2E4-07B2-4084E53E9D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4EEF7-9302-AC2B-53CD-E98B2F8ED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2FE32-060B-43CE-81FE-F87E3EEF0A03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8CA9A-2C41-57ED-AAFB-84BE8BA85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1DB5C-5592-9840-267F-F6A6D11D8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E15760-9013-49B3-B2B9-259B1330E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549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E339DE-71CF-478A-6105-FDA1BB890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335D3F-2C62-7913-F557-00A143016A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13DD1-1CEF-BDE5-E7BF-8B7002C533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32FE32-060B-43CE-81FE-F87E3EEF0A03}" type="datetimeFigureOut">
              <a:rPr lang="en-US" smtClean="0"/>
              <a:t>4/1/2024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700BD-CD41-925E-2D88-74E6A73426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49E41-ABB8-B153-351A-0D4D54B61F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E15760-9013-49B3-B2B9-259B1330EF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040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B7A5C-7CF6-47AC-C365-59D55D5815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Lecture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5F4710-94CB-EF36-3019-23FA811384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22-3-2024</a:t>
            </a:r>
          </a:p>
        </p:txBody>
      </p:sp>
    </p:spTree>
    <p:extLst>
      <p:ext uri="{BB962C8B-B14F-4D97-AF65-F5344CB8AC3E}">
        <p14:creationId xmlns:p14="http://schemas.microsoft.com/office/powerpoint/2010/main" val="3619287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16667-B147-D70E-6459-CB7420220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8AC2F-ADA8-BA12-DC41-522BBA95B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Area of applied mathematics concerned with the data collection, analysis, interpretation and presentation.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For example; Business sales report</a:t>
            </a:r>
          </a:p>
        </p:txBody>
      </p:sp>
    </p:spTree>
    <p:extLst>
      <p:ext uri="{BB962C8B-B14F-4D97-AF65-F5344CB8AC3E}">
        <p14:creationId xmlns:p14="http://schemas.microsoft.com/office/powerpoint/2010/main" val="3356258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50FCB-642E-221D-DB75-8312B7A2A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19179-9546-36BD-0C42-6F4409F92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It is a statistical method that deals with the selection of individual observations with in a population.</a:t>
            </a:r>
          </a:p>
          <a:p>
            <a:endParaRPr lang="en-US"/>
          </a:p>
          <a:p>
            <a:r>
              <a:rPr lang="en-US"/>
              <a:t>To understand different statistics about the population like mean, median, standard deviation or variance, then we have to perform sampling.</a:t>
            </a:r>
          </a:p>
          <a:p>
            <a:endParaRPr lang="en-US"/>
          </a:p>
          <a:p>
            <a:r>
              <a:rPr lang="en-US"/>
              <a:t>Example; Eating habits of teenagers in the US.</a:t>
            </a:r>
          </a:p>
        </p:txBody>
      </p:sp>
    </p:spTree>
    <p:extLst>
      <p:ext uri="{BB962C8B-B14F-4D97-AF65-F5344CB8AC3E}">
        <p14:creationId xmlns:p14="http://schemas.microsoft.com/office/powerpoint/2010/main" val="4266628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DA92F-6F62-5E7C-3EA3-A8F911084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Basic terminologies in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7EE29-60D7-C645-4D71-DE198E355A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Population </a:t>
            </a:r>
            <a:r>
              <a:rPr lang="en-US">
                <a:sym typeface="Wingdings" panose="05000000000000000000" pitchFamily="2" charset="2"/>
              </a:rPr>
              <a:t> A collection or set of individuals, whose properties are to analyzed.</a:t>
            </a:r>
          </a:p>
          <a:p>
            <a:r>
              <a:rPr lang="en-US">
                <a:sym typeface="Wingdings" panose="05000000000000000000" pitchFamily="2" charset="2"/>
              </a:rPr>
              <a:t>Sample  A subset of population is called as “Sample”. A well-chosen sample will contain most of the information about a particular population.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633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DE648-45CC-A538-15B5-1EDF89844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Types of Sampling technique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5F34D-7572-CC5C-D642-250084BBC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Probability </a:t>
            </a:r>
            <a:r>
              <a:rPr lang="en-US">
                <a:sym typeface="Wingdings" panose="05000000000000000000" pitchFamily="2" charset="2"/>
              </a:rPr>
              <a:t> Random, Systematic, Stratified</a:t>
            </a:r>
            <a:endParaRPr lang="en-US"/>
          </a:p>
          <a:p>
            <a:r>
              <a:rPr lang="en-US"/>
              <a:t>Non-probability </a:t>
            </a:r>
            <a:r>
              <a:rPr lang="en-US">
                <a:sym typeface="Wingdings" panose="05000000000000000000" pitchFamily="2" charset="2"/>
              </a:rPr>
              <a:t> Snowball, Quota, Judgement, Convenience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401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FA9B5-931D-A5E2-E6DC-660371ECF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Probability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4767F-F1B5-CE26-B4ED-5FF5EA800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It is a sampling technique in which samples from a large population are chosen by using the theory of probability.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218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70F1C-5ADD-C065-833E-077814F21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Random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448D6-AEE0-07BB-981D-2F41955CB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Each member of the population has an equal chance of being selected in the sample.</a:t>
            </a:r>
          </a:p>
          <a:p>
            <a:endParaRPr lang="en-US"/>
          </a:p>
          <a:p>
            <a:r>
              <a:rPr lang="en-US"/>
              <a:t>Means each member is selected randomly from the population to become a part of a sample.</a:t>
            </a:r>
          </a:p>
        </p:txBody>
      </p:sp>
    </p:spTree>
    <p:extLst>
      <p:ext uri="{BB962C8B-B14F-4D97-AF65-F5344CB8AC3E}">
        <p14:creationId xmlns:p14="http://schemas.microsoft.com/office/powerpoint/2010/main" val="82145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7E6C1-385B-1E32-2434-0A51D140A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Systematic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D33D2-6B1B-DF7B-7789-BF13B5D2E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 this sampling, every n</a:t>
            </a:r>
            <a:r>
              <a:rPr lang="en-US" sz="2000"/>
              <a:t>th</a:t>
            </a:r>
            <a:r>
              <a:rPr lang="en-US"/>
              <a:t> record is chosen from the population to be a part of the sample.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08A967-A4A2-92B3-3E78-19E0B5D86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6909" y="3284594"/>
            <a:ext cx="7689822" cy="1973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583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56CFC-9448-B894-2258-CFCC2ACCE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Stratified sampling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0422AC-A334-7E34-7CAE-D3010F43A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 this sampling, a </a:t>
            </a:r>
            <a:r>
              <a:rPr lang="en-US">
                <a:solidFill>
                  <a:srgbClr val="FF0000"/>
                </a:solidFill>
              </a:rPr>
              <a:t>stratum</a:t>
            </a:r>
            <a:r>
              <a:rPr lang="en-US"/>
              <a:t> is used to chose a sample from a large population.</a:t>
            </a:r>
          </a:p>
          <a:p>
            <a:r>
              <a:rPr lang="en-US"/>
              <a:t>A stratum is a subset of the population that shares at least one common characteristics </a:t>
            </a:r>
            <a:r>
              <a:rPr lang="en-US" err="1"/>
              <a:t>eg</a:t>
            </a:r>
            <a:r>
              <a:rPr lang="en-US"/>
              <a:t>; gender.</a:t>
            </a:r>
          </a:p>
          <a:p>
            <a:r>
              <a:rPr lang="en-US"/>
              <a:t>Then we use random sampling, to select a sufficient number of subjects from each stratum.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BE64A7-96AE-0F8D-9914-F8B40634C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603" y="4685263"/>
            <a:ext cx="6634793" cy="1732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197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2EF62-2A93-A6FD-B6D9-F9DA6A058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Measure of Spread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D1A2F-A99C-6132-75E1-8377033DD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Also known as measure of dispersion, is used to describe the variability in a sample or a population.</a:t>
            </a:r>
          </a:p>
          <a:p>
            <a:r>
              <a:rPr lang="en-US"/>
              <a:t>Different spread are defined as,</a:t>
            </a:r>
          </a:p>
          <a:p>
            <a:pPr lvl="1"/>
            <a:r>
              <a:rPr lang="en-US"/>
              <a:t>Range</a:t>
            </a:r>
          </a:p>
          <a:p>
            <a:pPr lvl="1"/>
            <a:r>
              <a:rPr lang="en-US"/>
              <a:t>Inter-Quartile Range</a:t>
            </a:r>
          </a:p>
          <a:p>
            <a:pPr lvl="1"/>
            <a:r>
              <a:rPr lang="en-US"/>
              <a:t>Variance</a:t>
            </a:r>
          </a:p>
          <a:p>
            <a:pPr lvl="1"/>
            <a:r>
              <a:rPr lang="en-US"/>
              <a:t>Standard Deviation</a:t>
            </a:r>
          </a:p>
        </p:txBody>
      </p:sp>
    </p:spTree>
    <p:extLst>
      <p:ext uri="{BB962C8B-B14F-4D97-AF65-F5344CB8AC3E}">
        <p14:creationId xmlns:p14="http://schemas.microsoft.com/office/powerpoint/2010/main" val="2260996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B07B3-1C4A-67BF-C5EB-B0064C46E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176BF-5F65-8108-E64F-3ADF89566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It is the given measure of how spread apart the values in the dataset are;</a:t>
            </a:r>
          </a:p>
          <a:p>
            <a:endParaRPr lang="en-US"/>
          </a:p>
          <a:p>
            <a:r>
              <a:rPr lang="en-US"/>
              <a:t>Formula = Max(x) – Min(x)</a:t>
            </a:r>
          </a:p>
        </p:txBody>
      </p:sp>
    </p:spTree>
    <p:extLst>
      <p:ext uri="{BB962C8B-B14F-4D97-AF65-F5344CB8AC3E}">
        <p14:creationId xmlns:p14="http://schemas.microsoft.com/office/powerpoint/2010/main" val="569324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8A914-935D-5D35-ED53-B0763EE8E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Inter-Quartile Range(1)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41128-416F-2260-0886-D51657A53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>
                <a:solidFill>
                  <a:srgbClr val="FF0000"/>
                </a:solidFill>
              </a:rPr>
              <a:t>Quartile</a:t>
            </a:r>
            <a:r>
              <a:rPr lang="en-US"/>
              <a:t> tells us about the spread of a dataset by breaking the datasets into quarters (similar to median)</a:t>
            </a:r>
          </a:p>
          <a:p>
            <a:endParaRPr lang="en-US"/>
          </a:p>
          <a:p>
            <a:r>
              <a:rPr lang="en-US"/>
              <a:t>For example; we have 100 students marks in ascending order.</a:t>
            </a:r>
          </a:p>
          <a:p>
            <a:pPr lvl="1"/>
            <a:r>
              <a:rPr lang="en-US"/>
              <a:t>We make different quarters i.e. 3 quartiles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Quartile – 1 : 25</a:t>
            </a:r>
            <a:r>
              <a:rPr lang="en-US" baseline="30000"/>
              <a:t>th</a:t>
            </a:r>
            <a:r>
              <a:rPr lang="en-US"/>
              <a:t> &amp; 26</a:t>
            </a:r>
            <a:r>
              <a:rPr lang="en-US" baseline="30000"/>
              <a:t>th</a:t>
            </a:r>
            <a:r>
              <a:rPr lang="en-US"/>
              <a:t> student marks </a:t>
            </a:r>
            <a:r>
              <a:rPr lang="en-US">
                <a:sym typeface="Wingdings" panose="05000000000000000000" pitchFamily="2" charset="2"/>
              </a:rPr>
              <a:t> (45+45)/2 = 45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Quartile – 2 : 50</a:t>
            </a:r>
            <a:r>
              <a:rPr lang="en-US" baseline="30000"/>
              <a:t>th</a:t>
            </a:r>
            <a:r>
              <a:rPr lang="en-US"/>
              <a:t> &amp; 51</a:t>
            </a:r>
            <a:r>
              <a:rPr lang="en-US" baseline="30000"/>
              <a:t>st</a:t>
            </a:r>
            <a:r>
              <a:rPr lang="en-US"/>
              <a:t> student marks </a:t>
            </a:r>
            <a:r>
              <a:rPr lang="en-US">
                <a:sym typeface="Wingdings" panose="05000000000000000000" pitchFamily="2" charset="2"/>
              </a:rPr>
              <a:t> (58+59)/2 = 58.5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/>
              <a:t>Quartile – 3 : 75</a:t>
            </a:r>
            <a:r>
              <a:rPr lang="en-US" baseline="30000"/>
              <a:t>th</a:t>
            </a:r>
            <a:r>
              <a:rPr lang="en-US"/>
              <a:t> &amp; 76</a:t>
            </a:r>
            <a:r>
              <a:rPr lang="en-US" baseline="30000"/>
              <a:t>th</a:t>
            </a:r>
            <a:r>
              <a:rPr lang="en-US"/>
              <a:t> student marks </a:t>
            </a:r>
            <a:r>
              <a:rPr lang="en-US">
                <a:sym typeface="Wingdings" panose="05000000000000000000" pitchFamily="2" charset="2"/>
              </a:rPr>
              <a:t> (71+71)/2 = 71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34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8E3D57-6291-8335-002A-B060C80E9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Inter-Quartile Range(2)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87FAB-40B0-F1BD-3305-C11A4937D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Inter Quartile Range (IQR) is the measure of variability, based on dividing a dataset into quartiles.</a:t>
            </a:r>
          </a:p>
          <a:p>
            <a:r>
              <a:rPr lang="en-US"/>
              <a:t>The IQR is equal to Q3 minus Q1 i.e. IQR = Q3 – Q1.</a:t>
            </a:r>
          </a:p>
        </p:txBody>
      </p:sp>
    </p:spTree>
    <p:extLst>
      <p:ext uri="{BB962C8B-B14F-4D97-AF65-F5344CB8AC3E}">
        <p14:creationId xmlns:p14="http://schemas.microsoft.com/office/powerpoint/2010/main" val="2421348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3058B-E920-DE26-C6D9-15AB79929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95E66-CD13-E3B1-EFE9-A2BB64678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US"/>
              <a:t>It describe how much a random variable differs from its expected value.</a:t>
            </a:r>
          </a:p>
          <a:p>
            <a:r>
              <a:rPr lang="en-US"/>
              <a:t>Formula to calculate variance;</a:t>
            </a:r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Here,</a:t>
            </a:r>
          </a:p>
          <a:p>
            <a:pPr marL="0" indent="0">
              <a:buNone/>
            </a:pPr>
            <a:r>
              <a:rPr lang="en-US"/>
              <a:t>x : individual data points</a:t>
            </a:r>
          </a:p>
          <a:p>
            <a:pPr marL="0" indent="0">
              <a:buNone/>
            </a:pPr>
            <a:r>
              <a:rPr lang="en-US"/>
              <a:t>n: total number of data points</a:t>
            </a:r>
          </a:p>
          <a:p>
            <a:pPr marL="0" indent="0">
              <a:buNone/>
            </a:pPr>
            <a:r>
              <a:rPr lang="en-US" strike="sngStrike"/>
              <a:t>x</a:t>
            </a:r>
            <a:r>
              <a:rPr lang="en-US"/>
              <a:t> : mean of the data points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BE5188-274B-E097-BBDE-F68D80453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325" y="3082582"/>
            <a:ext cx="2259496" cy="134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469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4E5F2-1ADA-96C2-598F-613CE2B1C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 Deviation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2B820-02E3-0BFA-8F7A-166AB659A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It is the difference between each element from the mean.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What is SD of these 6 numbers </a:t>
            </a:r>
            <a:r>
              <a:rPr lang="en-US" u="sng"/>
              <a:t>20, 13, 17, 9, 28, 3</a:t>
            </a:r>
            <a:r>
              <a:rPr lang="en-US"/>
              <a:t> ? 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5FB3B4-7E29-DD0B-1991-95780EF90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940" y="2536176"/>
            <a:ext cx="2753139" cy="133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906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0BBAE-D968-AF48-3389-684A691E8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Entropy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F0FB3-E969-57BD-3C7E-C390D3936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It measures the impurity or uncertainty present in the data.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where,</a:t>
            </a:r>
          </a:p>
          <a:p>
            <a:pPr lvl="1"/>
            <a:r>
              <a:rPr lang="en-US"/>
              <a:t>S </a:t>
            </a:r>
            <a:r>
              <a:rPr lang="en-US">
                <a:sym typeface="Wingdings" panose="05000000000000000000" pitchFamily="2" charset="2"/>
              </a:rPr>
              <a:t> set of all instances in the dataset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N  number of distinct class values</a:t>
            </a:r>
          </a:p>
          <a:p>
            <a:pPr lvl="1"/>
            <a:r>
              <a:rPr lang="en-US">
                <a:sym typeface="Wingdings" panose="05000000000000000000" pitchFamily="2" charset="2"/>
              </a:rPr>
              <a:t>pi  event probability</a:t>
            </a:r>
            <a:endParaRPr lang="en-US"/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116972-8D3D-D577-14FB-CA09C4D48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315" y="2461040"/>
            <a:ext cx="2421007" cy="968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319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33C2D-584C-7B60-D262-3B66F76F9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Information 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EAB5FE-9B4D-D88E-B22A-72A3D81C2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Indicates how much information a particular feature/variable gives us about the final outcome.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7AC099-0E0D-C1DE-BB10-29307C523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186" y="2973732"/>
            <a:ext cx="7604475" cy="145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63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45AD1-4FF3-1B90-022C-E2202B4ED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2120B-E2D1-95ED-331A-E3A5CA018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r>
              <a:rPr lang="en-US"/>
              <a:t>Forecast whether the match will be played or not according to weather conditions.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E04067-140A-03D3-9703-42F9C6886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258" y="2623931"/>
            <a:ext cx="7323483" cy="4033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0318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4CB5E-5701-B54F-3B83-3C76C38FB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Find the entropy of class variables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2ACBBAE-604B-97E6-D0C6-2F1958A647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9444" y="1713100"/>
            <a:ext cx="5976730" cy="4256156"/>
          </a:xfrm>
        </p:spPr>
      </p:pic>
    </p:spTree>
    <p:extLst>
      <p:ext uri="{BB962C8B-B14F-4D97-AF65-F5344CB8AC3E}">
        <p14:creationId xmlns:p14="http://schemas.microsoft.com/office/powerpoint/2010/main" val="2044830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3E2F0-FB5D-AD35-FC7A-9F7F4051E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 of the Predictor Variable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E552F6-1D84-2176-1F6D-000FDEF1F0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4628"/>
            <a:ext cx="10515600" cy="4113331"/>
          </a:xfrm>
        </p:spPr>
      </p:pic>
    </p:spTree>
    <p:extLst>
      <p:ext uri="{BB962C8B-B14F-4D97-AF65-F5344CB8AC3E}">
        <p14:creationId xmlns:p14="http://schemas.microsoft.com/office/powerpoint/2010/main" val="26820830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8E437-5C0C-A533-8054-F583F24B0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Selecting the root node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728F94-4AA4-E187-7EA9-A0C656243C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375" y="2093844"/>
            <a:ext cx="11801249" cy="3023324"/>
          </a:xfrm>
        </p:spPr>
      </p:pic>
    </p:spTree>
    <p:extLst>
      <p:ext uri="{BB962C8B-B14F-4D97-AF65-F5344CB8AC3E}">
        <p14:creationId xmlns:p14="http://schemas.microsoft.com/office/powerpoint/2010/main" val="41409014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8E7BA-3DA9-8480-CB37-CD076FA5F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IG - Outlook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4C2DA0B-BE0B-4BAC-9719-0A1410A6C6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7085"/>
            <a:ext cx="10515600" cy="4348417"/>
          </a:xfrm>
        </p:spPr>
      </p:pic>
    </p:spTree>
    <p:extLst>
      <p:ext uri="{BB962C8B-B14F-4D97-AF65-F5344CB8AC3E}">
        <p14:creationId xmlns:p14="http://schemas.microsoft.com/office/powerpoint/2010/main" val="6209848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E794F-77AC-9B45-FEE6-A5E344ECF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IG - Humidity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55E6518-67E8-D0CA-9AD0-BDBEA325D3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260" y="1825625"/>
            <a:ext cx="10287479" cy="4351338"/>
          </a:xfrm>
        </p:spPr>
      </p:pic>
    </p:spTree>
    <p:extLst>
      <p:ext uri="{BB962C8B-B14F-4D97-AF65-F5344CB8AC3E}">
        <p14:creationId xmlns:p14="http://schemas.microsoft.com/office/powerpoint/2010/main" val="14517879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6E1DA-F6E4-E3B7-4560-58E261FC3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IG - Windy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93F271-14AD-240A-89FE-EC611B9DC8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29080"/>
            <a:ext cx="10515600" cy="4344428"/>
          </a:xfrm>
        </p:spPr>
      </p:pic>
    </p:spTree>
    <p:extLst>
      <p:ext uri="{BB962C8B-B14F-4D97-AF65-F5344CB8AC3E}">
        <p14:creationId xmlns:p14="http://schemas.microsoft.com/office/powerpoint/2010/main" val="42524058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ADD9C-6531-5802-A4AE-906C85003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IG - temperature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59DE1AF-CCD0-1EF6-1CE8-0C3F9FCA87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5618" y="1825625"/>
            <a:ext cx="10360764" cy="4351338"/>
          </a:xfrm>
        </p:spPr>
      </p:pic>
    </p:spTree>
    <p:extLst>
      <p:ext uri="{BB962C8B-B14F-4D97-AF65-F5344CB8AC3E}">
        <p14:creationId xmlns:p14="http://schemas.microsoft.com/office/powerpoint/2010/main" val="2105369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90F7F-5DA9-C0A5-26FA-6BF5DA9E2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Highest Information 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9907D-0DA9-ECC8-8178-72D531FE7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Outlook </a:t>
            </a:r>
            <a:r>
              <a:rPr lang="en-US">
                <a:sym typeface="Wingdings" panose="05000000000000000000" pitchFamily="2" charset="2"/>
              </a:rPr>
              <a:t> 0.247</a:t>
            </a:r>
          </a:p>
          <a:p>
            <a:r>
              <a:rPr lang="en-US">
                <a:sym typeface="Wingdings" panose="05000000000000000000" pitchFamily="2" charset="2"/>
              </a:rPr>
              <a:t>Humidity  0.151</a:t>
            </a:r>
          </a:p>
          <a:p>
            <a:r>
              <a:rPr lang="en-US">
                <a:sym typeface="Wingdings" panose="05000000000000000000" pitchFamily="2" charset="2"/>
              </a:rPr>
              <a:t>Windy  0.048</a:t>
            </a:r>
          </a:p>
          <a:p>
            <a:r>
              <a:rPr lang="en-US">
                <a:sym typeface="Wingdings" panose="05000000000000000000" pitchFamily="2" charset="2"/>
              </a:rPr>
              <a:t>Temperature  0.029</a:t>
            </a:r>
          </a:p>
          <a:p>
            <a:endParaRPr lang="en-US">
              <a:sym typeface="Wingdings" panose="05000000000000000000" pitchFamily="2" charset="2"/>
            </a:endParaRPr>
          </a:p>
          <a:p>
            <a:endParaRPr lang="en-US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sz="2400">
                <a:sym typeface="Wingdings" panose="05000000000000000000" pitchFamily="2" charset="2"/>
              </a:rPr>
              <a:t>The node with the highest Information Gain (IG) will be chosen as a root node for decision trees.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895856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87C7CE6E067244A59DA8F64D817370" ma:contentTypeVersion="4" ma:contentTypeDescription="Create a new document." ma:contentTypeScope="" ma:versionID="d7a041c15327aa6b1ec053607a1e878d">
  <xsd:schema xmlns:xsd="http://www.w3.org/2001/XMLSchema" xmlns:xs="http://www.w3.org/2001/XMLSchema" xmlns:p="http://schemas.microsoft.com/office/2006/metadata/properties" xmlns:ns2="9f5857bd-5164-4e37-a4d0-5fd8e2da11bd" targetNamespace="http://schemas.microsoft.com/office/2006/metadata/properties" ma:root="true" ma:fieldsID="7ddcc74f19d0728d0662108ddbcd2518" ns2:_="">
    <xsd:import namespace="9f5857bd-5164-4e37-a4d0-5fd8e2da11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5857bd-5164-4e37-a4d0-5fd8e2da1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DA8F45-C90C-4449-948B-5297CB202A3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636197-4145-49FF-A828-96ED736A9B9B}">
  <ds:schemaRefs>
    <ds:schemaRef ds:uri="9f5857bd-5164-4e37-a4d0-5fd8e2da11b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26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Lecture 3</vt:lpstr>
      <vt:lpstr>Statistics</vt:lpstr>
      <vt:lpstr>Sampling</vt:lpstr>
      <vt:lpstr>Basic terminologies in statistics</vt:lpstr>
      <vt:lpstr>Types of Sampling technique</vt:lpstr>
      <vt:lpstr>Probability Sampling</vt:lpstr>
      <vt:lpstr>1. Random Sampling</vt:lpstr>
      <vt:lpstr>Systematic sampling</vt:lpstr>
      <vt:lpstr>Stratified sampling </vt:lpstr>
      <vt:lpstr>Measure of Spread</vt:lpstr>
      <vt:lpstr>Range</vt:lpstr>
      <vt:lpstr>Inter-Quartile Range(1)</vt:lpstr>
      <vt:lpstr>Inter-Quartile Range(2)</vt:lpstr>
      <vt:lpstr>Variance</vt:lpstr>
      <vt:lpstr>Standard Deviation</vt:lpstr>
      <vt:lpstr>Entropy </vt:lpstr>
      <vt:lpstr>Information Gain</vt:lpstr>
      <vt:lpstr>Use Case</vt:lpstr>
      <vt:lpstr>1. Find the entropy of class variables</vt:lpstr>
      <vt:lpstr>Overview of the Predictor Variable</vt:lpstr>
      <vt:lpstr>Selecting the root node</vt:lpstr>
      <vt:lpstr>IG - Outlook</vt:lpstr>
      <vt:lpstr>IG - Humidity</vt:lpstr>
      <vt:lpstr>IG - Windy</vt:lpstr>
      <vt:lpstr>IG - temperature</vt:lpstr>
      <vt:lpstr>Highest Information Gain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3</dc:title>
  <dc:creator>Junaid Khan</dc:creator>
  <cp:revision>2</cp:revision>
  <dcterms:created xsi:type="dcterms:W3CDTF">2024-03-22T00:39:40Z</dcterms:created>
  <dcterms:modified xsi:type="dcterms:W3CDTF">2024-04-02T00:26:05Z</dcterms:modified>
</cp:coreProperties>
</file>