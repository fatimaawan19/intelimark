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sldIdLst>
    <p:sldId id="256" r:id="rId4"/>
    <p:sldId id="331" r:id="rId5"/>
    <p:sldId id="337" r:id="rId6"/>
    <p:sldId id="342" r:id="rId7"/>
    <p:sldId id="339" r:id="rId8"/>
    <p:sldId id="257" r:id="rId9"/>
    <p:sldId id="343" r:id="rId10"/>
    <p:sldId id="310" r:id="rId11"/>
    <p:sldId id="263" r:id="rId12"/>
    <p:sldId id="266" r:id="rId13"/>
    <p:sldId id="268" r:id="rId14"/>
    <p:sldId id="344" r:id="rId15"/>
    <p:sldId id="392" r:id="rId16"/>
    <p:sldId id="395" r:id="rId17"/>
    <p:sldId id="321" r:id="rId18"/>
    <p:sldId id="258" r:id="rId19"/>
    <p:sldId id="260" r:id="rId20"/>
    <p:sldId id="26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>
        <p:scale>
          <a:sx n="75" d="100"/>
          <a:sy n="75" d="100"/>
        </p:scale>
        <p:origin x="540" y="-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1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60C6D80-066F-302B-835B-ECA04A0BD1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F198C2E3-FD98-9AE0-54DA-6197E91272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3C75D9E-6F3B-30D6-2560-A32C4444A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7DB57-4F0E-4855-A8FC-19689D0145A6}" type="datetimeFigureOut">
              <a:rPr lang="en-US" smtClean="0"/>
              <a:t>04-Jun-24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9635FF6-BAB2-7A8C-24FE-C4E031B0F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76F5391-0DF7-69C3-8889-29FBB96A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6B670-5081-4BBD-B49F-D1468A19FA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623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89FB375-5BD8-1DC1-79FC-6E42F5B41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FEF6AB0-D03E-060A-4354-5D1CB5131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E7D967C-1B80-6FBE-2A55-2D0845218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7DB57-4F0E-4855-A8FC-19689D0145A6}" type="datetimeFigureOut">
              <a:rPr lang="en-US" smtClean="0"/>
              <a:t>04-Jun-24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B241F77-8DBA-8292-5D04-C518EEA08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A29DDFA-3FAB-930B-5973-B900133A7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6B670-5081-4BBD-B49F-D1468A19FA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771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E2FBCE3-7923-73B9-1383-5B3CC4641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D2F1327-CB3A-1821-EEB8-2C8845D976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2BCD9FC-6943-DEA0-9377-C2346B989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7DB57-4F0E-4855-A8FC-19689D0145A6}" type="datetimeFigureOut">
              <a:rPr lang="en-US" smtClean="0"/>
              <a:t>04-Jun-24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D3BBFD0-E6EF-9C06-1C08-F30E1913D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B68034C-0B86-DEB1-C56D-FDFBD5363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6B670-5081-4BBD-B49F-D1468A19FA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244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D9E54CD-0F6B-DB86-48C8-CEAE6AD5A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22CDD60-5E8B-A3F0-F64B-CB555E99EC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3ADF266B-C2F5-6B15-87C6-889D8FC5F5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302AD587-B960-AB42-AD05-E23889631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7DB57-4F0E-4855-A8FC-19689D0145A6}" type="datetimeFigureOut">
              <a:rPr lang="en-US" smtClean="0"/>
              <a:t>04-Jun-24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83D19E48-E5A3-E7D9-86FE-12EF2DE31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96E2FDAE-4D89-CB4A-D5FD-306B87508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6B670-5081-4BBD-B49F-D1468A19FA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036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E5A919A-2A83-D0FD-3233-BA022289E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D83D182-AA97-88B1-5325-285A0795E8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7E20AEBA-6094-D5D4-E5D6-5093C81E3A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99F40C74-9296-2029-8128-F821AC964E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B3DAFA50-A1EF-8991-ABBC-4745FE828C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A4B64C92-1965-987C-372D-6954DF00B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7DB57-4F0E-4855-A8FC-19689D0145A6}" type="datetimeFigureOut">
              <a:rPr lang="en-US" smtClean="0"/>
              <a:t>04-Jun-24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B9C3069F-0BD9-143A-4DFE-BCD8AB491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F0E12909-C8DF-1F77-8571-D7872BA97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6B670-5081-4BBD-B49F-D1468A19FA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37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D85732A-9633-93CC-F21C-0CD95BB85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CC068A83-5E10-8492-784A-80E314E01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7DB57-4F0E-4855-A8FC-19689D0145A6}" type="datetimeFigureOut">
              <a:rPr lang="en-US" smtClean="0"/>
              <a:t>04-Jun-24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A15AFA6F-FD3E-5810-6B3B-0420317CC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D8F4E29F-2AEA-94B3-FC09-62FE9D5A8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6B670-5081-4BBD-B49F-D1468A19FA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934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2DC53F2B-09DC-622D-0E01-0201056BB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7DB57-4F0E-4855-A8FC-19689D0145A6}" type="datetimeFigureOut">
              <a:rPr lang="en-US" smtClean="0"/>
              <a:t>04-Jun-24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09F76E78-A86C-4EC7-A24D-24BD8649E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DD19017D-157D-7D37-170C-788C147CF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6B670-5081-4BBD-B49F-D1468A19FA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137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128AB9A-EDDA-9F40-6605-FF9BD43B4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1F7666B-C78F-9DD1-A8FB-2054C0F1B3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CCF0FB9E-D104-4CE7-7584-C8EF528BD4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EF8D7E36-E828-957F-D6B0-0A124FF93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7DB57-4F0E-4855-A8FC-19689D0145A6}" type="datetimeFigureOut">
              <a:rPr lang="en-US" smtClean="0"/>
              <a:t>04-Jun-24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5B84D0A8-E087-84D9-0D9C-46323C6A4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8659A64-65AD-7EDC-8AC7-9014FCA0C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6B670-5081-4BBD-B49F-D1468A19FA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160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DE38BAF-76B8-10CE-B5D0-D62140347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F217E806-BD25-07FD-4125-7790B4CE27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C5829728-C682-FBD9-110F-64C59546CE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76ED2C41-11E1-875C-D5BF-776BE2287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7DB57-4F0E-4855-A8FC-19689D0145A6}" type="datetimeFigureOut">
              <a:rPr lang="en-US" smtClean="0"/>
              <a:t>04-Jun-24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AFDC8D7A-FCE7-3954-268B-3384A1931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D55279B8-C117-1C43-318D-56E1DB89D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6B670-5081-4BBD-B49F-D1468A19FA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2134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47AB15F-F09A-F62D-87F6-2513D7607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2BBBB023-D89B-318E-396E-11A8626F38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A112296-BED1-D4D4-E27E-8D8AC242B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7DB57-4F0E-4855-A8FC-19689D0145A6}" type="datetimeFigureOut">
              <a:rPr lang="en-US" smtClean="0"/>
              <a:t>04-Jun-24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6028A1C-AE3F-F760-8BD3-E49A88A57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42929B5-4D08-9CEB-E27E-1E16A1FAF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6B670-5081-4BBD-B49F-D1468A19FA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297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F21B5544-3377-F2D0-6329-E932C8C434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EDCB0C22-AC72-07E4-4620-8AF00B994A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A3C04C5-1C08-660C-276E-FA7279010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7DB57-4F0E-4855-A8FC-19689D0145A6}" type="datetimeFigureOut">
              <a:rPr lang="en-US" smtClean="0"/>
              <a:t>04-Jun-24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27FE3E4-86CA-429C-2233-8D181CAC6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8A2E487-7698-DECC-AA3C-7E9AEC827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6B670-5081-4BBD-B49F-D1468A19FA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9369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9550400" y="6477000"/>
            <a:ext cx="2540000" cy="304800"/>
          </a:xfrm>
        </p:spPr>
        <p:txBody>
          <a:bodyPr/>
          <a:lstStyle>
            <a:lvl1pPr>
              <a:defRPr/>
            </a:lvl1pPr>
          </a:lstStyle>
          <a:p>
            <a:fld id="{4AEF0FD2-C3B7-4DC6-82AA-44C9521D0604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87791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B6D88A46-45DA-CE3F-B876-BF02186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314D4B2E-86C7-E5D4-A22B-C9FC305827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9A2FDBD-DF8E-25A7-7F44-A74E7ED64A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47DB57-4F0E-4855-A8FC-19689D0145A6}" type="datetimeFigureOut">
              <a:rPr lang="en-US" smtClean="0"/>
              <a:t>04-Jun-24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71CC203-101D-1D2B-4A12-E2F5B0CED6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E1D1F0E-26CC-C451-ADBA-379F7014F4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96B670-5081-4BBD-B49F-D1468A19FA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350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3" Type="http://schemas.openxmlformats.org/officeDocument/2006/relationships/image" Target="../media/image25.jpeg"/><Relationship Id="rId7" Type="http://schemas.openxmlformats.org/officeDocument/2006/relationships/image" Target="../media/image29.jpeg"/><Relationship Id="rId12" Type="http://schemas.openxmlformats.org/officeDocument/2006/relationships/image" Target="../media/image34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jpe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2EC3B98-043B-162D-D958-7F1EBFCC5A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Machine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EC75E770-4504-D498-E24D-7358FFD727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4041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Think?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985874" y="1690688"/>
            <a:ext cx="6220251" cy="35354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2686929" y="5449097"/>
            <a:ext cx="6409466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b="1" dirty="0"/>
              <a:t>Hard to give a complete mathematical definition of a tree.</a:t>
            </a:r>
          </a:p>
          <a:p>
            <a:r>
              <a:rPr lang="en-US" sz="1500" b="1" dirty="0"/>
              <a:t>Even a 3 year old can tell a tree from a non-tree.</a:t>
            </a:r>
          </a:p>
          <a:p>
            <a:r>
              <a:rPr lang="en-US" sz="1500" b="1" dirty="0"/>
              <a:t>The 3 year old has learnt from data.</a:t>
            </a:r>
          </a:p>
        </p:txBody>
      </p:sp>
    </p:spTree>
    <p:extLst>
      <p:ext uri="{BB962C8B-B14F-4D97-AF65-F5344CB8AC3E}">
        <p14:creationId xmlns:p14="http://schemas.microsoft.com/office/powerpoint/2010/main" val="32997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A pattern exists.</a:t>
            </a:r>
          </a:p>
          <a:p>
            <a:pPr marL="0" indent="0">
              <a:buNone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We don’t know it. </a:t>
            </a:r>
          </a:p>
          <a:p>
            <a:pPr marL="0" indent="0">
              <a:buNone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We have data to learn it</a:t>
            </a:r>
          </a:p>
        </p:txBody>
      </p:sp>
    </p:spTree>
    <p:extLst>
      <p:ext uri="{BB962C8B-B14F-4D97-AF65-F5344CB8AC3E}">
        <p14:creationId xmlns:p14="http://schemas.microsoft.com/office/powerpoint/2010/main" val="2891433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48001" y="653872"/>
            <a:ext cx="4783187" cy="485624"/>
          </a:xfrm>
          <a:prstGeom prst="rect">
            <a:avLst/>
          </a:prstGeom>
        </p:spPr>
        <p:txBody>
          <a:bodyPr vert="horz" wrap="square" lIns="0" tIns="9376" rIns="0" bIns="0" rtlCol="0" anchor="ctr">
            <a:spAutoFit/>
          </a:bodyPr>
          <a:lstStyle/>
          <a:p>
            <a:pPr marL="8929">
              <a:lnSpc>
                <a:spcPct val="100000"/>
              </a:lnSpc>
              <a:spcBef>
                <a:spcPts val="74"/>
              </a:spcBef>
            </a:pPr>
            <a:r>
              <a:rPr sz="3094" dirty="0">
                <a:latin typeface="Arial"/>
                <a:cs typeface="Arial"/>
              </a:rPr>
              <a:t>What is Machine</a:t>
            </a:r>
            <a:r>
              <a:rPr sz="3094" spc="-49" dirty="0">
                <a:latin typeface="Arial"/>
                <a:cs typeface="Arial"/>
              </a:rPr>
              <a:t> </a:t>
            </a:r>
            <a:r>
              <a:rPr sz="3094" dirty="0">
                <a:latin typeface="Arial"/>
                <a:cs typeface="Arial"/>
              </a:rPr>
              <a:t>Learning?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99138" y="1695104"/>
            <a:ext cx="7684887" cy="970368"/>
          </a:xfrm>
          <a:prstGeom prst="rect">
            <a:avLst/>
          </a:prstGeom>
        </p:spPr>
        <p:txBody>
          <a:bodyPr vert="horz" wrap="square" lIns="0" tIns="8483" rIns="0" bIns="0" rtlCol="0">
            <a:spAutoFit/>
          </a:bodyPr>
          <a:lstStyle/>
          <a:p>
            <a:pPr marL="561657">
              <a:lnSpc>
                <a:spcPts val="2542"/>
              </a:lnSpc>
            </a:pPr>
            <a:r>
              <a:rPr lang="en-US" sz="2250" spc="-4" dirty="0">
                <a:latin typeface="Arial"/>
                <a:cs typeface="Arial"/>
              </a:rPr>
              <a:t>Methods </a:t>
            </a:r>
            <a:r>
              <a:rPr lang="en-US" sz="2250" dirty="0">
                <a:latin typeface="Arial"/>
                <a:cs typeface="Arial"/>
              </a:rPr>
              <a:t>that can </a:t>
            </a:r>
            <a:r>
              <a:rPr lang="en-US" sz="2250" spc="28" dirty="0">
                <a:latin typeface="Arial"/>
                <a:cs typeface="Arial"/>
              </a:rPr>
              <a:t>h</a:t>
            </a:r>
            <a:r>
              <a:rPr lang="en-US" sz="2250" spc="-4" dirty="0">
                <a:latin typeface="Arial"/>
                <a:cs typeface="Arial"/>
              </a:rPr>
              <a:t>elp</a:t>
            </a:r>
            <a:r>
              <a:rPr lang="en-US" sz="2250" spc="28" dirty="0">
                <a:latin typeface="Arial"/>
                <a:cs typeface="Arial"/>
              </a:rPr>
              <a:t> </a:t>
            </a:r>
            <a:r>
              <a:rPr sz="2250" spc="-4" dirty="0">
                <a:latin typeface="Arial"/>
                <a:cs typeface="Arial"/>
              </a:rPr>
              <a:t>generalize information from </a:t>
            </a:r>
            <a:r>
              <a:rPr sz="2250" dirty="0">
                <a:latin typeface="Arial"/>
                <a:cs typeface="Arial"/>
              </a:rPr>
              <a:t>the </a:t>
            </a:r>
            <a:r>
              <a:rPr sz="2250" spc="-4" dirty="0">
                <a:latin typeface="Arial"/>
                <a:cs typeface="Arial"/>
              </a:rPr>
              <a:t>observed</a:t>
            </a:r>
            <a:r>
              <a:rPr sz="2250" spc="-35" dirty="0">
                <a:latin typeface="Arial"/>
                <a:cs typeface="Arial"/>
              </a:rPr>
              <a:t> </a:t>
            </a:r>
            <a:r>
              <a:rPr sz="2250" spc="-4" dirty="0">
                <a:latin typeface="Arial"/>
                <a:cs typeface="Arial"/>
              </a:rPr>
              <a:t>data</a:t>
            </a:r>
            <a:r>
              <a:rPr lang="en-US" sz="2250" spc="-4" dirty="0">
                <a:latin typeface="Arial"/>
                <a:cs typeface="Arial"/>
              </a:rPr>
              <a:t> </a:t>
            </a:r>
            <a:r>
              <a:rPr sz="2250" dirty="0">
                <a:latin typeface="Arial"/>
                <a:cs typeface="Arial"/>
              </a:rPr>
              <a:t>so </a:t>
            </a:r>
            <a:r>
              <a:rPr sz="2250" spc="-4" dirty="0">
                <a:latin typeface="Arial"/>
                <a:cs typeface="Arial"/>
              </a:rPr>
              <a:t>that </a:t>
            </a:r>
            <a:r>
              <a:rPr sz="2250" dirty="0">
                <a:latin typeface="Arial"/>
                <a:cs typeface="Arial"/>
              </a:rPr>
              <a:t>it can be used to </a:t>
            </a:r>
            <a:r>
              <a:rPr sz="2250" spc="-4" dirty="0">
                <a:latin typeface="Arial"/>
                <a:cs typeface="Arial"/>
              </a:rPr>
              <a:t>make</a:t>
            </a:r>
            <a:r>
              <a:rPr sz="2250" spc="-98" dirty="0">
                <a:latin typeface="Arial"/>
                <a:cs typeface="Arial"/>
              </a:rPr>
              <a:t> </a:t>
            </a:r>
            <a:r>
              <a:rPr sz="2250" spc="-4" dirty="0">
                <a:latin typeface="Arial"/>
                <a:cs typeface="Arial"/>
              </a:rPr>
              <a:t>better  </a:t>
            </a:r>
            <a:r>
              <a:rPr sz="2250" dirty="0">
                <a:latin typeface="Arial"/>
                <a:cs typeface="Arial"/>
              </a:rPr>
              <a:t>decisions in the</a:t>
            </a:r>
            <a:r>
              <a:rPr sz="2250" spc="-49" dirty="0">
                <a:latin typeface="Arial"/>
                <a:cs typeface="Arial"/>
              </a:rPr>
              <a:t> </a:t>
            </a:r>
            <a:r>
              <a:rPr sz="2250" dirty="0">
                <a:latin typeface="Arial"/>
                <a:cs typeface="Arial"/>
              </a:rPr>
              <a:t>future</a:t>
            </a:r>
          </a:p>
        </p:txBody>
      </p:sp>
    </p:spTree>
    <p:extLst>
      <p:ext uri="{BB962C8B-B14F-4D97-AF65-F5344CB8AC3E}">
        <p14:creationId xmlns:p14="http://schemas.microsoft.com/office/powerpoint/2010/main" val="7638603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17623" y="31114"/>
            <a:ext cx="5748262" cy="2045470"/>
          </a:xfrm>
          <a:prstGeom prst="rect">
            <a:avLst/>
          </a:prstGeom>
        </p:spPr>
        <p:txBody>
          <a:bodyPr vert="horz" wrap="square" lIns="0" tIns="14008" rIns="0" bIns="0" rtlCol="0" anchor="ctr">
            <a:spAutoFit/>
          </a:bodyPr>
          <a:lstStyle/>
          <a:p>
            <a:pPr marL="11205">
              <a:lnSpc>
                <a:spcPct val="100000"/>
              </a:lnSpc>
              <a:spcBef>
                <a:spcPts val="110"/>
              </a:spcBef>
            </a:pPr>
            <a:r>
              <a:rPr spc="278" dirty="0"/>
              <a:t>Previous </a:t>
            </a:r>
            <a:r>
              <a:rPr lang="en-US" spc="278" dirty="0"/>
              <a:t>Movie </a:t>
            </a:r>
            <a:r>
              <a:rPr spc="287" dirty="0"/>
              <a:t>Ratings </a:t>
            </a:r>
            <a:r>
              <a:rPr spc="229" dirty="0"/>
              <a:t>Reflect </a:t>
            </a:r>
            <a:r>
              <a:rPr spc="304" dirty="0"/>
              <a:t>Future</a:t>
            </a:r>
            <a:r>
              <a:rPr spc="216" dirty="0"/>
              <a:t> </a:t>
            </a:r>
            <a:r>
              <a:rPr spc="287" dirty="0"/>
              <a:t>Ratings</a:t>
            </a:r>
          </a:p>
        </p:txBody>
      </p:sp>
      <p:sp>
        <p:nvSpPr>
          <p:cNvPr id="3" name="object 3"/>
          <p:cNvSpPr/>
          <p:nvPr/>
        </p:nvSpPr>
        <p:spPr>
          <a:xfrm>
            <a:off x="2303728" y="2256615"/>
            <a:ext cx="2408704" cy="201146"/>
          </a:xfrm>
          <a:custGeom>
            <a:avLst/>
            <a:gdLst/>
            <a:ahLst/>
            <a:cxnLst/>
            <a:rect l="l" t="t" r="r" b="b"/>
            <a:pathLst>
              <a:path w="2729865" h="227964">
                <a:moveTo>
                  <a:pt x="2729547" y="227459"/>
                </a:moveTo>
                <a:lnTo>
                  <a:pt x="2729547" y="0"/>
                </a:lnTo>
                <a:lnTo>
                  <a:pt x="0" y="0"/>
                </a:lnTo>
                <a:lnTo>
                  <a:pt x="0" y="227459"/>
                </a:lnTo>
                <a:lnTo>
                  <a:pt x="2729547" y="227459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" name="object 4"/>
          <p:cNvSpPr/>
          <p:nvPr/>
        </p:nvSpPr>
        <p:spPr>
          <a:xfrm>
            <a:off x="2504435" y="2256618"/>
            <a:ext cx="0" cy="201146"/>
          </a:xfrm>
          <a:custGeom>
            <a:avLst/>
            <a:gdLst/>
            <a:ahLst/>
            <a:cxnLst/>
            <a:rect l="l" t="t" r="r" b="b"/>
            <a:pathLst>
              <a:path h="227964">
                <a:moveTo>
                  <a:pt x="0" y="0"/>
                </a:moveTo>
                <a:lnTo>
                  <a:pt x="0" y="227457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" name="object 5"/>
          <p:cNvSpPr/>
          <p:nvPr/>
        </p:nvSpPr>
        <p:spPr>
          <a:xfrm>
            <a:off x="2705133" y="2256618"/>
            <a:ext cx="0" cy="201146"/>
          </a:xfrm>
          <a:custGeom>
            <a:avLst/>
            <a:gdLst/>
            <a:ahLst/>
            <a:cxnLst/>
            <a:rect l="l" t="t" r="r" b="b"/>
            <a:pathLst>
              <a:path h="227964">
                <a:moveTo>
                  <a:pt x="0" y="0"/>
                </a:moveTo>
                <a:lnTo>
                  <a:pt x="0" y="227457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6" name="object 6"/>
          <p:cNvSpPr/>
          <p:nvPr/>
        </p:nvSpPr>
        <p:spPr>
          <a:xfrm>
            <a:off x="2905830" y="2256618"/>
            <a:ext cx="0" cy="201146"/>
          </a:xfrm>
          <a:custGeom>
            <a:avLst/>
            <a:gdLst/>
            <a:ahLst/>
            <a:cxnLst/>
            <a:rect l="l" t="t" r="r" b="b"/>
            <a:pathLst>
              <a:path h="227964">
                <a:moveTo>
                  <a:pt x="0" y="0"/>
                </a:moveTo>
                <a:lnTo>
                  <a:pt x="0" y="227457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7" name="object 7"/>
          <p:cNvSpPr/>
          <p:nvPr/>
        </p:nvSpPr>
        <p:spPr>
          <a:xfrm>
            <a:off x="4511454" y="2256618"/>
            <a:ext cx="0" cy="201146"/>
          </a:xfrm>
          <a:custGeom>
            <a:avLst/>
            <a:gdLst/>
            <a:ahLst/>
            <a:cxnLst/>
            <a:rect l="l" t="t" r="r" b="b"/>
            <a:pathLst>
              <a:path h="227964">
                <a:moveTo>
                  <a:pt x="0" y="0"/>
                </a:moveTo>
                <a:lnTo>
                  <a:pt x="0" y="227457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8" name="object 8"/>
          <p:cNvSpPr/>
          <p:nvPr/>
        </p:nvSpPr>
        <p:spPr>
          <a:xfrm>
            <a:off x="3307237" y="2356967"/>
            <a:ext cx="652743" cy="0"/>
          </a:xfrm>
          <a:custGeom>
            <a:avLst/>
            <a:gdLst/>
            <a:ahLst/>
            <a:cxnLst/>
            <a:rect l="l" t="t" r="r" b="b"/>
            <a:pathLst>
              <a:path w="739775">
                <a:moveTo>
                  <a:pt x="0" y="0"/>
                </a:moveTo>
                <a:lnTo>
                  <a:pt x="739254" y="0"/>
                </a:lnTo>
              </a:path>
            </a:pathLst>
          </a:custGeom>
          <a:ln w="22746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9" name="object 9"/>
          <p:cNvSpPr/>
          <p:nvPr/>
        </p:nvSpPr>
        <p:spPr>
          <a:xfrm>
            <a:off x="2303728" y="3109605"/>
            <a:ext cx="2408704" cy="201146"/>
          </a:xfrm>
          <a:custGeom>
            <a:avLst/>
            <a:gdLst/>
            <a:ahLst/>
            <a:cxnLst/>
            <a:rect l="l" t="t" r="r" b="b"/>
            <a:pathLst>
              <a:path w="2729865" h="227964">
                <a:moveTo>
                  <a:pt x="2729547" y="227463"/>
                </a:moveTo>
                <a:lnTo>
                  <a:pt x="2729547" y="0"/>
                </a:lnTo>
                <a:lnTo>
                  <a:pt x="0" y="0"/>
                </a:lnTo>
                <a:lnTo>
                  <a:pt x="0" y="227463"/>
                </a:lnTo>
                <a:lnTo>
                  <a:pt x="2729547" y="227463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0" name="object 10"/>
          <p:cNvSpPr/>
          <p:nvPr/>
        </p:nvSpPr>
        <p:spPr>
          <a:xfrm>
            <a:off x="2504435" y="3109599"/>
            <a:ext cx="0" cy="201146"/>
          </a:xfrm>
          <a:custGeom>
            <a:avLst/>
            <a:gdLst/>
            <a:ahLst/>
            <a:cxnLst/>
            <a:rect l="l" t="t" r="r" b="b"/>
            <a:pathLst>
              <a:path h="227964">
                <a:moveTo>
                  <a:pt x="0" y="0"/>
                </a:moveTo>
                <a:lnTo>
                  <a:pt x="0" y="227469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1" name="object 11"/>
          <p:cNvSpPr/>
          <p:nvPr/>
        </p:nvSpPr>
        <p:spPr>
          <a:xfrm>
            <a:off x="2705133" y="3109599"/>
            <a:ext cx="0" cy="201146"/>
          </a:xfrm>
          <a:custGeom>
            <a:avLst/>
            <a:gdLst/>
            <a:ahLst/>
            <a:cxnLst/>
            <a:rect l="l" t="t" r="r" b="b"/>
            <a:pathLst>
              <a:path h="227964">
                <a:moveTo>
                  <a:pt x="0" y="0"/>
                </a:moveTo>
                <a:lnTo>
                  <a:pt x="0" y="227469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2" name="object 12"/>
          <p:cNvSpPr/>
          <p:nvPr/>
        </p:nvSpPr>
        <p:spPr>
          <a:xfrm>
            <a:off x="2905830" y="3109599"/>
            <a:ext cx="0" cy="201146"/>
          </a:xfrm>
          <a:custGeom>
            <a:avLst/>
            <a:gdLst/>
            <a:ahLst/>
            <a:cxnLst/>
            <a:rect l="l" t="t" r="r" b="b"/>
            <a:pathLst>
              <a:path h="227964">
                <a:moveTo>
                  <a:pt x="0" y="0"/>
                </a:moveTo>
                <a:lnTo>
                  <a:pt x="0" y="227469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3" name="object 13"/>
          <p:cNvSpPr/>
          <p:nvPr/>
        </p:nvSpPr>
        <p:spPr>
          <a:xfrm>
            <a:off x="4511454" y="3109599"/>
            <a:ext cx="0" cy="201146"/>
          </a:xfrm>
          <a:custGeom>
            <a:avLst/>
            <a:gdLst/>
            <a:ahLst/>
            <a:cxnLst/>
            <a:rect l="l" t="t" r="r" b="b"/>
            <a:pathLst>
              <a:path h="227964">
                <a:moveTo>
                  <a:pt x="0" y="0"/>
                </a:moveTo>
                <a:lnTo>
                  <a:pt x="0" y="227469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4" name="object 14"/>
          <p:cNvSpPr/>
          <p:nvPr/>
        </p:nvSpPr>
        <p:spPr>
          <a:xfrm>
            <a:off x="3307237" y="3209958"/>
            <a:ext cx="652743" cy="0"/>
          </a:xfrm>
          <a:custGeom>
            <a:avLst/>
            <a:gdLst/>
            <a:ahLst/>
            <a:cxnLst/>
            <a:rect l="l" t="t" r="r" b="b"/>
            <a:pathLst>
              <a:path w="739775">
                <a:moveTo>
                  <a:pt x="0" y="0"/>
                </a:moveTo>
                <a:lnTo>
                  <a:pt x="739254" y="0"/>
                </a:lnTo>
              </a:path>
            </a:pathLst>
          </a:custGeom>
          <a:ln w="22746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5" name="object 15"/>
          <p:cNvSpPr/>
          <p:nvPr/>
        </p:nvSpPr>
        <p:spPr>
          <a:xfrm>
            <a:off x="2543570" y="2295752"/>
            <a:ext cx="122418" cy="1224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6" name="object 16"/>
          <p:cNvSpPr/>
          <p:nvPr/>
        </p:nvSpPr>
        <p:spPr>
          <a:xfrm>
            <a:off x="2574678" y="3179851"/>
            <a:ext cx="60204" cy="6020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7" name="object 17"/>
          <p:cNvSpPr/>
          <p:nvPr/>
        </p:nvSpPr>
        <p:spPr>
          <a:xfrm>
            <a:off x="2363603" y="2316493"/>
            <a:ext cx="80957" cy="8094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8" name="object 18"/>
          <p:cNvSpPr/>
          <p:nvPr/>
        </p:nvSpPr>
        <p:spPr>
          <a:xfrm>
            <a:off x="2328148" y="3134019"/>
            <a:ext cx="151868" cy="15186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9" name="object 19"/>
          <p:cNvSpPr/>
          <p:nvPr/>
        </p:nvSpPr>
        <p:spPr>
          <a:xfrm>
            <a:off x="2765009" y="2316493"/>
            <a:ext cx="80945" cy="8094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0" name="object 20"/>
          <p:cNvSpPr/>
          <p:nvPr/>
        </p:nvSpPr>
        <p:spPr>
          <a:xfrm>
            <a:off x="2765009" y="3169475"/>
            <a:ext cx="80945" cy="8095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1" name="object 21"/>
          <p:cNvSpPr/>
          <p:nvPr/>
        </p:nvSpPr>
        <p:spPr>
          <a:xfrm>
            <a:off x="4581696" y="2326871"/>
            <a:ext cx="60214" cy="6020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2" name="object 22"/>
          <p:cNvSpPr/>
          <p:nvPr/>
        </p:nvSpPr>
        <p:spPr>
          <a:xfrm>
            <a:off x="4550588" y="3148732"/>
            <a:ext cx="122430" cy="12244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3" name="object 23"/>
          <p:cNvSpPr/>
          <p:nvPr/>
        </p:nvSpPr>
        <p:spPr>
          <a:xfrm>
            <a:off x="2605928" y="2968103"/>
            <a:ext cx="0" cy="76200"/>
          </a:xfrm>
          <a:custGeom>
            <a:avLst/>
            <a:gdLst/>
            <a:ahLst/>
            <a:cxnLst/>
            <a:rect l="l" t="t" r="r" b="b"/>
            <a:pathLst>
              <a:path h="86360">
                <a:moveTo>
                  <a:pt x="0" y="0"/>
                </a:moveTo>
                <a:lnTo>
                  <a:pt x="0" y="85811"/>
                </a:lnTo>
              </a:path>
            </a:pathLst>
          </a:custGeom>
          <a:ln w="38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4" name="object 24"/>
          <p:cNvSpPr/>
          <p:nvPr/>
        </p:nvSpPr>
        <p:spPr>
          <a:xfrm>
            <a:off x="2602006" y="2968102"/>
            <a:ext cx="2241" cy="73959"/>
          </a:xfrm>
          <a:custGeom>
            <a:avLst/>
            <a:gdLst/>
            <a:ahLst/>
            <a:cxnLst/>
            <a:rect l="l" t="t" r="r" b="b"/>
            <a:pathLst>
              <a:path w="2540" h="83820">
                <a:moveTo>
                  <a:pt x="2540" y="83477"/>
                </a:moveTo>
                <a:lnTo>
                  <a:pt x="2540" y="0"/>
                </a:lnTo>
                <a:lnTo>
                  <a:pt x="0" y="0"/>
                </a:lnTo>
                <a:lnTo>
                  <a:pt x="0" y="83477"/>
                </a:lnTo>
                <a:lnTo>
                  <a:pt x="2540" y="834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5" name="object 25"/>
          <p:cNvSpPr/>
          <p:nvPr/>
        </p:nvSpPr>
        <p:spPr>
          <a:xfrm>
            <a:off x="2604785" y="2598812"/>
            <a:ext cx="0" cy="369794"/>
          </a:xfrm>
          <a:custGeom>
            <a:avLst/>
            <a:gdLst/>
            <a:ahLst/>
            <a:cxnLst/>
            <a:rect l="l" t="t" r="r" b="b"/>
            <a:pathLst>
              <a:path h="419100">
                <a:moveTo>
                  <a:pt x="0" y="0"/>
                </a:moveTo>
                <a:lnTo>
                  <a:pt x="0" y="418528"/>
                </a:lnTo>
              </a:path>
            </a:pathLst>
          </a:custGeom>
          <a:ln w="56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6" name="object 26"/>
          <p:cNvSpPr/>
          <p:nvPr/>
        </p:nvSpPr>
        <p:spPr>
          <a:xfrm>
            <a:off x="2605928" y="2523107"/>
            <a:ext cx="0" cy="76200"/>
          </a:xfrm>
          <a:custGeom>
            <a:avLst/>
            <a:gdLst/>
            <a:ahLst/>
            <a:cxnLst/>
            <a:rect l="l" t="t" r="r" b="b"/>
            <a:pathLst>
              <a:path h="86360">
                <a:moveTo>
                  <a:pt x="0" y="0"/>
                </a:moveTo>
                <a:lnTo>
                  <a:pt x="0" y="85799"/>
                </a:lnTo>
              </a:path>
            </a:pathLst>
          </a:custGeom>
          <a:ln w="38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7" name="object 27"/>
          <p:cNvSpPr/>
          <p:nvPr/>
        </p:nvSpPr>
        <p:spPr>
          <a:xfrm>
            <a:off x="2602006" y="2525165"/>
            <a:ext cx="2241" cy="73959"/>
          </a:xfrm>
          <a:custGeom>
            <a:avLst/>
            <a:gdLst/>
            <a:ahLst/>
            <a:cxnLst/>
            <a:rect l="l" t="t" r="r" b="b"/>
            <a:pathLst>
              <a:path w="2540" h="83819">
                <a:moveTo>
                  <a:pt x="2540" y="83465"/>
                </a:moveTo>
                <a:lnTo>
                  <a:pt x="2540" y="0"/>
                </a:lnTo>
                <a:lnTo>
                  <a:pt x="0" y="0"/>
                </a:lnTo>
                <a:lnTo>
                  <a:pt x="0" y="83465"/>
                </a:lnTo>
                <a:lnTo>
                  <a:pt x="2540" y="834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8" name="object 28"/>
          <p:cNvSpPr/>
          <p:nvPr/>
        </p:nvSpPr>
        <p:spPr>
          <a:xfrm>
            <a:off x="2584715" y="2518533"/>
            <a:ext cx="40341" cy="80682"/>
          </a:xfrm>
          <a:custGeom>
            <a:avLst/>
            <a:gdLst/>
            <a:ahLst/>
            <a:cxnLst/>
            <a:rect l="l" t="t" r="r" b="b"/>
            <a:pathLst>
              <a:path w="45719" h="91439">
                <a:moveTo>
                  <a:pt x="45491" y="90982"/>
                </a:moveTo>
                <a:lnTo>
                  <a:pt x="22745" y="0"/>
                </a:lnTo>
                <a:lnTo>
                  <a:pt x="0" y="90982"/>
                </a:lnTo>
              </a:path>
            </a:pathLst>
          </a:custGeom>
          <a:ln w="56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9" name="object 29"/>
          <p:cNvSpPr/>
          <p:nvPr/>
        </p:nvSpPr>
        <p:spPr>
          <a:xfrm>
            <a:off x="2584715" y="2968102"/>
            <a:ext cx="40341" cy="80682"/>
          </a:xfrm>
          <a:custGeom>
            <a:avLst/>
            <a:gdLst/>
            <a:ahLst/>
            <a:cxnLst/>
            <a:rect l="l" t="t" r="r" b="b"/>
            <a:pathLst>
              <a:path w="45719" h="91439">
                <a:moveTo>
                  <a:pt x="0" y="0"/>
                </a:moveTo>
                <a:lnTo>
                  <a:pt x="22745" y="90995"/>
                </a:lnTo>
                <a:lnTo>
                  <a:pt x="45491" y="0"/>
                </a:lnTo>
              </a:path>
            </a:pathLst>
          </a:custGeom>
          <a:ln w="56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0" name="object 30"/>
          <p:cNvSpPr/>
          <p:nvPr/>
        </p:nvSpPr>
        <p:spPr>
          <a:xfrm>
            <a:off x="2478970" y="2018123"/>
            <a:ext cx="186577" cy="152400"/>
          </a:xfrm>
          <a:custGeom>
            <a:avLst/>
            <a:gdLst/>
            <a:ahLst/>
            <a:cxnLst/>
            <a:rect l="l" t="t" r="r" b="b"/>
            <a:pathLst>
              <a:path w="211455" h="172719">
                <a:moveTo>
                  <a:pt x="210827" y="0"/>
                </a:moveTo>
                <a:lnTo>
                  <a:pt x="0" y="172491"/>
                </a:lnTo>
              </a:path>
            </a:pathLst>
          </a:custGeom>
          <a:ln w="56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1" name="object 31"/>
          <p:cNvSpPr/>
          <p:nvPr/>
        </p:nvSpPr>
        <p:spPr>
          <a:xfrm>
            <a:off x="2397888" y="2170322"/>
            <a:ext cx="81243" cy="66675"/>
          </a:xfrm>
          <a:custGeom>
            <a:avLst/>
            <a:gdLst/>
            <a:ahLst/>
            <a:cxnLst/>
            <a:rect l="l" t="t" r="r" b="b"/>
            <a:pathLst>
              <a:path w="92075" h="75564">
                <a:moveTo>
                  <a:pt x="91892" y="0"/>
                </a:moveTo>
                <a:lnTo>
                  <a:pt x="0" y="75183"/>
                </a:lnTo>
              </a:path>
            </a:pathLst>
          </a:custGeom>
          <a:ln w="56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2" name="object 32"/>
          <p:cNvSpPr/>
          <p:nvPr/>
        </p:nvSpPr>
        <p:spPr>
          <a:xfrm>
            <a:off x="2397721" y="2170322"/>
            <a:ext cx="75080" cy="66675"/>
          </a:xfrm>
          <a:custGeom>
            <a:avLst/>
            <a:gdLst/>
            <a:ahLst/>
            <a:cxnLst/>
            <a:rect l="l" t="t" r="r" b="b"/>
            <a:pathLst>
              <a:path w="85090" h="75564">
                <a:moveTo>
                  <a:pt x="55727" y="0"/>
                </a:moveTo>
                <a:lnTo>
                  <a:pt x="0" y="75438"/>
                </a:lnTo>
                <a:lnTo>
                  <a:pt x="84543" y="35255"/>
                </a:lnTo>
              </a:path>
            </a:pathLst>
          </a:custGeom>
          <a:ln w="56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3" name="object 33"/>
          <p:cNvSpPr/>
          <p:nvPr/>
        </p:nvSpPr>
        <p:spPr>
          <a:xfrm>
            <a:off x="2916694" y="2024802"/>
            <a:ext cx="160244" cy="128308"/>
          </a:xfrm>
          <a:custGeom>
            <a:avLst/>
            <a:gdLst/>
            <a:ahLst/>
            <a:cxnLst/>
            <a:rect l="l" t="t" r="r" b="b"/>
            <a:pathLst>
              <a:path w="181609" h="145414">
                <a:moveTo>
                  <a:pt x="181032" y="0"/>
                </a:moveTo>
                <a:lnTo>
                  <a:pt x="0" y="144831"/>
                </a:lnTo>
              </a:path>
            </a:pathLst>
          </a:custGeom>
          <a:ln w="56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4" name="object 34"/>
          <p:cNvSpPr/>
          <p:nvPr/>
        </p:nvSpPr>
        <p:spPr>
          <a:xfrm>
            <a:off x="2834453" y="2152593"/>
            <a:ext cx="82363" cy="66115"/>
          </a:xfrm>
          <a:custGeom>
            <a:avLst/>
            <a:gdLst/>
            <a:ahLst/>
            <a:cxnLst/>
            <a:rect l="l" t="t" r="r" b="b"/>
            <a:pathLst>
              <a:path w="93344" h="74930">
                <a:moveTo>
                  <a:pt x="93206" y="0"/>
                </a:moveTo>
                <a:lnTo>
                  <a:pt x="0" y="74567"/>
                </a:lnTo>
              </a:path>
            </a:pathLst>
          </a:custGeom>
          <a:ln w="56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5" name="object 35"/>
          <p:cNvSpPr/>
          <p:nvPr/>
        </p:nvSpPr>
        <p:spPr>
          <a:xfrm>
            <a:off x="2834247" y="2152593"/>
            <a:ext cx="75080" cy="66115"/>
          </a:xfrm>
          <a:custGeom>
            <a:avLst/>
            <a:gdLst/>
            <a:ahLst/>
            <a:cxnLst/>
            <a:rect l="l" t="t" r="r" b="b"/>
            <a:pathLst>
              <a:path w="85090" h="74930">
                <a:moveTo>
                  <a:pt x="56489" y="0"/>
                </a:moveTo>
                <a:lnTo>
                  <a:pt x="0" y="74676"/>
                </a:lnTo>
                <a:lnTo>
                  <a:pt x="84924" y="35255"/>
                </a:lnTo>
              </a:path>
            </a:pathLst>
          </a:custGeom>
          <a:ln w="56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6" name="object 36"/>
          <p:cNvSpPr/>
          <p:nvPr/>
        </p:nvSpPr>
        <p:spPr>
          <a:xfrm>
            <a:off x="2711327" y="2018448"/>
            <a:ext cx="160244" cy="128308"/>
          </a:xfrm>
          <a:custGeom>
            <a:avLst/>
            <a:gdLst/>
            <a:ahLst/>
            <a:cxnLst/>
            <a:rect l="l" t="t" r="r" b="b"/>
            <a:pathLst>
              <a:path w="181609" h="145414">
                <a:moveTo>
                  <a:pt x="181017" y="0"/>
                </a:moveTo>
                <a:lnTo>
                  <a:pt x="0" y="144818"/>
                </a:lnTo>
              </a:path>
            </a:pathLst>
          </a:custGeom>
          <a:ln w="56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7" name="object 37"/>
          <p:cNvSpPr/>
          <p:nvPr/>
        </p:nvSpPr>
        <p:spPr>
          <a:xfrm>
            <a:off x="2629072" y="2146229"/>
            <a:ext cx="82363" cy="66115"/>
          </a:xfrm>
          <a:custGeom>
            <a:avLst/>
            <a:gdLst/>
            <a:ahLst/>
            <a:cxnLst/>
            <a:rect l="l" t="t" r="r" b="b"/>
            <a:pathLst>
              <a:path w="93344" h="74930">
                <a:moveTo>
                  <a:pt x="93222" y="0"/>
                </a:moveTo>
                <a:lnTo>
                  <a:pt x="0" y="74580"/>
                </a:lnTo>
              </a:path>
            </a:pathLst>
          </a:custGeom>
          <a:ln w="56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8" name="object 38"/>
          <p:cNvSpPr/>
          <p:nvPr/>
        </p:nvSpPr>
        <p:spPr>
          <a:xfrm>
            <a:off x="2628865" y="2146228"/>
            <a:ext cx="75080" cy="66115"/>
          </a:xfrm>
          <a:custGeom>
            <a:avLst/>
            <a:gdLst/>
            <a:ahLst/>
            <a:cxnLst/>
            <a:rect l="l" t="t" r="r" b="b"/>
            <a:pathLst>
              <a:path w="85090" h="74930">
                <a:moveTo>
                  <a:pt x="56489" y="0"/>
                </a:moveTo>
                <a:lnTo>
                  <a:pt x="0" y="74688"/>
                </a:lnTo>
                <a:lnTo>
                  <a:pt x="84924" y="35267"/>
                </a:lnTo>
              </a:path>
            </a:pathLst>
          </a:custGeom>
          <a:ln w="56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9" name="object 39"/>
          <p:cNvSpPr/>
          <p:nvPr/>
        </p:nvSpPr>
        <p:spPr>
          <a:xfrm>
            <a:off x="4713316" y="2012430"/>
            <a:ext cx="160244" cy="128308"/>
          </a:xfrm>
          <a:custGeom>
            <a:avLst/>
            <a:gdLst/>
            <a:ahLst/>
            <a:cxnLst/>
            <a:rect l="l" t="t" r="r" b="b"/>
            <a:pathLst>
              <a:path w="181610" h="145414">
                <a:moveTo>
                  <a:pt x="181027" y="0"/>
                </a:moveTo>
                <a:lnTo>
                  <a:pt x="0" y="144818"/>
                </a:lnTo>
              </a:path>
            </a:pathLst>
          </a:custGeom>
          <a:ln w="56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0" name="object 40"/>
          <p:cNvSpPr/>
          <p:nvPr/>
        </p:nvSpPr>
        <p:spPr>
          <a:xfrm>
            <a:off x="4631023" y="2140211"/>
            <a:ext cx="82363" cy="66115"/>
          </a:xfrm>
          <a:custGeom>
            <a:avLst/>
            <a:gdLst/>
            <a:ahLst/>
            <a:cxnLst/>
            <a:rect l="l" t="t" r="r" b="b"/>
            <a:pathLst>
              <a:path w="93345" h="74930">
                <a:moveTo>
                  <a:pt x="93266" y="0"/>
                </a:moveTo>
                <a:lnTo>
                  <a:pt x="0" y="74611"/>
                </a:lnTo>
              </a:path>
            </a:pathLst>
          </a:custGeom>
          <a:ln w="56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1" name="object 41"/>
          <p:cNvSpPr/>
          <p:nvPr/>
        </p:nvSpPr>
        <p:spPr>
          <a:xfrm>
            <a:off x="4630874" y="2140210"/>
            <a:ext cx="75080" cy="66115"/>
          </a:xfrm>
          <a:custGeom>
            <a:avLst/>
            <a:gdLst/>
            <a:ahLst/>
            <a:cxnLst/>
            <a:rect l="l" t="t" r="r" b="b"/>
            <a:pathLst>
              <a:path w="85089" h="74930">
                <a:moveTo>
                  <a:pt x="56476" y="0"/>
                </a:moveTo>
                <a:lnTo>
                  <a:pt x="0" y="74688"/>
                </a:lnTo>
                <a:lnTo>
                  <a:pt x="84912" y="35255"/>
                </a:lnTo>
              </a:path>
            </a:pathLst>
          </a:custGeom>
          <a:ln w="56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2" name="object 42"/>
          <p:cNvSpPr/>
          <p:nvPr/>
        </p:nvSpPr>
        <p:spPr>
          <a:xfrm>
            <a:off x="2666243" y="3433068"/>
            <a:ext cx="158003" cy="192741"/>
          </a:xfrm>
          <a:custGeom>
            <a:avLst/>
            <a:gdLst/>
            <a:ahLst/>
            <a:cxnLst/>
            <a:rect l="l" t="t" r="r" b="b"/>
            <a:pathLst>
              <a:path w="179069" h="218439">
                <a:moveTo>
                  <a:pt x="178657" y="218363"/>
                </a:moveTo>
                <a:lnTo>
                  <a:pt x="0" y="0"/>
                </a:lnTo>
              </a:path>
            </a:pathLst>
          </a:custGeom>
          <a:ln w="56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3" name="object 43"/>
          <p:cNvSpPr/>
          <p:nvPr/>
        </p:nvSpPr>
        <p:spPr>
          <a:xfrm>
            <a:off x="2605365" y="3358660"/>
            <a:ext cx="61072" cy="74519"/>
          </a:xfrm>
          <a:custGeom>
            <a:avLst/>
            <a:gdLst/>
            <a:ahLst/>
            <a:cxnLst/>
            <a:rect l="l" t="t" r="r" b="b"/>
            <a:pathLst>
              <a:path w="69215" h="84454">
                <a:moveTo>
                  <a:pt x="68995" y="84329"/>
                </a:moveTo>
                <a:lnTo>
                  <a:pt x="0" y="0"/>
                </a:lnTo>
              </a:path>
            </a:pathLst>
          </a:custGeom>
          <a:ln w="56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4" name="object 44"/>
          <p:cNvSpPr/>
          <p:nvPr/>
        </p:nvSpPr>
        <p:spPr>
          <a:xfrm>
            <a:off x="2605110" y="3358469"/>
            <a:ext cx="66675" cy="75080"/>
          </a:xfrm>
          <a:custGeom>
            <a:avLst/>
            <a:gdLst/>
            <a:ahLst/>
            <a:cxnLst/>
            <a:rect l="l" t="t" r="r" b="b"/>
            <a:pathLst>
              <a:path w="75565" h="85089">
                <a:moveTo>
                  <a:pt x="75069" y="55740"/>
                </a:moveTo>
                <a:lnTo>
                  <a:pt x="0" y="0"/>
                </a:lnTo>
                <a:lnTo>
                  <a:pt x="39814" y="84543"/>
                </a:lnTo>
              </a:path>
            </a:pathLst>
          </a:custGeom>
          <a:ln w="56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5" name="object 45"/>
          <p:cNvSpPr/>
          <p:nvPr/>
        </p:nvSpPr>
        <p:spPr>
          <a:xfrm>
            <a:off x="2866941" y="3433068"/>
            <a:ext cx="158003" cy="192741"/>
          </a:xfrm>
          <a:custGeom>
            <a:avLst/>
            <a:gdLst/>
            <a:ahLst/>
            <a:cxnLst/>
            <a:rect l="l" t="t" r="r" b="b"/>
            <a:pathLst>
              <a:path w="179069" h="218439">
                <a:moveTo>
                  <a:pt x="178657" y="218363"/>
                </a:moveTo>
                <a:lnTo>
                  <a:pt x="0" y="0"/>
                </a:lnTo>
              </a:path>
            </a:pathLst>
          </a:custGeom>
          <a:ln w="56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6" name="object 46"/>
          <p:cNvSpPr/>
          <p:nvPr/>
        </p:nvSpPr>
        <p:spPr>
          <a:xfrm>
            <a:off x="2806044" y="3358639"/>
            <a:ext cx="61072" cy="74519"/>
          </a:xfrm>
          <a:custGeom>
            <a:avLst/>
            <a:gdLst/>
            <a:ahLst/>
            <a:cxnLst/>
            <a:rect l="l" t="t" r="r" b="b"/>
            <a:pathLst>
              <a:path w="69215" h="84454">
                <a:moveTo>
                  <a:pt x="69015" y="84353"/>
                </a:moveTo>
                <a:lnTo>
                  <a:pt x="0" y="0"/>
                </a:lnTo>
              </a:path>
            </a:pathLst>
          </a:custGeom>
          <a:ln w="56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7" name="object 47"/>
          <p:cNvSpPr/>
          <p:nvPr/>
        </p:nvSpPr>
        <p:spPr>
          <a:xfrm>
            <a:off x="2805818" y="3358469"/>
            <a:ext cx="66675" cy="75080"/>
          </a:xfrm>
          <a:custGeom>
            <a:avLst/>
            <a:gdLst/>
            <a:ahLst/>
            <a:cxnLst/>
            <a:rect l="l" t="t" r="r" b="b"/>
            <a:pathLst>
              <a:path w="75565" h="85089">
                <a:moveTo>
                  <a:pt x="75057" y="55740"/>
                </a:moveTo>
                <a:lnTo>
                  <a:pt x="0" y="0"/>
                </a:lnTo>
                <a:lnTo>
                  <a:pt x="39801" y="84543"/>
                </a:lnTo>
              </a:path>
            </a:pathLst>
          </a:custGeom>
          <a:ln w="56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8" name="object 48"/>
          <p:cNvSpPr/>
          <p:nvPr/>
        </p:nvSpPr>
        <p:spPr>
          <a:xfrm>
            <a:off x="4673261" y="3433068"/>
            <a:ext cx="158003" cy="192741"/>
          </a:xfrm>
          <a:custGeom>
            <a:avLst/>
            <a:gdLst/>
            <a:ahLst/>
            <a:cxnLst/>
            <a:rect l="l" t="t" r="r" b="b"/>
            <a:pathLst>
              <a:path w="179070" h="218439">
                <a:moveTo>
                  <a:pt x="178657" y="218363"/>
                </a:moveTo>
                <a:lnTo>
                  <a:pt x="0" y="0"/>
                </a:lnTo>
              </a:path>
            </a:pathLst>
          </a:custGeom>
          <a:ln w="56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9" name="object 49"/>
          <p:cNvSpPr/>
          <p:nvPr/>
        </p:nvSpPr>
        <p:spPr>
          <a:xfrm>
            <a:off x="4612365" y="3358639"/>
            <a:ext cx="61072" cy="74519"/>
          </a:xfrm>
          <a:custGeom>
            <a:avLst/>
            <a:gdLst/>
            <a:ahLst/>
            <a:cxnLst/>
            <a:rect l="l" t="t" r="r" b="b"/>
            <a:pathLst>
              <a:path w="69214" h="84454">
                <a:moveTo>
                  <a:pt x="69014" y="84353"/>
                </a:moveTo>
                <a:lnTo>
                  <a:pt x="0" y="0"/>
                </a:lnTo>
              </a:path>
            </a:pathLst>
          </a:custGeom>
          <a:ln w="56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0" name="object 50"/>
          <p:cNvSpPr/>
          <p:nvPr/>
        </p:nvSpPr>
        <p:spPr>
          <a:xfrm>
            <a:off x="4612140" y="3358469"/>
            <a:ext cx="66675" cy="75080"/>
          </a:xfrm>
          <a:custGeom>
            <a:avLst/>
            <a:gdLst/>
            <a:ahLst/>
            <a:cxnLst/>
            <a:rect l="l" t="t" r="r" b="b"/>
            <a:pathLst>
              <a:path w="75564" h="85089">
                <a:moveTo>
                  <a:pt x="75057" y="55740"/>
                </a:moveTo>
                <a:lnTo>
                  <a:pt x="0" y="0"/>
                </a:lnTo>
                <a:lnTo>
                  <a:pt x="39801" y="84543"/>
                </a:lnTo>
              </a:path>
            </a:pathLst>
          </a:custGeom>
          <a:ln w="56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1" name="object 51"/>
          <p:cNvSpPr/>
          <p:nvPr/>
        </p:nvSpPr>
        <p:spPr>
          <a:xfrm>
            <a:off x="2462867" y="3435073"/>
            <a:ext cx="158003" cy="192741"/>
          </a:xfrm>
          <a:custGeom>
            <a:avLst/>
            <a:gdLst/>
            <a:ahLst/>
            <a:cxnLst/>
            <a:rect l="l" t="t" r="r" b="b"/>
            <a:pathLst>
              <a:path w="179069" h="218439">
                <a:moveTo>
                  <a:pt x="178657" y="218363"/>
                </a:moveTo>
                <a:lnTo>
                  <a:pt x="0" y="0"/>
                </a:lnTo>
              </a:path>
            </a:pathLst>
          </a:custGeom>
          <a:ln w="56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2" name="object 52"/>
          <p:cNvSpPr/>
          <p:nvPr/>
        </p:nvSpPr>
        <p:spPr>
          <a:xfrm>
            <a:off x="2402012" y="3360695"/>
            <a:ext cx="61072" cy="74519"/>
          </a:xfrm>
          <a:custGeom>
            <a:avLst/>
            <a:gdLst/>
            <a:ahLst/>
            <a:cxnLst/>
            <a:rect l="l" t="t" r="r" b="b"/>
            <a:pathLst>
              <a:path w="69215" h="84454">
                <a:moveTo>
                  <a:pt x="68969" y="84297"/>
                </a:moveTo>
                <a:lnTo>
                  <a:pt x="0" y="0"/>
                </a:lnTo>
              </a:path>
            </a:pathLst>
          </a:custGeom>
          <a:ln w="56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3" name="object 53"/>
          <p:cNvSpPr/>
          <p:nvPr/>
        </p:nvSpPr>
        <p:spPr>
          <a:xfrm>
            <a:off x="2401735" y="3360487"/>
            <a:ext cx="66675" cy="75080"/>
          </a:xfrm>
          <a:custGeom>
            <a:avLst/>
            <a:gdLst/>
            <a:ahLst/>
            <a:cxnLst/>
            <a:rect l="l" t="t" r="r" b="b"/>
            <a:pathLst>
              <a:path w="75565" h="85089">
                <a:moveTo>
                  <a:pt x="75069" y="55714"/>
                </a:moveTo>
                <a:lnTo>
                  <a:pt x="0" y="0"/>
                </a:lnTo>
                <a:lnTo>
                  <a:pt x="39801" y="84531"/>
                </a:lnTo>
              </a:path>
            </a:pathLst>
          </a:custGeom>
          <a:ln w="56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4" name="object 54"/>
          <p:cNvSpPr/>
          <p:nvPr/>
        </p:nvSpPr>
        <p:spPr>
          <a:xfrm>
            <a:off x="4290676" y="2808553"/>
            <a:ext cx="349623" cy="0"/>
          </a:xfrm>
          <a:custGeom>
            <a:avLst/>
            <a:gdLst/>
            <a:ahLst/>
            <a:cxnLst/>
            <a:rect l="l" t="t" r="r" b="b"/>
            <a:pathLst>
              <a:path w="396239">
                <a:moveTo>
                  <a:pt x="0" y="0"/>
                </a:moveTo>
                <a:lnTo>
                  <a:pt x="395782" y="0"/>
                </a:lnTo>
              </a:path>
            </a:pathLst>
          </a:custGeom>
          <a:ln w="113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5" name="object 55"/>
          <p:cNvSpPr/>
          <p:nvPr/>
        </p:nvSpPr>
        <p:spPr>
          <a:xfrm>
            <a:off x="4519478" y="2778442"/>
            <a:ext cx="120463" cy="60512"/>
          </a:xfrm>
          <a:custGeom>
            <a:avLst/>
            <a:gdLst/>
            <a:ahLst/>
            <a:cxnLst/>
            <a:rect l="l" t="t" r="r" b="b"/>
            <a:pathLst>
              <a:path w="136525" h="68580">
                <a:moveTo>
                  <a:pt x="0" y="68237"/>
                </a:moveTo>
                <a:lnTo>
                  <a:pt x="136474" y="34124"/>
                </a:lnTo>
                <a:lnTo>
                  <a:pt x="0" y="0"/>
                </a:lnTo>
              </a:path>
            </a:pathLst>
          </a:custGeom>
          <a:ln w="113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6" name="object 56"/>
          <p:cNvSpPr txBox="1"/>
          <p:nvPr/>
        </p:nvSpPr>
        <p:spPr>
          <a:xfrm>
            <a:off x="1966385" y="3133516"/>
            <a:ext cx="313765" cy="120500"/>
          </a:xfrm>
          <a:prstGeom prst="rect">
            <a:avLst/>
          </a:prstGeom>
        </p:spPr>
        <p:txBody>
          <a:bodyPr vert="horz" wrap="square" lIns="0" tIns="11766" rIns="0" bIns="0" rtlCol="0">
            <a:spAutoFit/>
          </a:bodyPr>
          <a:lstStyle/>
          <a:p>
            <a:pPr marL="11205">
              <a:spcBef>
                <a:spcPts val="93"/>
              </a:spcBef>
            </a:pPr>
            <a:r>
              <a:rPr sz="706" b="1" dirty="0">
                <a:latin typeface="Arial"/>
                <a:cs typeface="Arial"/>
              </a:rPr>
              <a:t>movie:</a:t>
            </a:r>
            <a:endParaRPr sz="706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941295" y="2280529"/>
            <a:ext cx="333935" cy="120500"/>
          </a:xfrm>
          <a:prstGeom prst="rect">
            <a:avLst/>
          </a:prstGeom>
        </p:spPr>
        <p:txBody>
          <a:bodyPr vert="horz" wrap="square" lIns="0" tIns="11766" rIns="0" bIns="0" rtlCol="0">
            <a:spAutoFit/>
          </a:bodyPr>
          <a:lstStyle/>
          <a:p>
            <a:pPr marL="11205">
              <a:spcBef>
                <a:spcPts val="93"/>
              </a:spcBef>
            </a:pPr>
            <a:r>
              <a:rPr sz="706" b="1" dirty="0">
                <a:latin typeface="Arial"/>
                <a:cs typeface="Arial"/>
              </a:rPr>
              <a:t>viewer:</a:t>
            </a:r>
            <a:endParaRPr sz="706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 rot="19200000">
            <a:off x="4786451" y="1650233"/>
            <a:ext cx="870396" cy="102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789"/>
              </a:lnSpc>
            </a:pPr>
            <a:r>
              <a:rPr sz="794" b="1" spc="-4" dirty="0">
                <a:solidFill>
                  <a:srgbClr val="FFD600"/>
                </a:solidFill>
                <a:latin typeface="Arial"/>
                <a:cs typeface="Arial"/>
              </a:rPr>
              <a:t>likes Tom</a:t>
            </a:r>
            <a:r>
              <a:rPr sz="794" b="1" spc="-58" dirty="0">
                <a:solidFill>
                  <a:srgbClr val="FFD600"/>
                </a:solidFill>
                <a:latin typeface="Arial"/>
                <a:cs typeface="Arial"/>
              </a:rPr>
              <a:t> </a:t>
            </a:r>
            <a:r>
              <a:rPr sz="794" b="1" spc="-4" dirty="0">
                <a:solidFill>
                  <a:srgbClr val="FFD600"/>
                </a:solidFill>
                <a:latin typeface="Arial"/>
                <a:cs typeface="Arial"/>
              </a:rPr>
              <a:t>Cruise?</a:t>
            </a:r>
            <a:endParaRPr sz="794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 rot="2940000">
            <a:off x="4713838" y="3902064"/>
            <a:ext cx="828115" cy="102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789"/>
              </a:lnSpc>
            </a:pPr>
            <a:r>
              <a:rPr sz="1191" b="1" spc="-6" baseline="6172" dirty="0">
                <a:solidFill>
                  <a:srgbClr val="FFD600"/>
                </a:solidFill>
                <a:latin typeface="Arial"/>
                <a:cs typeface="Arial"/>
              </a:rPr>
              <a:t>Tom</a:t>
            </a:r>
            <a:r>
              <a:rPr sz="1191" b="1" spc="-27" baseline="6172" dirty="0">
                <a:solidFill>
                  <a:srgbClr val="FFD600"/>
                </a:solidFill>
                <a:latin typeface="Arial"/>
                <a:cs typeface="Arial"/>
              </a:rPr>
              <a:t> </a:t>
            </a:r>
            <a:r>
              <a:rPr sz="1191" b="1" spc="-6" baseline="3086" dirty="0">
                <a:solidFill>
                  <a:srgbClr val="FFD600"/>
                </a:solidFill>
                <a:latin typeface="Arial"/>
                <a:cs typeface="Arial"/>
              </a:rPr>
              <a:t>Cruise</a:t>
            </a:r>
            <a:r>
              <a:rPr sz="1191" b="1" spc="-27" baseline="3086" dirty="0">
                <a:solidFill>
                  <a:srgbClr val="FFD600"/>
                </a:solidFill>
                <a:latin typeface="Arial"/>
                <a:cs typeface="Arial"/>
              </a:rPr>
              <a:t> </a:t>
            </a:r>
            <a:r>
              <a:rPr sz="794" b="1" spc="-4" dirty="0">
                <a:solidFill>
                  <a:srgbClr val="FFD600"/>
                </a:solidFill>
                <a:latin typeface="Arial"/>
                <a:cs typeface="Arial"/>
              </a:rPr>
              <a:t>in</a:t>
            </a:r>
            <a:r>
              <a:rPr sz="794" b="1" spc="-18" dirty="0">
                <a:solidFill>
                  <a:srgbClr val="FFD600"/>
                </a:solidFill>
                <a:latin typeface="Arial"/>
                <a:cs typeface="Arial"/>
              </a:rPr>
              <a:t> </a:t>
            </a:r>
            <a:r>
              <a:rPr sz="794" b="1" spc="-4" dirty="0">
                <a:solidFill>
                  <a:srgbClr val="FFD600"/>
                </a:solidFill>
                <a:latin typeface="Arial"/>
                <a:cs typeface="Arial"/>
              </a:rPr>
              <a:t>it?</a:t>
            </a:r>
            <a:endParaRPr sz="794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 rot="2940000">
            <a:off x="2940673" y="3854335"/>
            <a:ext cx="640008" cy="102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785"/>
              </a:lnSpc>
            </a:pPr>
            <a:r>
              <a:rPr sz="794" b="1" spc="-4" dirty="0">
                <a:solidFill>
                  <a:srgbClr val="FF00FF"/>
                </a:solidFill>
                <a:latin typeface="Arial"/>
                <a:cs typeface="Arial"/>
              </a:rPr>
              <a:t>blockbuster?</a:t>
            </a:r>
            <a:endParaRPr sz="794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 rot="2940000">
            <a:off x="2730172" y="3875843"/>
            <a:ext cx="695393" cy="102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789"/>
              </a:lnSpc>
            </a:pPr>
            <a:r>
              <a:rPr sz="1191" b="1" spc="-6" baseline="3086" dirty="0">
                <a:solidFill>
                  <a:srgbClr val="0000FF"/>
                </a:solidFill>
                <a:latin typeface="Arial"/>
                <a:cs typeface="Arial"/>
              </a:rPr>
              <a:t>action</a:t>
            </a:r>
            <a:r>
              <a:rPr sz="1191" b="1" spc="-27" baseline="3086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794" b="1" spc="-4" dirty="0">
                <a:solidFill>
                  <a:srgbClr val="0000FF"/>
                </a:solidFill>
                <a:latin typeface="Arial"/>
                <a:cs typeface="Arial"/>
              </a:rPr>
              <a:t>content</a:t>
            </a:r>
            <a:endParaRPr sz="794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 rot="2940000">
            <a:off x="2515030" y="3907795"/>
            <a:ext cx="778088" cy="102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789"/>
              </a:lnSpc>
            </a:pPr>
            <a:r>
              <a:rPr sz="1191" b="1" spc="-6" baseline="3086" dirty="0">
                <a:solidFill>
                  <a:srgbClr val="00FF00"/>
                </a:solidFill>
                <a:latin typeface="Arial"/>
                <a:cs typeface="Arial"/>
              </a:rPr>
              <a:t>comedy</a:t>
            </a:r>
            <a:r>
              <a:rPr sz="1191" b="1" spc="-27" baseline="3086" dirty="0">
                <a:solidFill>
                  <a:srgbClr val="00FF00"/>
                </a:solidFill>
                <a:latin typeface="Arial"/>
                <a:cs typeface="Arial"/>
              </a:rPr>
              <a:t> </a:t>
            </a:r>
            <a:r>
              <a:rPr sz="794" b="1" spc="-4" dirty="0">
                <a:solidFill>
                  <a:srgbClr val="00FF00"/>
                </a:solidFill>
                <a:latin typeface="Arial"/>
                <a:cs typeface="Arial"/>
              </a:rPr>
              <a:t>content</a:t>
            </a:r>
            <a:endParaRPr sz="794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4801294" y="2545470"/>
            <a:ext cx="564777" cy="347444"/>
          </a:xfrm>
          <a:prstGeom prst="rect">
            <a:avLst/>
          </a:prstGeom>
        </p:spPr>
        <p:txBody>
          <a:bodyPr vert="horz" wrap="square" lIns="0" tIns="10645" rIns="0" bIns="0" rtlCol="0">
            <a:spAutoFit/>
          </a:bodyPr>
          <a:lstStyle/>
          <a:p>
            <a:pPr marL="136146" marR="4482" indent="-125501">
              <a:lnSpc>
                <a:spcPct val="124400"/>
              </a:lnSpc>
              <a:spcBef>
                <a:spcPts val="84"/>
              </a:spcBef>
            </a:pPr>
            <a:r>
              <a:rPr sz="927" b="1" spc="9" dirty="0">
                <a:solidFill>
                  <a:srgbClr val="FF0000"/>
                </a:solidFill>
                <a:latin typeface="Arial"/>
                <a:cs typeface="Arial"/>
              </a:rPr>
              <a:t>predicted  rating</a:t>
            </a:r>
            <a:endParaRPr sz="927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2744097" y="2566529"/>
            <a:ext cx="1405778" cy="344676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5" marR="4482">
              <a:lnSpc>
                <a:spcPct val="145100"/>
              </a:lnSpc>
              <a:spcBef>
                <a:spcPts val="88"/>
              </a:spcBef>
            </a:pPr>
            <a:r>
              <a:rPr sz="794" b="1" spc="-4" dirty="0">
                <a:latin typeface="Arial"/>
                <a:cs typeface="Arial"/>
              </a:rPr>
              <a:t>Match corresponding</a:t>
            </a:r>
            <a:r>
              <a:rPr sz="794" b="1" spc="-35" dirty="0">
                <a:latin typeface="Arial"/>
                <a:cs typeface="Arial"/>
              </a:rPr>
              <a:t> </a:t>
            </a:r>
            <a:r>
              <a:rPr sz="794" b="1" spc="-4" dirty="0">
                <a:latin typeface="Arial"/>
                <a:cs typeface="Arial"/>
              </a:rPr>
              <a:t>factors  then add their</a:t>
            </a:r>
            <a:r>
              <a:rPr sz="794" b="1" spc="-22" dirty="0">
                <a:latin typeface="Arial"/>
                <a:cs typeface="Arial"/>
              </a:rPr>
              <a:t> </a:t>
            </a:r>
            <a:r>
              <a:rPr sz="794" b="1" spc="-4" dirty="0">
                <a:latin typeface="Arial"/>
                <a:cs typeface="Arial"/>
              </a:rPr>
              <a:t>contributions</a:t>
            </a:r>
            <a:endParaRPr sz="794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 rot="19200000">
            <a:off x="2595089" y="1696800"/>
            <a:ext cx="727007" cy="102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789"/>
              </a:lnSpc>
            </a:pPr>
            <a:r>
              <a:rPr sz="794" b="1" spc="-4" dirty="0">
                <a:solidFill>
                  <a:srgbClr val="00FF00"/>
                </a:solidFill>
                <a:latin typeface="Arial"/>
                <a:cs typeface="Arial"/>
              </a:rPr>
              <a:t>likes</a:t>
            </a:r>
            <a:r>
              <a:rPr sz="794" b="1" spc="155" dirty="0">
                <a:solidFill>
                  <a:srgbClr val="00FF00"/>
                </a:solidFill>
                <a:latin typeface="Arial"/>
                <a:cs typeface="Arial"/>
              </a:rPr>
              <a:t> </a:t>
            </a:r>
            <a:r>
              <a:rPr sz="794" b="1" spc="-4" dirty="0">
                <a:solidFill>
                  <a:srgbClr val="00FF00"/>
                </a:solidFill>
                <a:latin typeface="Arial"/>
                <a:cs typeface="Arial"/>
              </a:rPr>
              <a:t>comedy?</a:t>
            </a:r>
            <a:endParaRPr sz="794">
              <a:latin typeface="Arial"/>
              <a:cs typeface="Arial"/>
            </a:endParaRPr>
          </a:p>
        </p:txBody>
      </p:sp>
      <p:sp>
        <p:nvSpPr>
          <p:cNvPr id="66" name="object 66"/>
          <p:cNvSpPr txBox="1"/>
          <p:nvPr/>
        </p:nvSpPr>
        <p:spPr>
          <a:xfrm rot="19200000">
            <a:off x="2833294" y="1732675"/>
            <a:ext cx="616227" cy="102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789"/>
              </a:lnSpc>
            </a:pPr>
            <a:r>
              <a:rPr sz="794" b="1" spc="-4" dirty="0">
                <a:solidFill>
                  <a:srgbClr val="0000FF"/>
                </a:solidFill>
                <a:latin typeface="Arial"/>
                <a:cs typeface="Arial"/>
              </a:rPr>
              <a:t>likes</a:t>
            </a:r>
            <a:r>
              <a:rPr sz="794" b="1" spc="-62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794" b="1" spc="-4" dirty="0">
                <a:solidFill>
                  <a:srgbClr val="0000FF"/>
                </a:solidFill>
                <a:latin typeface="Arial"/>
                <a:cs typeface="Arial"/>
              </a:rPr>
              <a:t>action?</a:t>
            </a:r>
            <a:endParaRPr sz="794"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 rot="19200000">
            <a:off x="2983552" y="1614377"/>
            <a:ext cx="1059285" cy="102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789"/>
              </a:lnSpc>
            </a:pPr>
            <a:r>
              <a:rPr sz="794" b="1" spc="-4" dirty="0">
                <a:solidFill>
                  <a:srgbClr val="FF00FF"/>
                </a:solidFill>
                <a:latin typeface="Arial"/>
                <a:cs typeface="Arial"/>
              </a:rPr>
              <a:t>prefers</a:t>
            </a:r>
            <a:r>
              <a:rPr sz="794" b="1" spc="-44" dirty="0">
                <a:solidFill>
                  <a:srgbClr val="FF00FF"/>
                </a:solidFill>
                <a:latin typeface="Arial"/>
                <a:cs typeface="Arial"/>
              </a:rPr>
              <a:t> </a:t>
            </a:r>
            <a:r>
              <a:rPr sz="794" b="1" spc="-4" dirty="0">
                <a:solidFill>
                  <a:srgbClr val="FF00FF"/>
                </a:solidFill>
                <a:latin typeface="Arial"/>
                <a:cs typeface="Arial"/>
              </a:rPr>
              <a:t>blockbusters?</a:t>
            </a:r>
            <a:endParaRPr sz="794">
              <a:latin typeface="Arial"/>
              <a:cs typeface="Arial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5995192" y="2274122"/>
            <a:ext cx="4083424" cy="244411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marL="163040" indent="-152394">
              <a:spcBef>
                <a:spcPts val="106"/>
              </a:spcBef>
              <a:buFont typeface="MS UI Gothic"/>
              <a:buChar char="•"/>
              <a:tabLst>
                <a:tab pos="163600" algn="l"/>
              </a:tabLst>
            </a:pPr>
            <a:r>
              <a:rPr sz="1500" dirty="0">
                <a:solidFill>
                  <a:srgbClr val="231F20"/>
                </a:solidFill>
                <a:latin typeface="PMingLiU"/>
                <a:cs typeface="PMingLiU"/>
              </a:rPr>
              <a:t>Viewer </a:t>
            </a:r>
            <a:r>
              <a:rPr sz="1500" spc="70" dirty="0">
                <a:solidFill>
                  <a:srgbClr val="231F20"/>
                </a:solidFill>
                <a:latin typeface="PMingLiU"/>
                <a:cs typeface="PMingLiU"/>
              </a:rPr>
              <a:t>taste </a:t>
            </a:r>
            <a:r>
              <a:rPr sz="1500" spc="-9" dirty="0">
                <a:solidFill>
                  <a:srgbClr val="231F20"/>
                </a:solidFill>
                <a:latin typeface="PMingLiU"/>
                <a:cs typeface="PMingLiU"/>
              </a:rPr>
              <a:t>&amp; </a:t>
            </a:r>
            <a:r>
              <a:rPr sz="1500" spc="4" dirty="0">
                <a:solidFill>
                  <a:srgbClr val="231F20"/>
                </a:solidFill>
                <a:latin typeface="PMingLiU"/>
                <a:cs typeface="PMingLiU"/>
              </a:rPr>
              <a:t>movie </a:t>
            </a:r>
            <a:r>
              <a:rPr sz="1500" spc="44" dirty="0">
                <a:solidFill>
                  <a:srgbClr val="231F20"/>
                </a:solidFill>
                <a:latin typeface="PMingLiU"/>
                <a:cs typeface="PMingLiU"/>
              </a:rPr>
              <a:t>content </a:t>
            </a:r>
            <a:r>
              <a:rPr sz="1500" spc="27" dirty="0">
                <a:solidFill>
                  <a:srgbClr val="231F20"/>
                </a:solidFill>
                <a:latin typeface="PMingLiU"/>
                <a:cs typeface="PMingLiU"/>
              </a:rPr>
              <a:t>imply </a:t>
            </a:r>
            <a:r>
              <a:rPr sz="1500" dirty="0">
                <a:solidFill>
                  <a:srgbClr val="231F20"/>
                </a:solidFill>
                <a:latin typeface="PMingLiU"/>
                <a:cs typeface="PMingLiU"/>
              </a:rPr>
              <a:t>viewer</a:t>
            </a:r>
            <a:r>
              <a:rPr sz="1500" spc="331" dirty="0">
                <a:solidFill>
                  <a:srgbClr val="231F20"/>
                </a:solidFill>
                <a:latin typeface="PMingLiU"/>
                <a:cs typeface="PMingLiU"/>
              </a:rPr>
              <a:t> </a:t>
            </a:r>
            <a:r>
              <a:rPr sz="1500" spc="49" dirty="0">
                <a:solidFill>
                  <a:srgbClr val="231F20"/>
                </a:solidFill>
                <a:latin typeface="PMingLiU"/>
                <a:cs typeface="PMingLiU"/>
              </a:rPr>
              <a:t>rating.</a:t>
            </a:r>
            <a:endParaRPr sz="1500" dirty="0">
              <a:latin typeface="PMingLiU"/>
              <a:cs typeface="PMingLiU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5995192" y="2846086"/>
            <a:ext cx="3620621" cy="244411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marL="163040" indent="-152394">
              <a:spcBef>
                <a:spcPts val="106"/>
              </a:spcBef>
              <a:buFont typeface="MS UI Gothic"/>
              <a:buChar char="•"/>
              <a:tabLst>
                <a:tab pos="163600" algn="l"/>
              </a:tabLst>
            </a:pPr>
            <a:r>
              <a:rPr sz="1500" spc="9" dirty="0">
                <a:solidFill>
                  <a:srgbClr val="231F20"/>
                </a:solidFill>
                <a:latin typeface="PMingLiU"/>
                <a:cs typeface="PMingLiU"/>
              </a:rPr>
              <a:t>No </a:t>
            </a:r>
            <a:r>
              <a:rPr sz="1500" spc="22" dirty="0">
                <a:solidFill>
                  <a:srgbClr val="231F20"/>
                </a:solidFill>
                <a:latin typeface="PMingLiU"/>
                <a:cs typeface="PMingLiU"/>
              </a:rPr>
              <a:t>magical formula </a:t>
            </a:r>
            <a:r>
              <a:rPr sz="1500" spc="66" dirty="0">
                <a:solidFill>
                  <a:srgbClr val="231F20"/>
                </a:solidFill>
                <a:latin typeface="PMingLiU"/>
                <a:cs typeface="PMingLiU"/>
              </a:rPr>
              <a:t>to </a:t>
            </a:r>
            <a:r>
              <a:rPr sz="1500" spc="39" dirty="0">
                <a:solidFill>
                  <a:srgbClr val="231F20"/>
                </a:solidFill>
                <a:latin typeface="PMingLiU"/>
                <a:cs typeface="PMingLiU"/>
              </a:rPr>
              <a:t>predict </a:t>
            </a:r>
            <a:r>
              <a:rPr sz="1500" dirty="0">
                <a:solidFill>
                  <a:srgbClr val="231F20"/>
                </a:solidFill>
                <a:latin typeface="PMingLiU"/>
                <a:cs typeface="PMingLiU"/>
              </a:rPr>
              <a:t>viewer</a:t>
            </a:r>
            <a:r>
              <a:rPr sz="1500" spc="256" dirty="0">
                <a:solidFill>
                  <a:srgbClr val="231F20"/>
                </a:solidFill>
                <a:latin typeface="PMingLiU"/>
                <a:cs typeface="PMingLiU"/>
              </a:rPr>
              <a:t> </a:t>
            </a:r>
            <a:r>
              <a:rPr sz="1500" spc="49" dirty="0">
                <a:solidFill>
                  <a:srgbClr val="231F20"/>
                </a:solidFill>
                <a:latin typeface="PMingLiU"/>
                <a:cs typeface="PMingLiU"/>
              </a:rPr>
              <a:t>rating.</a:t>
            </a:r>
            <a:endParaRPr sz="1500" dirty="0">
              <a:latin typeface="PMingLiU"/>
              <a:cs typeface="PMingLiU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5995192" y="3553331"/>
            <a:ext cx="4132169" cy="493060"/>
          </a:xfrm>
          <a:prstGeom prst="rect">
            <a:avLst/>
          </a:prstGeom>
        </p:spPr>
        <p:txBody>
          <a:bodyPr vert="horz" wrap="square" lIns="0" tIns="10645" rIns="0" bIns="0" rtlCol="0">
            <a:spAutoFit/>
          </a:bodyPr>
          <a:lstStyle/>
          <a:p>
            <a:pPr marL="163040" marR="4482" indent="-152394">
              <a:lnSpc>
                <a:spcPct val="107600"/>
              </a:lnSpc>
              <a:spcBef>
                <a:spcPts val="84"/>
              </a:spcBef>
              <a:buFont typeface="MS UI Gothic"/>
              <a:buChar char="•"/>
              <a:tabLst>
                <a:tab pos="163600" algn="l"/>
                <a:tab pos="1588375" algn="l"/>
              </a:tabLst>
            </a:pPr>
            <a:r>
              <a:rPr sz="1500" spc="9" dirty="0">
                <a:solidFill>
                  <a:srgbClr val="231F20"/>
                </a:solidFill>
                <a:latin typeface="PMingLiU"/>
                <a:cs typeface="PMingLiU"/>
              </a:rPr>
              <a:t>Netflix</a:t>
            </a:r>
            <a:r>
              <a:rPr sz="1500" spc="180" dirty="0">
                <a:solidFill>
                  <a:srgbClr val="231F20"/>
                </a:solidFill>
                <a:latin typeface="PMingLiU"/>
                <a:cs typeface="PMingLiU"/>
              </a:rPr>
              <a:t> </a:t>
            </a:r>
            <a:r>
              <a:rPr sz="1500" spc="44" dirty="0">
                <a:solidFill>
                  <a:srgbClr val="231F20"/>
                </a:solidFill>
                <a:latin typeface="PMingLiU"/>
                <a:cs typeface="PMingLiU"/>
              </a:rPr>
              <a:t>has</a:t>
            </a:r>
            <a:r>
              <a:rPr sz="1500" spc="172" dirty="0">
                <a:solidFill>
                  <a:srgbClr val="231F20"/>
                </a:solidFill>
                <a:latin typeface="PMingLiU"/>
                <a:cs typeface="PMingLiU"/>
              </a:rPr>
              <a:t> </a:t>
            </a:r>
            <a:r>
              <a:rPr sz="1500" spc="75" dirty="0">
                <a:solidFill>
                  <a:srgbClr val="231F20"/>
                </a:solidFill>
                <a:latin typeface="PMingLiU"/>
                <a:cs typeface="PMingLiU"/>
              </a:rPr>
              <a:t>data.	</a:t>
            </a:r>
            <a:r>
              <a:rPr sz="1500" spc="-4" dirty="0">
                <a:solidFill>
                  <a:srgbClr val="231F20"/>
                </a:solidFill>
                <a:latin typeface="PMingLiU"/>
                <a:cs typeface="PMingLiU"/>
              </a:rPr>
              <a:t>We </a:t>
            </a:r>
            <a:r>
              <a:rPr sz="1500" spc="39" dirty="0">
                <a:solidFill>
                  <a:srgbClr val="231F20"/>
                </a:solidFill>
                <a:latin typeface="PMingLiU"/>
                <a:cs typeface="PMingLiU"/>
              </a:rPr>
              <a:t>can </a:t>
            </a:r>
            <a:r>
              <a:rPr sz="1500" spc="180" dirty="0">
                <a:solidFill>
                  <a:srgbClr val="231F20"/>
                </a:solidFill>
                <a:latin typeface="PMingLiU"/>
                <a:cs typeface="PMingLiU"/>
              </a:rPr>
              <a:t>learn </a:t>
            </a:r>
            <a:r>
              <a:rPr sz="1500" spc="66" dirty="0">
                <a:solidFill>
                  <a:srgbClr val="231F20"/>
                </a:solidFill>
                <a:latin typeface="PMingLiU"/>
                <a:cs typeface="PMingLiU"/>
              </a:rPr>
              <a:t>to </a:t>
            </a:r>
            <a:r>
              <a:rPr sz="1500" spc="22" dirty="0">
                <a:solidFill>
                  <a:srgbClr val="231F20"/>
                </a:solidFill>
                <a:latin typeface="PMingLiU"/>
                <a:cs typeface="PMingLiU"/>
              </a:rPr>
              <a:t>identify </a:t>
            </a:r>
            <a:r>
              <a:rPr sz="1500" spc="4" dirty="0">
                <a:solidFill>
                  <a:srgbClr val="231F20"/>
                </a:solidFill>
                <a:latin typeface="PMingLiU"/>
                <a:cs typeface="PMingLiU"/>
              </a:rPr>
              <a:t>movie  </a:t>
            </a:r>
            <a:r>
              <a:rPr sz="1500" spc="-119" dirty="0">
                <a:solidFill>
                  <a:srgbClr val="231F20"/>
                </a:solidFill>
                <a:latin typeface="PMingLiU"/>
                <a:cs typeface="PMingLiU"/>
              </a:rPr>
              <a:t>“categories” </a:t>
            </a:r>
            <a:r>
              <a:rPr sz="1500" spc="31" dirty="0">
                <a:solidFill>
                  <a:srgbClr val="231F20"/>
                </a:solidFill>
                <a:latin typeface="PMingLiU"/>
                <a:cs typeface="PMingLiU"/>
              </a:rPr>
              <a:t>as </a:t>
            </a:r>
            <a:r>
              <a:rPr sz="1500" spc="-22" dirty="0">
                <a:solidFill>
                  <a:srgbClr val="231F20"/>
                </a:solidFill>
                <a:latin typeface="PMingLiU"/>
                <a:cs typeface="PMingLiU"/>
              </a:rPr>
              <a:t>well </a:t>
            </a:r>
            <a:r>
              <a:rPr sz="1500" spc="31" dirty="0">
                <a:solidFill>
                  <a:srgbClr val="231F20"/>
                </a:solidFill>
                <a:latin typeface="PMingLiU"/>
                <a:cs typeface="PMingLiU"/>
              </a:rPr>
              <a:t>as </a:t>
            </a:r>
            <a:r>
              <a:rPr sz="1500" dirty="0">
                <a:solidFill>
                  <a:srgbClr val="231F20"/>
                </a:solidFill>
                <a:latin typeface="PMingLiU"/>
                <a:cs typeface="PMingLiU"/>
              </a:rPr>
              <a:t>viewer</a:t>
            </a:r>
            <a:r>
              <a:rPr sz="1500" spc="141" dirty="0">
                <a:solidFill>
                  <a:srgbClr val="231F20"/>
                </a:solidFill>
                <a:latin typeface="PMingLiU"/>
                <a:cs typeface="PMingLiU"/>
              </a:rPr>
              <a:t> </a:t>
            </a:r>
            <a:r>
              <a:rPr sz="1500" spc="-115" dirty="0">
                <a:solidFill>
                  <a:srgbClr val="231F20"/>
                </a:solidFill>
                <a:latin typeface="PMingLiU"/>
                <a:cs typeface="PMingLiU"/>
              </a:rPr>
              <a:t>“preferences”</a:t>
            </a:r>
            <a:endParaRPr sz="1500" dirty="0">
              <a:latin typeface="PMingLiU"/>
              <a:cs typeface="PMingLiU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2050667" y="5005641"/>
            <a:ext cx="7593106" cy="753086"/>
          </a:xfrm>
          <a:prstGeom prst="rect">
            <a:avLst/>
          </a:prstGeom>
        </p:spPr>
        <p:txBody>
          <a:bodyPr vert="horz" wrap="square" lIns="0" tIns="12886" rIns="0" bIns="0" rtlCol="0">
            <a:spAutoFit/>
          </a:bodyPr>
          <a:lstStyle/>
          <a:p>
            <a:pPr marL="11205">
              <a:spcBef>
                <a:spcPts val="101"/>
              </a:spcBef>
            </a:pPr>
            <a:r>
              <a:rPr sz="1809" spc="27" dirty="0">
                <a:solidFill>
                  <a:srgbClr val="231F20"/>
                </a:solidFill>
                <a:latin typeface="PMingLiU"/>
                <a:cs typeface="PMingLiU"/>
              </a:rPr>
              <a:t>Class</a:t>
            </a:r>
            <a:r>
              <a:rPr sz="1809" spc="75" dirty="0">
                <a:solidFill>
                  <a:srgbClr val="231F20"/>
                </a:solidFill>
                <a:latin typeface="PMingLiU"/>
                <a:cs typeface="PMingLiU"/>
              </a:rPr>
              <a:t> </a:t>
            </a:r>
            <a:r>
              <a:rPr sz="1809" spc="53" dirty="0">
                <a:solidFill>
                  <a:srgbClr val="231F20"/>
                </a:solidFill>
                <a:latin typeface="PMingLiU"/>
                <a:cs typeface="PMingLiU"/>
              </a:rPr>
              <a:t>Motto:</a:t>
            </a:r>
            <a:endParaRPr sz="1809">
              <a:latin typeface="PMingLiU"/>
              <a:cs typeface="PMingLiU"/>
            </a:endParaRPr>
          </a:p>
          <a:p>
            <a:pPr>
              <a:spcBef>
                <a:spcPts val="39"/>
              </a:spcBef>
            </a:pPr>
            <a:endParaRPr sz="1191">
              <a:latin typeface="PMingLiU"/>
              <a:cs typeface="PMingLiU"/>
            </a:endParaRPr>
          </a:p>
          <a:p>
            <a:pPr marL="508168">
              <a:tabLst>
                <a:tab pos="2547002" algn="l"/>
                <a:tab pos="4721423" algn="l"/>
              </a:tabLst>
            </a:pPr>
            <a:r>
              <a:rPr sz="1809" spc="318" dirty="0">
                <a:solidFill>
                  <a:srgbClr val="231F20"/>
                </a:solidFill>
                <a:latin typeface="PMingLiU"/>
                <a:cs typeface="PMingLiU"/>
              </a:rPr>
              <a:t>A</a:t>
            </a:r>
            <a:r>
              <a:rPr sz="1809" spc="224" dirty="0">
                <a:solidFill>
                  <a:srgbClr val="231F20"/>
                </a:solidFill>
                <a:latin typeface="PMingLiU"/>
                <a:cs typeface="PMingLiU"/>
              </a:rPr>
              <a:t> </a:t>
            </a:r>
            <a:r>
              <a:rPr sz="1809" spc="269" dirty="0">
                <a:solidFill>
                  <a:srgbClr val="231F20"/>
                </a:solidFill>
                <a:latin typeface="PMingLiU"/>
                <a:cs typeface="PMingLiU"/>
              </a:rPr>
              <a:t>pattern</a:t>
            </a:r>
            <a:r>
              <a:rPr sz="1809" spc="229" dirty="0">
                <a:solidFill>
                  <a:srgbClr val="231F20"/>
                </a:solidFill>
                <a:latin typeface="PMingLiU"/>
                <a:cs typeface="PMingLiU"/>
              </a:rPr>
              <a:t> </a:t>
            </a:r>
            <a:r>
              <a:rPr sz="1809" spc="176" dirty="0">
                <a:solidFill>
                  <a:srgbClr val="231F20"/>
                </a:solidFill>
                <a:latin typeface="PMingLiU"/>
                <a:cs typeface="PMingLiU"/>
              </a:rPr>
              <a:t>exists.	</a:t>
            </a:r>
            <a:r>
              <a:rPr sz="1809" spc="260" dirty="0">
                <a:solidFill>
                  <a:srgbClr val="231F20"/>
                </a:solidFill>
                <a:latin typeface="PMingLiU"/>
                <a:cs typeface="PMingLiU"/>
              </a:rPr>
              <a:t>We </a:t>
            </a:r>
            <a:r>
              <a:rPr sz="1809" spc="-35" dirty="0">
                <a:solidFill>
                  <a:srgbClr val="231F20"/>
                </a:solidFill>
                <a:latin typeface="PMingLiU"/>
                <a:cs typeface="PMingLiU"/>
              </a:rPr>
              <a:t>don’t</a:t>
            </a:r>
            <a:r>
              <a:rPr sz="1809" spc="163" dirty="0">
                <a:solidFill>
                  <a:srgbClr val="231F20"/>
                </a:solidFill>
                <a:latin typeface="PMingLiU"/>
                <a:cs typeface="PMingLiU"/>
              </a:rPr>
              <a:t> </a:t>
            </a:r>
            <a:r>
              <a:rPr sz="1809" spc="221" dirty="0">
                <a:solidFill>
                  <a:srgbClr val="231F20"/>
                </a:solidFill>
                <a:latin typeface="PMingLiU"/>
                <a:cs typeface="PMingLiU"/>
              </a:rPr>
              <a:t>know</a:t>
            </a:r>
            <a:r>
              <a:rPr sz="1809" spc="216" dirty="0">
                <a:solidFill>
                  <a:srgbClr val="231F20"/>
                </a:solidFill>
                <a:latin typeface="PMingLiU"/>
                <a:cs typeface="PMingLiU"/>
              </a:rPr>
              <a:t> </a:t>
            </a:r>
            <a:r>
              <a:rPr sz="1809" spc="186" dirty="0">
                <a:solidFill>
                  <a:srgbClr val="231F20"/>
                </a:solidFill>
                <a:latin typeface="PMingLiU"/>
                <a:cs typeface="PMingLiU"/>
              </a:rPr>
              <a:t>it.	</a:t>
            </a:r>
            <a:r>
              <a:rPr sz="1809" spc="260" dirty="0">
                <a:solidFill>
                  <a:srgbClr val="231F20"/>
                </a:solidFill>
                <a:latin typeface="PMingLiU"/>
                <a:cs typeface="PMingLiU"/>
              </a:rPr>
              <a:t>We </a:t>
            </a:r>
            <a:r>
              <a:rPr sz="1809" spc="202" dirty="0">
                <a:solidFill>
                  <a:srgbClr val="231F20"/>
                </a:solidFill>
                <a:latin typeface="PMingLiU"/>
                <a:cs typeface="PMingLiU"/>
              </a:rPr>
              <a:t>have </a:t>
            </a:r>
            <a:r>
              <a:rPr sz="1809" spc="269" dirty="0">
                <a:solidFill>
                  <a:srgbClr val="231F20"/>
                </a:solidFill>
                <a:latin typeface="PMingLiU"/>
                <a:cs typeface="PMingLiU"/>
              </a:rPr>
              <a:t>data </a:t>
            </a:r>
            <a:r>
              <a:rPr sz="1809" spc="247" dirty="0">
                <a:solidFill>
                  <a:srgbClr val="231F20"/>
                </a:solidFill>
                <a:latin typeface="PMingLiU"/>
                <a:cs typeface="PMingLiU"/>
              </a:rPr>
              <a:t>to </a:t>
            </a:r>
            <a:r>
              <a:rPr sz="1809" spc="212" dirty="0">
                <a:solidFill>
                  <a:srgbClr val="231F20"/>
                </a:solidFill>
                <a:latin typeface="PMingLiU"/>
                <a:cs typeface="PMingLiU"/>
              </a:rPr>
              <a:t>learn</a:t>
            </a:r>
            <a:r>
              <a:rPr sz="1809" spc="49" dirty="0">
                <a:solidFill>
                  <a:srgbClr val="231F20"/>
                </a:solidFill>
                <a:latin typeface="PMingLiU"/>
                <a:cs typeface="PMingLiU"/>
              </a:rPr>
              <a:t> </a:t>
            </a:r>
            <a:r>
              <a:rPr sz="1809" spc="186" dirty="0">
                <a:solidFill>
                  <a:srgbClr val="231F20"/>
                </a:solidFill>
                <a:latin typeface="PMingLiU"/>
                <a:cs typeface="PMingLiU"/>
              </a:rPr>
              <a:t>it.</a:t>
            </a:r>
            <a:endParaRPr sz="1809">
              <a:latin typeface="PMingLiU"/>
              <a:cs typeface="PMingLiU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2177288" y="6585916"/>
            <a:ext cx="116541" cy="114299"/>
          </a:xfrm>
          <a:custGeom>
            <a:avLst/>
            <a:gdLst/>
            <a:ahLst/>
            <a:cxnLst/>
            <a:rect l="l" t="t" r="r" b="b"/>
            <a:pathLst>
              <a:path w="132079" h="129540">
                <a:moveTo>
                  <a:pt x="0" y="0"/>
                </a:moveTo>
                <a:lnTo>
                  <a:pt x="0" y="128988"/>
                </a:lnTo>
                <a:lnTo>
                  <a:pt x="131931" y="128988"/>
                </a:lnTo>
                <a:lnTo>
                  <a:pt x="131931" y="0"/>
                </a:lnTo>
                <a:lnTo>
                  <a:pt x="0" y="0"/>
                </a:lnTo>
                <a:close/>
              </a:path>
            </a:pathLst>
          </a:custGeom>
          <a:solidFill>
            <a:srgbClr val="E5FFE5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73" name="object 73"/>
          <p:cNvSpPr/>
          <p:nvPr/>
        </p:nvSpPr>
        <p:spPr>
          <a:xfrm>
            <a:off x="2177288" y="6585916"/>
            <a:ext cx="116541" cy="114299"/>
          </a:xfrm>
          <a:custGeom>
            <a:avLst/>
            <a:gdLst/>
            <a:ahLst/>
            <a:cxnLst/>
            <a:rect l="l" t="t" r="r" b="b"/>
            <a:pathLst>
              <a:path w="132079" h="129540">
                <a:moveTo>
                  <a:pt x="131931" y="128988"/>
                </a:moveTo>
                <a:lnTo>
                  <a:pt x="131931" y="0"/>
                </a:lnTo>
                <a:lnTo>
                  <a:pt x="0" y="0"/>
                </a:lnTo>
                <a:lnTo>
                  <a:pt x="0" y="128988"/>
                </a:lnTo>
                <a:lnTo>
                  <a:pt x="131931" y="128988"/>
                </a:lnTo>
                <a:close/>
              </a:path>
            </a:pathLst>
          </a:custGeom>
          <a:ln w="3175">
            <a:solidFill>
              <a:srgbClr val="008E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</p:spTree>
    <p:extLst>
      <p:ext uri="{BB962C8B-B14F-4D97-AF65-F5344CB8AC3E}">
        <p14:creationId xmlns:p14="http://schemas.microsoft.com/office/powerpoint/2010/main" val="2697748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ABE6DCD-37DD-B0C9-2576-328643025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ML?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3B6B53D-BE27-CE43-60FD-7CCD186947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76555" indent="-363855">
              <a:lnSpc>
                <a:spcPct val="100000"/>
              </a:lnSpc>
              <a:spcBef>
                <a:spcPts val="5"/>
              </a:spcBef>
              <a:buChar char="•"/>
              <a:tabLst>
                <a:tab pos="376555" algn="l"/>
                <a:tab pos="377190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Supervised</a:t>
            </a:r>
            <a:r>
              <a:rPr lang="en-US" sz="2400" spc="-1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learning</a:t>
            </a:r>
          </a:p>
          <a:p>
            <a:pPr marL="300355" marR="140335" lvl="1" indent="17145">
              <a:lnSpc>
                <a:spcPts val="3170"/>
              </a:lnSpc>
              <a:spcBef>
                <a:spcPts val="150"/>
              </a:spcBef>
              <a:buChar char="-"/>
              <a:tabLst>
                <a:tab pos="495934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Given a </a:t>
            </a:r>
            <a:r>
              <a:rPr lang="en-US" sz="2400" spc="-5" dirty="0">
                <a:latin typeface="Times New Roman"/>
                <a:cs typeface="Times New Roman"/>
              </a:rPr>
              <a:t>set </a:t>
            </a:r>
            <a:r>
              <a:rPr lang="en-US" sz="2400" dirty="0">
                <a:latin typeface="Times New Roman"/>
                <a:cs typeface="Times New Roman"/>
              </a:rPr>
              <a:t>of </a:t>
            </a:r>
            <a:r>
              <a:rPr lang="en-US" sz="2400" spc="-5" dirty="0">
                <a:latin typeface="Times New Roman"/>
                <a:cs typeface="Times New Roman"/>
              </a:rPr>
              <a:t>features </a:t>
            </a:r>
            <a:r>
              <a:rPr lang="en-US" sz="2400" dirty="0">
                <a:latin typeface="Times New Roman"/>
                <a:cs typeface="Times New Roman"/>
              </a:rPr>
              <a:t>and labels learn a </a:t>
            </a:r>
            <a:r>
              <a:rPr lang="en-US" sz="2400" spc="-5" dirty="0">
                <a:latin typeface="Times New Roman"/>
                <a:cs typeface="Times New Roman"/>
              </a:rPr>
              <a:t>model </a:t>
            </a:r>
            <a:r>
              <a:rPr lang="en-US" sz="2400" dirty="0">
                <a:latin typeface="Times New Roman"/>
                <a:cs typeface="Times New Roman"/>
              </a:rPr>
              <a:t>that </a:t>
            </a:r>
            <a:r>
              <a:rPr lang="en-US" sz="2400" spc="-5" dirty="0">
                <a:latin typeface="Times New Roman"/>
                <a:cs typeface="Times New Roman"/>
              </a:rPr>
              <a:t>will </a:t>
            </a:r>
            <a:r>
              <a:rPr lang="en-US" sz="2400" dirty="0">
                <a:latin typeface="Times New Roman"/>
                <a:cs typeface="Times New Roman"/>
              </a:rPr>
              <a:t>predict a label to</a:t>
            </a:r>
            <a:r>
              <a:rPr lang="en-US" sz="2400" spc="-17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a  new </a:t>
            </a:r>
            <a:r>
              <a:rPr lang="en-US" sz="2400" spc="-5" dirty="0">
                <a:latin typeface="Times New Roman"/>
                <a:cs typeface="Times New Roman"/>
              </a:rPr>
              <a:t>feature</a:t>
            </a:r>
            <a:r>
              <a:rPr lang="en-US" sz="2400" spc="-3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set</a:t>
            </a:r>
          </a:p>
          <a:p>
            <a:pPr lvl="1">
              <a:lnSpc>
                <a:spcPct val="100000"/>
              </a:lnSpc>
              <a:spcBef>
                <a:spcPts val="25"/>
              </a:spcBef>
              <a:buFont typeface="Times New Roman"/>
              <a:buChar char="-"/>
            </a:pPr>
            <a:endParaRPr lang="en-US" sz="2850" dirty="0">
              <a:latin typeface="Times New Roman"/>
              <a:cs typeface="Times New Roman"/>
            </a:endParaRPr>
          </a:p>
          <a:p>
            <a:pPr marL="300355" indent="-287655">
              <a:lnSpc>
                <a:spcPct val="100000"/>
              </a:lnSpc>
              <a:buChar char="•"/>
              <a:tabLst>
                <a:tab pos="300355" algn="l"/>
                <a:tab pos="300990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Unsupervised</a:t>
            </a:r>
            <a:r>
              <a:rPr lang="en-US" sz="2400" spc="-1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learning</a:t>
            </a:r>
          </a:p>
          <a:p>
            <a:pPr marL="495300" lvl="1" indent="-177800">
              <a:lnSpc>
                <a:spcPct val="100000"/>
              </a:lnSpc>
              <a:spcBef>
                <a:spcPts val="290"/>
              </a:spcBef>
              <a:buChar char="-"/>
              <a:tabLst>
                <a:tab pos="495934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Discover patterns in</a:t>
            </a:r>
            <a:r>
              <a:rPr lang="en-US" sz="2400" spc="-6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data</a:t>
            </a:r>
          </a:p>
          <a:p>
            <a:pPr marL="495300" lvl="1" indent="-177800">
              <a:lnSpc>
                <a:spcPct val="100000"/>
              </a:lnSpc>
              <a:spcBef>
                <a:spcPts val="290"/>
              </a:spcBef>
              <a:buChar char="-"/>
              <a:tabLst>
                <a:tab pos="495934" algn="l"/>
              </a:tabLst>
            </a:pPr>
            <a:endParaRPr lang="en-US" sz="2800" dirty="0">
              <a:latin typeface="Times New Roman"/>
              <a:cs typeface="Times New Roman"/>
            </a:endParaRPr>
          </a:p>
          <a:p>
            <a:pPr marL="360045" indent="-347345">
              <a:lnSpc>
                <a:spcPct val="100000"/>
              </a:lnSpc>
              <a:spcBef>
                <a:spcPts val="5"/>
              </a:spcBef>
              <a:buChar char="•"/>
              <a:tabLst>
                <a:tab pos="360045" algn="l"/>
                <a:tab pos="360680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Active</a:t>
            </a:r>
            <a:r>
              <a:rPr lang="en-US" sz="2400" spc="-2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learning</a:t>
            </a:r>
          </a:p>
          <a:p>
            <a:pPr marL="495300" lvl="1" indent="-177800">
              <a:lnSpc>
                <a:spcPct val="100000"/>
              </a:lnSpc>
              <a:spcBef>
                <a:spcPts val="290"/>
              </a:spcBef>
              <a:buChar char="-"/>
              <a:tabLst>
                <a:tab pos="495934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Select not only </a:t>
            </a:r>
            <a:r>
              <a:rPr lang="en-US" sz="2400" spc="-5" dirty="0">
                <a:latin typeface="Times New Roman"/>
                <a:cs typeface="Times New Roman"/>
              </a:rPr>
              <a:t>model </a:t>
            </a:r>
            <a:r>
              <a:rPr lang="en-US" sz="2400" dirty="0">
                <a:latin typeface="Times New Roman"/>
                <a:cs typeface="Times New Roman"/>
              </a:rPr>
              <a:t>but also </a:t>
            </a:r>
            <a:r>
              <a:rPr lang="en-US" sz="2400" spc="-5" dirty="0">
                <a:latin typeface="Times New Roman"/>
                <a:cs typeface="Times New Roman"/>
              </a:rPr>
              <a:t>which examples </a:t>
            </a:r>
            <a:r>
              <a:rPr lang="en-US" sz="2400" dirty="0">
                <a:latin typeface="Times New Roman"/>
                <a:cs typeface="Times New Roman"/>
              </a:rPr>
              <a:t>to</a:t>
            </a:r>
            <a:r>
              <a:rPr lang="en-US" sz="2400" spc="-5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use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2856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xmlns="" id="{42A4FC2C-047E-45A5-965D-8E1E3BF09BC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xmlns="" id="{B1AA8838-E9A8-E323-F357-330BE6CACA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9722" b="5292"/>
          <a:stretch/>
        </p:blipFill>
        <p:spPr>
          <a:xfrm>
            <a:off x="20" y="1223888"/>
            <a:ext cx="12191980" cy="5634111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xmlns="" id="{6716666B-07F9-C9C9-A8EE-04F743F18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What is ML?</a:t>
            </a:r>
          </a:p>
        </p:txBody>
      </p:sp>
    </p:spTree>
    <p:extLst>
      <p:ext uri="{BB962C8B-B14F-4D97-AF65-F5344CB8AC3E}">
        <p14:creationId xmlns:p14="http://schemas.microsoft.com/office/powerpoint/2010/main" val="786313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5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rtlCol="0" anchor="ctr"/>
          <a:lstStyle>
            <a:defPPr>
              <a:defRPr lang="en-US"/>
            </a:defPPr>
            <a:lvl1pPr marL="0" algn="ctr" defTabSz="914400" rtl="0" eaLnBrk="1" latinLnBrk="0" hangingPunct="1">
              <a:defRPr kumimoji="0" sz="140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538962B-3372-4E19-A38D-6FA8987A1852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1828800" y="1690688"/>
            <a:ext cx="7848600" cy="23479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dirty="0"/>
              <a:t>Field of study that gives computers the ability to learn without being explicitly programmed.</a:t>
            </a:r>
          </a:p>
          <a:p>
            <a:pPr algn="ctr"/>
            <a:endParaRPr lang="en-US" sz="2800" dirty="0"/>
          </a:p>
        </p:txBody>
      </p:sp>
      <p:sp>
        <p:nvSpPr>
          <p:cNvPr id="8" name="Rectangle 7"/>
          <p:cNvSpPr/>
          <p:nvPr/>
        </p:nvSpPr>
        <p:spPr>
          <a:xfrm>
            <a:off x="7010400" y="4114800"/>
            <a:ext cx="23326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Arthur </a:t>
            </a:r>
            <a:r>
              <a:rPr lang="en-US" dirty="0" err="1"/>
              <a:t>Sameul</a:t>
            </a:r>
            <a:r>
              <a:rPr lang="en-US" dirty="0"/>
              <a:t> (1959)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Machine Learning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5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rtlCol="0" anchor="ctr"/>
          <a:lstStyle>
            <a:defPPr>
              <a:defRPr lang="en-US"/>
            </a:defPPr>
            <a:lvl1pPr marL="0" algn="ctr" defTabSz="914400" rtl="0" eaLnBrk="1" latinLnBrk="0" hangingPunct="1">
              <a:defRPr kumimoji="0" sz="140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538962B-3372-4E19-A38D-6FA8987A1852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53000" y="2362200"/>
            <a:ext cx="1549300" cy="12204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81800" y="3200400"/>
            <a:ext cx="1828800" cy="15085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667001" y="3352800"/>
            <a:ext cx="1763931" cy="1135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819401" y="4724401"/>
            <a:ext cx="2169763" cy="16970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715001" y="4953000"/>
            <a:ext cx="1772925" cy="1464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724401" y="3657601"/>
            <a:ext cx="1658319" cy="13188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Content Placeholder 2"/>
          <p:cNvSpPr>
            <a:spLocks noGrp="1"/>
          </p:cNvSpPr>
          <p:nvPr>
            <p:ph sz="quarter" idx="1"/>
          </p:nvPr>
        </p:nvSpPr>
        <p:spPr>
          <a:xfrm>
            <a:off x="1981200" y="1600200"/>
            <a:ext cx="7467600" cy="1219200"/>
          </a:xfrm>
        </p:spPr>
        <p:txBody>
          <a:bodyPr/>
          <a:lstStyle/>
          <a:p>
            <a:r>
              <a:rPr lang="fr-FR" dirty="0"/>
              <a:t>Nicolas </a:t>
            </a:r>
            <a:r>
              <a:rPr lang="fr-FR" dirty="0" err="1"/>
              <a:t>learns</a:t>
            </a:r>
            <a:r>
              <a:rPr lang="fr-FR" dirty="0"/>
              <a:t> about trucks and dumpers</a:t>
            </a:r>
            <a:endParaRPr lang="en-US" dirty="0"/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9307562" y="1352550"/>
            <a:ext cx="1076325" cy="1009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Machine </a:t>
            </a:r>
            <a:r>
              <a:rPr lang="fr-FR" dirty="0" err="1"/>
              <a:t>learning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981200" y="1600200"/>
            <a:ext cx="7467600" cy="1219200"/>
          </a:xfrm>
        </p:spPr>
        <p:txBody>
          <a:bodyPr/>
          <a:lstStyle/>
          <a:p>
            <a:r>
              <a:rPr lang="fr-FR" dirty="0"/>
              <a:t>But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he</a:t>
            </a:r>
            <a:r>
              <a:rPr lang="fr-FR" dirty="0"/>
              <a:t> </a:t>
            </a:r>
            <a:r>
              <a:rPr lang="fr-FR" dirty="0" err="1"/>
              <a:t>recognize</a:t>
            </a:r>
            <a:r>
              <a:rPr lang="fr-FR" dirty="0"/>
              <a:t> </a:t>
            </a:r>
            <a:r>
              <a:rPr lang="fr-FR" dirty="0" err="1"/>
              <a:t>others</a:t>
            </a:r>
            <a:r>
              <a:rPr lang="fr-FR" dirty="0"/>
              <a:t>?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5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rtlCol="0" anchor="ctr"/>
          <a:lstStyle>
            <a:defPPr>
              <a:defRPr lang="en-US"/>
            </a:defPPr>
            <a:lvl1pPr marL="0" algn="ctr" defTabSz="914400" rtl="0" eaLnBrk="1" latinLnBrk="0" hangingPunct="1">
              <a:defRPr kumimoji="0" sz="140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538962B-3372-4E19-A38D-6FA8987A1852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81600" y="2590801"/>
            <a:ext cx="1897406" cy="1525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52800" y="2590801"/>
            <a:ext cx="1752600" cy="14404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738616" y="1091598"/>
            <a:ext cx="1371600" cy="11981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Rounded Rectangle 10"/>
          <p:cNvSpPr/>
          <p:nvPr/>
        </p:nvSpPr>
        <p:spPr>
          <a:xfrm>
            <a:off x="1981200" y="4116064"/>
            <a:ext cx="7543800" cy="18976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/>
              <a:t>So learning involves ability to generalize from labeled examples</a:t>
            </a:r>
          </a:p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Machine </a:t>
            </a:r>
            <a:r>
              <a:rPr lang="fr-FR" dirty="0" err="1"/>
              <a:t>learning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5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rtlCol="0" anchor="ctr"/>
          <a:lstStyle>
            <a:defPPr>
              <a:defRPr lang="en-US"/>
            </a:defPPr>
            <a:lvl1pPr marL="0" algn="ctr" defTabSz="914400" rtl="0" eaLnBrk="1" latinLnBrk="0" hangingPunct="1">
              <a:defRPr kumimoji="0" sz="140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538962B-3372-4E19-A38D-6FA8987A1852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26626" name="Picture 2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6400" y="1487488"/>
            <a:ext cx="8786812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E722B2DD-E14D-4972-9D98-5D6E61B1B2D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xmlns="" id="{0CFB124C-4B0C-4A81-8633-17257B15164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882006" y="569844"/>
            <a:ext cx="8427988" cy="5649981"/>
          </a:xfrm>
          <a:prstGeom prst="rect">
            <a:avLst/>
          </a:prstGeom>
          <a:ln>
            <a:noFill/>
          </a:ln>
          <a:effectLst>
            <a:outerShdw blurRad="317500" dist="317500" dir="7140000" sx="95000" sy="95000" algn="t" rotWithShape="0">
              <a:srgbClr val="000000">
                <a:alpha val="2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xmlns="" id="{3BF65886-D089-2965-0AF7-C3816696E7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0856" r="1" b="1"/>
          <a:stretch/>
        </p:blipFill>
        <p:spPr>
          <a:xfrm>
            <a:off x="1165274" y="569844"/>
            <a:ext cx="9861452" cy="6115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4038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/>
              <a:t>License Plate Recognition</a:t>
            </a:r>
          </a:p>
        </p:txBody>
      </p:sp>
      <p:sp>
        <p:nvSpPr>
          <p:cNvPr id="19459" name="Slide Number Placeholder 4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fld id="{46D02600-3F00-48AE-B794-385C7710D496}" type="slidenum">
              <a:rPr lang="ko-KR" altLang="en-US" sz="1200">
                <a:solidFill>
                  <a:srgbClr val="898989"/>
                </a:solidFill>
                <a:latin typeface="Times New Roman" pitchFamily="18" charset="0"/>
              </a:rPr>
              <a:pPr/>
              <a:t>13</a:t>
            </a:fld>
            <a:endParaRPr lang="en-US" altLang="ko-KR" sz="1200">
              <a:solidFill>
                <a:srgbClr val="898989"/>
              </a:solidFill>
              <a:latin typeface="Times New Roman" pitchFamily="18" charset="0"/>
            </a:endParaRPr>
          </a:p>
        </p:txBody>
      </p:sp>
      <p:pic>
        <p:nvPicPr>
          <p:cNvPr id="1946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1" y="2209801"/>
            <a:ext cx="7669213" cy="341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841984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Face Detection</a:t>
            </a:r>
          </a:p>
        </p:txBody>
      </p:sp>
      <p:sp>
        <p:nvSpPr>
          <p:cNvPr id="22531" name="Slide Number Placeholder 4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fld id="{ED0CE09F-AE45-440E-A20C-10EA78155D88}" type="slidenum">
              <a:rPr lang="ko-KR" altLang="en-US" sz="1200">
                <a:solidFill>
                  <a:srgbClr val="898989"/>
                </a:solidFill>
                <a:latin typeface="Times New Roman" pitchFamily="18" charset="0"/>
              </a:rPr>
              <a:pPr/>
              <a:t>14</a:t>
            </a:fld>
            <a:endParaRPr lang="en-US" altLang="ko-KR" sz="1200">
              <a:solidFill>
                <a:srgbClr val="898989"/>
              </a:solidFill>
              <a:latin typeface="Times New Roman" pitchFamily="18" charset="0"/>
            </a:endParaRPr>
          </a:p>
        </p:txBody>
      </p:sp>
      <p:pic>
        <p:nvPicPr>
          <p:cNvPr id="2253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1" y="2057401"/>
            <a:ext cx="3914775" cy="227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3" name="Picture 4" descr="tested_48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9414" y="3352801"/>
            <a:ext cx="3252787" cy="220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505021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5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rtlCol="0" anchor="ctr"/>
          <a:lstStyle>
            <a:defPPr>
              <a:defRPr lang="en-US"/>
            </a:defPPr>
            <a:lvl1pPr marL="0" algn="ctr" defTabSz="914400" rtl="0" eaLnBrk="1" latinLnBrk="0" hangingPunct="1">
              <a:defRPr kumimoji="0" sz="140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538962B-3372-4E19-A38D-6FA8987A1852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2667000" y="2362200"/>
            <a:ext cx="6477000" cy="1524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800" dirty="0"/>
              <a:t>CLASSIFICATION</a:t>
            </a:r>
            <a:endParaRPr lang="en-US" sz="4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Supervised learning -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981200" y="1931283"/>
            <a:ext cx="7467600" cy="15240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Objective</a:t>
            </a:r>
          </a:p>
          <a:p>
            <a:pPr lvl="1"/>
            <a:r>
              <a:rPr lang="en-US" dirty="0"/>
              <a:t>Make a 2 year old kid recognize what is an apple and what is an orange</a:t>
            </a:r>
          </a:p>
          <a:p>
            <a:pPr lvl="1"/>
            <a:r>
              <a:rPr lang="en-US" dirty="0"/>
              <a:t>Strategy: Show some examples of each </a:t>
            </a:r>
            <a:r>
              <a:rPr lang="en-US" dirty="0" smtClean="0"/>
              <a:t>category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rtlCol="0" anchor="ctr"/>
          <a:lstStyle>
            <a:defPPr>
              <a:defRPr lang="en-US"/>
            </a:defPPr>
            <a:lvl1pPr marL="0" algn="ctr" defTabSz="914400" rtl="0" eaLnBrk="1" latinLnBrk="0" hangingPunct="1">
              <a:defRPr kumimoji="0" sz="140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538962B-3372-4E19-A38D-6FA8987A1852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8" name="Picture 9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10637" y="726634"/>
            <a:ext cx="1076325" cy="1009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" name="Group 6"/>
          <p:cNvGrpSpPr/>
          <p:nvPr/>
        </p:nvGrpSpPr>
        <p:grpSpPr>
          <a:xfrm>
            <a:off x="3187103" y="3561970"/>
            <a:ext cx="1828800" cy="2133600"/>
            <a:chOff x="457200" y="1676400"/>
            <a:chExt cx="3148012" cy="3597792"/>
          </a:xfrm>
        </p:grpSpPr>
        <p:pic>
          <p:nvPicPr>
            <p:cNvPr id="9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219200" y="1676400"/>
              <a:ext cx="1119187" cy="12359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0" name="Picture 5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609600" y="4038600"/>
              <a:ext cx="952500" cy="11239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1" name="Picture 8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2590800" y="3352800"/>
              <a:ext cx="1014412" cy="10005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2" name="Picture 9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1600200" y="3048000"/>
              <a:ext cx="914400" cy="9383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3" name="Picture 11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457200" y="2819400"/>
              <a:ext cx="1066800" cy="10440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4" name="Picture 23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1905000" y="4343400"/>
              <a:ext cx="838200" cy="9307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5" name="Picture 5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286000" y="2057400"/>
              <a:ext cx="952500" cy="11239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grpSp>
        <p:nvGrpSpPr>
          <p:cNvPr id="16" name="Group 15"/>
          <p:cNvGrpSpPr/>
          <p:nvPr/>
        </p:nvGrpSpPr>
        <p:grpSpPr>
          <a:xfrm>
            <a:off x="6321553" y="3586792"/>
            <a:ext cx="2243290" cy="2133600"/>
            <a:chOff x="4343400" y="1905000"/>
            <a:chExt cx="3310090" cy="3027021"/>
          </a:xfrm>
        </p:grpSpPr>
        <p:pic>
          <p:nvPicPr>
            <p:cNvPr id="17" name="Picture 16"/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5181600" y="2133600"/>
              <a:ext cx="2057400" cy="19209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8" name="Picture 14"/>
            <p:cNvPicPr>
              <a:picLocks noChangeAspect="1" noChangeArrowheads="1"/>
            </p:cNvPicPr>
            <p:nvPr/>
          </p:nvPicPr>
          <p:blipFill>
            <a:blip r:embed="rId10" cstate="print"/>
            <a:srcRect/>
            <a:stretch>
              <a:fillRect/>
            </a:stretch>
          </p:blipFill>
          <p:spPr bwMode="auto">
            <a:xfrm>
              <a:off x="6629400" y="4114800"/>
              <a:ext cx="1024090" cy="817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9" name="Picture 17"/>
            <p:cNvPicPr>
              <a:picLocks noChangeAspect="1" noChangeArrowheads="1"/>
            </p:cNvPicPr>
            <p:nvPr/>
          </p:nvPicPr>
          <p:blipFill>
            <a:blip r:embed="rId11" cstate="print"/>
            <a:srcRect/>
            <a:stretch>
              <a:fillRect/>
            </a:stretch>
          </p:blipFill>
          <p:spPr bwMode="auto">
            <a:xfrm>
              <a:off x="6096000" y="1905000"/>
              <a:ext cx="762000" cy="8077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20" name="Picture 19"/>
            <p:cNvPicPr>
              <a:picLocks noChangeAspect="1" noChangeArrowheads="1"/>
            </p:cNvPicPr>
            <p:nvPr/>
          </p:nvPicPr>
          <p:blipFill>
            <a:blip r:embed="rId12" cstate="print"/>
            <a:srcRect/>
            <a:stretch>
              <a:fillRect/>
            </a:stretch>
          </p:blipFill>
          <p:spPr bwMode="auto">
            <a:xfrm>
              <a:off x="5105400" y="4038600"/>
              <a:ext cx="1143000" cy="8698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21" name="Picture 20"/>
            <p:cNvPicPr>
              <a:picLocks noChangeAspect="1" noChangeArrowheads="1"/>
            </p:cNvPicPr>
            <p:nvPr/>
          </p:nvPicPr>
          <p:blipFill>
            <a:blip r:embed="rId13" cstate="print"/>
            <a:srcRect/>
            <a:stretch>
              <a:fillRect/>
            </a:stretch>
          </p:blipFill>
          <p:spPr bwMode="auto">
            <a:xfrm>
              <a:off x="4343400" y="1905000"/>
              <a:ext cx="1185862" cy="8771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22" name="TextBox 21"/>
          <p:cNvSpPr txBox="1"/>
          <p:nvPr/>
        </p:nvSpPr>
        <p:spPr>
          <a:xfrm>
            <a:off x="3652238" y="5819230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Apples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65630" y="5786846"/>
            <a:ext cx="10177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Oranges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rtlCol="0" anchor="ctr"/>
          <a:lstStyle>
            <a:defPPr>
              <a:defRPr lang="en-US"/>
            </a:defPPr>
            <a:lvl1pPr marL="0" algn="ctr" defTabSz="914400" rtl="0" eaLnBrk="1" latinLnBrk="0" hangingPunct="1">
              <a:defRPr kumimoji="0" sz="140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538962B-3372-4E19-A38D-6FA8987A1852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48600" y="533400"/>
            <a:ext cx="114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7696200" y="1905000"/>
            <a:ext cx="1683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is this???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7696200" y="3238500"/>
            <a:ext cx="1619250" cy="3086100"/>
            <a:chOff x="6096000" y="3771900"/>
            <a:chExt cx="1619250" cy="3086100"/>
          </a:xfrm>
        </p:grpSpPr>
        <p:pic>
          <p:nvPicPr>
            <p:cNvPr id="3077" name="Picture 5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6096000" y="3771900"/>
              <a:ext cx="1619250" cy="30861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12" name="TextBox 11"/>
            <p:cNvSpPr txBox="1"/>
            <p:nvPr/>
          </p:nvSpPr>
          <p:spPr>
            <a:xfrm>
              <a:off x="6477001" y="6057900"/>
              <a:ext cx="10668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Its an apple!!!</a:t>
              </a:r>
            </a:p>
          </p:txBody>
        </p:sp>
      </p:grpSp>
      <p:sp>
        <p:nvSpPr>
          <p:cNvPr id="13" name="Content Placeholder 2"/>
          <p:cNvSpPr>
            <a:spLocks noGrp="1"/>
          </p:cNvSpPr>
          <p:nvPr>
            <p:ph sz="quarter" idx="1"/>
          </p:nvPr>
        </p:nvSpPr>
        <p:spPr>
          <a:xfrm>
            <a:off x="1981200" y="1600200"/>
            <a:ext cx="4876800" cy="41148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You had some training example or ‘</a:t>
            </a:r>
            <a:r>
              <a:rPr lang="en-US" i="1" dirty="0">
                <a:solidFill>
                  <a:srgbClr val="FF0000"/>
                </a:solidFill>
              </a:rPr>
              <a:t>training data</a:t>
            </a:r>
            <a:r>
              <a:rPr lang="en-US" dirty="0"/>
              <a:t>’</a:t>
            </a:r>
          </a:p>
          <a:p>
            <a:pPr>
              <a:buNone/>
            </a:pPr>
            <a:endParaRPr lang="en-US" dirty="0"/>
          </a:p>
          <a:p>
            <a:r>
              <a:rPr lang="en-US" dirty="0"/>
              <a:t>The examples were ‘</a:t>
            </a:r>
            <a:r>
              <a:rPr lang="en-US" i="1" dirty="0">
                <a:solidFill>
                  <a:srgbClr val="FF0000"/>
                </a:solidFill>
              </a:rPr>
              <a:t>labeled</a:t>
            </a:r>
            <a:r>
              <a:rPr lang="en-US" dirty="0"/>
              <a:t>’</a:t>
            </a:r>
          </a:p>
          <a:p>
            <a:pPr>
              <a:buNone/>
            </a:pPr>
            <a:endParaRPr lang="en-US" dirty="0"/>
          </a:p>
          <a:p>
            <a:r>
              <a:rPr lang="en-US" dirty="0"/>
              <a:t>You used those examples to make the kid ‘</a:t>
            </a:r>
            <a:r>
              <a:rPr lang="en-US" i="1" dirty="0">
                <a:solidFill>
                  <a:srgbClr val="FF0000"/>
                </a:solidFill>
              </a:rPr>
              <a:t>learn</a:t>
            </a:r>
            <a:r>
              <a:rPr lang="en-US" i="1" dirty="0"/>
              <a:t>’  </a:t>
            </a:r>
            <a:r>
              <a:rPr lang="en-US" dirty="0"/>
              <a:t>the difference between an apple and an orange</a:t>
            </a:r>
            <a:endParaRPr lang="en-US" i="1" dirty="0"/>
          </a:p>
        </p:txBody>
      </p:sp>
      <p:sp>
        <p:nvSpPr>
          <p:cNvPr id="14" name="Down Arrow 13"/>
          <p:cNvSpPr/>
          <p:nvPr/>
        </p:nvSpPr>
        <p:spPr>
          <a:xfrm>
            <a:off x="8153400" y="2438400"/>
            <a:ext cx="457200" cy="5974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93" name="Picture 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858001" y="1295400"/>
            <a:ext cx="884301" cy="1257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5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rtlCol="0" anchor="ctr"/>
          <a:lstStyle>
            <a:defPPr>
              <a:defRPr lang="en-US"/>
            </a:defPPr>
            <a:lvl1pPr marL="0" algn="ctr" defTabSz="914400" rtl="0" eaLnBrk="1" latinLnBrk="0" hangingPunct="1">
              <a:defRPr kumimoji="0" sz="140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538962B-3372-4E19-A38D-6FA8987A1852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71700" y="1763712"/>
            <a:ext cx="4229100" cy="3600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847012" y="1839912"/>
            <a:ext cx="609600" cy="3619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2" name="TextBox 9"/>
          <p:cNvSpPr txBox="1">
            <a:spLocks noChangeArrowheads="1"/>
          </p:cNvSpPr>
          <p:nvPr/>
        </p:nvSpPr>
        <p:spPr bwMode="auto">
          <a:xfrm>
            <a:off x="2058988" y="5421312"/>
            <a:ext cx="457041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latin typeface="Arial" pitchFamily="34" charset="0"/>
                <a:cs typeface="Arial" pitchFamily="34" charset="0"/>
              </a:rPr>
              <a:t>Given: training images and their categories</a:t>
            </a:r>
          </a:p>
        </p:txBody>
      </p:sp>
      <p:sp>
        <p:nvSpPr>
          <p:cNvPr id="2053" name="TextBox 10"/>
          <p:cNvSpPr txBox="1">
            <a:spLocks noChangeArrowheads="1"/>
          </p:cNvSpPr>
          <p:nvPr/>
        </p:nvSpPr>
        <p:spPr bwMode="auto">
          <a:xfrm>
            <a:off x="6781800" y="5562601"/>
            <a:ext cx="2665412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latin typeface="Arial" pitchFamily="34" charset="0"/>
                <a:cs typeface="Arial" pitchFamily="34" charset="0"/>
              </a:rPr>
              <a:t>What are the categories of these test images?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7772" y="1828800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Apple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6357772" y="2526268"/>
            <a:ext cx="6312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Pear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324601" y="3110110"/>
            <a:ext cx="922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Tomato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6324601" y="366926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Cow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6364069" y="4278868"/>
            <a:ext cx="603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Dog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6400800" y="4876800"/>
            <a:ext cx="783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Horse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887C7CE6E067244A59DA8F64D817370" ma:contentTypeVersion="4" ma:contentTypeDescription="Create a new document." ma:contentTypeScope="" ma:versionID="d7a041c15327aa6b1ec053607a1e878d">
  <xsd:schema xmlns:xsd="http://www.w3.org/2001/XMLSchema" xmlns:xs="http://www.w3.org/2001/XMLSchema" xmlns:p="http://schemas.microsoft.com/office/2006/metadata/properties" xmlns:ns2="9f5857bd-5164-4e37-a4d0-5fd8e2da11bd" targetNamespace="http://schemas.microsoft.com/office/2006/metadata/properties" ma:root="true" ma:fieldsID="7ddcc74f19d0728d0662108ddbcd2518" ns2:_="">
    <xsd:import namespace="9f5857bd-5164-4e37-a4d0-5fd8e2da11b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5857bd-5164-4e37-a4d0-5fd8e2da11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1B823E1-267B-479A-AE8C-069D26E6A40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f5857bd-5164-4e37-a4d0-5fd8e2da11b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A2E6141-4028-47C2-B3E3-9ED16868990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366</Words>
  <Application>Microsoft Office PowerPoint</Application>
  <PresentationFormat>Widescreen</PresentationFormat>
  <Paragraphs>87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맑은 고딕</vt:lpstr>
      <vt:lpstr>MS UI Gothic</vt:lpstr>
      <vt:lpstr>Aptos</vt:lpstr>
      <vt:lpstr>Aptos Display</vt:lpstr>
      <vt:lpstr>Arial</vt:lpstr>
      <vt:lpstr>PMingLiU</vt:lpstr>
      <vt:lpstr>Times New Roman</vt:lpstr>
      <vt:lpstr>Office Theme</vt:lpstr>
      <vt:lpstr>Machine Learning</vt:lpstr>
      <vt:lpstr>Think?</vt:lpstr>
      <vt:lpstr>Machine Learning Problem</vt:lpstr>
      <vt:lpstr>What is Machine Learning?</vt:lpstr>
      <vt:lpstr>Previous Movie Ratings Reflect Future Ratings</vt:lpstr>
      <vt:lpstr>What is ML?</vt:lpstr>
      <vt:lpstr>What is ML?</vt:lpstr>
      <vt:lpstr>Machine Learning</vt:lpstr>
      <vt:lpstr>Machine Learning</vt:lpstr>
      <vt:lpstr>Machine learning</vt:lpstr>
      <vt:lpstr>Machine learning</vt:lpstr>
      <vt:lpstr>PowerPoint Presentation</vt:lpstr>
      <vt:lpstr>License Plate Recognition</vt:lpstr>
      <vt:lpstr>Face Detection</vt:lpstr>
      <vt:lpstr>PowerPoint Presentation</vt:lpstr>
      <vt:lpstr>Supervised learning - Classification</vt:lpstr>
      <vt:lpstr>Classification</vt:lpstr>
      <vt:lpstr>Classification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</dc:title>
  <dc:creator>Junaid Khan</dc:creator>
  <cp:lastModifiedBy>HP</cp:lastModifiedBy>
  <cp:revision>16</cp:revision>
  <dcterms:created xsi:type="dcterms:W3CDTF">2024-05-07T10:50:27Z</dcterms:created>
  <dcterms:modified xsi:type="dcterms:W3CDTF">2024-06-04T17:24:06Z</dcterms:modified>
</cp:coreProperties>
</file>